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59" r:id="rId3"/>
    <p:sldId id="257" r:id="rId5"/>
    <p:sldId id="258" r:id="rId6"/>
    <p:sldId id="259" r:id="rId7"/>
    <p:sldId id="272" r:id="rId8"/>
    <p:sldId id="260" r:id="rId9"/>
    <p:sldId id="274" r:id="rId10"/>
    <p:sldId id="264" r:id="rId11"/>
    <p:sldId id="284" r:id="rId12"/>
    <p:sldId id="265" r:id="rId13"/>
    <p:sldId id="313" r:id="rId14"/>
    <p:sldId id="312" r:id="rId15"/>
    <p:sldId id="263" r:id="rId16"/>
    <p:sldId id="287" r:id="rId17"/>
    <p:sldId id="266" r:id="rId18"/>
    <p:sldId id="277" r:id="rId19"/>
    <p:sldId id="314" r:id="rId20"/>
    <p:sldId id="317" r:id="rId21"/>
    <p:sldId id="280" r:id="rId22"/>
    <p:sldId id="341" r:id="rId23"/>
    <p:sldId id="360" r:id="rId24"/>
    <p:sldId id="344" r:id="rId25"/>
    <p:sldId id="315" r:id="rId26"/>
    <p:sldId id="268" r:id="rId27"/>
    <p:sldId id="348" r:id="rId28"/>
    <p:sldId id="345" r:id="rId29"/>
    <p:sldId id="346" r:id="rId30"/>
    <p:sldId id="347" r:id="rId31"/>
    <p:sldId id="357" r:id="rId32"/>
    <p:sldId id="279" r:id="rId33"/>
    <p:sldId id="316" r:id="rId34"/>
    <p:sldId id="269" r:id="rId35"/>
    <p:sldId id="270" r:id="rId36"/>
    <p:sldId id="358" r:id="rId37"/>
    <p:sldId id="356" r:id="rId38"/>
    <p:sldId id="286"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9669" autoAdjust="0"/>
  </p:normalViewPr>
  <p:slideViewPr>
    <p:cSldViewPr snapToGrid="0">
      <p:cViewPr varScale="1">
        <p:scale>
          <a:sx n="79" d="100"/>
          <a:sy n="79" d="100"/>
        </p:scale>
        <p:origin x="354" y="78"/>
      </p:cViewPr>
      <p:guideLst>
        <p:guide orient="horz" pos="2092"/>
        <p:guide pos="3840"/>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2EC2A7-2202-44A4-83FA-50D8B7C7800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B70C38-6B5A-4220-9753-7E3860F7970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6CF2FC1-6476-4B44-BAF3-EA902F35CF4B}"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10F0189-FD86-4BEB-9F6D-211BCBF83789}" type="datetimeFigureOut">
              <a:rPr lang="zh-CN" altLang="en-US" smtClean="0">
                <a:solidFill>
                  <a:prstClr val="black">
                    <a:tint val="75000"/>
                  </a:prstClr>
                </a:solidFill>
              </a:rPr>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B9534F-6B03-497A-98B2-9F2CAEF5D560}" type="slidenum">
              <a:rPr lang="zh-CN" altLang="en-US" smtClean="0">
                <a:solidFill>
                  <a:prstClr val="black">
                    <a:tint val="75000"/>
                  </a:prstClr>
                </a:solidFill>
              </a:rPr>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hyperlink" Target="http://www.baidu.com/link?url=yF2dTZggniGbMapWndPLMwXUZcb31U-bOf9yghzAB7637eka3gsQbPxxWwUI09-ee5kdGBiY7N11f9TWy3hK3q" TargetMode="Externa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wmf"/><Relationship Id="rId3" Type="http://schemas.openxmlformats.org/officeDocument/2006/relationships/oleObject" Target="../embeddings/oleObject1.bin"/><Relationship Id="rId2" Type="http://schemas.openxmlformats.org/officeDocument/2006/relationships/image" Target="../media/image19.png"/><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accounting 的图像结果"/>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400" y="-899886"/>
            <a:ext cx="12192000" cy="812962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6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txBox="1"/>
          <p:nvPr/>
        </p:nvSpPr>
        <p:spPr>
          <a:xfrm>
            <a:off x="-899234" y="6152520"/>
            <a:ext cx="6112523" cy="645160"/>
          </a:xfrm>
          <a:prstGeom prst="rect">
            <a:avLst/>
          </a:prstGeom>
          <a:noFill/>
          <a:effectLst/>
        </p:spPr>
        <p:txBody>
          <a:bodyPr wrap="square" rtlCol="0">
            <a:spAutoFit/>
          </a:bodyPr>
          <a:lstStyle/>
          <a:p>
            <a:pPr algn="ctr"/>
            <a:r>
              <a:rPr lang="zh-CN" altLang="en-US" dirty="0">
                <a:latin typeface="Open Sans" panose="020B0606030504020204" pitchFamily="34" charset="0"/>
                <a:ea typeface="Open Sans" panose="020B0606030504020204" pitchFamily="34" charset="0"/>
                <a:cs typeface="Open Sans" panose="020B0606030504020204" pitchFamily="34" charset="0"/>
              </a:rPr>
              <a:t>组</a:t>
            </a:r>
            <a:r>
              <a:rPr lang="zh-CN" altLang="en-US" dirty="0">
                <a:latin typeface="Open Sans" panose="020B0606030504020204" pitchFamily="34" charset="0"/>
                <a:ea typeface="Open Sans" panose="020B0606030504020204" pitchFamily="34" charset="0"/>
                <a:cs typeface="Open Sans" panose="020B0606030504020204" pitchFamily="34" charset="0"/>
              </a:rPr>
              <a:t>名：</a:t>
            </a:r>
            <a:r>
              <a:rPr lang="zh-CN" altLang="en-US" dirty="0">
                <a:latin typeface="Open Sans" panose="020B0606030504020204" pitchFamily="34" charset="0"/>
                <a:ea typeface="Open Sans" panose="020B0606030504020204" pitchFamily="34" charset="0"/>
                <a:cs typeface="Open Sans" panose="020B0606030504020204" pitchFamily="34" charset="0"/>
              </a:rPr>
              <a:t>一点点</a:t>
            </a:r>
            <a:endParaRPr lang="zh-CN" altLang="en-US" dirty="0">
              <a:latin typeface="Open Sans" panose="020B0606030504020204" pitchFamily="34" charset="0"/>
              <a:ea typeface="Open Sans" panose="020B0606030504020204" pitchFamily="34" charset="0"/>
              <a:cs typeface="Open Sans" panose="020B0606030504020204" pitchFamily="34" charset="0"/>
            </a:endParaRPr>
          </a:p>
          <a:p>
            <a:pPr algn="ctr"/>
            <a:r>
              <a:rPr lang="en-US" altLang="zh-CN" dirty="0">
                <a:latin typeface="Open Sans" panose="020B0606030504020204" pitchFamily="34" charset="0"/>
                <a:ea typeface="Open Sans" panose="020B0606030504020204" pitchFamily="34" charset="0"/>
                <a:cs typeface="Open Sans" panose="020B0606030504020204" pitchFamily="34" charset="0"/>
              </a:rPr>
              <a:t>[陆之东 乐雅馨 冯圣飞 杭慧丽 王莹]</a:t>
            </a:r>
            <a:endParaRPr lang="en-US" altLang="zh-CN" dirty="0">
              <a:latin typeface="Open Sans" panose="020B0606030504020204" pitchFamily="34" charset="0"/>
              <a:ea typeface="Open Sans" panose="020B0606030504020204" pitchFamily="34" charset="0"/>
              <a:cs typeface="Open Sans" panose="020B0606030504020204" pitchFamily="34" charset="0"/>
            </a:endParaRPr>
          </a:p>
        </p:txBody>
      </p:sp>
      <p:sp>
        <p:nvSpPr>
          <p:cNvPr id="4" name="对角圆角矩形 3"/>
          <p:cNvSpPr/>
          <p:nvPr/>
        </p:nvSpPr>
        <p:spPr>
          <a:xfrm>
            <a:off x="2398764" y="3763310"/>
            <a:ext cx="8167636" cy="1883847"/>
          </a:xfrm>
          <a:prstGeom prst="round2DiagRect">
            <a:avLst/>
          </a:prstGeom>
          <a:solidFill>
            <a:schemeClr val="accent1">
              <a:lumMod val="20000"/>
              <a:lumOff val="80000"/>
              <a:alpha val="50000"/>
            </a:schemeClr>
          </a:solidFill>
          <a:effectLst>
            <a:glow>
              <a:schemeClr val="accent1">
                <a:lumMod val="20000"/>
                <a:lumOff val="8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5988905" y="4967890"/>
            <a:ext cx="163773" cy="163773"/>
          </a:xfrm>
          <a:prstGeom prst="ellipse">
            <a:avLst/>
          </a:prstGeom>
          <a:solidFill>
            <a:srgbClr val="C991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9" name="文本框 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txBox="1"/>
          <p:nvPr/>
        </p:nvSpPr>
        <p:spPr>
          <a:xfrm>
            <a:off x="1413248" y="3708165"/>
            <a:ext cx="9679034" cy="1938992"/>
          </a:xfrm>
          <a:prstGeom prst="rect">
            <a:avLst/>
          </a:prstGeom>
          <a:noFill/>
        </p:spPr>
        <p:txBody>
          <a:bodyPr wrap="square" rtlCol="0">
            <a:spAutoFit/>
          </a:bodyPr>
          <a:lstStyle/>
          <a:p>
            <a:pPr algn="ctr"/>
            <a:r>
              <a:rPr lang="en-US" altLang="zh-CN" sz="6000" b="1" dirty="0">
                <a:ln w="6600">
                  <a:solidFill>
                    <a:schemeClr val="accent2"/>
                  </a:solidFill>
                  <a:prstDash val="solid"/>
                </a:ln>
                <a:solidFill>
                  <a:srgbClr val="FFFFFF"/>
                </a:solidFill>
                <a:effectLst>
                  <a:outerShdw dist="38100" dir="2700000" algn="tl" rotWithShape="0">
                    <a:schemeClr val="accent2"/>
                  </a:outerShdw>
                </a:effectLst>
                <a:latin typeface="Tekton Pro" panose="020F0603020208020904" pitchFamily="34" charset="0"/>
                <a:ea typeface="Open Sans" panose="020B0606030504020204" pitchFamily="34" charset="0"/>
                <a:cs typeface="Open Sans" panose="020B0606030504020204" pitchFamily="34" charset="0"/>
              </a:rPr>
              <a:t>Corporate  Investment  Decision-making</a:t>
            </a:r>
            <a:endParaRPr lang="zh-CN" altLang="en-US" sz="6000" b="1" dirty="0">
              <a:ln w="6600">
                <a:solidFill>
                  <a:schemeClr val="accent2"/>
                </a:solidFill>
                <a:prstDash val="solid"/>
              </a:ln>
              <a:solidFill>
                <a:srgbClr val="FFFFFF"/>
              </a:solidFill>
              <a:effectLst>
                <a:outerShdw dist="38100" dir="2700000" algn="tl" rotWithShape="0">
                  <a:schemeClr val="accent2"/>
                </a:outerShdw>
              </a:effectLst>
              <a:latin typeface="Tekton Pro" panose="020F0603020208020904" pitchFamily="34" charset="0"/>
              <a:ea typeface="Microsoft YaHei UI" panose="020B0503020204020204" pitchFamily="34" charset="-122"/>
              <a:cs typeface="Open Sans" panose="020B0606030504020204" pitchFamily="34" charset="0"/>
            </a:endParaRPr>
          </a:p>
        </p:txBody>
      </p:sp>
      <p:sp>
        <p:nvSpPr>
          <p:cNvPr id="13" name="任意多边形 1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252765" y="5049672"/>
            <a:ext cx="3125338"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任意多边形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H="1">
            <a:off x="2722253" y="5049672"/>
            <a:ext cx="3125338"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任意多边形 1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444722" y="1229345"/>
            <a:ext cx="1844087"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9890985" y="2506669"/>
            <a:ext cx="1844087"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flipV="1">
            <a:off x="1129879" y="3538790"/>
            <a:ext cx="738134" cy="464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任意多边形 2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8511647" y="1394150"/>
            <a:ext cx="738134"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任意多边形 2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flipV="1">
            <a:off x="2736345" y="2517530"/>
            <a:ext cx="1096722" cy="464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任意多边形 2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7641558" y="3748582"/>
            <a:ext cx="738134"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slow" p14:dur="1400" advClick="0" advTm="0">
        <p14:ripple/>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63" presetClass="path" presetSubtype="0" accel="50000" decel="50000" fill="hold" grpId="1" nodeType="withEffect">
                                  <p:stCondLst>
                                    <p:cond delay="0"/>
                                  </p:stCondLst>
                                  <p:childTnLst>
                                    <p:animMotion origin="layout" path="M 6.25E-7 3.33333E-6 L 0.23932 3.33333E-6 " pathEditMode="relative" rAng="0" ptsTypes="AA">
                                      <p:cBhvr>
                                        <p:cTn id="9" dur="2000" fill="hold"/>
                                        <p:tgtEl>
                                          <p:spTgt spid="18"/>
                                        </p:tgtEl>
                                        <p:attrNameLst>
                                          <p:attrName>ppt_x</p:attrName>
                                          <p:attrName>ppt_y</p:attrName>
                                        </p:attrNameLst>
                                      </p:cBhvr>
                                      <p:rCtr x="11966" y="0"/>
                                    </p:animMotion>
                                  </p:childTnLst>
                                </p:cTn>
                              </p:par>
                              <p:par>
                                <p:cTn id="10" presetID="10" presetClass="exit" presetSubtype="0" fill="hold" grpId="2" nodeType="withEffect">
                                  <p:stCondLst>
                                    <p:cond delay="1500"/>
                                  </p:stCondLst>
                                  <p:childTnLst>
                                    <p:animEffect transition="out" filter="fade">
                                      <p:cBhvr>
                                        <p:cTn id="11" dur="500"/>
                                        <p:tgtEl>
                                          <p:spTgt spid="18"/>
                                        </p:tgtEl>
                                      </p:cBhvr>
                                    </p:animEffect>
                                    <p:set>
                                      <p:cBhvr>
                                        <p:cTn id="12" dur="1" fill="hold">
                                          <p:stCondLst>
                                            <p:cond delay="499"/>
                                          </p:stCondLst>
                                        </p:cTn>
                                        <p:tgtEl>
                                          <p:spTgt spid="18"/>
                                        </p:tgtEl>
                                        <p:attrNameLst>
                                          <p:attrName>style.visibility</p:attrName>
                                        </p:attrNameLst>
                                      </p:cBhvr>
                                      <p:to>
                                        <p:strVal val="hidden"/>
                                      </p:to>
                                    </p:set>
                                  </p:childTnLst>
                                </p:cTn>
                              </p:par>
                              <p:par>
                                <p:cTn id="13" presetID="10" presetClass="entr" presetSubtype="0"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par>
                                <p:cTn id="16" presetID="63" presetClass="path" presetSubtype="0" accel="50000" decel="50000" fill="hold" grpId="1" nodeType="withEffect">
                                  <p:stCondLst>
                                    <p:cond delay="500"/>
                                  </p:stCondLst>
                                  <p:childTnLst>
                                    <p:animMotion origin="layout" path="M 2.91667E-6 3.33333E-6 L 0.16002 3.33333E-6 " pathEditMode="relative" rAng="0" ptsTypes="AA">
                                      <p:cBhvr>
                                        <p:cTn id="17" dur="2000" fill="hold"/>
                                        <p:tgtEl>
                                          <p:spTgt spid="25"/>
                                        </p:tgtEl>
                                        <p:attrNameLst>
                                          <p:attrName>ppt_x</p:attrName>
                                          <p:attrName>ppt_y</p:attrName>
                                        </p:attrNameLst>
                                      </p:cBhvr>
                                      <p:rCtr x="7995" y="0"/>
                                    </p:animMotion>
                                  </p:childTnLst>
                                </p:cTn>
                              </p:par>
                              <p:par>
                                <p:cTn id="18" presetID="10" presetClass="exit" presetSubtype="0" fill="hold" grpId="2" nodeType="withEffect">
                                  <p:stCondLst>
                                    <p:cond delay="2000"/>
                                  </p:stCondLst>
                                  <p:childTnLst>
                                    <p:animEffect transition="out" filter="fade">
                                      <p:cBhvr>
                                        <p:cTn id="19" dur="500"/>
                                        <p:tgtEl>
                                          <p:spTgt spid="25"/>
                                        </p:tgtEl>
                                      </p:cBhvr>
                                    </p:animEffect>
                                    <p:set>
                                      <p:cBhvr>
                                        <p:cTn id="20" dur="1" fill="hold">
                                          <p:stCondLst>
                                            <p:cond delay="499"/>
                                          </p:stCondLst>
                                        </p:cTn>
                                        <p:tgtEl>
                                          <p:spTgt spid="25"/>
                                        </p:tgtEl>
                                        <p:attrNameLst>
                                          <p:attrName>style.visibility</p:attrName>
                                        </p:attrNameLst>
                                      </p:cBhvr>
                                      <p:to>
                                        <p:strVal val="hidden"/>
                                      </p:to>
                                    </p:set>
                                  </p:childTnLst>
                                </p:cTn>
                              </p:par>
                              <p:par>
                                <p:cTn id="21" presetID="10" presetClass="entr" presetSubtype="0" fill="hold" grpId="0" nodeType="withEffect">
                                  <p:stCondLst>
                                    <p:cond delay="75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par>
                                <p:cTn id="24" presetID="63" presetClass="path" presetSubtype="0" accel="50000" decel="50000" fill="hold" grpId="1" nodeType="withEffect">
                                  <p:stCondLst>
                                    <p:cond delay="750"/>
                                  </p:stCondLst>
                                  <p:childTnLst>
                                    <p:animMotion origin="layout" path="M 3.33333E-6 -2.96296E-6 L 0.28372 -2.96296E-6 " pathEditMode="relative" rAng="0" ptsTypes="AA">
                                      <p:cBhvr>
                                        <p:cTn id="25" dur="2000" fill="hold"/>
                                        <p:tgtEl>
                                          <p:spTgt spid="23"/>
                                        </p:tgtEl>
                                        <p:attrNameLst>
                                          <p:attrName>ppt_x</p:attrName>
                                          <p:attrName>ppt_y</p:attrName>
                                        </p:attrNameLst>
                                      </p:cBhvr>
                                      <p:rCtr x="14180" y="0"/>
                                    </p:animMotion>
                                  </p:childTnLst>
                                </p:cTn>
                              </p:par>
                              <p:par>
                                <p:cTn id="26" presetID="10" presetClass="exit" presetSubtype="0" fill="hold" grpId="2" nodeType="withEffect">
                                  <p:stCondLst>
                                    <p:cond delay="2250"/>
                                  </p:stCondLst>
                                  <p:childTnLst>
                                    <p:animEffect transition="out" filter="fade">
                                      <p:cBhvr>
                                        <p:cTn id="27" dur="500"/>
                                        <p:tgtEl>
                                          <p:spTgt spid="23"/>
                                        </p:tgtEl>
                                      </p:cBhvr>
                                    </p:animEffect>
                                    <p:set>
                                      <p:cBhvr>
                                        <p:cTn id="28" dur="1" fill="hold">
                                          <p:stCondLst>
                                            <p:cond delay="499"/>
                                          </p:stCondLst>
                                        </p:cTn>
                                        <p:tgtEl>
                                          <p:spTgt spid="23"/>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00"/>
                                        <p:tgtEl>
                                          <p:spTgt spid="19"/>
                                        </p:tgtEl>
                                      </p:cBhvr>
                                    </p:animEffect>
                                  </p:childTnLst>
                                </p:cTn>
                              </p:par>
                              <p:par>
                                <p:cTn id="32" presetID="63" presetClass="path" presetSubtype="0" accel="50000" decel="50000" fill="hold" grpId="1" nodeType="withEffect">
                                  <p:stCondLst>
                                    <p:cond delay="0"/>
                                  </p:stCondLst>
                                  <p:childTnLst>
                                    <p:animMotion origin="layout" path="M 1.04167E-6 7.40741E-7 L -0.22982 7.40741E-7 " pathEditMode="relative" rAng="0" ptsTypes="AA">
                                      <p:cBhvr>
                                        <p:cTn id="33" dur="2000" fill="hold"/>
                                        <p:tgtEl>
                                          <p:spTgt spid="19"/>
                                        </p:tgtEl>
                                        <p:attrNameLst>
                                          <p:attrName>ppt_x</p:attrName>
                                          <p:attrName>ppt_y</p:attrName>
                                        </p:attrNameLst>
                                      </p:cBhvr>
                                      <p:rCtr x="-11497" y="0"/>
                                    </p:animMotion>
                                  </p:childTnLst>
                                </p:cTn>
                              </p:par>
                              <p:par>
                                <p:cTn id="34" presetID="10" presetClass="exit" presetSubtype="0" fill="hold" grpId="2" nodeType="withEffect">
                                  <p:stCondLst>
                                    <p:cond delay="1500"/>
                                  </p:stCondLst>
                                  <p:childTnLst>
                                    <p:animEffect transition="out" filter="fade">
                                      <p:cBhvr>
                                        <p:cTn id="35" dur="500"/>
                                        <p:tgtEl>
                                          <p:spTgt spid="19"/>
                                        </p:tgtEl>
                                      </p:cBhvr>
                                    </p:animEffect>
                                    <p:set>
                                      <p:cBhvr>
                                        <p:cTn id="36" dur="1" fill="hold">
                                          <p:stCondLst>
                                            <p:cond delay="499"/>
                                          </p:stCondLst>
                                        </p:cTn>
                                        <p:tgtEl>
                                          <p:spTgt spid="19"/>
                                        </p:tgtEl>
                                        <p:attrNameLst>
                                          <p:attrName>style.visibility</p:attrName>
                                        </p:attrNameLst>
                                      </p:cBhvr>
                                      <p:to>
                                        <p:strVal val="hidden"/>
                                      </p:to>
                                    </p:set>
                                  </p:childTnLst>
                                </p:cTn>
                              </p:par>
                              <p:par>
                                <p:cTn id="37" presetID="10" presetClass="entr" presetSubtype="0" fill="hold" grpId="0" nodeType="withEffect">
                                  <p:stCondLst>
                                    <p:cond delay="75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par>
                                <p:cTn id="40" presetID="63" presetClass="path" presetSubtype="0" accel="50000" decel="50000" fill="hold" grpId="1" nodeType="withEffect">
                                  <p:stCondLst>
                                    <p:cond delay="750"/>
                                  </p:stCondLst>
                                  <p:childTnLst>
                                    <p:animMotion origin="layout" path="M 4.58333E-6 -1.48148E-6 L -0.1168 -1.48148E-6 " pathEditMode="relative" rAng="0" ptsTypes="AA">
                                      <p:cBhvr>
                                        <p:cTn id="41" dur="2000" fill="hold"/>
                                        <p:tgtEl>
                                          <p:spTgt spid="24"/>
                                        </p:tgtEl>
                                        <p:attrNameLst>
                                          <p:attrName>ppt_x</p:attrName>
                                          <p:attrName>ppt_y</p:attrName>
                                        </p:attrNameLst>
                                      </p:cBhvr>
                                      <p:rCtr x="-5846" y="0"/>
                                    </p:animMotion>
                                  </p:childTnLst>
                                </p:cTn>
                              </p:par>
                              <p:par>
                                <p:cTn id="42" presetID="10" presetClass="exit" presetSubtype="0" fill="hold" grpId="2" nodeType="withEffect">
                                  <p:stCondLst>
                                    <p:cond delay="2250"/>
                                  </p:stCondLst>
                                  <p:childTnLst>
                                    <p:animEffect transition="out" filter="fade">
                                      <p:cBhvr>
                                        <p:cTn id="43" dur="500"/>
                                        <p:tgtEl>
                                          <p:spTgt spid="24"/>
                                        </p:tgtEl>
                                      </p:cBhvr>
                                    </p:animEffect>
                                    <p:set>
                                      <p:cBhvr>
                                        <p:cTn id="44" dur="1" fill="hold">
                                          <p:stCondLst>
                                            <p:cond delay="499"/>
                                          </p:stCondLst>
                                        </p:cTn>
                                        <p:tgtEl>
                                          <p:spTgt spid="24"/>
                                        </p:tgtEl>
                                        <p:attrNameLst>
                                          <p:attrName>style.visibility</p:attrName>
                                        </p:attrNameLst>
                                      </p:cBhvr>
                                      <p:to>
                                        <p:strVal val="hidden"/>
                                      </p:to>
                                    </p:set>
                                  </p:childTnLst>
                                </p:cTn>
                              </p:par>
                              <p:par>
                                <p:cTn id="45" presetID="10" presetClass="entr" presetSubtype="0" fill="hold" grpId="0" nodeType="withEffect">
                                  <p:stCondLst>
                                    <p:cond delay="500"/>
                                  </p:stCondLst>
                                  <p:childTnLst>
                                    <p:set>
                                      <p:cBhvr>
                                        <p:cTn id="46" dur="1" fill="hold">
                                          <p:stCondLst>
                                            <p:cond delay="0"/>
                                          </p:stCondLst>
                                        </p:cTn>
                                        <p:tgtEl>
                                          <p:spTgt spid="26"/>
                                        </p:tgtEl>
                                        <p:attrNameLst>
                                          <p:attrName>style.visibility</p:attrName>
                                        </p:attrNameLst>
                                      </p:cBhvr>
                                      <p:to>
                                        <p:strVal val="visible"/>
                                      </p:to>
                                    </p:set>
                                    <p:animEffect transition="in" filter="fade">
                                      <p:cBhvr>
                                        <p:cTn id="47" dur="500"/>
                                        <p:tgtEl>
                                          <p:spTgt spid="26"/>
                                        </p:tgtEl>
                                      </p:cBhvr>
                                    </p:animEffect>
                                  </p:childTnLst>
                                </p:cTn>
                              </p:par>
                              <p:par>
                                <p:cTn id="48" presetID="63" presetClass="path" presetSubtype="0" accel="50000" decel="50000" fill="hold" grpId="1" nodeType="withEffect">
                                  <p:stCondLst>
                                    <p:cond delay="500"/>
                                  </p:stCondLst>
                                  <p:childTnLst>
                                    <p:animMotion origin="layout" path="M -1.25E-6 1.48148E-6 L -0.12812 1.48148E-6 " pathEditMode="relative" rAng="0" ptsTypes="AA">
                                      <p:cBhvr>
                                        <p:cTn id="49" dur="2000" fill="hold"/>
                                        <p:tgtEl>
                                          <p:spTgt spid="26"/>
                                        </p:tgtEl>
                                        <p:attrNameLst>
                                          <p:attrName>ppt_x</p:attrName>
                                          <p:attrName>ppt_y</p:attrName>
                                        </p:attrNameLst>
                                      </p:cBhvr>
                                      <p:rCtr x="-6406" y="0"/>
                                    </p:animMotion>
                                  </p:childTnLst>
                                </p:cTn>
                              </p:par>
                              <p:par>
                                <p:cTn id="50" presetID="10" presetClass="exit" presetSubtype="0" fill="hold" grpId="2" nodeType="withEffect">
                                  <p:stCondLst>
                                    <p:cond delay="2000"/>
                                  </p:stCondLst>
                                  <p:childTnLst>
                                    <p:animEffect transition="out" filter="fade">
                                      <p:cBhvr>
                                        <p:cTn id="51" dur="500"/>
                                        <p:tgtEl>
                                          <p:spTgt spid="26"/>
                                        </p:tgtEl>
                                      </p:cBhvr>
                                    </p:animEffect>
                                    <p:set>
                                      <p:cBhvr>
                                        <p:cTn id="52" dur="1" fill="hold">
                                          <p:stCondLst>
                                            <p:cond delay="499"/>
                                          </p:stCondLst>
                                        </p:cTn>
                                        <p:tgtEl>
                                          <p:spTgt spid="2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53" presetClass="entr" presetSubtype="16" fill="hold" grpId="0" nodeType="withEffect">
                                  <p:stCondLst>
                                    <p:cond delay="1000"/>
                                  </p:stCondLst>
                                  <p:childTnLst>
                                    <p:set>
                                      <p:cBhvr>
                                        <p:cTn id="58" dur="1" fill="hold">
                                          <p:stCondLst>
                                            <p:cond delay="0"/>
                                          </p:stCondLst>
                                        </p:cTn>
                                        <p:tgtEl>
                                          <p:spTgt spid="14"/>
                                        </p:tgtEl>
                                        <p:attrNameLst>
                                          <p:attrName>style.visibility</p:attrName>
                                        </p:attrNameLst>
                                      </p:cBhvr>
                                      <p:to>
                                        <p:strVal val="visible"/>
                                      </p:to>
                                    </p:set>
                                    <p:anim calcmode="lin" valueType="num">
                                      <p:cBhvr>
                                        <p:cTn id="59" dur="2000" fill="hold"/>
                                        <p:tgtEl>
                                          <p:spTgt spid="14"/>
                                        </p:tgtEl>
                                        <p:attrNameLst>
                                          <p:attrName>ppt_w</p:attrName>
                                        </p:attrNameLst>
                                      </p:cBhvr>
                                      <p:tavLst>
                                        <p:tav tm="0">
                                          <p:val>
                                            <p:fltVal val="0"/>
                                          </p:val>
                                        </p:tav>
                                        <p:tav tm="100000">
                                          <p:val>
                                            <p:strVal val="#ppt_w"/>
                                          </p:val>
                                        </p:tav>
                                      </p:tavLst>
                                    </p:anim>
                                    <p:anim calcmode="lin" valueType="num">
                                      <p:cBhvr>
                                        <p:cTn id="60" dur="2000" fill="hold"/>
                                        <p:tgtEl>
                                          <p:spTgt spid="14"/>
                                        </p:tgtEl>
                                        <p:attrNameLst>
                                          <p:attrName>ppt_h</p:attrName>
                                        </p:attrNameLst>
                                      </p:cBhvr>
                                      <p:tavLst>
                                        <p:tav tm="0">
                                          <p:val>
                                            <p:fltVal val="0"/>
                                          </p:val>
                                        </p:tav>
                                        <p:tav tm="100000">
                                          <p:val>
                                            <p:strVal val="#ppt_h"/>
                                          </p:val>
                                        </p:tav>
                                      </p:tavLst>
                                    </p:anim>
                                    <p:animEffect transition="in" filter="fade">
                                      <p:cBhvr>
                                        <p:cTn id="61" dur="2000"/>
                                        <p:tgtEl>
                                          <p:spTgt spid="14"/>
                                        </p:tgtEl>
                                      </p:cBhvr>
                                    </p:animEffect>
                                  </p:childTnLst>
                                </p:cTn>
                              </p:par>
                              <p:par>
                                <p:cTn id="62" presetID="42" presetClass="path" presetSubtype="0" accel="50000" decel="50000" fill="hold" grpId="1" nodeType="withEffect">
                                  <p:stCondLst>
                                    <p:cond delay="1000"/>
                                  </p:stCondLst>
                                  <p:childTnLst>
                                    <p:animMotion origin="layout" path="M -0.11302 0.00047 L -2.29167E-6 -2.59259E-6 " pathEditMode="relative" rAng="0" ptsTypes="AA">
                                      <p:cBhvr>
                                        <p:cTn id="63" dur="2000" fill="hold"/>
                                        <p:tgtEl>
                                          <p:spTgt spid="14"/>
                                        </p:tgtEl>
                                        <p:attrNameLst>
                                          <p:attrName>ppt_x</p:attrName>
                                          <p:attrName>ppt_y</p:attrName>
                                        </p:attrNameLst>
                                      </p:cBhvr>
                                      <p:rCtr x="5651" y="-23"/>
                                    </p:animMotion>
                                  </p:childTnLst>
                                </p:cTn>
                              </p:par>
                              <p:par>
                                <p:cTn id="64" presetID="53" presetClass="entr" presetSubtype="16" fill="hold" grpId="0" nodeType="withEffect">
                                  <p:stCondLst>
                                    <p:cond delay="1000"/>
                                  </p:stCondLst>
                                  <p:childTnLst>
                                    <p:set>
                                      <p:cBhvr>
                                        <p:cTn id="65" dur="1" fill="hold">
                                          <p:stCondLst>
                                            <p:cond delay="0"/>
                                          </p:stCondLst>
                                        </p:cTn>
                                        <p:tgtEl>
                                          <p:spTgt spid="13"/>
                                        </p:tgtEl>
                                        <p:attrNameLst>
                                          <p:attrName>style.visibility</p:attrName>
                                        </p:attrNameLst>
                                      </p:cBhvr>
                                      <p:to>
                                        <p:strVal val="visible"/>
                                      </p:to>
                                    </p:set>
                                    <p:anim calcmode="lin" valueType="num">
                                      <p:cBhvr>
                                        <p:cTn id="66" dur="2000" fill="hold"/>
                                        <p:tgtEl>
                                          <p:spTgt spid="13"/>
                                        </p:tgtEl>
                                        <p:attrNameLst>
                                          <p:attrName>ppt_w</p:attrName>
                                        </p:attrNameLst>
                                      </p:cBhvr>
                                      <p:tavLst>
                                        <p:tav tm="0">
                                          <p:val>
                                            <p:fltVal val="0"/>
                                          </p:val>
                                        </p:tav>
                                        <p:tav tm="100000">
                                          <p:val>
                                            <p:strVal val="#ppt_w"/>
                                          </p:val>
                                        </p:tav>
                                      </p:tavLst>
                                    </p:anim>
                                    <p:anim calcmode="lin" valueType="num">
                                      <p:cBhvr>
                                        <p:cTn id="67" dur="2000" fill="hold"/>
                                        <p:tgtEl>
                                          <p:spTgt spid="13"/>
                                        </p:tgtEl>
                                        <p:attrNameLst>
                                          <p:attrName>ppt_h</p:attrName>
                                        </p:attrNameLst>
                                      </p:cBhvr>
                                      <p:tavLst>
                                        <p:tav tm="0">
                                          <p:val>
                                            <p:fltVal val="0"/>
                                          </p:val>
                                        </p:tav>
                                        <p:tav tm="100000">
                                          <p:val>
                                            <p:strVal val="#ppt_h"/>
                                          </p:val>
                                        </p:tav>
                                      </p:tavLst>
                                    </p:anim>
                                    <p:animEffect transition="in" filter="fade">
                                      <p:cBhvr>
                                        <p:cTn id="68" dur="2000"/>
                                        <p:tgtEl>
                                          <p:spTgt spid="13"/>
                                        </p:tgtEl>
                                      </p:cBhvr>
                                    </p:animEffect>
                                  </p:childTnLst>
                                </p:cTn>
                              </p:par>
                              <p:par>
                                <p:cTn id="69" presetID="42" presetClass="path" presetSubtype="0" accel="50000" decel="50000" fill="hold" grpId="1" nodeType="withEffect">
                                  <p:stCondLst>
                                    <p:cond delay="1000"/>
                                  </p:stCondLst>
                                  <p:childTnLst>
                                    <p:animMotion origin="layout" path="M 0.1138 -2.59259E-6 L 4.375E-6 -2.59259E-6 " pathEditMode="relative" rAng="0" ptsTypes="AA">
                                      <p:cBhvr>
                                        <p:cTn id="70" dur="2000" fill="hold"/>
                                        <p:tgtEl>
                                          <p:spTgt spid="13"/>
                                        </p:tgtEl>
                                        <p:attrNameLst>
                                          <p:attrName>ppt_x</p:attrName>
                                          <p:attrName>ppt_y</p:attrName>
                                        </p:attrNameLst>
                                      </p:cBhvr>
                                      <p:rCtr x="-5690" y="0"/>
                                    </p:animMotion>
                                  </p:childTnLst>
                                </p:cTn>
                              </p:par>
                              <p:par>
                                <p:cTn id="71" presetID="53" presetClass="entr" presetSubtype="16" fill="hold" grpId="0" nodeType="withEffect">
                                  <p:stCondLst>
                                    <p:cond delay="2000"/>
                                  </p:stCondLst>
                                  <p:childTnLst>
                                    <p:set>
                                      <p:cBhvr>
                                        <p:cTn id="72" dur="1" fill="hold">
                                          <p:stCondLst>
                                            <p:cond delay="0"/>
                                          </p:stCondLst>
                                        </p:cTn>
                                        <p:tgtEl>
                                          <p:spTgt spid="12"/>
                                        </p:tgtEl>
                                        <p:attrNameLst>
                                          <p:attrName>style.visibility</p:attrName>
                                        </p:attrNameLst>
                                      </p:cBhvr>
                                      <p:to>
                                        <p:strVal val="visible"/>
                                      </p:to>
                                    </p:set>
                                    <p:anim calcmode="lin" valueType="num">
                                      <p:cBhvr>
                                        <p:cTn id="73" dur="500" fill="hold"/>
                                        <p:tgtEl>
                                          <p:spTgt spid="12"/>
                                        </p:tgtEl>
                                        <p:attrNameLst>
                                          <p:attrName>ppt_w</p:attrName>
                                        </p:attrNameLst>
                                      </p:cBhvr>
                                      <p:tavLst>
                                        <p:tav tm="0">
                                          <p:val>
                                            <p:fltVal val="0"/>
                                          </p:val>
                                        </p:tav>
                                        <p:tav tm="100000">
                                          <p:val>
                                            <p:strVal val="#ppt_w"/>
                                          </p:val>
                                        </p:tav>
                                      </p:tavLst>
                                    </p:anim>
                                    <p:anim calcmode="lin" valueType="num">
                                      <p:cBhvr>
                                        <p:cTn id="74" dur="500" fill="hold"/>
                                        <p:tgtEl>
                                          <p:spTgt spid="12"/>
                                        </p:tgtEl>
                                        <p:attrNameLst>
                                          <p:attrName>ppt_h</p:attrName>
                                        </p:attrNameLst>
                                      </p:cBhvr>
                                      <p:tavLst>
                                        <p:tav tm="0">
                                          <p:val>
                                            <p:fltVal val="0"/>
                                          </p:val>
                                        </p:tav>
                                        <p:tav tm="100000">
                                          <p:val>
                                            <p:strVal val="#ppt_h"/>
                                          </p:val>
                                        </p:tav>
                                      </p:tavLst>
                                    </p:anim>
                                    <p:animEffect transition="in" filter="fade">
                                      <p:cBhvr>
                                        <p:cTn id="75" dur="500"/>
                                        <p:tgtEl>
                                          <p:spTgt spid="12"/>
                                        </p:tgtEl>
                                      </p:cBhvr>
                                    </p:animEffect>
                                  </p:childTnLst>
                                </p:cTn>
                              </p:par>
                              <p:par>
                                <p:cTn id="76" presetID="22" presetClass="entr" presetSubtype="1" fill="hold" grpId="0" nodeType="withEffect">
                                  <p:stCondLst>
                                    <p:cond delay="3000"/>
                                  </p:stCondLst>
                                  <p:childTnLst>
                                    <p:set>
                                      <p:cBhvr>
                                        <p:cTn id="77" dur="1" fill="hold">
                                          <p:stCondLst>
                                            <p:cond delay="0"/>
                                          </p:stCondLst>
                                        </p:cTn>
                                        <p:tgtEl>
                                          <p:spTgt spid="10"/>
                                        </p:tgtEl>
                                        <p:attrNameLst>
                                          <p:attrName>style.visibility</p:attrName>
                                        </p:attrNameLst>
                                      </p:cBhvr>
                                      <p:to>
                                        <p:strVal val="visible"/>
                                      </p:to>
                                    </p:set>
                                    <p:animEffect transition="in" filter="wipe(up)">
                                      <p:cBhvr>
                                        <p:cTn id="7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animBg="1"/>
      <p:bldP spid="9" grpId="0"/>
      <p:bldP spid="13" grpId="0" animBg="1"/>
      <p:bldP spid="13" grpId="1" animBg="1"/>
      <p:bldP spid="14" grpId="0" animBg="1"/>
      <p:bldP spid="14" grpId="1" animBg="1"/>
      <p:bldP spid="18" grpId="0" animBg="1"/>
      <p:bldP spid="18" grpId="1" animBg="1"/>
      <p:bldP spid="18" grpId="2" animBg="1"/>
      <p:bldP spid="19" grpId="0" animBg="1"/>
      <p:bldP spid="19" grpId="1" animBg="1"/>
      <p:bldP spid="19" grpId="2" animBg="1"/>
      <p:bldP spid="23" grpId="0" animBg="1"/>
      <p:bldP spid="23" grpId="1" animBg="1"/>
      <p:bldP spid="23" grpId="2" animBg="1"/>
      <p:bldP spid="24" grpId="0" animBg="1"/>
      <p:bldP spid="24" grpId="1" animBg="1"/>
      <p:bldP spid="24" grpId="2" animBg="1"/>
      <p:bldP spid="25" grpId="0" animBg="1"/>
      <p:bldP spid="25" grpId="1" animBg="1"/>
      <p:bldP spid="25" grpId="2" animBg="1"/>
      <p:bldP spid="26" grpId="0" animBg="1"/>
      <p:bldP spid="26" grpId="1" animBg="1"/>
      <p:bldP spid="26" grpId="2"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8" name="图片 3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rot="2700000">
            <a:off x="1203860" y="-2734017"/>
            <a:ext cx="5249840" cy="5214842"/>
          </a:xfrm>
          <a:prstGeom prst="rect">
            <a:avLst/>
          </a:prstGeom>
        </p:spPr>
      </p:pic>
      <p:sp>
        <p:nvSpPr>
          <p:cNvPr id="15" name="任意多边形 1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flipV="1">
            <a:off x="1531401" y="1204637"/>
            <a:ext cx="4594758" cy="7779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w="28575">
            <a:gradFill>
              <a:gsLst>
                <a:gs pos="49500">
                  <a:srgbClr val="DFA117"/>
                </a:gs>
                <a:gs pos="0">
                  <a:srgbClr val="C99115">
                    <a:alpha val="0"/>
                  </a:srgbClr>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矩形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634991" y="522535"/>
            <a:ext cx="2387577" cy="646331"/>
          </a:xfrm>
          <a:prstGeom prst="rect">
            <a:avLst/>
          </a:prstGeom>
        </p:spPr>
        <p:txBody>
          <a:bodyPr wrap="none">
            <a:spAutoFit/>
          </a:bodyPr>
          <a:lstStyle/>
          <a:p>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CONTENTS</a:t>
            </a:r>
            <a:endParaRPr lang="zh-CN" altLang="en-US" sz="3600" dirty="0">
              <a:solidFill>
                <a:prstClr val="black"/>
              </a:solidFill>
            </a:endParaRPr>
          </a:p>
        </p:txBody>
      </p:sp>
      <p:sp>
        <p:nvSpPr>
          <p:cNvPr id="16" name="任意多边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1765892" y="3499718"/>
            <a:ext cx="770951" cy="16891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1514254" y="3322564"/>
            <a:ext cx="556563" cy="523220"/>
          </a:xfrm>
          <a:prstGeom prst="rect">
            <a:avLst/>
          </a:prstGeom>
        </p:spPr>
        <p:txBody>
          <a:bodyPr wrap="none">
            <a:spAutoFit/>
          </a:bodyPr>
          <a:lstStyle/>
          <a:p>
            <a:r>
              <a:rPr lang="en-US" altLang="zh-CN"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01</a:t>
            </a:r>
            <a:endParaRPr lang="zh-CN" altLang="en-US" sz="2800" dirty="0">
              <a:solidFill>
                <a:prstClr val="black"/>
              </a:solidFill>
              <a:latin typeface="Open Sans" panose="020B0606030504020204" pitchFamily="34" charset="0"/>
              <a:cs typeface="Open Sans" panose="020B0606030504020204" pitchFamily="34" charset="0"/>
            </a:endParaRPr>
          </a:p>
        </p:txBody>
      </p:sp>
      <p:sp>
        <p:nvSpPr>
          <p:cNvPr id="20" name="矩形 19"/>
          <p:cNvSpPr/>
          <p:nvPr/>
        </p:nvSpPr>
        <p:spPr>
          <a:xfrm>
            <a:off x="2244725" y="3074670"/>
            <a:ext cx="308419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dirty="0">
                <a:solidFill>
                  <a:srgbClr val="DFA117"/>
                </a:solidFill>
                <a:latin typeface="Open Sans" panose="020B0606030504020204" pitchFamily="34" charset="0"/>
                <a:ea typeface="Open Sans" panose="020B0606030504020204" pitchFamily="34" charset="0"/>
                <a:cs typeface="Open Sans" panose="020B0606030504020204" pitchFamily="34" charset="0"/>
              </a:rPr>
              <a:t>Description</a:t>
            </a:r>
            <a:endParaRPr lang="en-US" altLang="zh-CN" sz="280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1775059" y="5153271"/>
            <a:ext cx="770951" cy="16891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24" name="矩形 2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1523421" y="4976117"/>
            <a:ext cx="556563" cy="523220"/>
          </a:xfrm>
          <a:prstGeom prst="rect">
            <a:avLst/>
          </a:prstGeom>
        </p:spPr>
        <p:txBody>
          <a:bodyPr wrap="none">
            <a:spAutoFit/>
          </a:bodyPr>
          <a:lstStyle/>
          <a:p>
            <a:r>
              <a:rPr lang="en-US" altLang="zh-CN"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02</a:t>
            </a:r>
            <a:endParaRPr lang="zh-CN" altLang="en-US" sz="2800" dirty="0">
              <a:solidFill>
                <a:prstClr val="black"/>
              </a:solidFill>
              <a:latin typeface="Open Sans" panose="020B0606030504020204" pitchFamily="34" charset="0"/>
              <a:cs typeface="Open Sans" panose="020B0606030504020204" pitchFamily="34" charset="0"/>
            </a:endParaRPr>
          </a:p>
        </p:txBody>
      </p:sp>
      <p:sp>
        <p:nvSpPr>
          <p:cNvPr id="26" name="矩形 25"/>
          <p:cNvSpPr/>
          <p:nvPr/>
        </p:nvSpPr>
        <p:spPr>
          <a:xfrm>
            <a:off x="2254250" y="4728210"/>
            <a:ext cx="308419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rgbClr val="DFA117"/>
                </a:solidFill>
                <a:latin typeface="Open Sans" panose="020B0606030504020204" pitchFamily="34" charset="0"/>
                <a:ea typeface="Open Sans" panose="020B0606030504020204" pitchFamily="34" charset="0"/>
                <a:cs typeface="Open Sans" panose="020B0606030504020204" pitchFamily="34" charset="0"/>
                <a:sym typeface="+mn-ea"/>
              </a:rPr>
              <a:t>Preparation</a:t>
            </a:r>
            <a:endParaRPr lang="en-US" altLang="zh-CN" sz="2800" b="1" dirty="0">
              <a:solidFill>
                <a:srgbClr val="DFA117"/>
              </a:solidFill>
              <a:latin typeface="Open Sans" panose="020B0606030504020204" pitchFamily="34" charset="0"/>
              <a:ea typeface="Open Sans" panose="020B0606030504020204" pitchFamily="34" charset="0"/>
              <a:cs typeface="Open Sans" panose="020B0606030504020204" pitchFamily="34" charset="0"/>
              <a:sym typeface="+mn-ea"/>
            </a:endParaRPr>
          </a:p>
        </p:txBody>
      </p:sp>
      <p:sp>
        <p:nvSpPr>
          <p:cNvPr id="28" name="任意多边形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681360" y="3499718"/>
            <a:ext cx="770951" cy="16891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29" name="矩形 2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429722" y="3322564"/>
            <a:ext cx="556563" cy="523220"/>
          </a:xfrm>
          <a:prstGeom prst="rect">
            <a:avLst/>
          </a:prstGeom>
        </p:spPr>
        <p:txBody>
          <a:bodyPr wrap="none">
            <a:spAutoFit/>
          </a:bodyPr>
          <a:lstStyle/>
          <a:p>
            <a:r>
              <a:rPr lang="en-US" altLang="zh-CN"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03</a:t>
            </a:r>
            <a:endParaRPr lang="zh-CN" altLang="en-US" sz="2800" dirty="0">
              <a:solidFill>
                <a:prstClr val="black"/>
              </a:solidFill>
              <a:latin typeface="Open Sans" panose="020B0606030504020204" pitchFamily="34" charset="0"/>
              <a:cs typeface="Open Sans" panose="020B0606030504020204" pitchFamily="34" charset="0"/>
            </a:endParaRPr>
          </a:p>
        </p:txBody>
      </p:sp>
      <p:sp>
        <p:nvSpPr>
          <p:cNvPr id="31" name="矩形 30"/>
          <p:cNvSpPr/>
          <p:nvPr/>
        </p:nvSpPr>
        <p:spPr>
          <a:xfrm>
            <a:off x="7160260" y="3074670"/>
            <a:ext cx="308419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400" b="1" dirty="0">
                <a:solidFill>
                  <a:srgbClr val="DFA117"/>
                </a:solidFill>
                <a:latin typeface="Open Sans" panose="020B0606030504020204" pitchFamily="34" charset="0"/>
                <a:ea typeface="Open Sans" panose="020B0606030504020204" pitchFamily="34" charset="0"/>
                <a:cs typeface="Open Sans" panose="020B0606030504020204" pitchFamily="34" charset="0"/>
                <a:sym typeface="+mn-ea"/>
              </a:rPr>
              <a:t>The Development Process</a:t>
            </a:r>
            <a:endParaRPr lang="en-US" altLang="zh-CN" sz="2400" b="1" dirty="0">
              <a:solidFill>
                <a:srgbClr val="DFA117"/>
              </a:solidFill>
              <a:latin typeface="Open Sans" panose="020B0606030504020204" pitchFamily="34" charset="0"/>
              <a:ea typeface="Open Sans" panose="020B0606030504020204" pitchFamily="34" charset="0"/>
              <a:cs typeface="Open Sans" panose="020B0606030504020204" pitchFamily="34" charset="0"/>
              <a:sym typeface="+mn-ea"/>
            </a:endParaRPr>
          </a:p>
        </p:txBody>
      </p:sp>
      <p:sp>
        <p:nvSpPr>
          <p:cNvPr id="33" name="任意多边形 3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690527" y="5153271"/>
            <a:ext cx="770951" cy="16891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34" name="矩形 3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438889" y="4976117"/>
            <a:ext cx="556563" cy="523220"/>
          </a:xfrm>
          <a:prstGeom prst="rect">
            <a:avLst/>
          </a:prstGeom>
        </p:spPr>
        <p:txBody>
          <a:bodyPr wrap="none">
            <a:spAutoFit/>
          </a:bodyPr>
          <a:lstStyle/>
          <a:p>
            <a:r>
              <a:rPr lang="en-US" altLang="zh-CN"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04</a:t>
            </a:r>
            <a:endParaRPr lang="zh-CN" altLang="en-US" sz="2800" dirty="0">
              <a:solidFill>
                <a:prstClr val="black"/>
              </a:solidFill>
              <a:latin typeface="Open Sans" panose="020B0606030504020204" pitchFamily="34" charset="0"/>
              <a:cs typeface="Open Sans" panose="020B0606030504020204" pitchFamily="34" charset="0"/>
            </a:endParaRPr>
          </a:p>
        </p:txBody>
      </p:sp>
      <p:sp>
        <p:nvSpPr>
          <p:cNvPr id="36" name="矩形 35"/>
          <p:cNvSpPr/>
          <p:nvPr/>
        </p:nvSpPr>
        <p:spPr>
          <a:xfrm>
            <a:off x="7169785" y="4728210"/>
            <a:ext cx="3084195" cy="6400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rgbClr val="DFA117"/>
                </a:solidFill>
                <a:latin typeface="Open Sans" panose="020B0606030504020204" pitchFamily="34" charset="0"/>
                <a:ea typeface="Open Sans" panose="020B0606030504020204" pitchFamily="34" charset="0"/>
                <a:cs typeface="Open Sans" panose="020B0606030504020204" pitchFamily="34" charset="0"/>
              </a:rPr>
              <a:t>Optimization</a:t>
            </a:r>
            <a:endParaRPr lang="en-US" altLang="zh-CN" sz="2800" b="1"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advClick="0" advTm="0">
        <p15:prstTrans prst="airplane"/>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2000" fill="hold"/>
                                        <p:tgtEl>
                                          <p:spTgt spid="38"/>
                                        </p:tgtEl>
                                        <p:attrNameLst>
                                          <p:attrName>ppt_w</p:attrName>
                                        </p:attrNameLst>
                                      </p:cBhvr>
                                      <p:tavLst>
                                        <p:tav tm="0">
                                          <p:val>
                                            <p:fltVal val="0"/>
                                          </p:val>
                                        </p:tav>
                                        <p:tav tm="100000">
                                          <p:val>
                                            <p:strVal val="#ppt_w"/>
                                          </p:val>
                                        </p:tav>
                                      </p:tavLst>
                                    </p:anim>
                                    <p:anim calcmode="lin" valueType="num">
                                      <p:cBhvr>
                                        <p:cTn id="8" dur="2000" fill="hold"/>
                                        <p:tgtEl>
                                          <p:spTgt spid="38"/>
                                        </p:tgtEl>
                                        <p:attrNameLst>
                                          <p:attrName>ppt_h</p:attrName>
                                        </p:attrNameLst>
                                      </p:cBhvr>
                                      <p:tavLst>
                                        <p:tav tm="0">
                                          <p:val>
                                            <p:fltVal val="0"/>
                                          </p:val>
                                        </p:tav>
                                        <p:tav tm="100000">
                                          <p:val>
                                            <p:strVal val="#ppt_h"/>
                                          </p:val>
                                        </p:tav>
                                      </p:tavLst>
                                    </p:anim>
                                    <p:animEffect transition="in" filter="fade">
                                      <p:cBhvr>
                                        <p:cTn id="9" dur="2000"/>
                                        <p:tgtEl>
                                          <p:spTgt spid="38"/>
                                        </p:tgtEl>
                                      </p:cBhvr>
                                    </p:animEffect>
                                  </p:childTnLst>
                                </p:cTn>
                              </p:par>
                              <p:par>
                                <p:cTn id="10" presetID="42" presetClass="path" presetSubtype="0" accel="50000" decel="50000" autoRev="1" fill="hold" nodeType="withEffect">
                                  <p:stCondLst>
                                    <p:cond delay="0"/>
                                  </p:stCondLst>
                                  <p:childTnLst>
                                    <p:animMotion origin="layout" path="M -2.29167E-6 -2.96296E-6 L -2.29167E-6 0.05348 " pathEditMode="relative" rAng="0" ptsTypes="AA">
                                      <p:cBhvr>
                                        <p:cTn id="11" dur="2000" fill="hold"/>
                                        <p:tgtEl>
                                          <p:spTgt spid="38"/>
                                        </p:tgtEl>
                                        <p:attrNameLst>
                                          <p:attrName>ppt_x</p:attrName>
                                          <p:attrName>ppt_y</p:attrName>
                                        </p:attrNameLst>
                                      </p:cBhvr>
                                      <p:rCtr x="0" y="2662"/>
                                    </p:animMotion>
                                  </p:childTnLst>
                                </p:cTn>
                              </p:par>
                              <p:par>
                                <p:cTn id="12" presetID="53" presetClass="entr" presetSubtype="16" fill="hold" grpId="0" nodeType="with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2000" fill="hold"/>
                                        <p:tgtEl>
                                          <p:spTgt spid="16"/>
                                        </p:tgtEl>
                                        <p:attrNameLst>
                                          <p:attrName>ppt_w</p:attrName>
                                        </p:attrNameLst>
                                      </p:cBhvr>
                                      <p:tavLst>
                                        <p:tav tm="0">
                                          <p:val>
                                            <p:fltVal val="0"/>
                                          </p:val>
                                        </p:tav>
                                        <p:tav tm="100000">
                                          <p:val>
                                            <p:strVal val="#ppt_w"/>
                                          </p:val>
                                        </p:tav>
                                      </p:tavLst>
                                    </p:anim>
                                    <p:anim calcmode="lin" valueType="num">
                                      <p:cBhvr>
                                        <p:cTn id="15" dur="2000" fill="hold"/>
                                        <p:tgtEl>
                                          <p:spTgt spid="16"/>
                                        </p:tgtEl>
                                        <p:attrNameLst>
                                          <p:attrName>ppt_h</p:attrName>
                                        </p:attrNameLst>
                                      </p:cBhvr>
                                      <p:tavLst>
                                        <p:tav tm="0">
                                          <p:val>
                                            <p:fltVal val="0"/>
                                          </p:val>
                                        </p:tav>
                                        <p:tav tm="100000">
                                          <p:val>
                                            <p:strVal val="#ppt_h"/>
                                          </p:val>
                                        </p:tav>
                                      </p:tavLst>
                                    </p:anim>
                                    <p:animEffect transition="in" filter="fade">
                                      <p:cBhvr>
                                        <p:cTn id="16" dur="2000"/>
                                        <p:tgtEl>
                                          <p:spTgt spid="16"/>
                                        </p:tgtEl>
                                      </p:cBhvr>
                                    </p:animEffect>
                                  </p:childTnLst>
                                </p:cTn>
                              </p:par>
                              <p:par>
                                <p:cTn id="17" presetID="42" presetClass="path" presetSubtype="0" accel="50000" decel="50000" autoRev="1" fill="hold" grpId="1" nodeType="withEffect">
                                  <p:stCondLst>
                                    <p:cond delay="0"/>
                                  </p:stCondLst>
                                  <p:childTnLst>
                                    <p:animMotion origin="layout" path="M -2.29167E-6 4.81481E-6 L -2.29167E-6 -0.05625 " pathEditMode="relative" rAng="0" ptsTypes="AA">
                                      <p:cBhvr>
                                        <p:cTn id="18" dur="2000" fill="hold"/>
                                        <p:tgtEl>
                                          <p:spTgt spid="16"/>
                                        </p:tgtEl>
                                        <p:attrNameLst>
                                          <p:attrName>ppt_x</p:attrName>
                                          <p:attrName>ppt_y</p:attrName>
                                        </p:attrNameLst>
                                      </p:cBhvr>
                                      <p:rCtr x="0" y="-2824"/>
                                    </p:animMotion>
                                  </p:childTnLst>
                                </p:cTn>
                              </p:par>
                              <p:par>
                                <p:cTn id="19" presetID="53" presetClass="entr" presetSubtype="16"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anim calcmode="lin" valueType="num">
                                      <p:cBhvr>
                                        <p:cTn id="21" dur="2000" fill="hold"/>
                                        <p:tgtEl>
                                          <p:spTgt spid="28"/>
                                        </p:tgtEl>
                                        <p:attrNameLst>
                                          <p:attrName>ppt_w</p:attrName>
                                        </p:attrNameLst>
                                      </p:cBhvr>
                                      <p:tavLst>
                                        <p:tav tm="0">
                                          <p:val>
                                            <p:fltVal val="0"/>
                                          </p:val>
                                        </p:tav>
                                        <p:tav tm="100000">
                                          <p:val>
                                            <p:strVal val="#ppt_w"/>
                                          </p:val>
                                        </p:tav>
                                      </p:tavLst>
                                    </p:anim>
                                    <p:anim calcmode="lin" valueType="num">
                                      <p:cBhvr>
                                        <p:cTn id="22" dur="2000" fill="hold"/>
                                        <p:tgtEl>
                                          <p:spTgt spid="28"/>
                                        </p:tgtEl>
                                        <p:attrNameLst>
                                          <p:attrName>ppt_h</p:attrName>
                                        </p:attrNameLst>
                                      </p:cBhvr>
                                      <p:tavLst>
                                        <p:tav tm="0">
                                          <p:val>
                                            <p:fltVal val="0"/>
                                          </p:val>
                                        </p:tav>
                                        <p:tav tm="100000">
                                          <p:val>
                                            <p:strVal val="#ppt_h"/>
                                          </p:val>
                                        </p:tav>
                                      </p:tavLst>
                                    </p:anim>
                                    <p:animEffect transition="in" filter="fade">
                                      <p:cBhvr>
                                        <p:cTn id="23" dur="2000"/>
                                        <p:tgtEl>
                                          <p:spTgt spid="28"/>
                                        </p:tgtEl>
                                      </p:cBhvr>
                                    </p:animEffect>
                                  </p:childTnLst>
                                </p:cTn>
                              </p:par>
                              <p:par>
                                <p:cTn id="24" presetID="42" presetClass="path" presetSubtype="0" accel="50000" decel="50000" autoRev="1" fill="hold" grpId="1" nodeType="withEffect">
                                  <p:stCondLst>
                                    <p:cond delay="0"/>
                                  </p:stCondLst>
                                  <p:childTnLst>
                                    <p:animMotion origin="layout" path="M -2.29167E-6 4.81481E-6 L -2.29167E-6 -0.05625 " pathEditMode="relative" rAng="0" ptsTypes="AA">
                                      <p:cBhvr>
                                        <p:cTn id="25" dur="2000" fill="hold"/>
                                        <p:tgtEl>
                                          <p:spTgt spid="28"/>
                                        </p:tgtEl>
                                        <p:attrNameLst>
                                          <p:attrName>ppt_x</p:attrName>
                                          <p:attrName>ppt_y</p:attrName>
                                        </p:attrNameLst>
                                      </p:cBhvr>
                                      <p:rCtr x="0" y="-2824"/>
                                    </p:animMotion>
                                  </p:childTnLst>
                                </p:cTn>
                              </p:par>
                              <p:par>
                                <p:cTn id="26" presetID="53" presetClass="entr" presetSubtype="16"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p:cTn id="28" dur="2000" fill="hold"/>
                                        <p:tgtEl>
                                          <p:spTgt spid="33"/>
                                        </p:tgtEl>
                                        <p:attrNameLst>
                                          <p:attrName>ppt_w</p:attrName>
                                        </p:attrNameLst>
                                      </p:cBhvr>
                                      <p:tavLst>
                                        <p:tav tm="0">
                                          <p:val>
                                            <p:fltVal val="0"/>
                                          </p:val>
                                        </p:tav>
                                        <p:tav tm="100000">
                                          <p:val>
                                            <p:strVal val="#ppt_w"/>
                                          </p:val>
                                        </p:tav>
                                      </p:tavLst>
                                    </p:anim>
                                    <p:anim calcmode="lin" valueType="num">
                                      <p:cBhvr>
                                        <p:cTn id="29" dur="2000" fill="hold"/>
                                        <p:tgtEl>
                                          <p:spTgt spid="33"/>
                                        </p:tgtEl>
                                        <p:attrNameLst>
                                          <p:attrName>ppt_h</p:attrName>
                                        </p:attrNameLst>
                                      </p:cBhvr>
                                      <p:tavLst>
                                        <p:tav tm="0">
                                          <p:val>
                                            <p:fltVal val="0"/>
                                          </p:val>
                                        </p:tav>
                                        <p:tav tm="100000">
                                          <p:val>
                                            <p:strVal val="#ppt_h"/>
                                          </p:val>
                                        </p:tav>
                                      </p:tavLst>
                                    </p:anim>
                                    <p:animEffect transition="in" filter="fade">
                                      <p:cBhvr>
                                        <p:cTn id="30" dur="2000"/>
                                        <p:tgtEl>
                                          <p:spTgt spid="33"/>
                                        </p:tgtEl>
                                      </p:cBhvr>
                                    </p:animEffect>
                                  </p:childTnLst>
                                </p:cTn>
                              </p:par>
                              <p:par>
                                <p:cTn id="31" presetID="42" presetClass="path" presetSubtype="0" accel="50000" decel="50000" autoRev="1" fill="hold" grpId="1" nodeType="withEffect">
                                  <p:stCondLst>
                                    <p:cond delay="0"/>
                                  </p:stCondLst>
                                  <p:childTnLst>
                                    <p:animMotion origin="layout" path="M -2.29167E-6 4.81481E-6 L -2.29167E-6 -0.05625 " pathEditMode="relative" rAng="0" ptsTypes="AA">
                                      <p:cBhvr>
                                        <p:cTn id="32" dur="2000" fill="hold"/>
                                        <p:tgtEl>
                                          <p:spTgt spid="33"/>
                                        </p:tgtEl>
                                        <p:attrNameLst>
                                          <p:attrName>ppt_x</p:attrName>
                                          <p:attrName>ppt_y</p:attrName>
                                        </p:attrNameLst>
                                      </p:cBhvr>
                                      <p:rCtr x="0" y="-2824"/>
                                    </p:animMotion>
                                  </p:childTnLst>
                                </p:cTn>
                              </p:par>
                              <p:par>
                                <p:cTn id="33" presetID="53" presetClass="entr" presetSubtype="16"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 calcmode="lin" valueType="num">
                                      <p:cBhvr>
                                        <p:cTn id="35" dur="2000" fill="hold"/>
                                        <p:tgtEl>
                                          <p:spTgt spid="23"/>
                                        </p:tgtEl>
                                        <p:attrNameLst>
                                          <p:attrName>ppt_w</p:attrName>
                                        </p:attrNameLst>
                                      </p:cBhvr>
                                      <p:tavLst>
                                        <p:tav tm="0">
                                          <p:val>
                                            <p:fltVal val="0"/>
                                          </p:val>
                                        </p:tav>
                                        <p:tav tm="100000">
                                          <p:val>
                                            <p:strVal val="#ppt_w"/>
                                          </p:val>
                                        </p:tav>
                                      </p:tavLst>
                                    </p:anim>
                                    <p:anim calcmode="lin" valueType="num">
                                      <p:cBhvr>
                                        <p:cTn id="36" dur="2000" fill="hold"/>
                                        <p:tgtEl>
                                          <p:spTgt spid="23"/>
                                        </p:tgtEl>
                                        <p:attrNameLst>
                                          <p:attrName>ppt_h</p:attrName>
                                        </p:attrNameLst>
                                      </p:cBhvr>
                                      <p:tavLst>
                                        <p:tav tm="0">
                                          <p:val>
                                            <p:fltVal val="0"/>
                                          </p:val>
                                        </p:tav>
                                        <p:tav tm="100000">
                                          <p:val>
                                            <p:strVal val="#ppt_h"/>
                                          </p:val>
                                        </p:tav>
                                      </p:tavLst>
                                    </p:anim>
                                    <p:animEffect transition="in" filter="fade">
                                      <p:cBhvr>
                                        <p:cTn id="37" dur="2000"/>
                                        <p:tgtEl>
                                          <p:spTgt spid="23"/>
                                        </p:tgtEl>
                                      </p:cBhvr>
                                    </p:animEffect>
                                  </p:childTnLst>
                                </p:cTn>
                              </p:par>
                              <p:par>
                                <p:cTn id="38" presetID="42" presetClass="path" presetSubtype="0" accel="50000" decel="50000" autoRev="1" fill="hold" grpId="1" nodeType="withEffect">
                                  <p:stCondLst>
                                    <p:cond delay="0"/>
                                  </p:stCondLst>
                                  <p:childTnLst>
                                    <p:animMotion origin="layout" path="M -2.29167E-6 4.81481E-6 L -2.29167E-6 -0.05625 " pathEditMode="relative" rAng="0" ptsTypes="AA">
                                      <p:cBhvr>
                                        <p:cTn id="39" dur="2000" fill="hold"/>
                                        <p:tgtEl>
                                          <p:spTgt spid="23"/>
                                        </p:tgtEl>
                                        <p:attrNameLst>
                                          <p:attrName>ppt_x</p:attrName>
                                          <p:attrName>ppt_y</p:attrName>
                                        </p:attrNameLst>
                                      </p:cBhvr>
                                      <p:rCtr x="0" y="-2824"/>
                                    </p:animMotion>
                                  </p:childTnLst>
                                </p:cTn>
                              </p:par>
                              <p:par>
                                <p:cTn id="40" presetID="16" presetClass="entr" presetSubtype="37" fill="hold" grpId="0" nodeType="withEffect">
                                  <p:stCondLst>
                                    <p:cond delay="3000"/>
                                  </p:stCondLst>
                                  <p:childTnLst>
                                    <p:set>
                                      <p:cBhvr>
                                        <p:cTn id="41" dur="1" fill="hold">
                                          <p:stCondLst>
                                            <p:cond delay="0"/>
                                          </p:stCondLst>
                                        </p:cTn>
                                        <p:tgtEl>
                                          <p:spTgt spid="15"/>
                                        </p:tgtEl>
                                        <p:attrNameLst>
                                          <p:attrName>style.visibility</p:attrName>
                                        </p:attrNameLst>
                                      </p:cBhvr>
                                      <p:to>
                                        <p:strVal val="visible"/>
                                      </p:to>
                                    </p:set>
                                    <p:animEffect transition="in" filter="barn(outVertical)">
                                      <p:cBhvr>
                                        <p:cTn id="42" dur="1000"/>
                                        <p:tgtEl>
                                          <p:spTgt spid="15"/>
                                        </p:tgtEl>
                                      </p:cBhvr>
                                    </p:animEffect>
                                  </p:childTnLst>
                                </p:cTn>
                              </p:par>
                              <p:par>
                                <p:cTn id="43" presetID="53" presetClass="entr" presetSubtype="16" fill="hold" grpId="0" nodeType="withEffect">
                                  <p:stCondLst>
                                    <p:cond delay="3000"/>
                                  </p:stCondLst>
                                  <p:childTnLst>
                                    <p:set>
                                      <p:cBhvr>
                                        <p:cTn id="44" dur="1" fill="hold">
                                          <p:stCondLst>
                                            <p:cond delay="0"/>
                                          </p:stCondLst>
                                        </p:cTn>
                                        <p:tgtEl>
                                          <p:spTgt spid="2"/>
                                        </p:tgtEl>
                                        <p:attrNameLst>
                                          <p:attrName>style.visibility</p:attrName>
                                        </p:attrNameLst>
                                      </p:cBhvr>
                                      <p:to>
                                        <p:strVal val="visible"/>
                                      </p:to>
                                    </p:set>
                                    <p:anim calcmode="lin" valueType="num">
                                      <p:cBhvr>
                                        <p:cTn id="45" dur="1000" fill="hold"/>
                                        <p:tgtEl>
                                          <p:spTgt spid="2"/>
                                        </p:tgtEl>
                                        <p:attrNameLst>
                                          <p:attrName>ppt_w</p:attrName>
                                        </p:attrNameLst>
                                      </p:cBhvr>
                                      <p:tavLst>
                                        <p:tav tm="0">
                                          <p:val>
                                            <p:fltVal val="0"/>
                                          </p:val>
                                        </p:tav>
                                        <p:tav tm="100000">
                                          <p:val>
                                            <p:strVal val="#ppt_w"/>
                                          </p:val>
                                        </p:tav>
                                      </p:tavLst>
                                    </p:anim>
                                    <p:anim calcmode="lin" valueType="num">
                                      <p:cBhvr>
                                        <p:cTn id="46" dur="1000" fill="hold"/>
                                        <p:tgtEl>
                                          <p:spTgt spid="2"/>
                                        </p:tgtEl>
                                        <p:attrNameLst>
                                          <p:attrName>ppt_h</p:attrName>
                                        </p:attrNameLst>
                                      </p:cBhvr>
                                      <p:tavLst>
                                        <p:tav tm="0">
                                          <p:val>
                                            <p:fltVal val="0"/>
                                          </p:val>
                                        </p:tav>
                                        <p:tav tm="100000">
                                          <p:val>
                                            <p:strVal val="#ppt_h"/>
                                          </p:val>
                                        </p:tav>
                                      </p:tavLst>
                                    </p:anim>
                                    <p:animEffect transition="in" filter="fade">
                                      <p:cBhvr>
                                        <p:cTn id="47" dur="1000"/>
                                        <p:tgtEl>
                                          <p:spTgt spid="2"/>
                                        </p:tgtEl>
                                      </p:cBhvr>
                                    </p:animEffect>
                                  </p:childTnLst>
                                </p:cTn>
                              </p:par>
                              <p:par>
                                <p:cTn id="48" presetID="53" presetClass="entr" presetSubtype="16" fill="hold" grpId="0" nodeType="withEffect">
                                  <p:stCondLst>
                                    <p:cond delay="3000"/>
                                  </p:stCondLst>
                                  <p:childTnLst>
                                    <p:set>
                                      <p:cBhvr>
                                        <p:cTn id="49" dur="1" fill="hold">
                                          <p:stCondLst>
                                            <p:cond delay="0"/>
                                          </p:stCondLst>
                                        </p:cTn>
                                        <p:tgtEl>
                                          <p:spTgt spid="4"/>
                                        </p:tgtEl>
                                        <p:attrNameLst>
                                          <p:attrName>style.visibility</p:attrName>
                                        </p:attrNameLst>
                                      </p:cBhvr>
                                      <p:to>
                                        <p:strVal val="visible"/>
                                      </p:to>
                                    </p:set>
                                    <p:anim calcmode="lin" valueType="num">
                                      <p:cBhvr>
                                        <p:cTn id="50" dur="1000" fill="hold"/>
                                        <p:tgtEl>
                                          <p:spTgt spid="4"/>
                                        </p:tgtEl>
                                        <p:attrNameLst>
                                          <p:attrName>ppt_w</p:attrName>
                                        </p:attrNameLst>
                                      </p:cBhvr>
                                      <p:tavLst>
                                        <p:tav tm="0">
                                          <p:val>
                                            <p:fltVal val="0"/>
                                          </p:val>
                                        </p:tav>
                                        <p:tav tm="100000">
                                          <p:val>
                                            <p:strVal val="#ppt_w"/>
                                          </p:val>
                                        </p:tav>
                                      </p:tavLst>
                                    </p:anim>
                                    <p:anim calcmode="lin" valueType="num">
                                      <p:cBhvr>
                                        <p:cTn id="51" dur="1000" fill="hold"/>
                                        <p:tgtEl>
                                          <p:spTgt spid="4"/>
                                        </p:tgtEl>
                                        <p:attrNameLst>
                                          <p:attrName>ppt_h</p:attrName>
                                        </p:attrNameLst>
                                      </p:cBhvr>
                                      <p:tavLst>
                                        <p:tav tm="0">
                                          <p:val>
                                            <p:fltVal val="0"/>
                                          </p:val>
                                        </p:tav>
                                        <p:tav tm="100000">
                                          <p:val>
                                            <p:strVal val="#ppt_h"/>
                                          </p:val>
                                        </p:tav>
                                      </p:tavLst>
                                    </p:anim>
                                    <p:animEffect transition="in" filter="fade">
                                      <p:cBhvr>
                                        <p:cTn id="52" dur="1000"/>
                                        <p:tgtEl>
                                          <p:spTgt spid="4"/>
                                        </p:tgtEl>
                                      </p:cBhvr>
                                    </p:animEffect>
                                  </p:childTnLst>
                                </p:cTn>
                              </p:par>
                              <p:par>
                                <p:cTn id="53" presetID="53" presetClass="entr" presetSubtype="16" fill="hold" grpId="0" nodeType="withEffect">
                                  <p:stCondLst>
                                    <p:cond delay="3000"/>
                                  </p:stCondLst>
                                  <p:childTnLst>
                                    <p:set>
                                      <p:cBhvr>
                                        <p:cTn id="54" dur="1" fill="hold">
                                          <p:stCondLst>
                                            <p:cond delay="0"/>
                                          </p:stCondLst>
                                        </p:cTn>
                                        <p:tgtEl>
                                          <p:spTgt spid="24"/>
                                        </p:tgtEl>
                                        <p:attrNameLst>
                                          <p:attrName>style.visibility</p:attrName>
                                        </p:attrNameLst>
                                      </p:cBhvr>
                                      <p:to>
                                        <p:strVal val="visible"/>
                                      </p:to>
                                    </p:set>
                                    <p:anim calcmode="lin" valueType="num">
                                      <p:cBhvr>
                                        <p:cTn id="55" dur="1000" fill="hold"/>
                                        <p:tgtEl>
                                          <p:spTgt spid="24"/>
                                        </p:tgtEl>
                                        <p:attrNameLst>
                                          <p:attrName>ppt_w</p:attrName>
                                        </p:attrNameLst>
                                      </p:cBhvr>
                                      <p:tavLst>
                                        <p:tav tm="0">
                                          <p:val>
                                            <p:fltVal val="0"/>
                                          </p:val>
                                        </p:tav>
                                        <p:tav tm="100000">
                                          <p:val>
                                            <p:strVal val="#ppt_w"/>
                                          </p:val>
                                        </p:tav>
                                      </p:tavLst>
                                    </p:anim>
                                    <p:anim calcmode="lin" valueType="num">
                                      <p:cBhvr>
                                        <p:cTn id="56" dur="1000" fill="hold"/>
                                        <p:tgtEl>
                                          <p:spTgt spid="24"/>
                                        </p:tgtEl>
                                        <p:attrNameLst>
                                          <p:attrName>ppt_h</p:attrName>
                                        </p:attrNameLst>
                                      </p:cBhvr>
                                      <p:tavLst>
                                        <p:tav tm="0">
                                          <p:val>
                                            <p:fltVal val="0"/>
                                          </p:val>
                                        </p:tav>
                                        <p:tav tm="100000">
                                          <p:val>
                                            <p:strVal val="#ppt_h"/>
                                          </p:val>
                                        </p:tav>
                                      </p:tavLst>
                                    </p:anim>
                                    <p:animEffect transition="in" filter="fade">
                                      <p:cBhvr>
                                        <p:cTn id="57" dur="1000"/>
                                        <p:tgtEl>
                                          <p:spTgt spid="24"/>
                                        </p:tgtEl>
                                      </p:cBhvr>
                                    </p:animEffect>
                                  </p:childTnLst>
                                </p:cTn>
                              </p:par>
                              <p:par>
                                <p:cTn id="58" presetID="53" presetClass="entr" presetSubtype="16" fill="hold" grpId="0" nodeType="withEffect">
                                  <p:stCondLst>
                                    <p:cond delay="3000"/>
                                  </p:stCondLst>
                                  <p:childTnLst>
                                    <p:set>
                                      <p:cBhvr>
                                        <p:cTn id="59" dur="1" fill="hold">
                                          <p:stCondLst>
                                            <p:cond delay="0"/>
                                          </p:stCondLst>
                                        </p:cTn>
                                        <p:tgtEl>
                                          <p:spTgt spid="34"/>
                                        </p:tgtEl>
                                        <p:attrNameLst>
                                          <p:attrName>style.visibility</p:attrName>
                                        </p:attrNameLst>
                                      </p:cBhvr>
                                      <p:to>
                                        <p:strVal val="visible"/>
                                      </p:to>
                                    </p:set>
                                    <p:anim calcmode="lin" valueType="num">
                                      <p:cBhvr>
                                        <p:cTn id="60" dur="1000" fill="hold"/>
                                        <p:tgtEl>
                                          <p:spTgt spid="34"/>
                                        </p:tgtEl>
                                        <p:attrNameLst>
                                          <p:attrName>ppt_w</p:attrName>
                                        </p:attrNameLst>
                                      </p:cBhvr>
                                      <p:tavLst>
                                        <p:tav tm="0">
                                          <p:val>
                                            <p:fltVal val="0"/>
                                          </p:val>
                                        </p:tav>
                                        <p:tav tm="100000">
                                          <p:val>
                                            <p:strVal val="#ppt_w"/>
                                          </p:val>
                                        </p:tav>
                                      </p:tavLst>
                                    </p:anim>
                                    <p:anim calcmode="lin" valueType="num">
                                      <p:cBhvr>
                                        <p:cTn id="61" dur="1000" fill="hold"/>
                                        <p:tgtEl>
                                          <p:spTgt spid="34"/>
                                        </p:tgtEl>
                                        <p:attrNameLst>
                                          <p:attrName>ppt_h</p:attrName>
                                        </p:attrNameLst>
                                      </p:cBhvr>
                                      <p:tavLst>
                                        <p:tav tm="0">
                                          <p:val>
                                            <p:fltVal val="0"/>
                                          </p:val>
                                        </p:tav>
                                        <p:tav tm="100000">
                                          <p:val>
                                            <p:strVal val="#ppt_h"/>
                                          </p:val>
                                        </p:tav>
                                      </p:tavLst>
                                    </p:anim>
                                    <p:animEffect transition="in" filter="fade">
                                      <p:cBhvr>
                                        <p:cTn id="62" dur="1000"/>
                                        <p:tgtEl>
                                          <p:spTgt spid="34"/>
                                        </p:tgtEl>
                                      </p:cBhvr>
                                    </p:animEffect>
                                  </p:childTnLst>
                                </p:cTn>
                              </p:par>
                              <p:par>
                                <p:cTn id="63" presetID="53" presetClass="entr" presetSubtype="16" fill="hold" grpId="0" nodeType="withEffect">
                                  <p:stCondLst>
                                    <p:cond delay="3000"/>
                                  </p:stCondLst>
                                  <p:childTnLst>
                                    <p:set>
                                      <p:cBhvr>
                                        <p:cTn id="64" dur="1" fill="hold">
                                          <p:stCondLst>
                                            <p:cond delay="0"/>
                                          </p:stCondLst>
                                        </p:cTn>
                                        <p:tgtEl>
                                          <p:spTgt spid="29"/>
                                        </p:tgtEl>
                                        <p:attrNameLst>
                                          <p:attrName>style.visibility</p:attrName>
                                        </p:attrNameLst>
                                      </p:cBhvr>
                                      <p:to>
                                        <p:strVal val="visible"/>
                                      </p:to>
                                    </p:set>
                                    <p:anim calcmode="lin" valueType="num">
                                      <p:cBhvr>
                                        <p:cTn id="65" dur="1000" fill="hold"/>
                                        <p:tgtEl>
                                          <p:spTgt spid="29"/>
                                        </p:tgtEl>
                                        <p:attrNameLst>
                                          <p:attrName>ppt_w</p:attrName>
                                        </p:attrNameLst>
                                      </p:cBhvr>
                                      <p:tavLst>
                                        <p:tav tm="0">
                                          <p:val>
                                            <p:fltVal val="0"/>
                                          </p:val>
                                        </p:tav>
                                        <p:tav tm="100000">
                                          <p:val>
                                            <p:strVal val="#ppt_w"/>
                                          </p:val>
                                        </p:tav>
                                      </p:tavLst>
                                    </p:anim>
                                    <p:anim calcmode="lin" valueType="num">
                                      <p:cBhvr>
                                        <p:cTn id="66" dur="1000" fill="hold"/>
                                        <p:tgtEl>
                                          <p:spTgt spid="29"/>
                                        </p:tgtEl>
                                        <p:attrNameLst>
                                          <p:attrName>ppt_h</p:attrName>
                                        </p:attrNameLst>
                                      </p:cBhvr>
                                      <p:tavLst>
                                        <p:tav tm="0">
                                          <p:val>
                                            <p:fltVal val="0"/>
                                          </p:val>
                                        </p:tav>
                                        <p:tav tm="100000">
                                          <p:val>
                                            <p:strVal val="#ppt_h"/>
                                          </p:val>
                                        </p:tav>
                                      </p:tavLst>
                                    </p:anim>
                                    <p:animEffect transition="in" filter="fade">
                                      <p:cBhvr>
                                        <p:cTn id="67"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 grpId="0"/>
      <p:bldP spid="16" grpId="0" animBg="1"/>
      <p:bldP spid="16" grpId="1" animBg="1"/>
      <p:bldP spid="4" grpId="0"/>
      <p:bldP spid="23" grpId="0" animBg="1"/>
      <p:bldP spid="23" grpId="1" animBg="1"/>
      <p:bldP spid="24" grpId="0"/>
      <p:bldP spid="28" grpId="0" animBg="1"/>
      <p:bldP spid="28" grpId="1" animBg="1"/>
      <p:bldP spid="29" grpId="0"/>
      <p:bldP spid="33" grpId="0" animBg="1"/>
      <p:bldP spid="33" grpId="1" animBg="1"/>
      <p:bldP spid="3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图片 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7" name="矩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223412" cy="1107996"/>
          </a:xfrm>
          <a:prstGeom prst="rect">
            <a:avLst/>
          </a:prstGeom>
        </p:spPr>
        <p:txBody>
          <a:bodyPr wrap="none">
            <a:spAutoFit/>
          </a:bodyPr>
          <a:lstStyle/>
          <a:p>
            <a:r>
              <a:rPr lang="en-US" altLang="zh-CN" sz="6600" spc="-150" dirty="0">
                <a:solidFill>
                  <a:srgbClr val="C99115"/>
                </a:solidFill>
                <a:latin typeface="Meiryo" panose="020B0604030504040204" pitchFamily="34" charset="-128"/>
                <a:ea typeface="Meiryo" panose="020B0604030504040204" pitchFamily="34" charset="-128"/>
                <a:cs typeface="Meiryo UI" panose="020B0604030504040204" pitchFamily="34" charset="-128"/>
              </a:rPr>
              <a:t>01</a:t>
            </a:r>
            <a:endParaRPr lang="zh-CN" altLang="en-US" sz="6600" dirty="0">
              <a:solidFill>
                <a:srgbClr val="C99115"/>
              </a:solidFill>
              <a:latin typeface="Meiryo" panose="020B0604030504040204" pitchFamily="34" charset="-128"/>
              <a:ea typeface="Meiryo" panose="020B0604030504040204" pitchFamily="34" charset="-128"/>
            </a:endParaRPr>
          </a:p>
        </p:txBody>
      </p:sp>
      <p:sp>
        <p:nvSpPr>
          <p:cNvPr id="15" name="矩形 1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819442"/>
            <a:ext cx="6129604" cy="769441"/>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Description</a:t>
            </a:r>
            <a:endParaRPr lang="zh-CN" altLang="en-US"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任意多边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5"/>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2000" fill="hold"/>
                                        <p:tgtEl>
                                          <p:spTgt spid="3"/>
                                        </p:tgtEl>
                                        <p:attrNameLst>
                                          <p:attrName>ppt_w</p:attrName>
                                        </p:attrNameLst>
                                      </p:cBhvr>
                                      <p:tavLst>
                                        <p:tav tm="0">
                                          <p:val>
                                            <p:fltVal val="0"/>
                                          </p:val>
                                        </p:tav>
                                        <p:tav tm="100000">
                                          <p:val>
                                            <p:strVal val="#ppt_w"/>
                                          </p:val>
                                        </p:tav>
                                      </p:tavLst>
                                    </p:anim>
                                    <p:anim calcmode="lin" valueType="num">
                                      <p:cBhvr>
                                        <p:cTn id="18" dur="2000" fill="hold"/>
                                        <p:tgtEl>
                                          <p:spTgt spid="3"/>
                                        </p:tgtEl>
                                        <p:attrNameLst>
                                          <p:attrName>ppt_h</p:attrName>
                                        </p:attrNameLst>
                                      </p:cBhvr>
                                      <p:tavLst>
                                        <p:tav tm="0">
                                          <p:val>
                                            <p:fltVal val="0"/>
                                          </p:val>
                                        </p:tav>
                                        <p:tav tm="100000">
                                          <p:val>
                                            <p:strVal val="#ppt_h"/>
                                          </p:val>
                                        </p:tav>
                                      </p:tavLst>
                                    </p:anim>
                                    <p:animEffect transition="in" filter="fade">
                                      <p:cBhvr>
                                        <p:cTn id="19" dur="2000"/>
                                        <p:tgtEl>
                                          <p:spTgt spid="3"/>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3"/>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500"/>
                                        <p:tgtEl>
                                          <p:spTgt spid="20"/>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0"/>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0"/>
                                        </p:tgtEl>
                                      </p:cBhvr>
                                    </p:animEffect>
                                    <p:set>
                                      <p:cBhvr>
                                        <p:cTn id="29" dur="1" fill="hold">
                                          <p:stCondLst>
                                            <p:cond delay="499"/>
                                          </p:stCondLst>
                                        </p:cTn>
                                        <p:tgtEl>
                                          <p:spTgt spid="20"/>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19"/>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19"/>
                                        </p:tgtEl>
                                      </p:cBhvr>
                                    </p:animEffect>
                                    <p:set>
                                      <p:cBhvr>
                                        <p:cTn id="37" dur="1" fill="hold">
                                          <p:stCondLst>
                                            <p:cond delay="499"/>
                                          </p:stCondLst>
                                        </p:cTn>
                                        <p:tgtEl>
                                          <p:spTgt spid="19"/>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2"/>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2"/>
                                        </p:tgtEl>
                                      </p:cBhvr>
                                    </p:animEffect>
                                    <p:set>
                                      <p:cBhvr>
                                        <p:cTn id="45" dur="1" fill="hold">
                                          <p:stCondLst>
                                            <p:cond delay="499"/>
                                          </p:stCondLst>
                                        </p:cTn>
                                        <p:tgtEl>
                                          <p:spTgt spid="22"/>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500"/>
                                        <p:tgtEl>
                                          <p:spTgt spid="21"/>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1"/>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1"/>
                                        </p:tgtEl>
                                      </p:cBhvr>
                                    </p:animEffect>
                                    <p:set>
                                      <p:cBhvr>
                                        <p:cTn id="53" dur="1" fill="hold">
                                          <p:stCondLst>
                                            <p:cond delay="499"/>
                                          </p:stCondLst>
                                        </p:cTn>
                                        <p:tgtEl>
                                          <p:spTgt spid="21"/>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7"/>
                                        </p:tgtEl>
                                        <p:attrNameLst>
                                          <p:attrName>style.visibility</p:attrName>
                                        </p:attrNameLst>
                                      </p:cBhvr>
                                      <p:to>
                                        <p:strVal val="visible"/>
                                      </p:to>
                                    </p:set>
                                    <p:animEffect transition="in" filter="fade">
                                      <p:cBhvr>
                                        <p:cTn id="56" dur="500"/>
                                        <p:tgtEl>
                                          <p:spTgt spid="17"/>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7"/>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7"/>
                                        </p:tgtEl>
                                      </p:cBhvr>
                                    </p:animEffect>
                                    <p:set>
                                      <p:cBhvr>
                                        <p:cTn id="61" dur="1" fill="hold">
                                          <p:stCondLst>
                                            <p:cond delay="4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15" grpId="1"/>
      <p:bldP spid="17" grpId="0" animBg="1"/>
      <p:bldP spid="17" grpId="1" animBg="1"/>
      <p:bldP spid="17"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761" y="345743"/>
            <a:ext cx="2628796" cy="646331"/>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Description</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738751"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六边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1575308" y="2338225"/>
            <a:ext cx="3248482" cy="2800416"/>
          </a:xfrm>
          <a:prstGeom prst="hexagon">
            <a:avLst>
              <a:gd name="adj" fmla="val 29545"/>
              <a:gd name="vf" fmla="val 115470"/>
            </a:avLst>
          </a:prstGeom>
          <a:blipFill dpi="0" rotWithShape="0">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9667832" flipV="1">
            <a:off x="1437612" y="2199314"/>
            <a:ext cx="2051202" cy="12959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任意多边形 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9000000" flipV="1">
            <a:off x="2867162" y="5193196"/>
            <a:ext cx="2051202" cy="12959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矩形 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5200153" y="2246097"/>
            <a:ext cx="5841075" cy="2677656"/>
          </a:xfrm>
          <a:prstGeom prst="rect">
            <a:avLst/>
          </a:prstGeom>
        </p:spPr>
        <p:txBody>
          <a:bodyPr wrap="square">
            <a:spAutoFit/>
          </a:bodyPr>
          <a:lstStyle/>
          <a:p>
            <a:pPr algn="just"/>
            <a:r>
              <a:rPr lang="en-US" altLang="zh-CN" sz="2800" dirty="0">
                <a:solidFill>
                  <a:schemeClr val="bg1"/>
                </a:solidFill>
              </a:rPr>
              <a:t>Our program aims to employ the F early warning model to recognize magnitude of risks based on principal component analysis and logistic regression analysis to decide which company to invest in.</a:t>
            </a:r>
            <a:endParaRPr lang="en-US" altLang="zh-CN" sz="280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8" fill="hold" grpId="0" nodeType="withEffect">
                                  <p:stCondLst>
                                    <p:cond delay="250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63" presetClass="path" presetSubtype="0" accel="50000" decel="50000" fill="hold" grpId="1" nodeType="withEffect">
                                  <p:stCondLst>
                                    <p:cond delay="1000"/>
                                  </p:stCondLst>
                                  <p:childTnLst>
                                    <p:animMotion origin="layout" path="M 0.10222 -0.1162 L -3.33333E-6 -2.59259E-6 " pathEditMode="relative" rAng="0" ptsTypes="AA">
                                      <p:cBhvr>
                                        <p:cTn id="22" dur="2000" fill="hold"/>
                                        <p:tgtEl>
                                          <p:spTgt spid="6"/>
                                        </p:tgtEl>
                                        <p:attrNameLst>
                                          <p:attrName>ppt_x</p:attrName>
                                          <p:attrName>ppt_y</p:attrName>
                                        </p:attrNameLst>
                                      </p:cBhvr>
                                      <p:rCtr x="-5117" y="5810"/>
                                    </p:animMotion>
                                  </p:childTnLst>
                                </p:cTn>
                              </p:par>
                              <p:par>
                                <p:cTn id="23" presetID="10" presetClass="entr" presetSubtype="0" fill="hold" grpId="0" nodeType="withEffect">
                                  <p:stCondLst>
                                    <p:cond delay="10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63" presetClass="path" presetSubtype="0" accel="50000" decel="50000" fill="hold" grpId="1" nodeType="withEffect">
                                  <p:stCondLst>
                                    <p:cond delay="1000"/>
                                  </p:stCondLst>
                                  <p:childTnLst>
                                    <p:animMotion origin="layout" path="M -0.12213 0.12639 L -8.33333E-7 3.33333E-6 " pathEditMode="relative" rAng="0" ptsTypes="AA">
                                      <p:cBhvr>
                                        <p:cTn id="27" dur="2000" fill="hold"/>
                                        <p:tgtEl>
                                          <p:spTgt spid="8"/>
                                        </p:tgtEl>
                                        <p:attrNameLst>
                                          <p:attrName>ppt_x</p:attrName>
                                          <p:attrName>ppt_y</p:attrName>
                                        </p:attrNameLst>
                                      </p:cBhvr>
                                      <p:rCtr x="6107" y="-6319"/>
                                    </p:animMotion>
                                  </p:childTnLst>
                                </p:cTn>
                              </p:par>
                              <p:par>
                                <p:cTn id="28" presetID="53" presetClass="entr" presetSubtype="16" fill="hold" grpId="0" nodeType="withEffect">
                                  <p:stCondLst>
                                    <p:cond delay="1000"/>
                                  </p:stCondLst>
                                  <p:childTnLst>
                                    <p:set>
                                      <p:cBhvr>
                                        <p:cTn id="29" dur="1" fill="hold">
                                          <p:stCondLst>
                                            <p:cond delay="0"/>
                                          </p:stCondLst>
                                        </p:cTn>
                                        <p:tgtEl>
                                          <p:spTgt spid="4"/>
                                        </p:tgtEl>
                                        <p:attrNameLst>
                                          <p:attrName>style.visibility</p:attrName>
                                        </p:attrNameLst>
                                      </p:cBhvr>
                                      <p:to>
                                        <p:strVal val="visible"/>
                                      </p:to>
                                    </p:set>
                                    <p:anim calcmode="lin" valueType="num">
                                      <p:cBhvr>
                                        <p:cTn id="30" dur="2000" fill="hold"/>
                                        <p:tgtEl>
                                          <p:spTgt spid="4"/>
                                        </p:tgtEl>
                                        <p:attrNameLst>
                                          <p:attrName>ppt_w</p:attrName>
                                        </p:attrNameLst>
                                      </p:cBhvr>
                                      <p:tavLst>
                                        <p:tav tm="0">
                                          <p:val>
                                            <p:fltVal val="0"/>
                                          </p:val>
                                        </p:tav>
                                        <p:tav tm="100000">
                                          <p:val>
                                            <p:strVal val="#ppt_w"/>
                                          </p:val>
                                        </p:tav>
                                      </p:tavLst>
                                    </p:anim>
                                    <p:anim calcmode="lin" valueType="num">
                                      <p:cBhvr>
                                        <p:cTn id="31" dur="2000" fill="hold"/>
                                        <p:tgtEl>
                                          <p:spTgt spid="4"/>
                                        </p:tgtEl>
                                        <p:attrNameLst>
                                          <p:attrName>ppt_h</p:attrName>
                                        </p:attrNameLst>
                                      </p:cBhvr>
                                      <p:tavLst>
                                        <p:tav tm="0">
                                          <p:val>
                                            <p:fltVal val="0"/>
                                          </p:val>
                                        </p:tav>
                                        <p:tav tm="100000">
                                          <p:val>
                                            <p:strVal val="#ppt_h"/>
                                          </p:val>
                                        </p:tav>
                                      </p:tavLst>
                                    </p:anim>
                                    <p:animEffect transition="in" filter="fade">
                                      <p:cBhvr>
                                        <p:cTn id="3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animBg="1"/>
      <p:bldP spid="7" grpId="1" animBg="1"/>
      <p:bldP spid="4" grpId="0" animBg="1"/>
      <p:bldP spid="6" grpId="0" animBg="1"/>
      <p:bldP spid="6" grpId="1" animBg="1"/>
      <p:bldP spid="8" grpId="0" animBg="1"/>
      <p:bldP spid="8" grpId="1" animBg="1"/>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6" name="矩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223412" cy="1107996"/>
          </a:xfrm>
          <a:prstGeom prst="rect">
            <a:avLst/>
          </a:prstGeom>
        </p:spPr>
        <p:txBody>
          <a:bodyPr wrap="none">
            <a:spAutoFit/>
          </a:bodyPr>
          <a:lstStyle/>
          <a:p>
            <a:r>
              <a:rPr lang="en-US" altLang="zh-CN" sz="6600" spc="-150" dirty="0">
                <a:solidFill>
                  <a:srgbClr val="C99115"/>
                </a:solidFill>
                <a:latin typeface="Meiryo" panose="020B0604030504040204" pitchFamily="34" charset="-128"/>
                <a:ea typeface="Meiryo" panose="020B0604030504040204" pitchFamily="34" charset="-128"/>
                <a:cs typeface="Meiryo UI" panose="020B0604030504040204" pitchFamily="34" charset="-128"/>
              </a:rPr>
              <a:t>02</a:t>
            </a:r>
            <a:endParaRPr lang="zh-CN" altLang="en-US" sz="6600" dirty="0">
              <a:solidFill>
                <a:srgbClr val="C99115"/>
              </a:solidFill>
              <a:latin typeface="Meiryo" panose="020B0604030504040204" pitchFamily="34" charset="-128"/>
              <a:ea typeface="Meiryo" panose="020B0604030504040204" pitchFamily="34" charset="-128"/>
            </a:endParaRPr>
          </a:p>
        </p:txBody>
      </p:sp>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804202"/>
            <a:ext cx="6129604" cy="769441"/>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Preparation</a:t>
            </a:r>
            <a:endParaRPr lang="zh-CN" altLang="en-US"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7"/>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2000" fill="hold"/>
                                        <p:tgtEl>
                                          <p:spTgt spid="14"/>
                                        </p:tgtEl>
                                        <p:attrNameLst>
                                          <p:attrName>ppt_w</p:attrName>
                                        </p:attrNameLst>
                                      </p:cBhvr>
                                      <p:tavLst>
                                        <p:tav tm="0">
                                          <p:val>
                                            <p:fltVal val="0"/>
                                          </p:val>
                                        </p:tav>
                                        <p:tav tm="100000">
                                          <p:val>
                                            <p:strVal val="#ppt_w"/>
                                          </p:val>
                                        </p:tav>
                                      </p:tavLst>
                                    </p:anim>
                                    <p:anim calcmode="lin" valueType="num">
                                      <p:cBhvr>
                                        <p:cTn id="18" dur="2000" fill="hold"/>
                                        <p:tgtEl>
                                          <p:spTgt spid="14"/>
                                        </p:tgtEl>
                                        <p:attrNameLst>
                                          <p:attrName>ppt_h</p:attrName>
                                        </p:attrNameLst>
                                      </p:cBhvr>
                                      <p:tavLst>
                                        <p:tav tm="0">
                                          <p:val>
                                            <p:fltVal val="0"/>
                                          </p:val>
                                        </p:tav>
                                        <p:tav tm="100000">
                                          <p:val>
                                            <p:strVal val="#ppt_h"/>
                                          </p:val>
                                        </p:tav>
                                      </p:tavLst>
                                    </p:anim>
                                    <p:animEffect transition="in" filter="fade">
                                      <p:cBhvr>
                                        <p:cTn id="19" dur="2000"/>
                                        <p:tgtEl>
                                          <p:spTgt spid="14"/>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14"/>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1"/>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20"/>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3"/>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2"/>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2"/>
                                        </p:tgtEl>
                                      </p:cBhvr>
                                    </p:animEffect>
                                    <p:set>
                                      <p:cBhvr>
                                        <p:cTn id="53" dur="1" fill="hold">
                                          <p:stCondLst>
                                            <p:cond delay="499"/>
                                          </p:stCondLst>
                                        </p:cTn>
                                        <p:tgtEl>
                                          <p:spTgt spid="22"/>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9"/>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3" grpId="2"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905" y="345440"/>
            <a:ext cx="3161030" cy="645160"/>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Preparation</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802815"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矩形 11"/>
          <p:cNvSpPr/>
          <p:nvPr/>
        </p:nvSpPr>
        <p:spPr>
          <a:xfrm>
            <a:off x="1178621" y="4421116"/>
            <a:ext cx="2221415" cy="261610"/>
          </a:xfrm>
          <a:prstGeom prst="rect">
            <a:avLst/>
          </a:prstGeom>
        </p:spPr>
        <p:txBody>
          <a:bodyPr wrap="square">
            <a:spAutoFit/>
          </a:bodyPr>
          <a:lstStyle/>
          <a:p>
            <a:pPr algn="ctr"/>
            <a:r>
              <a:rPr lang="en-US" altLang="zh-CN" sz="1100" dirty="0">
                <a:solidFill>
                  <a:prstClr val="white"/>
                </a:solidFill>
                <a:latin typeface="Open Sans" panose="020B0606030504020204" pitchFamily="34" charset="0"/>
                <a:ea typeface="Open Sans" panose="020B0606030504020204" pitchFamily="34" charset="0"/>
                <a:cs typeface="Open Sans" panose="020B0606030504020204" pitchFamily="34" charset="0"/>
              </a:rPr>
              <a:t>. </a:t>
            </a:r>
            <a:endParaRPr lang="zh-CN" altLang="en-US" sz="1100" dirty="0">
              <a:solidFill>
                <a:prstClr val="white"/>
              </a:solidFill>
              <a:latin typeface="Open Sans" panose="020B0606030504020204" pitchFamily="34" charset="0"/>
              <a:cs typeface="Open Sans" panose="020B0606030504020204" pitchFamily="34" charset="0"/>
            </a:endParaRPr>
          </a:p>
        </p:txBody>
      </p:sp>
      <p:sp>
        <p:nvSpPr>
          <p:cNvPr id="14" name="矩形 13"/>
          <p:cNvSpPr/>
          <p:nvPr/>
        </p:nvSpPr>
        <p:spPr>
          <a:xfrm>
            <a:off x="4601924" y="4068714"/>
            <a:ext cx="184731"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grpSp>
        <p:nvGrpSpPr>
          <p:cNvPr id="19" name="组合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363402" y="4068714"/>
            <a:ext cx="2221415" cy="614012"/>
            <a:chOff x="2317117" y="2062784"/>
            <a:chExt cx="3997789" cy="614012"/>
          </a:xfrm>
        </p:grpSpPr>
        <p:sp>
          <p:nvSpPr>
            <p:cNvPr id="20" name="矩形 19"/>
            <p:cNvSpPr/>
            <p:nvPr/>
          </p:nvSpPr>
          <p:spPr>
            <a:xfrm>
              <a:off x="4149785" y="2062784"/>
              <a:ext cx="332453"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sp>
          <p:nvSpPr>
            <p:cNvPr id="21" name="矩形 20"/>
            <p:cNvSpPr/>
            <p:nvPr/>
          </p:nvSpPr>
          <p:spPr>
            <a:xfrm>
              <a:off x="2317117" y="2415186"/>
              <a:ext cx="3997789" cy="261610"/>
            </a:xfrm>
            <a:prstGeom prst="rect">
              <a:avLst/>
            </a:prstGeom>
          </p:spPr>
          <p:txBody>
            <a:bodyPr wrap="square">
              <a:spAutoFit/>
            </a:bodyPr>
            <a:lstStyle/>
            <a:p>
              <a:pPr algn="ctr"/>
              <a:endParaRPr lang="zh-CN" altLang="en-US" sz="1100" dirty="0">
                <a:solidFill>
                  <a:prstClr val="white"/>
                </a:solidFill>
                <a:latin typeface="Open Sans" panose="020B0606030504020204" pitchFamily="34" charset="0"/>
                <a:cs typeface="Open Sans" panose="020B0606030504020204" pitchFamily="34" charset="0"/>
              </a:endParaRPr>
            </a:p>
          </p:txBody>
        </p:sp>
      </p:grpSp>
      <p:grpSp>
        <p:nvGrpSpPr>
          <p:cNvPr id="30" name="组合 2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669393" y="2160801"/>
            <a:ext cx="1246909" cy="1246909"/>
            <a:chOff x="6481529" y="2175162"/>
            <a:chExt cx="1246909" cy="1246909"/>
          </a:xfrm>
        </p:grpSpPr>
        <p:sp>
          <p:nvSpPr>
            <p:cNvPr id="8" name="椭圆 7"/>
            <p:cNvSpPr/>
            <p:nvPr/>
          </p:nvSpPr>
          <p:spPr>
            <a:xfrm>
              <a:off x="6481529" y="2175162"/>
              <a:ext cx="1246909" cy="1246909"/>
            </a:xfrm>
            <a:prstGeom prst="ellipse">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solidFill>
                  <a:prstClr val="white"/>
                </a:solidFill>
                <a:cs typeface="Helvetica" panose="020B0604020202020204" pitchFamily="34" charset="0"/>
              </a:endParaRPr>
            </a:p>
          </p:txBody>
        </p:sp>
        <p:sp>
          <p:nvSpPr>
            <p:cNvPr id="22" name="Freeform 44"/>
            <p:cNvSpPr/>
            <p:nvPr/>
          </p:nvSpPr>
          <p:spPr>
            <a:xfrm>
              <a:off x="6897613" y="2639752"/>
              <a:ext cx="360607" cy="357485"/>
            </a:xfrm>
            <a:custGeom>
              <a:avLst/>
              <a:gdLst/>
              <a:ahLst/>
              <a:cxnLst/>
              <a:rect l="l" t="t" r="r" b="b"/>
              <a:pathLst>
                <a:path w="206276" h="204490">
                  <a:moveTo>
                    <a:pt x="97334" y="133052"/>
                  </a:moveTo>
                  <a:lnTo>
                    <a:pt x="119212" y="133052"/>
                  </a:lnTo>
                  <a:cubicBezTo>
                    <a:pt x="121593" y="133052"/>
                    <a:pt x="122783" y="134094"/>
                    <a:pt x="122783" y="136178"/>
                  </a:cubicBezTo>
                  <a:cubicBezTo>
                    <a:pt x="122783" y="138559"/>
                    <a:pt x="121593" y="139750"/>
                    <a:pt x="119212" y="139750"/>
                  </a:cubicBezTo>
                  <a:lnTo>
                    <a:pt x="97334" y="139750"/>
                  </a:lnTo>
                  <a:cubicBezTo>
                    <a:pt x="95250" y="139750"/>
                    <a:pt x="94208" y="138559"/>
                    <a:pt x="94208" y="136178"/>
                  </a:cubicBezTo>
                  <a:cubicBezTo>
                    <a:pt x="94208" y="134094"/>
                    <a:pt x="95250" y="133052"/>
                    <a:pt x="97334" y="133052"/>
                  </a:cubicBezTo>
                  <a:close/>
                  <a:moveTo>
                    <a:pt x="71884" y="133052"/>
                  </a:moveTo>
                  <a:lnTo>
                    <a:pt x="84386" y="133052"/>
                  </a:lnTo>
                  <a:cubicBezTo>
                    <a:pt x="86469" y="133052"/>
                    <a:pt x="87511" y="134094"/>
                    <a:pt x="87511" y="136178"/>
                  </a:cubicBezTo>
                  <a:cubicBezTo>
                    <a:pt x="87511" y="138559"/>
                    <a:pt x="86469" y="139750"/>
                    <a:pt x="84386" y="139750"/>
                  </a:cubicBezTo>
                  <a:lnTo>
                    <a:pt x="71884" y="139750"/>
                  </a:lnTo>
                  <a:cubicBezTo>
                    <a:pt x="69801" y="139750"/>
                    <a:pt x="68759" y="138559"/>
                    <a:pt x="68759" y="136178"/>
                  </a:cubicBezTo>
                  <a:cubicBezTo>
                    <a:pt x="68759" y="134094"/>
                    <a:pt x="69801" y="133052"/>
                    <a:pt x="71884" y="133052"/>
                  </a:cubicBezTo>
                  <a:close/>
                  <a:moveTo>
                    <a:pt x="160735" y="117426"/>
                  </a:moveTo>
                  <a:lnTo>
                    <a:pt x="166985" y="117426"/>
                  </a:lnTo>
                  <a:cubicBezTo>
                    <a:pt x="169069" y="117426"/>
                    <a:pt x="170111" y="118467"/>
                    <a:pt x="170111" y="120551"/>
                  </a:cubicBezTo>
                  <a:cubicBezTo>
                    <a:pt x="170111" y="122634"/>
                    <a:pt x="169069" y="123676"/>
                    <a:pt x="166985" y="123676"/>
                  </a:cubicBezTo>
                  <a:lnTo>
                    <a:pt x="160735" y="123676"/>
                  </a:lnTo>
                  <a:cubicBezTo>
                    <a:pt x="158651" y="123676"/>
                    <a:pt x="157609" y="122634"/>
                    <a:pt x="157609" y="120551"/>
                  </a:cubicBezTo>
                  <a:cubicBezTo>
                    <a:pt x="157609" y="118467"/>
                    <a:pt x="158651" y="117426"/>
                    <a:pt x="160735" y="117426"/>
                  </a:cubicBezTo>
                  <a:close/>
                  <a:moveTo>
                    <a:pt x="116086" y="117426"/>
                  </a:moveTo>
                  <a:lnTo>
                    <a:pt x="147787" y="117426"/>
                  </a:lnTo>
                  <a:cubicBezTo>
                    <a:pt x="150168" y="117426"/>
                    <a:pt x="151358" y="118467"/>
                    <a:pt x="151358" y="120551"/>
                  </a:cubicBezTo>
                  <a:cubicBezTo>
                    <a:pt x="151358" y="122634"/>
                    <a:pt x="150168" y="123676"/>
                    <a:pt x="147787" y="123676"/>
                  </a:cubicBezTo>
                  <a:lnTo>
                    <a:pt x="116086" y="123676"/>
                  </a:lnTo>
                  <a:cubicBezTo>
                    <a:pt x="114003" y="123676"/>
                    <a:pt x="112961" y="122634"/>
                    <a:pt x="112961" y="120551"/>
                  </a:cubicBezTo>
                  <a:cubicBezTo>
                    <a:pt x="112961" y="118467"/>
                    <a:pt x="114003" y="117426"/>
                    <a:pt x="116086" y="117426"/>
                  </a:cubicBezTo>
                  <a:close/>
                  <a:moveTo>
                    <a:pt x="71884" y="117426"/>
                  </a:moveTo>
                  <a:lnTo>
                    <a:pt x="103585" y="117426"/>
                  </a:lnTo>
                  <a:cubicBezTo>
                    <a:pt x="105668" y="117426"/>
                    <a:pt x="106710" y="118467"/>
                    <a:pt x="106710" y="120551"/>
                  </a:cubicBezTo>
                  <a:cubicBezTo>
                    <a:pt x="106710" y="122634"/>
                    <a:pt x="105668" y="123676"/>
                    <a:pt x="103585" y="123676"/>
                  </a:cubicBezTo>
                  <a:lnTo>
                    <a:pt x="71884" y="123676"/>
                  </a:lnTo>
                  <a:cubicBezTo>
                    <a:pt x="69801" y="123676"/>
                    <a:pt x="68759" y="122634"/>
                    <a:pt x="68759" y="120551"/>
                  </a:cubicBezTo>
                  <a:cubicBezTo>
                    <a:pt x="68759" y="118467"/>
                    <a:pt x="69801" y="117426"/>
                    <a:pt x="71884" y="117426"/>
                  </a:cubicBezTo>
                  <a:close/>
                  <a:moveTo>
                    <a:pt x="135285" y="98227"/>
                  </a:moveTo>
                  <a:lnTo>
                    <a:pt x="166985" y="98227"/>
                  </a:lnTo>
                  <a:cubicBezTo>
                    <a:pt x="169069" y="98227"/>
                    <a:pt x="170111" y="99268"/>
                    <a:pt x="170111" y="101352"/>
                  </a:cubicBezTo>
                  <a:cubicBezTo>
                    <a:pt x="170111" y="103436"/>
                    <a:pt x="169069" y="104477"/>
                    <a:pt x="166985" y="104477"/>
                  </a:cubicBezTo>
                  <a:lnTo>
                    <a:pt x="135285" y="104477"/>
                  </a:lnTo>
                  <a:cubicBezTo>
                    <a:pt x="133201" y="104477"/>
                    <a:pt x="132160" y="103436"/>
                    <a:pt x="132160" y="101352"/>
                  </a:cubicBezTo>
                  <a:cubicBezTo>
                    <a:pt x="132160" y="99268"/>
                    <a:pt x="133201" y="98227"/>
                    <a:pt x="135285" y="98227"/>
                  </a:cubicBezTo>
                  <a:close/>
                  <a:moveTo>
                    <a:pt x="97334" y="98227"/>
                  </a:moveTo>
                  <a:lnTo>
                    <a:pt x="122783" y="98227"/>
                  </a:lnTo>
                  <a:cubicBezTo>
                    <a:pt x="124867" y="98227"/>
                    <a:pt x="125909" y="99268"/>
                    <a:pt x="125909" y="101352"/>
                  </a:cubicBezTo>
                  <a:cubicBezTo>
                    <a:pt x="125909" y="103436"/>
                    <a:pt x="124867" y="104477"/>
                    <a:pt x="122783" y="104477"/>
                  </a:cubicBezTo>
                  <a:lnTo>
                    <a:pt x="97334" y="104477"/>
                  </a:lnTo>
                  <a:cubicBezTo>
                    <a:pt x="95250" y="104477"/>
                    <a:pt x="94208" y="103436"/>
                    <a:pt x="94208" y="101352"/>
                  </a:cubicBezTo>
                  <a:cubicBezTo>
                    <a:pt x="94208" y="99268"/>
                    <a:pt x="95250" y="98227"/>
                    <a:pt x="97334" y="98227"/>
                  </a:cubicBezTo>
                  <a:close/>
                  <a:moveTo>
                    <a:pt x="71884" y="98227"/>
                  </a:moveTo>
                  <a:lnTo>
                    <a:pt x="84386" y="98227"/>
                  </a:lnTo>
                  <a:cubicBezTo>
                    <a:pt x="86469" y="98227"/>
                    <a:pt x="87511" y="99268"/>
                    <a:pt x="87511" y="101352"/>
                  </a:cubicBezTo>
                  <a:cubicBezTo>
                    <a:pt x="87511" y="103436"/>
                    <a:pt x="86469" y="104477"/>
                    <a:pt x="84386" y="104477"/>
                  </a:cubicBezTo>
                  <a:lnTo>
                    <a:pt x="71884" y="104477"/>
                  </a:lnTo>
                  <a:cubicBezTo>
                    <a:pt x="69801" y="104477"/>
                    <a:pt x="68759" y="103436"/>
                    <a:pt x="68759" y="101352"/>
                  </a:cubicBezTo>
                  <a:cubicBezTo>
                    <a:pt x="68759" y="99268"/>
                    <a:pt x="69801" y="98227"/>
                    <a:pt x="71884" y="98227"/>
                  </a:cubicBezTo>
                  <a:close/>
                  <a:moveTo>
                    <a:pt x="154484" y="82600"/>
                  </a:moveTo>
                  <a:lnTo>
                    <a:pt x="166985" y="82600"/>
                  </a:lnTo>
                  <a:cubicBezTo>
                    <a:pt x="169069" y="82600"/>
                    <a:pt x="170111" y="83642"/>
                    <a:pt x="170111" y="85725"/>
                  </a:cubicBezTo>
                  <a:cubicBezTo>
                    <a:pt x="170111" y="87809"/>
                    <a:pt x="169069" y="88851"/>
                    <a:pt x="166985" y="88851"/>
                  </a:cubicBezTo>
                  <a:lnTo>
                    <a:pt x="154484" y="88851"/>
                  </a:lnTo>
                  <a:cubicBezTo>
                    <a:pt x="152400" y="88851"/>
                    <a:pt x="151358" y="87809"/>
                    <a:pt x="151358" y="85725"/>
                  </a:cubicBezTo>
                  <a:cubicBezTo>
                    <a:pt x="151358" y="83642"/>
                    <a:pt x="152400" y="82600"/>
                    <a:pt x="154484" y="82600"/>
                  </a:cubicBezTo>
                  <a:close/>
                  <a:moveTo>
                    <a:pt x="109835" y="82600"/>
                  </a:moveTo>
                  <a:lnTo>
                    <a:pt x="141536" y="82600"/>
                  </a:lnTo>
                  <a:cubicBezTo>
                    <a:pt x="143619" y="82600"/>
                    <a:pt x="144661" y="83642"/>
                    <a:pt x="144661" y="85725"/>
                  </a:cubicBezTo>
                  <a:cubicBezTo>
                    <a:pt x="144661" y="87809"/>
                    <a:pt x="143619" y="88851"/>
                    <a:pt x="141536" y="88851"/>
                  </a:cubicBezTo>
                  <a:lnTo>
                    <a:pt x="109835" y="88851"/>
                  </a:lnTo>
                  <a:cubicBezTo>
                    <a:pt x="107752" y="88851"/>
                    <a:pt x="106710" y="87809"/>
                    <a:pt x="106710" y="85725"/>
                  </a:cubicBezTo>
                  <a:cubicBezTo>
                    <a:pt x="106710" y="83642"/>
                    <a:pt x="107752" y="82600"/>
                    <a:pt x="109835" y="82600"/>
                  </a:cubicBezTo>
                  <a:close/>
                  <a:moveTo>
                    <a:pt x="71884" y="82600"/>
                  </a:moveTo>
                  <a:lnTo>
                    <a:pt x="97334" y="82600"/>
                  </a:lnTo>
                  <a:cubicBezTo>
                    <a:pt x="99417" y="82600"/>
                    <a:pt x="100459" y="83642"/>
                    <a:pt x="100459" y="85725"/>
                  </a:cubicBezTo>
                  <a:cubicBezTo>
                    <a:pt x="100459" y="87809"/>
                    <a:pt x="99417" y="88851"/>
                    <a:pt x="97334" y="88851"/>
                  </a:cubicBezTo>
                  <a:lnTo>
                    <a:pt x="71884" y="88851"/>
                  </a:lnTo>
                  <a:cubicBezTo>
                    <a:pt x="69801" y="88851"/>
                    <a:pt x="68759" y="87809"/>
                    <a:pt x="68759" y="85725"/>
                  </a:cubicBezTo>
                  <a:cubicBezTo>
                    <a:pt x="68759" y="83642"/>
                    <a:pt x="69801" y="82600"/>
                    <a:pt x="71884" y="82600"/>
                  </a:cubicBezTo>
                  <a:close/>
                  <a:moveTo>
                    <a:pt x="55811" y="60276"/>
                  </a:moveTo>
                  <a:cubicBezTo>
                    <a:pt x="50453" y="60276"/>
                    <a:pt x="47774" y="63252"/>
                    <a:pt x="47774" y="69205"/>
                  </a:cubicBezTo>
                  <a:lnTo>
                    <a:pt x="47774" y="152251"/>
                  </a:lnTo>
                  <a:cubicBezTo>
                    <a:pt x="47774" y="158502"/>
                    <a:pt x="50453" y="161627"/>
                    <a:pt x="55811" y="161627"/>
                  </a:cubicBezTo>
                  <a:lnTo>
                    <a:pt x="78135" y="161627"/>
                  </a:lnTo>
                  <a:cubicBezTo>
                    <a:pt x="79623" y="161627"/>
                    <a:pt x="81112" y="162372"/>
                    <a:pt x="82600" y="163860"/>
                  </a:cubicBezTo>
                  <a:cubicBezTo>
                    <a:pt x="83790" y="164753"/>
                    <a:pt x="84386" y="166241"/>
                    <a:pt x="84386" y="168325"/>
                  </a:cubicBezTo>
                  <a:lnTo>
                    <a:pt x="83939" y="185738"/>
                  </a:lnTo>
                  <a:lnTo>
                    <a:pt x="115640" y="162967"/>
                  </a:lnTo>
                  <a:cubicBezTo>
                    <a:pt x="116830" y="162074"/>
                    <a:pt x="118021" y="161627"/>
                    <a:pt x="119212" y="161627"/>
                  </a:cubicBezTo>
                  <a:lnTo>
                    <a:pt x="183059" y="161627"/>
                  </a:lnTo>
                  <a:cubicBezTo>
                    <a:pt x="185738" y="161627"/>
                    <a:pt x="188193" y="160734"/>
                    <a:pt x="190426" y="158949"/>
                  </a:cubicBezTo>
                  <a:cubicBezTo>
                    <a:pt x="192658" y="157163"/>
                    <a:pt x="193774" y="154930"/>
                    <a:pt x="193774" y="152251"/>
                  </a:cubicBezTo>
                  <a:lnTo>
                    <a:pt x="193774" y="69205"/>
                  </a:lnTo>
                  <a:cubicBezTo>
                    <a:pt x="193774" y="66824"/>
                    <a:pt x="192658" y="64740"/>
                    <a:pt x="190426" y="62954"/>
                  </a:cubicBezTo>
                  <a:cubicBezTo>
                    <a:pt x="188193" y="61168"/>
                    <a:pt x="185738" y="60276"/>
                    <a:pt x="183059" y="60276"/>
                  </a:cubicBezTo>
                  <a:close/>
                  <a:moveTo>
                    <a:pt x="55811" y="47327"/>
                  </a:moveTo>
                  <a:lnTo>
                    <a:pt x="183059" y="47327"/>
                  </a:lnTo>
                  <a:cubicBezTo>
                    <a:pt x="189310" y="47327"/>
                    <a:pt x="194742" y="49485"/>
                    <a:pt x="199355" y="53801"/>
                  </a:cubicBezTo>
                  <a:cubicBezTo>
                    <a:pt x="203969" y="58117"/>
                    <a:pt x="206276" y="63252"/>
                    <a:pt x="206276" y="69205"/>
                  </a:cubicBezTo>
                  <a:lnTo>
                    <a:pt x="206276" y="152251"/>
                  </a:lnTo>
                  <a:cubicBezTo>
                    <a:pt x="206276" y="158204"/>
                    <a:pt x="203895" y="163413"/>
                    <a:pt x="199132" y="167878"/>
                  </a:cubicBezTo>
                  <a:cubicBezTo>
                    <a:pt x="194370" y="172343"/>
                    <a:pt x="189012" y="174576"/>
                    <a:pt x="183059" y="174576"/>
                  </a:cubicBezTo>
                  <a:lnTo>
                    <a:pt x="121444" y="174576"/>
                  </a:lnTo>
                  <a:lnTo>
                    <a:pt x="80814" y="203597"/>
                  </a:lnTo>
                  <a:cubicBezTo>
                    <a:pt x="79623" y="204192"/>
                    <a:pt x="78433" y="204490"/>
                    <a:pt x="77242" y="204490"/>
                  </a:cubicBezTo>
                  <a:cubicBezTo>
                    <a:pt x="76051" y="204490"/>
                    <a:pt x="75158" y="204341"/>
                    <a:pt x="74563" y="204044"/>
                  </a:cubicBezTo>
                  <a:cubicBezTo>
                    <a:pt x="72182" y="202555"/>
                    <a:pt x="70991" y="200620"/>
                    <a:pt x="70991" y="198239"/>
                  </a:cubicBezTo>
                  <a:lnTo>
                    <a:pt x="71438" y="174576"/>
                  </a:lnTo>
                  <a:lnTo>
                    <a:pt x="55811" y="174576"/>
                  </a:lnTo>
                  <a:cubicBezTo>
                    <a:pt x="49858" y="174576"/>
                    <a:pt x="44872" y="172418"/>
                    <a:pt x="40854" y="168102"/>
                  </a:cubicBezTo>
                  <a:cubicBezTo>
                    <a:pt x="36835" y="163785"/>
                    <a:pt x="34826" y="158502"/>
                    <a:pt x="34826" y="152251"/>
                  </a:cubicBezTo>
                  <a:lnTo>
                    <a:pt x="34826" y="69205"/>
                  </a:lnTo>
                  <a:cubicBezTo>
                    <a:pt x="34826" y="63252"/>
                    <a:pt x="36835" y="58117"/>
                    <a:pt x="40854" y="53801"/>
                  </a:cubicBezTo>
                  <a:cubicBezTo>
                    <a:pt x="44872" y="49485"/>
                    <a:pt x="49858" y="47327"/>
                    <a:pt x="55811" y="47327"/>
                  </a:cubicBezTo>
                  <a:close/>
                  <a:moveTo>
                    <a:pt x="20538" y="0"/>
                  </a:moveTo>
                  <a:lnTo>
                    <a:pt x="148233" y="0"/>
                  </a:lnTo>
                  <a:cubicBezTo>
                    <a:pt x="154484" y="0"/>
                    <a:pt x="159916" y="2084"/>
                    <a:pt x="164530" y="6251"/>
                  </a:cubicBezTo>
                  <a:cubicBezTo>
                    <a:pt x="169143" y="10418"/>
                    <a:pt x="171450" y="15478"/>
                    <a:pt x="171450" y="21431"/>
                  </a:cubicBezTo>
                  <a:lnTo>
                    <a:pt x="171450" y="25450"/>
                  </a:lnTo>
                  <a:cubicBezTo>
                    <a:pt x="171450" y="26938"/>
                    <a:pt x="170855" y="28352"/>
                    <a:pt x="169664" y="29691"/>
                  </a:cubicBezTo>
                  <a:cubicBezTo>
                    <a:pt x="168474" y="31031"/>
                    <a:pt x="166985" y="31701"/>
                    <a:pt x="165199" y="31701"/>
                  </a:cubicBezTo>
                  <a:cubicBezTo>
                    <a:pt x="163413" y="31701"/>
                    <a:pt x="161851" y="31031"/>
                    <a:pt x="160511" y="29691"/>
                  </a:cubicBezTo>
                  <a:cubicBezTo>
                    <a:pt x="159172" y="28352"/>
                    <a:pt x="158502" y="26938"/>
                    <a:pt x="158502" y="25450"/>
                  </a:cubicBezTo>
                  <a:lnTo>
                    <a:pt x="158502" y="21431"/>
                  </a:lnTo>
                  <a:cubicBezTo>
                    <a:pt x="158502" y="19050"/>
                    <a:pt x="157460" y="16967"/>
                    <a:pt x="155377" y="15181"/>
                  </a:cubicBezTo>
                  <a:cubicBezTo>
                    <a:pt x="153293" y="13395"/>
                    <a:pt x="150912" y="12502"/>
                    <a:pt x="148233" y="12502"/>
                  </a:cubicBezTo>
                  <a:lnTo>
                    <a:pt x="20538" y="12502"/>
                  </a:lnTo>
                  <a:cubicBezTo>
                    <a:pt x="15181" y="12502"/>
                    <a:pt x="12502" y="15478"/>
                    <a:pt x="12502" y="21431"/>
                  </a:cubicBezTo>
                  <a:lnTo>
                    <a:pt x="12502" y="104477"/>
                  </a:lnTo>
                  <a:cubicBezTo>
                    <a:pt x="12502" y="107156"/>
                    <a:pt x="13246" y="109240"/>
                    <a:pt x="14734" y="110728"/>
                  </a:cubicBezTo>
                  <a:cubicBezTo>
                    <a:pt x="17711" y="113407"/>
                    <a:pt x="17860" y="116384"/>
                    <a:pt x="15181" y="119658"/>
                  </a:cubicBezTo>
                  <a:cubicBezTo>
                    <a:pt x="13692" y="121146"/>
                    <a:pt x="12055" y="121890"/>
                    <a:pt x="10269" y="121890"/>
                  </a:cubicBezTo>
                  <a:cubicBezTo>
                    <a:pt x="8781" y="121890"/>
                    <a:pt x="7442" y="121295"/>
                    <a:pt x="6251" y="120104"/>
                  </a:cubicBezTo>
                  <a:cubicBezTo>
                    <a:pt x="2084" y="116235"/>
                    <a:pt x="0" y="111026"/>
                    <a:pt x="0" y="104477"/>
                  </a:cubicBezTo>
                  <a:lnTo>
                    <a:pt x="0" y="21431"/>
                  </a:lnTo>
                  <a:cubicBezTo>
                    <a:pt x="0" y="15478"/>
                    <a:pt x="1935" y="10418"/>
                    <a:pt x="5804" y="6251"/>
                  </a:cubicBezTo>
                  <a:cubicBezTo>
                    <a:pt x="9674" y="2084"/>
                    <a:pt x="14585" y="0"/>
                    <a:pt x="20538"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prstClr val="black"/>
                </a:solidFill>
              </a:endParaRPr>
            </a:p>
          </p:txBody>
        </p:sp>
      </p:grpSp>
      <p:grpSp>
        <p:nvGrpSpPr>
          <p:cNvPr id="3" name="组合 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660147" y="2175162"/>
            <a:ext cx="1246909" cy="1246909"/>
            <a:chOff x="1660147" y="2175162"/>
            <a:chExt cx="1246909" cy="1246909"/>
          </a:xfrm>
        </p:grpSpPr>
        <p:sp>
          <p:nvSpPr>
            <p:cNvPr id="2" name="椭圆 1"/>
            <p:cNvSpPr/>
            <p:nvPr/>
          </p:nvSpPr>
          <p:spPr>
            <a:xfrm>
              <a:off x="1660147" y="2175162"/>
              <a:ext cx="1246909" cy="1246909"/>
            </a:xfrm>
            <a:prstGeom prst="ellipse">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solidFill>
                  <a:prstClr val="white"/>
                </a:solidFill>
                <a:cs typeface="Helvetica" panose="020B0604020202020204" pitchFamily="34" charset="0"/>
              </a:endParaRPr>
            </a:p>
          </p:txBody>
        </p:sp>
        <p:sp>
          <p:nvSpPr>
            <p:cNvPr id="24" name="Freeform 48"/>
            <p:cNvSpPr/>
            <p:nvPr/>
          </p:nvSpPr>
          <p:spPr>
            <a:xfrm>
              <a:off x="2102902" y="2612410"/>
              <a:ext cx="357144" cy="358495"/>
            </a:xfrm>
            <a:custGeom>
              <a:avLst/>
              <a:gdLst/>
              <a:ahLst/>
              <a:cxnLst/>
              <a:rect l="l" t="t" r="r" b="b"/>
              <a:pathLst>
                <a:path w="204608" h="205382">
                  <a:moveTo>
                    <a:pt x="46881" y="32147"/>
                  </a:moveTo>
                  <a:cubicBezTo>
                    <a:pt x="48667" y="31254"/>
                    <a:pt x="50155" y="31551"/>
                    <a:pt x="51346" y="33039"/>
                  </a:cubicBezTo>
                  <a:cubicBezTo>
                    <a:pt x="52536" y="34825"/>
                    <a:pt x="52239" y="36314"/>
                    <a:pt x="50453" y="37504"/>
                  </a:cubicBezTo>
                  <a:cubicBezTo>
                    <a:pt x="37356" y="45541"/>
                    <a:pt x="30807" y="57298"/>
                    <a:pt x="30807" y="72777"/>
                  </a:cubicBezTo>
                  <a:cubicBezTo>
                    <a:pt x="30807" y="74860"/>
                    <a:pt x="29766" y="75902"/>
                    <a:pt x="27682" y="75902"/>
                  </a:cubicBezTo>
                  <a:cubicBezTo>
                    <a:pt x="25599" y="75902"/>
                    <a:pt x="24557" y="74860"/>
                    <a:pt x="24557" y="72777"/>
                  </a:cubicBezTo>
                  <a:cubicBezTo>
                    <a:pt x="24557" y="54917"/>
                    <a:pt x="31998" y="41374"/>
                    <a:pt x="46881" y="32147"/>
                  </a:cubicBezTo>
                  <a:close/>
                  <a:moveTo>
                    <a:pt x="61168" y="25896"/>
                  </a:moveTo>
                  <a:cubicBezTo>
                    <a:pt x="63252" y="25300"/>
                    <a:pt x="64591" y="26045"/>
                    <a:pt x="65187" y="28128"/>
                  </a:cubicBezTo>
                  <a:cubicBezTo>
                    <a:pt x="65782" y="30212"/>
                    <a:pt x="65038" y="31551"/>
                    <a:pt x="62954" y="32147"/>
                  </a:cubicBezTo>
                  <a:cubicBezTo>
                    <a:pt x="62657" y="32147"/>
                    <a:pt x="62136" y="32221"/>
                    <a:pt x="61392" y="32370"/>
                  </a:cubicBezTo>
                  <a:cubicBezTo>
                    <a:pt x="60648" y="32519"/>
                    <a:pt x="60127" y="32742"/>
                    <a:pt x="59829" y="33039"/>
                  </a:cubicBezTo>
                  <a:lnTo>
                    <a:pt x="58936" y="33039"/>
                  </a:lnTo>
                  <a:cubicBezTo>
                    <a:pt x="57448" y="33039"/>
                    <a:pt x="56406" y="32295"/>
                    <a:pt x="55811" y="30807"/>
                  </a:cubicBezTo>
                  <a:cubicBezTo>
                    <a:pt x="55215" y="29319"/>
                    <a:pt x="55811" y="27979"/>
                    <a:pt x="57597" y="26789"/>
                  </a:cubicBezTo>
                  <a:cubicBezTo>
                    <a:pt x="58787" y="26789"/>
                    <a:pt x="59978" y="26491"/>
                    <a:pt x="61168" y="25896"/>
                  </a:cubicBezTo>
                  <a:close/>
                  <a:moveTo>
                    <a:pt x="72331" y="12948"/>
                  </a:moveTo>
                  <a:cubicBezTo>
                    <a:pt x="55959" y="12948"/>
                    <a:pt x="41895" y="18752"/>
                    <a:pt x="30138" y="30361"/>
                  </a:cubicBezTo>
                  <a:cubicBezTo>
                    <a:pt x="18380" y="41969"/>
                    <a:pt x="12502" y="55959"/>
                    <a:pt x="12502" y="72330"/>
                  </a:cubicBezTo>
                  <a:cubicBezTo>
                    <a:pt x="12502" y="88999"/>
                    <a:pt x="18380" y="103138"/>
                    <a:pt x="30138" y="114746"/>
                  </a:cubicBezTo>
                  <a:cubicBezTo>
                    <a:pt x="41895" y="126355"/>
                    <a:pt x="55959" y="132159"/>
                    <a:pt x="72331" y="132159"/>
                  </a:cubicBezTo>
                  <a:cubicBezTo>
                    <a:pt x="82451" y="132159"/>
                    <a:pt x="91678" y="129778"/>
                    <a:pt x="100013" y="125015"/>
                  </a:cubicBezTo>
                  <a:cubicBezTo>
                    <a:pt x="102691" y="123527"/>
                    <a:pt x="105222" y="123973"/>
                    <a:pt x="107603" y="126355"/>
                  </a:cubicBezTo>
                  <a:lnTo>
                    <a:pt x="132606" y="151358"/>
                  </a:lnTo>
                  <a:lnTo>
                    <a:pt x="134838" y="149572"/>
                  </a:lnTo>
                  <a:cubicBezTo>
                    <a:pt x="137517" y="148084"/>
                    <a:pt x="140047" y="148232"/>
                    <a:pt x="142429" y="150018"/>
                  </a:cubicBezTo>
                  <a:lnTo>
                    <a:pt x="150912" y="157162"/>
                  </a:lnTo>
                  <a:cubicBezTo>
                    <a:pt x="153293" y="159543"/>
                    <a:pt x="153740" y="161925"/>
                    <a:pt x="152251" y="164306"/>
                  </a:cubicBezTo>
                  <a:lnTo>
                    <a:pt x="150465" y="169217"/>
                  </a:lnTo>
                  <a:lnTo>
                    <a:pt x="157609" y="176361"/>
                  </a:lnTo>
                  <a:lnTo>
                    <a:pt x="167878" y="177254"/>
                  </a:lnTo>
                  <a:cubicBezTo>
                    <a:pt x="170259" y="177254"/>
                    <a:pt x="172045" y="178593"/>
                    <a:pt x="173236" y="181272"/>
                  </a:cubicBezTo>
                  <a:lnTo>
                    <a:pt x="176808" y="191541"/>
                  </a:lnTo>
                  <a:lnTo>
                    <a:pt x="191542" y="187970"/>
                  </a:lnTo>
                  <a:lnTo>
                    <a:pt x="189309" y="169217"/>
                  </a:lnTo>
                  <a:lnTo>
                    <a:pt x="126802" y="106263"/>
                  </a:lnTo>
                  <a:cubicBezTo>
                    <a:pt x="124420" y="103882"/>
                    <a:pt x="123974" y="101500"/>
                    <a:pt x="125462" y="99119"/>
                  </a:cubicBezTo>
                  <a:cubicBezTo>
                    <a:pt x="129629" y="91082"/>
                    <a:pt x="131713" y="82153"/>
                    <a:pt x="131713" y="72330"/>
                  </a:cubicBezTo>
                  <a:cubicBezTo>
                    <a:pt x="131713" y="55959"/>
                    <a:pt x="125909" y="41969"/>
                    <a:pt x="114300" y="30361"/>
                  </a:cubicBezTo>
                  <a:cubicBezTo>
                    <a:pt x="102691" y="18752"/>
                    <a:pt x="88702" y="12948"/>
                    <a:pt x="72331" y="12948"/>
                  </a:cubicBezTo>
                  <a:close/>
                  <a:moveTo>
                    <a:pt x="72331" y="0"/>
                  </a:moveTo>
                  <a:cubicBezTo>
                    <a:pt x="92274" y="0"/>
                    <a:pt x="109314" y="7069"/>
                    <a:pt x="123453" y="21208"/>
                  </a:cubicBezTo>
                  <a:cubicBezTo>
                    <a:pt x="137592" y="35346"/>
                    <a:pt x="144661" y="52387"/>
                    <a:pt x="144661" y="72330"/>
                  </a:cubicBezTo>
                  <a:cubicBezTo>
                    <a:pt x="144661" y="81260"/>
                    <a:pt x="142726" y="90636"/>
                    <a:pt x="138857" y="100459"/>
                  </a:cubicBezTo>
                  <a:lnTo>
                    <a:pt x="200025" y="161627"/>
                  </a:lnTo>
                  <a:cubicBezTo>
                    <a:pt x="201216" y="162818"/>
                    <a:pt x="201811" y="164157"/>
                    <a:pt x="201811" y="165645"/>
                  </a:cubicBezTo>
                  <a:lnTo>
                    <a:pt x="204490" y="192434"/>
                  </a:lnTo>
                  <a:cubicBezTo>
                    <a:pt x="205085" y="196304"/>
                    <a:pt x="203448" y="198536"/>
                    <a:pt x="199579" y="199132"/>
                  </a:cubicBezTo>
                  <a:lnTo>
                    <a:pt x="174129" y="204936"/>
                  </a:lnTo>
                  <a:cubicBezTo>
                    <a:pt x="173831" y="205234"/>
                    <a:pt x="173385" y="205382"/>
                    <a:pt x="172790" y="205382"/>
                  </a:cubicBezTo>
                  <a:cubicBezTo>
                    <a:pt x="169515" y="205382"/>
                    <a:pt x="167432" y="203894"/>
                    <a:pt x="166539" y="200918"/>
                  </a:cubicBezTo>
                  <a:lnTo>
                    <a:pt x="162967" y="189309"/>
                  </a:lnTo>
                  <a:lnTo>
                    <a:pt x="154484" y="188863"/>
                  </a:lnTo>
                  <a:cubicBezTo>
                    <a:pt x="152698" y="188863"/>
                    <a:pt x="151358" y="188267"/>
                    <a:pt x="150465" y="187077"/>
                  </a:cubicBezTo>
                  <a:lnTo>
                    <a:pt x="138410" y="175022"/>
                  </a:lnTo>
                  <a:cubicBezTo>
                    <a:pt x="136624" y="173236"/>
                    <a:pt x="136178" y="170854"/>
                    <a:pt x="137071" y="167878"/>
                  </a:cubicBezTo>
                  <a:lnTo>
                    <a:pt x="138857" y="163859"/>
                  </a:lnTo>
                  <a:lnTo>
                    <a:pt x="137964" y="162966"/>
                  </a:lnTo>
                  <a:lnTo>
                    <a:pt x="135731" y="164752"/>
                  </a:lnTo>
                  <a:cubicBezTo>
                    <a:pt x="132755" y="166538"/>
                    <a:pt x="129927" y="166390"/>
                    <a:pt x="127248" y="164306"/>
                  </a:cubicBezTo>
                  <a:lnTo>
                    <a:pt x="101799" y="138410"/>
                  </a:lnTo>
                  <a:cubicBezTo>
                    <a:pt x="91976" y="142577"/>
                    <a:pt x="82153" y="144661"/>
                    <a:pt x="72331" y="144661"/>
                  </a:cubicBezTo>
                  <a:cubicBezTo>
                    <a:pt x="52388" y="144661"/>
                    <a:pt x="35347" y="137666"/>
                    <a:pt x="21208" y="123676"/>
                  </a:cubicBezTo>
                  <a:cubicBezTo>
                    <a:pt x="7069" y="109686"/>
                    <a:pt x="0" y="92571"/>
                    <a:pt x="0" y="72330"/>
                  </a:cubicBezTo>
                  <a:cubicBezTo>
                    <a:pt x="0" y="52387"/>
                    <a:pt x="7069" y="35346"/>
                    <a:pt x="21208" y="21208"/>
                  </a:cubicBezTo>
                  <a:cubicBezTo>
                    <a:pt x="35347" y="7069"/>
                    <a:pt x="52388" y="0"/>
                    <a:pt x="72331"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prstClr val="black"/>
                </a:solidFill>
              </a:endParaRPr>
            </a:p>
          </p:txBody>
        </p:sp>
      </p:grpSp>
      <p:grpSp>
        <p:nvGrpSpPr>
          <p:cNvPr id="4" name="组合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5165594" y="2535699"/>
            <a:ext cx="1246909" cy="1246909"/>
            <a:chOff x="4070838" y="2175162"/>
            <a:chExt cx="1246909" cy="1246909"/>
          </a:xfrm>
        </p:grpSpPr>
        <p:sp>
          <p:nvSpPr>
            <p:cNvPr id="6" name="椭圆 5"/>
            <p:cNvSpPr/>
            <p:nvPr/>
          </p:nvSpPr>
          <p:spPr>
            <a:xfrm>
              <a:off x="4070838" y="2175162"/>
              <a:ext cx="1246909" cy="1246909"/>
            </a:xfrm>
            <a:prstGeom prst="ellipse">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solidFill>
                  <a:prstClr val="white"/>
                </a:solidFill>
                <a:cs typeface="Helvetica" panose="020B0604020202020204" pitchFamily="34" charset="0"/>
              </a:endParaRPr>
            </a:p>
          </p:txBody>
        </p:sp>
        <p:sp>
          <p:nvSpPr>
            <p:cNvPr id="25" name="Freeform 50"/>
            <p:cNvSpPr/>
            <p:nvPr/>
          </p:nvSpPr>
          <p:spPr>
            <a:xfrm>
              <a:off x="4519065" y="2591572"/>
              <a:ext cx="356176" cy="351549"/>
            </a:xfrm>
            <a:custGeom>
              <a:avLst/>
              <a:gdLst/>
              <a:ahLst/>
              <a:cxnLst/>
              <a:rect l="l" t="t" r="r" b="b"/>
              <a:pathLst>
                <a:path w="206276" h="203596">
                  <a:moveTo>
                    <a:pt x="95548" y="108049"/>
                  </a:moveTo>
                  <a:cubicBezTo>
                    <a:pt x="93762" y="108049"/>
                    <a:pt x="92199" y="108719"/>
                    <a:pt x="90860" y="110058"/>
                  </a:cubicBezTo>
                  <a:cubicBezTo>
                    <a:pt x="89520" y="111397"/>
                    <a:pt x="88850" y="112960"/>
                    <a:pt x="88850" y="114746"/>
                  </a:cubicBezTo>
                  <a:lnTo>
                    <a:pt x="88850" y="129927"/>
                  </a:lnTo>
                  <a:cubicBezTo>
                    <a:pt x="88850" y="134391"/>
                    <a:pt x="91083" y="136624"/>
                    <a:pt x="95548" y="136624"/>
                  </a:cubicBezTo>
                  <a:lnTo>
                    <a:pt x="110728" y="136624"/>
                  </a:lnTo>
                  <a:cubicBezTo>
                    <a:pt x="115193" y="136624"/>
                    <a:pt x="117426" y="134391"/>
                    <a:pt x="117426" y="129927"/>
                  </a:cubicBezTo>
                  <a:lnTo>
                    <a:pt x="117426" y="114746"/>
                  </a:lnTo>
                  <a:cubicBezTo>
                    <a:pt x="117426" y="112960"/>
                    <a:pt x="116756" y="111397"/>
                    <a:pt x="115416" y="110058"/>
                  </a:cubicBezTo>
                  <a:cubicBezTo>
                    <a:pt x="114077" y="108719"/>
                    <a:pt x="112514" y="108049"/>
                    <a:pt x="110728" y="108049"/>
                  </a:cubicBezTo>
                  <a:close/>
                  <a:moveTo>
                    <a:pt x="21878" y="54024"/>
                  </a:moveTo>
                  <a:cubicBezTo>
                    <a:pt x="19497" y="54024"/>
                    <a:pt x="17339" y="54992"/>
                    <a:pt x="15404" y="56926"/>
                  </a:cubicBezTo>
                  <a:cubicBezTo>
                    <a:pt x="13469" y="58861"/>
                    <a:pt x="12502" y="61019"/>
                    <a:pt x="12502" y="63400"/>
                  </a:cubicBezTo>
                  <a:lnTo>
                    <a:pt x="12502" y="117871"/>
                  </a:lnTo>
                  <a:lnTo>
                    <a:pt x="22771" y="117871"/>
                  </a:lnTo>
                  <a:cubicBezTo>
                    <a:pt x="24854" y="117871"/>
                    <a:pt x="25896" y="118913"/>
                    <a:pt x="25896" y="120997"/>
                  </a:cubicBezTo>
                  <a:cubicBezTo>
                    <a:pt x="25896" y="123080"/>
                    <a:pt x="24854" y="124122"/>
                    <a:pt x="22771" y="124122"/>
                  </a:cubicBezTo>
                  <a:lnTo>
                    <a:pt x="12502" y="124122"/>
                  </a:lnTo>
                  <a:lnTo>
                    <a:pt x="12502" y="181272"/>
                  </a:lnTo>
                  <a:cubicBezTo>
                    <a:pt x="12502" y="183951"/>
                    <a:pt x="13469" y="186184"/>
                    <a:pt x="15404" y="187970"/>
                  </a:cubicBezTo>
                  <a:cubicBezTo>
                    <a:pt x="17339" y="189755"/>
                    <a:pt x="19497" y="190648"/>
                    <a:pt x="21878" y="190648"/>
                  </a:cubicBezTo>
                  <a:lnTo>
                    <a:pt x="184398" y="190648"/>
                  </a:lnTo>
                  <a:cubicBezTo>
                    <a:pt x="186779" y="190648"/>
                    <a:pt x="188937" y="189755"/>
                    <a:pt x="190872" y="187970"/>
                  </a:cubicBezTo>
                  <a:cubicBezTo>
                    <a:pt x="192807" y="186184"/>
                    <a:pt x="193774" y="183951"/>
                    <a:pt x="193774" y="181272"/>
                  </a:cubicBezTo>
                  <a:lnTo>
                    <a:pt x="193774" y="124122"/>
                  </a:lnTo>
                  <a:lnTo>
                    <a:pt x="123676" y="124122"/>
                  </a:lnTo>
                  <a:lnTo>
                    <a:pt x="123676" y="130373"/>
                  </a:lnTo>
                  <a:cubicBezTo>
                    <a:pt x="123676" y="133647"/>
                    <a:pt x="122411" y="136549"/>
                    <a:pt x="119881" y="139079"/>
                  </a:cubicBezTo>
                  <a:cubicBezTo>
                    <a:pt x="117351" y="141610"/>
                    <a:pt x="114300" y="142875"/>
                    <a:pt x="110728" y="142875"/>
                  </a:cubicBezTo>
                  <a:lnTo>
                    <a:pt x="95548" y="142875"/>
                  </a:lnTo>
                  <a:cubicBezTo>
                    <a:pt x="91976" y="142875"/>
                    <a:pt x="88925" y="141610"/>
                    <a:pt x="86395" y="139079"/>
                  </a:cubicBezTo>
                  <a:cubicBezTo>
                    <a:pt x="83865" y="136549"/>
                    <a:pt x="82600" y="133647"/>
                    <a:pt x="82600" y="130373"/>
                  </a:cubicBezTo>
                  <a:lnTo>
                    <a:pt x="82600" y="124122"/>
                  </a:lnTo>
                  <a:lnTo>
                    <a:pt x="41523" y="124122"/>
                  </a:lnTo>
                  <a:cubicBezTo>
                    <a:pt x="39440" y="124122"/>
                    <a:pt x="38398" y="123080"/>
                    <a:pt x="38398" y="120997"/>
                  </a:cubicBezTo>
                  <a:cubicBezTo>
                    <a:pt x="38398" y="118913"/>
                    <a:pt x="39440" y="117871"/>
                    <a:pt x="41523" y="117871"/>
                  </a:cubicBezTo>
                  <a:lnTo>
                    <a:pt x="82600" y="117871"/>
                  </a:lnTo>
                  <a:lnTo>
                    <a:pt x="82600" y="114746"/>
                  </a:lnTo>
                  <a:cubicBezTo>
                    <a:pt x="82600" y="111174"/>
                    <a:pt x="83865" y="108123"/>
                    <a:pt x="86395" y="105593"/>
                  </a:cubicBezTo>
                  <a:cubicBezTo>
                    <a:pt x="88925" y="103063"/>
                    <a:pt x="91976" y="101798"/>
                    <a:pt x="95548" y="101798"/>
                  </a:cubicBezTo>
                  <a:lnTo>
                    <a:pt x="110728" y="101798"/>
                  </a:lnTo>
                  <a:cubicBezTo>
                    <a:pt x="114300" y="101798"/>
                    <a:pt x="117351" y="103063"/>
                    <a:pt x="119881" y="105593"/>
                  </a:cubicBezTo>
                  <a:cubicBezTo>
                    <a:pt x="122411" y="108123"/>
                    <a:pt x="123676" y="111174"/>
                    <a:pt x="123676" y="114746"/>
                  </a:cubicBezTo>
                  <a:lnTo>
                    <a:pt x="123676" y="117871"/>
                  </a:lnTo>
                  <a:lnTo>
                    <a:pt x="193774" y="117871"/>
                  </a:lnTo>
                  <a:lnTo>
                    <a:pt x="193774" y="63400"/>
                  </a:lnTo>
                  <a:cubicBezTo>
                    <a:pt x="193774" y="61019"/>
                    <a:pt x="192807" y="58861"/>
                    <a:pt x="190872" y="56926"/>
                  </a:cubicBezTo>
                  <a:cubicBezTo>
                    <a:pt x="188937" y="54992"/>
                    <a:pt x="186779" y="54024"/>
                    <a:pt x="184398" y="54024"/>
                  </a:cubicBezTo>
                  <a:close/>
                  <a:moveTo>
                    <a:pt x="89743" y="12948"/>
                  </a:moveTo>
                  <a:cubicBezTo>
                    <a:pt x="84981" y="12948"/>
                    <a:pt x="82600" y="15329"/>
                    <a:pt x="82600" y="20091"/>
                  </a:cubicBezTo>
                  <a:lnTo>
                    <a:pt x="82600" y="41523"/>
                  </a:lnTo>
                  <a:lnTo>
                    <a:pt x="123676" y="41523"/>
                  </a:lnTo>
                  <a:lnTo>
                    <a:pt x="123676" y="20091"/>
                  </a:lnTo>
                  <a:cubicBezTo>
                    <a:pt x="123676" y="15329"/>
                    <a:pt x="119807" y="12948"/>
                    <a:pt x="112068" y="12948"/>
                  </a:cubicBezTo>
                  <a:close/>
                  <a:moveTo>
                    <a:pt x="89743" y="0"/>
                  </a:moveTo>
                  <a:lnTo>
                    <a:pt x="115193" y="0"/>
                  </a:lnTo>
                  <a:cubicBezTo>
                    <a:pt x="121742" y="0"/>
                    <a:pt x="126950" y="1860"/>
                    <a:pt x="130820" y="5581"/>
                  </a:cubicBezTo>
                  <a:cubicBezTo>
                    <a:pt x="134690" y="9301"/>
                    <a:pt x="136624" y="14138"/>
                    <a:pt x="136624" y="20091"/>
                  </a:cubicBezTo>
                  <a:lnTo>
                    <a:pt x="136624" y="41523"/>
                  </a:lnTo>
                  <a:lnTo>
                    <a:pt x="184398" y="41523"/>
                  </a:lnTo>
                  <a:cubicBezTo>
                    <a:pt x="190351" y="41523"/>
                    <a:pt x="195486" y="43681"/>
                    <a:pt x="199802" y="47997"/>
                  </a:cubicBezTo>
                  <a:cubicBezTo>
                    <a:pt x="204118" y="52313"/>
                    <a:pt x="206276" y="57447"/>
                    <a:pt x="206276" y="63400"/>
                  </a:cubicBezTo>
                  <a:lnTo>
                    <a:pt x="206276" y="181272"/>
                  </a:lnTo>
                  <a:cubicBezTo>
                    <a:pt x="206276" y="187225"/>
                    <a:pt x="204118" y="192434"/>
                    <a:pt x="199802" y="196899"/>
                  </a:cubicBezTo>
                  <a:cubicBezTo>
                    <a:pt x="195486" y="201364"/>
                    <a:pt x="190351" y="203596"/>
                    <a:pt x="184398" y="203596"/>
                  </a:cubicBezTo>
                  <a:lnTo>
                    <a:pt x="21878" y="203596"/>
                  </a:lnTo>
                  <a:cubicBezTo>
                    <a:pt x="15925" y="203596"/>
                    <a:pt x="10790" y="201364"/>
                    <a:pt x="6474" y="196899"/>
                  </a:cubicBezTo>
                  <a:cubicBezTo>
                    <a:pt x="2158" y="192434"/>
                    <a:pt x="0" y="187225"/>
                    <a:pt x="0" y="181272"/>
                  </a:cubicBezTo>
                  <a:lnTo>
                    <a:pt x="0" y="63400"/>
                  </a:lnTo>
                  <a:cubicBezTo>
                    <a:pt x="0" y="57447"/>
                    <a:pt x="2158" y="52313"/>
                    <a:pt x="6474" y="47997"/>
                  </a:cubicBezTo>
                  <a:cubicBezTo>
                    <a:pt x="10790" y="43681"/>
                    <a:pt x="15925" y="41523"/>
                    <a:pt x="21878" y="41523"/>
                  </a:cubicBezTo>
                  <a:lnTo>
                    <a:pt x="69652" y="41523"/>
                  </a:lnTo>
                  <a:lnTo>
                    <a:pt x="69652" y="20091"/>
                  </a:lnTo>
                  <a:cubicBezTo>
                    <a:pt x="69652" y="14138"/>
                    <a:pt x="71363" y="9301"/>
                    <a:pt x="74786" y="5581"/>
                  </a:cubicBezTo>
                  <a:cubicBezTo>
                    <a:pt x="78209" y="1860"/>
                    <a:pt x="83195" y="0"/>
                    <a:pt x="89743"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prstClr val="black"/>
                </a:solidFill>
              </a:endParaRPr>
            </a:p>
          </p:txBody>
        </p:sp>
      </p:grpSp>
      <p:sp>
        <p:nvSpPr>
          <p:cNvPr id="26" name="任意多边形 2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1690684" y="1930682"/>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任意多边形 2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5304356" y="3909463"/>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任意多边形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8702254" y="1939135"/>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33" name="TextBox 32"/>
          <p:cNvSpPr txBox="1"/>
          <p:nvPr/>
        </p:nvSpPr>
        <p:spPr>
          <a:xfrm>
            <a:off x="1178621" y="3853270"/>
            <a:ext cx="2641044" cy="584775"/>
          </a:xfrm>
          <a:prstGeom prst="rect">
            <a:avLst/>
          </a:prstGeom>
          <a:noFill/>
        </p:spPr>
        <p:txBody>
          <a:bodyPr wrap="none" rtlCol="0">
            <a:spAutoFit/>
          </a:bodyPr>
          <a:lstStyle/>
          <a:p>
            <a:r>
              <a:rPr lang="en-US" altLang="zh-CN" sz="3200" b="1" dirty="0">
                <a:solidFill>
                  <a:schemeClr val="bg1"/>
                </a:solidFill>
              </a:rPr>
              <a:t>Data to collect</a:t>
            </a:r>
            <a:endParaRPr lang="zh-CN" altLang="en-US" sz="3200" b="1" dirty="0">
              <a:solidFill>
                <a:schemeClr val="bg1"/>
              </a:solidFill>
            </a:endParaRPr>
          </a:p>
        </p:txBody>
      </p:sp>
      <p:sp>
        <p:nvSpPr>
          <p:cNvPr id="34" name="TextBox 33"/>
          <p:cNvSpPr txBox="1"/>
          <p:nvPr/>
        </p:nvSpPr>
        <p:spPr>
          <a:xfrm>
            <a:off x="4338662" y="4182718"/>
            <a:ext cx="2355325" cy="584775"/>
          </a:xfrm>
          <a:prstGeom prst="rect">
            <a:avLst/>
          </a:prstGeom>
          <a:noFill/>
        </p:spPr>
        <p:txBody>
          <a:bodyPr wrap="none" rtlCol="0">
            <a:spAutoFit/>
          </a:bodyPr>
          <a:lstStyle/>
          <a:p>
            <a:r>
              <a:rPr lang="en-US" altLang="zh-CN" sz="3200" b="1" dirty="0">
                <a:solidFill>
                  <a:schemeClr val="bg1"/>
                </a:solidFill>
              </a:rPr>
              <a:t>Preparations</a:t>
            </a:r>
            <a:endParaRPr lang="zh-CN" altLang="en-US" sz="3200" b="1" dirty="0">
              <a:solidFill>
                <a:schemeClr val="bg1"/>
              </a:solidFill>
            </a:endParaRPr>
          </a:p>
        </p:txBody>
      </p:sp>
      <p:sp>
        <p:nvSpPr>
          <p:cNvPr id="35" name="TextBox 34"/>
          <p:cNvSpPr txBox="1"/>
          <p:nvPr/>
        </p:nvSpPr>
        <p:spPr>
          <a:xfrm>
            <a:off x="8001141" y="3662794"/>
            <a:ext cx="4635611" cy="584775"/>
          </a:xfrm>
          <a:prstGeom prst="rect">
            <a:avLst/>
          </a:prstGeom>
          <a:noFill/>
        </p:spPr>
        <p:txBody>
          <a:bodyPr wrap="square" rtlCol="0">
            <a:spAutoFit/>
          </a:bodyPr>
          <a:lstStyle/>
          <a:p>
            <a:r>
              <a:rPr lang="en-US" altLang="zh-CN" sz="3200" b="1" dirty="0">
                <a:solidFill>
                  <a:schemeClr val="bg1"/>
                </a:solidFill>
              </a:rPr>
              <a:t>The Model We Used</a:t>
            </a:r>
            <a:endParaRPr lang="zh-CN" altLang="en-US" sz="32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1" fill="hold" nodeType="withEffect">
                                  <p:stCondLst>
                                    <p:cond delay="300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1000"/>
                                        <p:tgtEl>
                                          <p:spTgt spid="19"/>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63" presetClass="path" presetSubtype="0" accel="50000" decel="50000" fill="hold" grpId="1" nodeType="withEffect">
                                  <p:stCondLst>
                                    <p:cond delay="1000"/>
                                  </p:stCondLst>
                                  <p:childTnLst>
                                    <p:animMotion origin="layout" path="M -0.08334 0.00047 L 4.58333E-6 -2.22222E-6 " pathEditMode="relative" rAng="0" ptsTypes="AA">
                                      <p:cBhvr>
                                        <p:cTn id="22" dur="2000" fill="hold"/>
                                        <p:tgtEl>
                                          <p:spTgt spid="26"/>
                                        </p:tgtEl>
                                        <p:attrNameLst>
                                          <p:attrName>ppt_x</p:attrName>
                                          <p:attrName>ppt_y</p:attrName>
                                        </p:attrNameLst>
                                      </p:cBhvr>
                                      <p:rCtr x="4167" y="-23"/>
                                    </p:animMotion>
                                  </p:childTnLst>
                                </p:cTn>
                              </p:par>
                              <p:par>
                                <p:cTn id="23" presetID="10" presetClass="entr" presetSubtype="0" fill="hold" grpId="0" nodeType="withEffect">
                                  <p:stCondLst>
                                    <p:cond delay="10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63" presetClass="path" presetSubtype="0" accel="50000" decel="50000" fill="hold" grpId="1" nodeType="withEffect">
                                  <p:stCondLst>
                                    <p:cond delay="1000"/>
                                  </p:stCondLst>
                                  <p:childTnLst>
                                    <p:animMotion origin="layout" path="M -0.08334 0.00047 L 4.58333E-6 -2.22222E-6 " pathEditMode="relative" rAng="0" ptsTypes="AA">
                                      <p:cBhvr>
                                        <p:cTn id="27" dur="2000" fill="hold"/>
                                        <p:tgtEl>
                                          <p:spTgt spid="27"/>
                                        </p:tgtEl>
                                        <p:attrNameLst>
                                          <p:attrName>ppt_x</p:attrName>
                                          <p:attrName>ppt_y</p:attrName>
                                        </p:attrNameLst>
                                      </p:cBhvr>
                                      <p:rCtr x="4167" y="-23"/>
                                    </p:animMotion>
                                  </p:childTnLst>
                                </p:cTn>
                              </p:par>
                              <p:par>
                                <p:cTn id="28" presetID="10" presetClass="entr" presetSubtype="0" fill="hold" grpId="0" nodeType="withEffect">
                                  <p:stCondLst>
                                    <p:cond delay="10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63" presetClass="path" presetSubtype="0" accel="50000" decel="50000" fill="hold" grpId="1" nodeType="withEffect">
                                  <p:stCondLst>
                                    <p:cond delay="1000"/>
                                  </p:stCondLst>
                                  <p:childTnLst>
                                    <p:animMotion origin="layout" path="M -0.08334 0.00047 L 4.58333E-6 -2.22222E-6 " pathEditMode="relative" rAng="0" ptsTypes="AA">
                                      <p:cBhvr>
                                        <p:cTn id="32" dur="2000" fill="hold"/>
                                        <p:tgtEl>
                                          <p:spTgt spid="28"/>
                                        </p:tgtEl>
                                        <p:attrNameLst>
                                          <p:attrName>ppt_x</p:attrName>
                                          <p:attrName>ppt_y</p:attrName>
                                        </p:attrNameLst>
                                      </p:cBhvr>
                                      <p:rCtr x="4167" y="-23"/>
                                    </p:animMotion>
                                  </p:childTnLst>
                                </p:cTn>
                              </p:par>
                              <p:par>
                                <p:cTn id="33" presetID="53" presetClass="entr" presetSubtype="16" fill="hold" nodeType="withEffect">
                                  <p:stCondLst>
                                    <p:cond delay="2000"/>
                                  </p:stCondLst>
                                  <p:childTnLst>
                                    <p:set>
                                      <p:cBhvr>
                                        <p:cTn id="34" dur="1" fill="hold">
                                          <p:stCondLst>
                                            <p:cond delay="0"/>
                                          </p:stCondLst>
                                        </p:cTn>
                                        <p:tgtEl>
                                          <p:spTgt spid="30"/>
                                        </p:tgtEl>
                                        <p:attrNameLst>
                                          <p:attrName>style.visibility</p:attrName>
                                        </p:attrNameLst>
                                      </p:cBhvr>
                                      <p:to>
                                        <p:strVal val="visible"/>
                                      </p:to>
                                    </p:set>
                                    <p:anim calcmode="lin" valueType="num">
                                      <p:cBhvr>
                                        <p:cTn id="35" dur="2000" fill="hold"/>
                                        <p:tgtEl>
                                          <p:spTgt spid="30"/>
                                        </p:tgtEl>
                                        <p:attrNameLst>
                                          <p:attrName>ppt_w</p:attrName>
                                        </p:attrNameLst>
                                      </p:cBhvr>
                                      <p:tavLst>
                                        <p:tav tm="0">
                                          <p:val>
                                            <p:fltVal val="0"/>
                                          </p:val>
                                        </p:tav>
                                        <p:tav tm="100000">
                                          <p:val>
                                            <p:strVal val="#ppt_w"/>
                                          </p:val>
                                        </p:tav>
                                      </p:tavLst>
                                    </p:anim>
                                    <p:anim calcmode="lin" valueType="num">
                                      <p:cBhvr>
                                        <p:cTn id="36" dur="2000" fill="hold"/>
                                        <p:tgtEl>
                                          <p:spTgt spid="30"/>
                                        </p:tgtEl>
                                        <p:attrNameLst>
                                          <p:attrName>ppt_h</p:attrName>
                                        </p:attrNameLst>
                                      </p:cBhvr>
                                      <p:tavLst>
                                        <p:tav tm="0">
                                          <p:val>
                                            <p:fltVal val="0"/>
                                          </p:val>
                                        </p:tav>
                                        <p:tav tm="100000">
                                          <p:val>
                                            <p:strVal val="#ppt_h"/>
                                          </p:val>
                                        </p:tav>
                                      </p:tavLst>
                                    </p:anim>
                                    <p:animEffect transition="in" filter="fade">
                                      <p:cBhvr>
                                        <p:cTn id="37" dur="2000"/>
                                        <p:tgtEl>
                                          <p:spTgt spid="30"/>
                                        </p:tgtEl>
                                      </p:cBhvr>
                                    </p:animEffect>
                                  </p:childTnLst>
                                </p:cTn>
                              </p:par>
                              <p:par>
                                <p:cTn id="38" presetID="53" presetClass="entr" presetSubtype="16" fill="hold" nodeType="withEffect">
                                  <p:stCondLst>
                                    <p:cond delay="2000"/>
                                  </p:stCondLst>
                                  <p:childTnLst>
                                    <p:set>
                                      <p:cBhvr>
                                        <p:cTn id="39" dur="1" fill="hold">
                                          <p:stCondLst>
                                            <p:cond delay="0"/>
                                          </p:stCondLst>
                                        </p:cTn>
                                        <p:tgtEl>
                                          <p:spTgt spid="4"/>
                                        </p:tgtEl>
                                        <p:attrNameLst>
                                          <p:attrName>style.visibility</p:attrName>
                                        </p:attrNameLst>
                                      </p:cBhvr>
                                      <p:to>
                                        <p:strVal val="visible"/>
                                      </p:to>
                                    </p:set>
                                    <p:anim calcmode="lin" valueType="num">
                                      <p:cBhvr>
                                        <p:cTn id="40" dur="2000" fill="hold"/>
                                        <p:tgtEl>
                                          <p:spTgt spid="4"/>
                                        </p:tgtEl>
                                        <p:attrNameLst>
                                          <p:attrName>ppt_w</p:attrName>
                                        </p:attrNameLst>
                                      </p:cBhvr>
                                      <p:tavLst>
                                        <p:tav tm="0">
                                          <p:val>
                                            <p:fltVal val="0"/>
                                          </p:val>
                                        </p:tav>
                                        <p:tav tm="100000">
                                          <p:val>
                                            <p:strVal val="#ppt_w"/>
                                          </p:val>
                                        </p:tav>
                                      </p:tavLst>
                                    </p:anim>
                                    <p:anim calcmode="lin" valueType="num">
                                      <p:cBhvr>
                                        <p:cTn id="41" dur="2000" fill="hold"/>
                                        <p:tgtEl>
                                          <p:spTgt spid="4"/>
                                        </p:tgtEl>
                                        <p:attrNameLst>
                                          <p:attrName>ppt_h</p:attrName>
                                        </p:attrNameLst>
                                      </p:cBhvr>
                                      <p:tavLst>
                                        <p:tav tm="0">
                                          <p:val>
                                            <p:fltVal val="0"/>
                                          </p:val>
                                        </p:tav>
                                        <p:tav tm="100000">
                                          <p:val>
                                            <p:strVal val="#ppt_h"/>
                                          </p:val>
                                        </p:tav>
                                      </p:tavLst>
                                    </p:anim>
                                    <p:animEffect transition="in" filter="fade">
                                      <p:cBhvr>
                                        <p:cTn id="42" dur="2000"/>
                                        <p:tgtEl>
                                          <p:spTgt spid="4"/>
                                        </p:tgtEl>
                                      </p:cBhvr>
                                    </p:animEffect>
                                  </p:childTnLst>
                                </p:cTn>
                              </p:par>
                              <p:par>
                                <p:cTn id="43" presetID="53" presetClass="entr" presetSubtype="16" fill="hold" nodeType="withEffect">
                                  <p:stCondLst>
                                    <p:cond delay="2000"/>
                                  </p:stCondLst>
                                  <p:childTnLst>
                                    <p:set>
                                      <p:cBhvr>
                                        <p:cTn id="44" dur="1" fill="hold">
                                          <p:stCondLst>
                                            <p:cond delay="0"/>
                                          </p:stCondLst>
                                        </p:cTn>
                                        <p:tgtEl>
                                          <p:spTgt spid="3"/>
                                        </p:tgtEl>
                                        <p:attrNameLst>
                                          <p:attrName>style.visibility</p:attrName>
                                        </p:attrNameLst>
                                      </p:cBhvr>
                                      <p:to>
                                        <p:strVal val="visible"/>
                                      </p:to>
                                    </p:set>
                                    <p:anim calcmode="lin" valueType="num">
                                      <p:cBhvr>
                                        <p:cTn id="45" dur="2000" fill="hold"/>
                                        <p:tgtEl>
                                          <p:spTgt spid="3"/>
                                        </p:tgtEl>
                                        <p:attrNameLst>
                                          <p:attrName>ppt_w</p:attrName>
                                        </p:attrNameLst>
                                      </p:cBhvr>
                                      <p:tavLst>
                                        <p:tav tm="0">
                                          <p:val>
                                            <p:fltVal val="0"/>
                                          </p:val>
                                        </p:tav>
                                        <p:tav tm="100000">
                                          <p:val>
                                            <p:strVal val="#ppt_w"/>
                                          </p:val>
                                        </p:tav>
                                      </p:tavLst>
                                    </p:anim>
                                    <p:anim calcmode="lin" valueType="num">
                                      <p:cBhvr>
                                        <p:cTn id="46" dur="2000" fill="hold"/>
                                        <p:tgtEl>
                                          <p:spTgt spid="3"/>
                                        </p:tgtEl>
                                        <p:attrNameLst>
                                          <p:attrName>ppt_h</p:attrName>
                                        </p:attrNameLst>
                                      </p:cBhvr>
                                      <p:tavLst>
                                        <p:tav tm="0">
                                          <p:val>
                                            <p:fltVal val="0"/>
                                          </p:val>
                                        </p:tav>
                                        <p:tav tm="100000">
                                          <p:val>
                                            <p:strVal val="#ppt_h"/>
                                          </p:val>
                                        </p:tav>
                                      </p:tavLst>
                                    </p:anim>
                                    <p:animEffect transition="in" filter="fade">
                                      <p:cBhvr>
                                        <p:cTn id="47" dur="2000"/>
                                        <p:tgtEl>
                                          <p:spTgt spid="3"/>
                                        </p:tgtEl>
                                      </p:cBhvr>
                                    </p:animEffect>
                                  </p:childTnLst>
                                </p:cTn>
                              </p:par>
                              <p:par>
                                <p:cTn id="48" presetID="49" presetClass="entr" presetSubtype="0" decel="100000" fill="hold" nodeType="withEffect">
                                  <p:stCondLst>
                                    <p:cond delay="20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2000" fill="hold"/>
                                        <p:tgtEl>
                                          <p:spTgt spid="30"/>
                                        </p:tgtEl>
                                        <p:attrNameLst>
                                          <p:attrName>ppt_w</p:attrName>
                                        </p:attrNameLst>
                                      </p:cBhvr>
                                      <p:tavLst>
                                        <p:tav tm="0">
                                          <p:val>
                                            <p:fltVal val="0"/>
                                          </p:val>
                                        </p:tav>
                                        <p:tav tm="100000">
                                          <p:val>
                                            <p:strVal val="#ppt_w"/>
                                          </p:val>
                                        </p:tav>
                                      </p:tavLst>
                                    </p:anim>
                                    <p:anim calcmode="lin" valueType="num">
                                      <p:cBhvr>
                                        <p:cTn id="51" dur="2000" fill="hold"/>
                                        <p:tgtEl>
                                          <p:spTgt spid="30"/>
                                        </p:tgtEl>
                                        <p:attrNameLst>
                                          <p:attrName>ppt_h</p:attrName>
                                        </p:attrNameLst>
                                      </p:cBhvr>
                                      <p:tavLst>
                                        <p:tav tm="0">
                                          <p:val>
                                            <p:fltVal val="0"/>
                                          </p:val>
                                        </p:tav>
                                        <p:tav tm="100000">
                                          <p:val>
                                            <p:strVal val="#ppt_h"/>
                                          </p:val>
                                        </p:tav>
                                      </p:tavLst>
                                    </p:anim>
                                    <p:anim calcmode="lin" valueType="num">
                                      <p:cBhvr>
                                        <p:cTn id="52" dur="2000" fill="hold"/>
                                        <p:tgtEl>
                                          <p:spTgt spid="30"/>
                                        </p:tgtEl>
                                        <p:attrNameLst>
                                          <p:attrName>style.rotation</p:attrName>
                                        </p:attrNameLst>
                                      </p:cBhvr>
                                      <p:tavLst>
                                        <p:tav tm="0">
                                          <p:val>
                                            <p:fltVal val="360"/>
                                          </p:val>
                                        </p:tav>
                                        <p:tav tm="100000">
                                          <p:val>
                                            <p:fltVal val="0"/>
                                          </p:val>
                                        </p:tav>
                                      </p:tavLst>
                                    </p:anim>
                                    <p:animEffect transition="in" filter="fade">
                                      <p:cBhvr>
                                        <p:cTn id="53" dur="2000"/>
                                        <p:tgtEl>
                                          <p:spTgt spid="30"/>
                                        </p:tgtEl>
                                      </p:cBhvr>
                                    </p:animEffect>
                                  </p:childTnLst>
                                </p:cTn>
                              </p:par>
                              <p:par>
                                <p:cTn id="54" presetID="49" presetClass="entr" presetSubtype="0" decel="100000" fill="hold" nodeType="withEffect">
                                  <p:stCondLst>
                                    <p:cond delay="2000"/>
                                  </p:stCondLst>
                                  <p:childTnLst>
                                    <p:set>
                                      <p:cBhvr>
                                        <p:cTn id="55" dur="1" fill="hold">
                                          <p:stCondLst>
                                            <p:cond delay="0"/>
                                          </p:stCondLst>
                                        </p:cTn>
                                        <p:tgtEl>
                                          <p:spTgt spid="4"/>
                                        </p:tgtEl>
                                        <p:attrNameLst>
                                          <p:attrName>style.visibility</p:attrName>
                                        </p:attrNameLst>
                                      </p:cBhvr>
                                      <p:to>
                                        <p:strVal val="visible"/>
                                      </p:to>
                                    </p:set>
                                    <p:anim calcmode="lin" valueType="num">
                                      <p:cBhvr>
                                        <p:cTn id="56" dur="2000" fill="hold"/>
                                        <p:tgtEl>
                                          <p:spTgt spid="4"/>
                                        </p:tgtEl>
                                        <p:attrNameLst>
                                          <p:attrName>ppt_w</p:attrName>
                                        </p:attrNameLst>
                                      </p:cBhvr>
                                      <p:tavLst>
                                        <p:tav tm="0">
                                          <p:val>
                                            <p:fltVal val="0"/>
                                          </p:val>
                                        </p:tav>
                                        <p:tav tm="100000">
                                          <p:val>
                                            <p:strVal val="#ppt_w"/>
                                          </p:val>
                                        </p:tav>
                                      </p:tavLst>
                                    </p:anim>
                                    <p:anim calcmode="lin" valueType="num">
                                      <p:cBhvr>
                                        <p:cTn id="57" dur="2000" fill="hold"/>
                                        <p:tgtEl>
                                          <p:spTgt spid="4"/>
                                        </p:tgtEl>
                                        <p:attrNameLst>
                                          <p:attrName>ppt_h</p:attrName>
                                        </p:attrNameLst>
                                      </p:cBhvr>
                                      <p:tavLst>
                                        <p:tav tm="0">
                                          <p:val>
                                            <p:fltVal val="0"/>
                                          </p:val>
                                        </p:tav>
                                        <p:tav tm="100000">
                                          <p:val>
                                            <p:strVal val="#ppt_h"/>
                                          </p:val>
                                        </p:tav>
                                      </p:tavLst>
                                    </p:anim>
                                    <p:anim calcmode="lin" valueType="num">
                                      <p:cBhvr>
                                        <p:cTn id="58" dur="2000" fill="hold"/>
                                        <p:tgtEl>
                                          <p:spTgt spid="4"/>
                                        </p:tgtEl>
                                        <p:attrNameLst>
                                          <p:attrName>style.rotation</p:attrName>
                                        </p:attrNameLst>
                                      </p:cBhvr>
                                      <p:tavLst>
                                        <p:tav tm="0">
                                          <p:val>
                                            <p:fltVal val="360"/>
                                          </p:val>
                                        </p:tav>
                                        <p:tav tm="100000">
                                          <p:val>
                                            <p:fltVal val="0"/>
                                          </p:val>
                                        </p:tav>
                                      </p:tavLst>
                                    </p:anim>
                                    <p:animEffect transition="in" filter="fade">
                                      <p:cBhvr>
                                        <p:cTn id="59" dur="2000"/>
                                        <p:tgtEl>
                                          <p:spTgt spid="4"/>
                                        </p:tgtEl>
                                      </p:cBhvr>
                                    </p:animEffect>
                                  </p:childTnLst>
                                </p:cTn>
                              </p:par>
                              <p:par>
                                <p:cTn id="60" presetID="49" presetClass="entr" presetSubtype="0" decel="100000" fill="hold" nodeType="withEffect">
                                  <p:stCondLst>
                                    <p:cond delay="2000"/>
                                  </p:stCondLst>
                                  <p:childTnLst>
                                    <p:set>
                                      <p:cBhvr>
                                        <p:cTn id="61" dur="1" fill="hold">
                                          <p:stCondLst>
                                            <p:cond delay="0"/>
                                          </p:stCondLst>
                                        </p:cTn>
                                        <p:tgtEl>
                                          <p:spTgt spid="3"/>
                                        </p:tgtEl>
                                        <p:attrNameLst>
                                          <p:attrName>style.visibility</p:attrName>
                                        </p:attrNameLst>
                                      </p:cBhvr>
                                      <p:to>
                                        <p:strVal val="visible"/>
                                      </p:to>
                                    </p:set>
                                    <p:anim calcmode="lin" valueType="num">
                                      <p:cBhvr>
                                        <p:cTn id="62" dur="2000" fill="hold"/>
                                        <p:tgtEl>
                                          <p:spTgt spid="3"/>
                                        </p:tgtEl>
                                        <p:attrNameLst>
                                          <p:attrName>ppt_w</p:attrName>
                                        </p:attrNameLst>
                                      </p:cBhvr>
                                      <p:tavLst>
                                        <p:tav tm="0">
                                          <p:val>
                                            <p:fltVal val="0"/>
                                          </p:val>
                                        </p:tav>
                                        <p:tav tm="100000">
                                          <p:val>
                                            <p:strVal val="#ppt_w"/>
                                          </p:val>
                                        </p:tav>
                                      </p:tavLst>
                                    </p:anim>
                                    <p:anim calcmode="lin" valueType="num">
                                      <p:cBhvr>
                                        <p:cTn id="63" dur="2000" fill="hold"/>
                                        <p:tgtEl>
                                          <p:spTgt spid="3"/>
                                        </p:tgtEl>
                                        <p:attrNameLst>
                                          <p:attrName>ppt_h</p:attrName>
                                        </p:attrNameLst>
                                      </p:cBhvr>
                                      <p:tavLst>
                                        <p:tav tm="0">
                                          <p:val>
                                            <p:fltVal val="0"/>
                                          </p:val>
                                        </p:tav>
                                        <p:tav tm="100000">
                                          <p:val>
                                            <p:strVal val="#ppt_h"/>
                                          </p:val>
                                        </p:tav>
                                      </p:tavLst>
                                    </p:anim>
                                    <p:anim calcmode="lin" valueType="num">
                                      <p:cBhvr>
                                        <p:cTn id="64" dur="2000" fill="hold"/>
                                        <p:tgtEl>
                                          <p:spTgt spid="3"/>
                                        </p:tgtEl>
                                        <p:attrNameLst>
                                          <p:attrName>style.rotation</p:attrName>
                                        </p:attrNameLst>
                                      </p:cBhvr>
                                      <p:tavLst>
                                        <p:tav tm="0">
                                          <p:val>
                                            <p:fltVal val="360"/>
                                          </p:val>
                                        </p:tav>
                                        <p:tav tm="100000">
                                          <p:val>
                                            <p:fltVal val="0"/>
                                          </p:val>
                                        </p:tav>
                                      </p:tavLst>
                                    </p:anim>
                                    <p:animEffect transition="in" filter="fade">
                                      <p:cBhvr>
                                        <p:cTn id="6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animBg="1"/>
      <p:bldP spid="7" grpId="1" animBg="1"/>
      <p:bldP spid="26" grpId="0" animBg="1"/>
      <p:bldP spid="26" grpId="1" animBg="1"/>
      <p:bldP spid="27" grpId="0" animBg="1"/>
      <p:bldP spid="27" grpId="1" animBg="1"/>
      <p:bldP spid="28" grpId="0" animBg="1"/>
      <p:bldP spid="2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740410" y="424815"/>
            <a:ext cx="3492500" cy="645160"/>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Data to Collect</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740569" y="1082927"/>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9" name="Group 1"/>
          <p:cNvGrpSpPr/>
          <p:nvPr/>
        </p:nvGrpSpPr>
        <p:grpSpPr bwMode="auto">
          <a:xfrm>
            <a:off x="6029222" y="2236925"/>
            <a:ext cx="5128554" cy="2937515"/>
            <a:chOff x="2007321" y="1438226"/>
            <a:chExt cx="8493758" cy="4865206"/>
          </a:xfrm>
        </p:grpSpPr>
        <p:sp>
          <p:nvSpPr>
            <p:cNvPr id="21" name="Freeform 2"/>
            <p:cNvSpPr/>
            <p:nvPr/>
          </p:nvSpPr>
          <p:spPr bwMode="auto">
            <a:xfrm>
              <a:off x="2007321" y="6114631"/>
              <a:ext cx="4278336" cy="188801"/>
            </a:xfrm>
            <a:custGeom>
              <a:avLst/>
              <a:gdLst>
                <a:gd name="T0" fmla="*/ 0 w 885"/>
                <a:gd name="T1" fmla="*/ 77457 h 39"/>
                <a:gd name="T2" fmla="*/ 377074 w 885"/>
                <a:gd name="T3" fmla="*/ 188801 h 39"/>
                <a:gd name="T4" fmla="*/ 4278336 w 885"/>
                <a:gd name="T5" fmla="*/ 188801 h 39"/>
                <a:gd name="T6" fmla="*/ 4278336 w 885"/>
                <a:gd name="T7" fmla="*/ 0 h 39"/>
                <a:gd name="T8" fmla="*/ 0 w 885"/>
                <a:gd name="T9" fmla="*/ 0 h 39"/>
                <a:gd name="T10" fmla="*/ 0 w 885"/>
                <a:gd name="T11" fmla="*/ 77457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85" h="39">
                  <a:moveTo>
                    <a:pt x="0" y="16"/>
                  </a:moveTo>
                  <a:cubicBezTo>
                    <a:pt x="0" y="23"/>
                    <a:pt x="30" y="39"/>
                    <a:pt x="78" y="39"/>
                  </a:cubicBezTo>
                  <a:cubicBezTo>
                    <a:pt x="126" y="39"/>
                    <a:pt x="885" y="39"/>
                    <a:pt x="885" y="39"/>
                  </a:cubicBezTo>
                  <a:cubicBezTo>
                    <a:pt x="885" y="0"/>
                    <a:pt x="885" y="0"/>
                    <a:pt x="885" y="0"/>
                  </a:cubicBezTo>
                  <a:cubicBezTo>
                    <a:pt x="0" y="0"/>
                    <a:pt x="0" y="0"/>
                    <a:pt x="0" y="0"/>
                  </a:cubicBezTo>
                  <a:lnTo>
                    <a:pt x="0" y="16"/>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prstClr val="white"/>
                </a:solidFill>
              </a:endParaRPr>
            </a:p>
          </p:txBody>
        </p:sp>
        <p:sp>
          <p:nvSpPr>
            <p:cNvPr id="22" name="Freeform 3"/>
            <p:cNvSpPr/>
            <p:nvPr/>
          </p:nvSpPr>
          <p:spPr bwMode="auto">
            <a:xfrm>
              <a:off x="6222740" y="6114631"/>
              <a:ext cx="4278336" cy="188801"/>
            </a:xfrm>
            <a:custGeom>
              <a:avLst/>
              <a:gdLst>
                <a:gd name="T0" fmla="*/ 4278336 w 884"/>
                <a:gd name="T1" fmla="*/ 77457 h 39"/>
                <a:gd name="T2" fmla="*/ 3900836 w 884"/>
                <a:gd name="T3" fmla="*/ 188801 h 39"/>
                <a:gd name="T4" fmla="*/ 0 w 884"/>
                <a:gd name="T5" fmla="*/ 188801 h 39"/>
                <a:gd name="T6" fmla="*/ 0 w 884"/>
                <a:gd name="T7" fmla="*/ 0 h 39"/>
                <a:gd name="T8" fmla="*/ 4278336 w 884"/>
                <a:gd name="T9" fmla="*/ 0 h 39"/>
                <a:gd name="T10" fmla="*/ 4278336 w 884"/>
                <a:gd name="T11" fmla="*/ 77457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84" h="39">
                  <a:moveTo>
                    <a:pt x="884" y="16"/>
                  </a:moveTo>
                  <a:cubicBezTo>
                    <a:pt x="884" y="23"/>
                    <a:pt x="854" y="39"/>
                    <a:pt x="806" y="39"/>
                  </a:cubicBezTo>
                  <a:cubicBezTo>
                    <a:pt x="758" y="39"/>
                    <a:pt x="0" y="39"/>
                    <a:pt x="0" y="39"/>
                  </a:cubicBezTo>
                  <a:cubicBezTo>
                    <a:pt x="0" y="0"/>
                    <a:pt x="0" y="0"/>
                    <a:pt x="0" y="0"/>
                  </a:cubicBezTo>
                  <a:cubicBezTo>
                    <a:pt x="884" y="0"/>
                    <a:pt x="884" y="0"/>
                    <a:pt x="884" y="0"/>
                  </a:cubicBezTo>
                  <a:lnTo>
                    <a:pt x="884" y="16"/>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prstClr val="white"/>
                </a:solidFill>
              </a:endParaRPr>
            </a:p>
          </p:txBody>
        </p:sp>
        <p:sp>
          <p:nvSpPr>
            <p:cNvPr id="23" name="Freeform 4"/>
            <p:cNvSpPr/>
            <p:nvPr/>
          </p:nvSpPr>
          <p:spPr bwMode="auto">
            <a:xfrm>
              <a:off x="2868125" y="1438226"/>
              <a:ext cx="6838937" cy="4666323"/>
            </a:xfrm>
            <a:custGeom>
              <a:avLst/>
              <a:gdLst>
                <a:gd name="T0" fmla="*/ 40 w 1414"/>
                <a:gd name="T1" fmla="*/ 964 h 964"/>
                <a:gd name="T2" fmla="*/ 0 w 1414"/>
                <a:gd name="T3" fmla="*/ 924 h 964"/>
                <a:gd name="T4" fmla="*/ 0 w 1414"/>
                <a:gd name="T5" fmla="*/ 40 h 964"/>
                <a:gd name="T6" fmla="*/ 40 w 1414"/>
                <a:gd name="T7" fmla="*/ 0 h 964"/>
                <a:gd name="T8" fmla="*/ 1373 w 1414"/>
                <a:gd name="T9" fmla="*/ 0 h 964"/>
                <a:gd name="T10" fmla="*/ 1414 w 1414"/>
                <a:gd name="T11" fmla="*/ 40 h 964"/>
                <a:gd name="T12" fmla="*/ 1414 w 1414"/>
                <a:gd name="T13" fmla="*/ 924 h 964"/>
                <a:gd name="T14" fmla="*/ 1373 w 1414"/>
                <a:gd name="T15" fmla="*/ 964 h 964"/>
                <a:gd name="T16" fmla="*/ 40 w 1414"/>
                <a:gd name="T17" fmla="*/ 964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4" h="964">
                  <a:moveTo>
                    <a:pt x="40" y="964"/>
                  </a:moveTo>
                  <a:cubicBezTo>
                    <a:pt x="18" y="964"/>
                    <a:pt x="0" y="946"/>
                    <a:pt x="0" y="924"/>
                  </a:cubicBezTo>
                  <a:cubicBezTo>
                    <a:pt x="0" y="40"/>
                    <a:pt x="0" y="40"/>
                    <a:pt x="0" y="40"/>
                  </a:cubicBezTo>
                  <a:cubicBezTo>
                    <a:pt x="0" y="18"/>
                    <a:pt x="18" y="0"/>
                    <a:pt x="40" y="0"/>
                  </a:cubicBezTo>
                  <a:cubicBezTo>
                    <a:pt x="1373" y="0"/>
                    <a:pt x="1373" y="0"/>
                    <a:pt x="1373" y="0"/>
                  </a:cubicBezTo>
                  <a:cubicBezTo>
                    <a:pt x="1396" y="0"/>
                    <a:pt x="1414" y="18"/>
                    <a:pt x="1414" y="40"/>
                  </a:cubicBezTo>
                  <a:cubicBezTo>
                    <a:pt x="1414" y="924"/>
                    <a:pt x="1414" y="924"/>
                    <a:pt x="1414" y="924"/>
                  </a:cubicBezTo>
                  <a:cubicBezTo>
                    <a:pt x="1414" y="946"/>
                    <a:pt x="1396" y="964"/>
                    <a:pt x="1373" y="964"/>
                  </a:cubicBezTo>
                  <a:lnTo>
                    <a:pt x="40" y="964"/>
                  </a:lnTo>
                  <a:close/>
                </a:path>
              </a:pathLst>
            </a:custGeom>
            <a:solidFill>
              <a:schemeClr val="tx1">
                <a:lumMod val="75000"/>
                <a:lumOff val="25000"/>
              </a:schemeClr>
            </a:solidFill>
            <a:ln w="31750">
              <a:solidFill>
                <a:schemeClr val="bg1">
                  <a:lumMod val="75000"/>
                </a:schemeClr>
              </a:solidFill>
            </a:ln>
          </p:spPr>
          <p:txBody>
            <a:bodyPr/>
            <a:lstStyle/>
            <a:p>
              <a:pPr>
                <a:defRPr/>
              </a:pPr>
              <a:endParaRPr lang="id-ID">
                <a:solidFill>
                  <a:prstClr val="white"/>
                </a:solidFill>
                <a:latin typeface="Roboto Light"/>
              </a:endParaRPr>
            </a:p>
          </p:txBody>
        </p:sp>
        <p:sp>
          <p:nvSpPr>
            <p:cNvPr id="24" name="Rectangle 5"/>
            <p:cNvSpPr>
              <a:spLocks noChangeArrowheads="1"/>
            </p:cNvSpPr>
            <p:nvPr/>
          </p:nvSpPr>
          <p:spPr bwMode="auto">
            <a:xfrm>
              <a:off x="2007321" y="6037760"/>
              <a:ext cx="8493758" cy="154357"/>
            </a:xfrm>
            <a:prstGeom prst="rect">
              <a:avLst/>
            </a:prstGeom>
            <a:solidFill>
              <a:schemeClr val="bg1">
                <a:lumMod val="95000"/>
              </a:schemeClr>
            </a:solidFill>
            <a:ln>
              <a:noFill/>
            </a:ln>
          </p:spPr>
          <p:txBody>
            <a:bodyPr/>
            <a:lstStyle/>
            <a:p>
              <a:pPr>
                <a:defRPr/>
              </a:pPr>
              <a:endParaRPr lang="id-ID">
                <a:solidFill>
                  <a:prstClr val="white"/>
                </a:solidFill>
                <a:latin typeface="Roboto Light"/>
              </a:endParaRPr>
            </a:p>
          </p:txBody>
        </p:sp>
        <p:sp>
          <p:nvSpPr>
            <p:cNvPr id="25" name="Freeform 6"/>
            <p:cNvSpPr/>
            <p:nvPr/>
          </p:nvSpPr>
          <p:spPr bwMode="auto">
            <a:xfrm>
              <a:off x="5641969" y="6037175"/>
              <a:ext cx="1219616" cy="87138"/>
            </a:xfrm>
            <a:custGeom>
              <a:avLst/>
              <a:gdLst>
                <a:gd name="T0" fmla="*/ 0 w 252"/>
                <a:gd name="T1" fmla="*/ 0 h 18"/>
                <a:gd name="T2" fmla="*/ 106474 w 252"/>
                <a:gd name="T3" fmla="*/ 87138 h 18"/>
                <a:gd name="T4" fmla="*/ 1113142 w 252"/>
                <a:gd name="T5" fmla="*/ 87138 h 18"/>
                <a:gd name="T6" fmla="*/ 1219616 w 252"/>
                <a:gd name="T7" fmla="*/ 0 h 18"/>
                <a:gd name="T8" fmla="*/ 0 w 25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2" h="18">
                  <a:moveTo>
                    <a:pt x="0" y="0"/>
                  </a:moveTo>
                  <a:cubicBezTo>
                    <a:pt x="2" y="10"/>
                    <a:pt x="11" y="18"/>
                    <a:pt x="22" y="18"/>
                  </a:cubicBezTo>
                  <a:cubicBezTo>
                    <a:pt x="230" y="18"/>
                    <a:pt x="230" y="18"/>
                    <a:pt x="230" y="18"/>
                  </a:cubicBezTo>
                  <a:cubicBezTo>
                    <a:pt x="241" y="18"/>
                    <a:pt x="250" y="10"/>
                    <a:pt x="252" y="0"/>
                  </a:cubicBezTo>
                  <a:lnTo>
                    <a:pt x="0" y="0"/>
                  </a:lnTo>
                  <a:close/>
                </a:path>
              </a:pathLst>
            </a:custGeom>
            <a:solidFill>
              <a:srgbClr val="B3B4B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olidFill>
                  <a:prstClr val="white"/>
                </a:solidFill>
              </a:endParaRPr>
            </a:p>
          </p:txBody>
        </p:sp>
        <p:sp>
          <p:nvSpPr>
            <p:cNvPr id="26" name="Rectangle 7"/>
            <p:cNvSpPr>
              <a:spLocks noChangeArrowheads="1"/>
            </p:cNvSpPr>
            <p:nvPr/>
          </p:nvSpPr>
          <p:spPr bwMode="auto">
            <a:xfrm>
              <a:off x="3096683" y="1733581"/>
              <a:ext cx="6383305" cy="4032571"/>
            </a:xfrm>
            <a:prstGeom prst="rect">
              <a:avLst/>
            </a:prstGeom>
            <a:solidFill>
              <a:schemeClr val="bg1">
                <a:lumMod val="95000"/>
              </a:schemeClr>
            </a:solidFill>
            <a:ln>
              <a:noFill/>
            </a:ln>
          </p:spPr>
          <p:txBody>
            <a:bodyPr/>
            <a:lstStyle/>
            <a:p>
              <a:pPr>
                <a:defRPr/>
              </a:pPr>
              <a:endParaRPr lang="id-ID">
                <a:solidFill>
                  <a:prstClr val="white"/>
                </a:solidFill>
                <a:latin typeface="Roboto Light"/>
              </a:endParaRPr>
            </a:p>
          </p:txBody>
        </p:sp>
        <p:sp>
          <p:nvSpPr>
            <p:cNvPr id="27" name="Oval 8"/>
            <p:cNvSpPr/>
            <p:nvPr/>
          </p:nvSpPr>
          <p:spPr>
            <a:xfrm>
              <a:off x="6251974" y="1546572"/>
              <a:ext cx="78659" cy="78663"/>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34" name="任意多边形 3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8213947" y="5301418"/>
            <a:ext cx="1577024" cy="1822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5" name="任意多边形 3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8900000" flipV="1">
            <a:off x="7867582" y="1699237"/>
            <a:ext cx="1577024" cy="1822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7" name="矩形 6"/>
          <p:cNvSpPr/>
          <p:nvPr/>
        </p:nvSpPr>
        <p:spPr>
          <a:xfrm>
            <a:off x="653105" y="1168880"/>
            <a:ext cx="5646461" cy="5016758"/>
          </a:xfrm>
          <a:prstGeom prst="rect">
            <a:avLst/>
          </a:prstGeom>
        </p:spPr>
        <p:txBody>
          <a:bodyPr wrap="square">
            <a:spAutoFit/>
          </a:bodyPr>
          <a:lstStyle/>
          <a:p>
            <a:r>
              <a:rPr lang="en-US" altLang="zh-CN" sz="3200" dirty="0">
                <a:solidFill>
                  <a:schemeClr val="bg1"/>
                </a:solidFill>
              </a:rPr>
              <a:t>The SEC’s EDGAR database provides free public access to corporate information, allowing us to quickly research a company’s financial information and operations by reviewing registration statements, prospectuses and periodic reports filed on Forms 10-K and 10-Q. </a:t>
            </a:r>
            <a:endParaRPr lang="zh-CN" altLang="zh-CN" sz="3200" dirty="0">
              <a:solidFill>
                <a:schemeClr val="bg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73686" y="2412356"/>
            <a:ext cx="2401633" cy="2401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100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par>
                                <p:cTn id="18" presetID="63" presetClass="path" presetSubtype="0" accel="50000" decel="50000" fill="hold" grpId="1" nodeType="withEffect">
                                  <p:stCondLst>
                                    <p:cond delay="1000"/>
                                  </p:stCondLst>
                                  <p:childTnLst>
                                    <p:animMotion origin="layout" path="M -0.03515 0.06528 L -1.45833E-6 -1.11111E-6 " pathEditMode="relative" rAng="0" ptsTypes="AA">
                                      <p:cBhvr>
                                        <p:cTn id="19" dur="2000" fill="hold"/>
                                        <p:tgtEl>
                                          <p:spTgt spid="34"/>
                                        </p:tgtEl>
                                        <p:attrNameLst>
                                          <p:attrName>ppt_x</p:attrName>
                                          <p:attrName>ppt_y</p:attrName>
                                        </p:attrNameLst>
                                      </p:cBhvr>
                                      <p:rCtr x="1758" y="-3264"/>
                                    </p:animMotion>
                                  </p:childTnLst>
                                </p:cTn>
                              </p:par>
                              <p:par>
                                <p:cTn id="20" presetID="10" presetClass="entr" presetSubtype="0" fill="hold" grpId="0" nodeType="withEffect">
                                  <p:stCondLst>
                                    <p:cond delay="100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63" presetClass="path" presetSubtype="0" accel="50000" decel="50000" fill="hold" grpId="1" nodeType="withEffect">
                                  <p:stCondLst>
                                    <p:cond delay="1000"/>
                                  </p:stCondLst>
                                  <p:childTnLst>
                                    <p:animMotion origin="layout" path="M 0.06354 -0.11412 L 4.16667E-6 3.7037E-7 " pathEditMode="relative" rAng="0" ptsTypes="AA">
                                      <p:cBhvr>
                                        <p:cTn id="24" dur="2000" fill="hold"/>
                                        <p:tgtEl>
                                          <p:spTgt spid="35"/>
                                        </p:tgtEl>
                                        <p:attrNameLst>
                                          <p:attrName>ppt_x</p:attrName>
                                          <p:attrName>ppt_y</p:attrName>
                                        </p:attrNameLst>
                                      </p:cBhvr>
                                      <p:rCtr x="-3177" y="569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34" grpId="0" animBg="1"/>
      <p:bldP spid="34" grpId="1" animBg="1"/>
      <p:bldP spid="35" grpId="0" animBg="1"/>
      <p:bldP spid="35"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760" y="345743"/>
            <a:ext cx="4173589" cy="646331"/>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Preparations</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972681"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Group 3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367395" y="1770068"/>
            <a:ext cx="3518503" cy="4498662"/>
            <a:chOff x="6861512" y="1531261"/>
            <a:chExt cx="4079486" cy="5215919"/>
          </a:xfrm>
          <a:gradFill>
            <a:gsLst>
              <a:gs pos="0">
                <a:srgbClr val="F0C76A"/>
              </a:gs>
              <a:gs pos="100000">
                <a:srgbClr val="CC6F62"/>
              </a:gs>
            </a:gsLst>
            <a:lin ang="2400000" scaled="0"/>
          </a:gradFill>
        </p:grpSpPr>
        <p:sp>
          <p:nvSpPr>
            <p:cNvPr id="6" name="Freeform 33"/>
            <p:cNvSpPr/>
            <p:nvPr/>
          </p:nvSpPr>
          <p:spPr bwMode="auto">
            <a:xfrm rot="20192702" flipH="1">
              <a:off x="8996650" y="1920344"/>
              <a:ext cx="781902" cy="649063"/>
            </a:xfrm>
            <a:custGeom>
              <a:avLst/>
              <a:gdLst>
                <a:gd name="T0" fmla="*/ 167 w 196"/>
                <a:gd name="T1" fmla="*/ 142 h 163"/>
                <a:gd name="T2" fmla="*/ 170 w 196"/>
                <a:gd name="T3" fmla="*/ 48 h 163"/>
                <a:gd name="T4" fmla="*/ 167 w 196"/>
                <a:gd name="T5" fmla="*/ 57 h 163"/>
                <a:gd name="T6" fmla="*/ 75 w 196"/>
                <a:gd name="T7" fmla="*/ 3 h 163"/>
                <a:gd name="T8" fmla="*/ 0 w 196"/>
                <a:gd name="T9" fmla="*/ 26 h 163"/>
                <a:gd name="T10" fmla="*/ 20 w 196"/>
                <a:gd name="T11" fmla="*/ 60 h 163"/>
                <a:gd name="T12" fmla="*/ 77 w 196"/>
                <a:gd name="T13" fmla="*/ 124 h 163"/>
                <a:gd name="T14" fmla="*/ 119 w 196"/>
                <a:gd name="T15" fmla="*/ 134 h 163"/>
                <a:gd name="T16" fmla="*/ 102 w 196"/>
                <a:gd name="T17" fmla="*/ 139 h 163"/>
                <a:gd name="T18" fmla="*/ 161 w 196"/>
                <a:gd name="T19" fmla="*/ 163 h 163"/>
                <a:gd name="T20" fmla="*/ 81 w 196"/>
                <a:gd name="T21" fmla="*/ 35 h 163"/>
                <a:gd name="T22" fmla="*/ 167 w 196"/>
                <a:gd name="T23" fmla="*/ 142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6" h="163">
                  <a:moveTo>
                    <a:pt x="167" y="142"/>
                  </a:moveTo>
                  <a:cubicBezTo>
                    <a:pt x="167" y="142"/>
                    <a:pt x="196" y="98"/>
                    <a:pt x="170" y="48"/>
                  </a:cubicBezTo>
                  <a:cubicBezTo>
                    <a:pt x="167" y="57"/>
                    <a:pt x="167" y="57"/>
                    <a:pt x="167" y="57"/>
                  </a:cubicBezTo>
                  <a:cubicBezTo>
                    <a:pt x="167" y="57"/>
                    <a:pt x="152" y="0"/>
                    <a:pt x="75" y="3"/>
                  </a:cubicBezTo>
                  <a:cubicBezTo>
                    <a:pt x="21" y="6"/>
                    <a:pt x="0" y="26"/>
                    <a:pt x="0" y="26"/>
                  </a:cubicBezTo>
                  <a:cubicBezTo>
                    <a:pt x="0" y="26"/>
                    <a:pt x="19" y="23"/>
                    <a:pt x="20" y="60"/>
                  </a:cubicBezTo>
                  <a:cubicBezTo>
                    <a:pt x="21" y="81"/>
                    <a:pt x="43" y="116"/>
                    <a:pt x="77" y="124"/>
                  </a:cubicBezTo>
                  <a:cubicBezTo>
                    <a:pt x="111" y="131"/>
                    <a:pt x="119" y="134"/>
                    <a:pt x="119" y="134"/>
                  </a:cubicBezTo>
                  <a:cubicBezTo>
                    <a:pt x="102" y="139"/>
                    <a:pt x="102" y="139"/>
                    <a:pt x="102" y="139"/>
                  </a:cubicBezTo>
                  <a:cubicBezTo>
                    <a:pt x="102" y="139"/>
                    <a:pt x="159" y="140"/>
                    <a:pt x="161" y="163"/>
                  </a:cubicBezTo>
                  <a:cubicBezTo>
                    <a:pt x="161" y="163"/>
                    <a:pt x="157" y="56"/>
                    <a:pt x="81" y="35"/>
                  </a:cubicBezTo>
                  <a:cubicBezTo>
                    <a:pt x="81" y="35"/>
                    <a:pt x="153" y="45"/>
                    <a:pt x="167" y="142"/>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8" name="Freeform 36"/>
            <p:cNvSpPr/>
            <p:nvPr/>
          </p:nvSpPr>
          <p:spPr bwMode="auto">
            <a:xfrm rot="1695130">
              <a:off x="10373996" y="2670521"/>
              <a:ext cx="369825" cy="474643"/>
            </a:xfrm>
            <a:custGeom>
              <a:avLst/>
              <a:gdLst>
                <a:gd name="T0" fmla="*/ 4 w 79"/>
                <a:gd name="T1" fmla="*/ 55 h 101"/>
                <a:gd name="T2" fmla="*/ 37 w 79"/>
                <a:gd name="T3" fmla="*/ 10 h 101"/>
                <a:gd name="T4" fmla="*/ 77 w 79"/>
                <a:gd name="T5" fmla="*/ 5 h 101"/>
                <a:gd name="T6" fmla="*/ 75 w 79"/>
                <a:gd name="T7" fmla="*/ 25 h 101"/>
                <a:gd name="T8" fmla="*/ 61 w 79"/>
                <a:gd name="T9" fmla="*/ 67 h 101"/>
                <a:gd name="T10" fmla="*/ 43 w 79"/>
                <a:gd name="T11" fmla="*/ 81 h 101"/>
                <a:gd name="T12" fmla="*/ 52 w 79"/>
                <a:gd name="T13" fmla="*/ 80 h 101"/>
                <a:gd name="T14" fmla="*/ 30 w 79"/>
                <a:gd name="T15" fmla="*/ 101 h 101"/>
                <a:gd name="T16" fmla="*/ 27 w 79"/>
                <a:gd name="T17" fmla="*/ 87 h 101"/>
                <a:gd name="T18" fmla="*/ 48 w 79"/>
                <a:gd name="T19" fmla="*/ 20 h 101"/>
                <a:gd name="T20" fmla="*/ 18 w 79"/>
                <a:gd name="T21" fmla="*/ 91 h 101"/>
                <a:gd name="T22" fmla="*/ 1 w 79"/>
                <a:gd name="T23" fmla="*/ 51 h 101"/>
                <a:gd name="T24" fmla="*/ 4 w 79"/>
                <a:gd name="T25" fmla="*/ 5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01">
                  <a:moveTo>
                    <a:pt x="4" y="55"/>
                  </a:moveTo>
                  <a:cubicBezTo>
                    <a:pt x="4" y="55"/>
                    <a:pt x="0" y="25"/>
                    <a:pt x="37" y="10"/>
                  </a:cubicBezTo>
                  <a:cubicBezTo>
                    <a:pt x="63" y="0"/>
                    <a:pt x="77" y="5"/>
                    <a:pt x="77" y="5"/>
                  </a:cubicBezTo>
                  <a:cubicBezTo>
                    <a:pt x="77" y="5"/>
                    <a:pt x="67" y="7"/>
                    <a:pt x="75" y="25"/>
                  </a:cubicBezTo>
                  <a:cubicBezTo>
                    <a:pt x="79" y="35"/>
                    <a:pt x="76" y="57"/>
                    <a:pt x="61" y="67"/>
                  </a:cubicBezTo>
                  <a:cubicBezTo>
                    <a:pt x="47" y="78"/>
                    <a:pt x="43" y="81"/>
                    <a:pt x="43" y="81"/>
                  </a:cubicBezTo>
                  <a:cubicBezTo>
                    <a:pt x="52" y="80"/>
                    <a:pt x="52" y="80"/>
                    <a:pt x="52" y="80"/>
                  </a:cubicBezTo>
                  <a:cubicBezTo>
                    <a:pt x="52" y="80"/>
                    <a:pt x="29" y="91"/>
                    <a:pt x="30" y="101"/>
                  </a:cubicBezTo>
                  <a:cubicBezTo>
                    <a:pt x="28" y="97"/>
                    <a:pt x="28" y="92"/>
                    <a:pt x="27" y="87"/>
                  </a:cubicBezTo>
                  <a:cubicBezTo>
                    <a:pt x="24" y="59"/>
                    <a:pt x="33" y="34"/>
                    <a:pt x="48" y="20"/>
                  </a:cubicBezTo>
                  <a:cubicBezTo>
                    <a:pt x="30" y="31"/>
                    <a:pt x="14" y="52"/>
                    <a:pt x="18" y="91"/>
                  </a:cubicBezTo>
                  <a:cubicBezTo>
                    <a:pt x="11" y="85"/>
                    <a:pt x="0" y="71"/>
                    <a:pt x="1" y="51"/>
                  </a:cubicBezTo>
                  <a:lnTo>
                    <a:pt x="4" y="55"/>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9" name="Freeform 30"/>
            <p:cNvSpPr/>
            <p:nvPr/>
          </p:nvSpPr>
          <p:spPr bwMode="auto">
            <a:xfrm rot="19798984">
              <a:off x="9589356" y="1775933"/>
              <a:ext cx="1351642" cy="1016047"/>
            </a:xfrm>
            <a:custGeom>
              <a:avLst/>
              <a:gdLst>
                <a:gd name="T0" fmla="*/ 9 w 246"/>
                <a:gd name="T1" fmla="*/ 121 h 185"/>
                <a:gd name="T2" fmla="*/ 73 w 246"/>
                <a:gd name="T3" fmla="*/ 31 h 185"/>
                <a:gd name="T4" fmla="*/ 69 w 246"/>
                <a:gd name="T5" fmla="*/ 42 h 185"/>
                <a:gd name="T6" fmla="*/ 192 w 246"/>
                <a:gd name="T7" fmla="*/ 58 h 185"/>
                <a:gd name="T8" fmla="*/ 246 w 246"/>
                <a:gd name="T9" fmla="*/ 133 h 185"/>
                <a:gd name="T10" fmla="*/ 203 w 246"/>
                <a:gd name="T11" fmla="*/ 150 h 185"/>
                <a:gd name="T12" fmla="*/ 105 w 246"/>
                <a:gd name="T13" fmla="*/ 168 h 185"/>
                <a:gd name="T14" fmla="*/ 59 w 246"/>
                <a:gd name="T15" fmla="*/ 147 h 185"/>
                <a:gd name="T16" fmla="*/ 71 w 246"/>
                <a:gd name="T17" fmla="*/ 164 h 185"/>
                <a:gd name="T18" fmla="*/ 0 w 246"/>
                <a:gd name="T19" fmla="*/ 145 h 185"/>
                <a:gd name="T20" fmla="*/ 165 w 246"/>
                <a:gd name="T21" fmla="*/ 83 h 185"/>
                <a:gd name="T22" fmla="*/ 9 w 246"/>
                <a:gd name="T23" fmla="*/ 12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6" h="185">
                  <a:moveTo>
                    <a:pt x="9" y="121"/>
                  </a:moveTo>
                  <a:cubicBezTo>
                    <a:pt x="9" y="121"/>
                    <a:pt x="14" y="59"/>
                    <a:pt x="73" y="31"/>
                  </a:cubicBezTo>
                  <a:cubicBezTo>
                    <a:pt x="69" y="42"/>
                    <a:pt x="69" y="42"/>
                    <a:pt x="69" y="42"/>
                  </a:cubicBezTo>
                  <a:cubicBezTo>
                    <a:pt x="69" y="42"/>
                    <a:pt x="124" y="0"/>
                    <a:pt x="192" y="58"/>
                  </a:cubicBezTo>
                  <a:cubicBezTo>
                    <a:pt x="241" y="99"/>
                    <a:pt x="246" y="133"/>
                    <a:pt x="246" y="133"/>
                  </a:cubicBezTo>
                  <a:cubicBezTo>
                    <a:pt x="246" y="133"/>
                    <a:pt x="230" y="116"/>
                    <a:pt x="203" y="150"/>
                  </a:cubicBezTo>
                  <a:cubicBezTo>
                    <a:pt x="187" y="169"/>
                    <a:pt x="142" y="185"/>
                    <a:pt x="105" y="168"/>
                  </a:cubicBezTo>
                  <a:cubicBezTo>
                    <a:pt x="68" y="151"/>
                    <a:pt x="59" y="147"/>
                    <a:pt x="59" y="147"/>
                  </a:cubicBezTo>
                  <a:cubicBezTo>
                    <a:pt x="71" y="164"/>
                    <a:pt x="71" y="164"/>
                    <a:pt x="71" y="164"/>
                  </a:cubicBezTo>
                  <a:cubicBezTo>
                    <a:pt x="71" y="164"/>
                    <a:pt x="17" y="124"/>
                    <a:pt x="0" y="145"/>
                  </a:cubicBezTo>
                  <a:cubicBezTo>
                    <a:pt x="0" y="145"/>
                    <a:pt x="79" y="49"/>
                    <a:pt x="165" y="83"/>
                  </a:cubicBezTo>
                  <a:cubicBezTo>
                    <a:pt x="165" y="83"/>
                    <a:pt x="91" y="41"/>
                    <a:pt x="9" y="121"/>
                  </a:cubicBezTo>
                  <a:close/>
                </a:path>
              </a:pathLst>
            </a:custGeom>
            <a:grpFill/>
            <a:ln>
              <a:noFill/>
            </a:ln>
          </p:spPr>
          <p:txBody>
            <a:bodyPr vert="horz" wrap="square" lIns="48214" tIns="24107" rIns="48214" bIns="24107" numCol="1" anchor="t" anchorCtr="0" compatLnSpc="1"/>
            <a:lstStyle/>
            <a:p>
              <a:endParaRPr lang="id-ID" dirty="0">
                <a:solidFill>
                  <a:prstClr val="black"/>
                </a:solidFill>
              </a:endParaRPr>
            </a:p>
          </p:txBody>
        </p:sp>
        <p:sp>
          <p:nvSpPr>
            <p:cNvPr id="10" name="Freeform 36"/>
            <p:cNvSpPr/>
            <p:nvPr/>
          </p:nvSpPr>
          <p:spPr bwMode="auto">
            <a:xfrm rot="20742510">
              <a:off x="8449623" y="3313795"/>
              <a:ext cx="369825" cy="474643"/>
            </a:xfrm>
            <a:custGeom>
              <a:avLst/>
              <a:gdLst>
                <a:gd name="T0" fmla="*/ 4 w 79"/>
                <a:gd name="T1" fmla="*/ 55 h 101"/>
                <a:gd name="T2" fmla="*/ 37 w 79"/>
                <a:gd name="T3" fmla="*/ 10 h 101"/>
                <a:gd name="T4" fmla="*/ 77 w 79"/>
                <a:gd name="T5" fmla="*/ 5 h 101"/>
                <a:gd name="T6" fmla="*/ 75 w 79"/>
                <a:gd name="T7" fmla="*/ 25 h 101"/>
                <a:gd name="T8" fmla="*/ 61 w 79"/>
                <a:gd name="T9" fmla="*/ 67 h 101"/>
                <a:gd name="T10" fmla="*/ 43 w 79"/>
                <a:gd name="T11" fmla="*/ 81 h 101"/>
                <a:gd name="T12" fmla="*/ 52 w 79"/>
                <a:gd name="T13" fmla="*/ 80 h 101"/>
                <a:gd name="T14" fmla="*/ 30 w 79"/>
                <a:gd name="T15" fmla="*/ 101 h 101"/>
                <a:gd name="T16" fmla="*/ 27 w 79"/>
                <a:gd name="T17" fmla="*/ 87 h 101"/>
                <a:gd name="T18" fmla="*/ 48 w 79"/>
                <a:gd name="T19" fmla="*/ 20 h 101"/>
                <a:gd name="T20" fmla="*/ 18 w 79"/>
                <a:gd name="T21" fmla="*/ 91 h 101"/>
                <a:gd name="T22" fmla="*/ 1 w 79"/>
                <a:gd name="T23" fmla="*/ 51 h 101"/>
                <a:gd name="T24" fmla="*/ 4 w 79"/>
                <a:gd name="T25" fmla="*/ 5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01">
                  <a:moveTo>
                    <a:pt x="4" y="55"/>
                  </a:moveTo>
                  <a:cubicBezTo>
                    <a:pt x="4" y="55"/>
                    <a:pt x="0" y="25"/>
                    <a:pt x="37" y="10"/>
                  </a:cubicBezTo>
                  <a:cubicBezTo>
                    <a:pt x="63" y="0"/>
                    <a:pt x="77" y="5"/>
                    <a:pt x="77" y="5"/>
                  </a:cubicBezTo>
                  <a:cubicBezTo>
                    <a:pt x="77" y="5"/>
                    <a:pt x="67" y="7"/>
                    <a:pt x="75" y="25"/>
                  </a:cubicBezTo>
                  <a:cubicBezTo>
                    <a:pt x="79" y="35"/>
                    <a:pt x="76" y="57"/>
                    <a:pt x="61" y="67"/>
                  </a:cubicBezTo>
                  <a:cubicBezTo>
                    <a:pt x="47" y="78"/>
                    <a:pt x="43" y="81"/>
                    <a:pt x="43" y="81"/>
                  </a:cubicBezTo>
                  <a:cubicBezTo>
                    <a:pt x="52" y="80"/>
                    <a:pt x="52" y="80"/>
                    <a:pt x="52" y="80"/>
                  </a:cubicBezTo>
                  <a:cubicBezTo>
                    <a:pt x="52" y="80"/>
                    <a:pt x="29" y="91"/>
                    <a:pt x="30" y="101"/>
                  </a:cubicBezTo>
                  <a:cubicBezTo>
                    <a:pt x="28" y="97"/>
                    <a:pt x="28" y="92"/>
                    <a:pt x="27" y="87"/>
                  </a:cubicBezTo>
                  <a:cubicBezTo>
                    <a:pt x="24" y="59"/>
                    <a:pt x="33" y="34"/>
                    <a:pt x="48" y="20"/>
                  </a:cubicBezTo>
                  <a:cubicBezTo>
                    <a:pt x="30" y="31"/>
                    <a:pt x="14" y="52"/>
                    <a:pt x="18" y="91"/>
                  </a:cubicBezTo>
                  <a:cubicBezTo>
                    <a:pt x="11" y="85"/>
                    <a:pt x="0" y="71"/>
                    <a:pt x="1" y="51"/>
                  </a:cubicBezTo>
                  <a:lnTo>
                    <a:pt x="4" y="55"/>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1" name="Freeform 30"/>
            <p:cNvSpPr/>
            <p:nvPr/>
          </p:nvSpPr>
          <p:spPr bwMode="auto">
            <a:xfrm rot="1666479" flipH="1">
              <a:off x="7109750" y="1531261"/>
              <a:ext cx="1223410" cy="919653"/>
            </a:xfrm>
            <a:custGeom>
              <a:avLst/>
              <a:gdLst>
                <a:gd name="T0" fmla="*/ 9 w 246"/>
                <a:gd name="T1" fmla="*/ 121 h 185"/>
                <a:gd name="T2" fmla="*/ 73 w 246"/>
                <a:gd name="T3" fmla="*/ 31 h 185"/>
                <a:gd name="T4" fmla="*/ 69 w 246"/>
                <a:gd name="T5" fmla="*/ 42 h 185"/>
                <a:gd name="T6" fmla="*/ 192 w 246"/>
                <a:gd name="T7" fmla="*/ 58 h 185"/>
                <a:gd name="T8" fmla="*/ 246 w 246"/>
                <a:gd name="T9" fmla="*/ 133 h 185"/>
                <a:gd name="T10" fmla="*/ 203 w 246"/>
                <a:gd name="T11" fmla="*/ 150 h 185"/>
                <a:gd name="T12" fmla="*/ 105 w 246"/>
                <a:gd name="T13" fmla="*/ 168 h 185"/>
                <a:gd name="T14" fmla="*/ 59 w 246"/>
                <a:gd name="T15" fmla="*/ 147 h 185"/>
                <a:gd name="T16" fmla="*/ 71 w 246"/>
                <a:gd name="T17" fmla="*/ 164 h 185"/>
                <a:gd name="T18" fmla="*/ 0 w 246"/>
                <a:gd name="T19" fmla="*/ 145 h 185"/>
                <a:gd name="T20" fmla="*/ 165 w 246"/>
                <a:gd name="T21" fmla="*/ 83 h 185"/>
                <a:gd name="T22" fmla="*/ 9 w 246"/>
                <a:gd name="T23" fmla="*/ 12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6" h="185">
                  <a:moveTo>
                    <a:pt x="9" y="121"/>
                  </a:moveTo>
                  <a:cubicBezTo>
                    <a:pt x="9" y="121"/>
                    <a:pt x="14" y="59"/>
                    <a:pt x="73" y="31"/>
                  </a:cubicBezTo>
                  <a:cubicBezTo>
                    <a:pt x="69" y="42"/>
                    <a:pt x="69" y="42"/>
                    <a:pt x="69" y="42"/>
                  </a:cubicBezTo>
                  <a:cubicBezTo>
                    <a:pt x="69" y="42"/>
                    <a:pt x="124" y="0"/>
                    <a:pt x="192" y="58"/>
                  </a:cubicBezTo>
                  <a:cubicBezTo>
                    <a:pt x="241" y="99"/>
                    <a:pt x="246" y="133"/>
                    <a:pt x="246" y="133"/>
                  </a:cubicBezTo>
                  <a:cubicBezTo>
                    <a:pt x="246" y="133"/>
                    <a:pt x="230" y="116"/>
                    <a:pt x="203" y="150"/>
                  </a:cubicBezTo>
                  <a:cubicBezTo>
                    <a:pt x="187" y="169"/>
                    <a:pt x="142" y="185"/>
                    <a:pt x="105" y="168"/>
                  </a:cubicBezTo>
                  <a:cubicBezTo>
                    <a:pt x="68" y="151"/>
                    <a:pt x="59" y="147"/>
                    <a:pt x="59" y="147"/>
                  </a:cubicBezTo>
                  <a:cubicBezTo>
                    <a:pt x="71" y="164"/>
                    <a:pt x="71" y="164"/>
                    <a:pt x="71" y="164"/>
                  </a:cubicBezTo>
                  <a:cubicBezTo>
                    <a:pt x="71" y="164"/>
                    <a:pt x="17" y="124"/>
                    <a:pt x="0" y="145"/>
                  </a:cubicBezTo>
                  <a:cubicBezTo>
                    <a:pt x="0" y="145"/>
                    <a:pt x="79" y="49"/>
                    <a:pt x="165" y="83"/>
                  </a:cubicBezTo>
                  <a:cubicBezTo>
                    <a:pt x="165" y="83"/>
                    <a:pt x="91" y="41"/>
                    <a:pt x="9" y="121"/>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2" name="Freeform 29"/>
            <p:cNvSpPr/>
            <p:nvPr/>
          </p:nvSpPr>
          <p:spPr bwMode="auto">
            <a:xfrm>
              <a:off x="9235169" y="3434652"/>
              <a:ext cx="1386200" cy="943962"/>
            </a:xfrm>
            <a:custGeom>
              <a:avLst/>
              <a:gdLst>
                <a:gd name="T0" fmla="*/ 129 w 226"/>
                <a:gd name="T1" fmla="*/ 12 h 154"/>
                <a:gd name="T2" fmla="*/ 7 w 226"/>
                <a:gd name="T3" fmla="*/ 154 h 154"/>
                <a:gd name="T4" fmla="*/ 0 w 226"/>
                <a:gd name="T5" fmla="*/ 142 h 154"/>
                <a:gd name="T6" fmla="*/ 120 w 226"/>
                <a:gd name="T7" fmla="*/ 8 h 154"/>
                <a:gd name="T8" fmla="*/ 226 w 226"/>
                <a:gd name="T9" fmla="*/ 19 h 154"/>
                <a:gd name="T10" fmla="*/ 129 w 226"/>
                <a:gd name="T11" fmla="*/ 12 h 154"/>
              </a:gdLst>
              <a:ahLst/>
              <a:cxnLst>
                <a:cxn ang="0">
                  <a:pos x="T0" y="T1"/>
                </a:cxn>
                <a:cxn ang="0">
                  <a:pos x="T2" y="T3"/>
                </a:cxn>
                <a:cxn ang="0">
                  <a:pos x="T4" y="T5"/>
                </a:cxn>
                <a:cxn ang="0">
                  <a:pos x="T6" y="T7"/>
                </a:cxn>
                <a:cxn ang="0">
                  <a:pos x="T8" y="T9"/>
                </a:cxn>
                <a:cxn ang="0">
                  <a:pos x="T10" y="T11"/>
                </a:cxn>
              </a:cxnLst>
              <a:rect l="0" t="0" r="r" b="b"/>
              <a:pathLst>
                <a:path w="226" h="154">
                  <a:moveTo>
                    <a:pt x="129" y="12"/>
                  </a:moveTo>
                  <a:cubicBezTo>
                    <a:pt x="55" y="28"/>
                    <a:pt x="4" y="90"/>
                    <a:pt x="7" y="154"/>
                  </a:cubicBezTo>
                  <a:cubicBezTo>
                    <a:pt x="4" y="151"/>
                    <a:pt x="3" y="145"/>
                    <a:pt x="0" y="142"/>
                  </a:cubicBezTo>
                  <a:cubicBezTo>
                    <a:pt x="0" y="80"/>
                    <a:pt x="48" y="24"/>
                    <a:pt x="120" y="8"/>
                  </a:cubicBezTo>
                  <a:cubicBezTo>
                    <a:pt x="157" y="0"/>
                    <a:pt x="195" y="5"/>
                    <a:pt x="226" y="19"/>
                  </a:cubicBezTo>
                  <a:cubicBezTo>
                    <a:pt x="197" y="8"/>
                    <a:pt x="163" y="5"/>
                    <a:pt x="129" y="12"/>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3" name="Freeform 24"/>
            <p:cNvSpPr/>
            <p:nvPr/>
          </p:nvSpPr>
          <p:spPr bwMode="auto">
            <a:xfrm>
              <a:off x="8128278" y="4127752"/>
              <a:ext cx="183619" cy="1820681"/>
            </a:xfrm>
            <a:custGeom>
              <a:avLst/>
              <a:gdLst>
                <a:gd name="T0" fmla="*/ 21 w 30"/>
                <a:gd name="T1" fmla="*/ 297 h 297"/>
                <a:gd name="T2" fmla="*/ 29 w 30"/>
                <a:gd name="T3" fmla="*/ 290 h 297"/>
                <a:gd name="T4" fmla="*/ 29 w 30"/>
                <a:gd name="T5" fmla="*/ 13 h 297"/>
                <a:gd name="T6" fmla="*/ 21 w 30"/>
                <a:gd name="T7" fmla="*/ 2 h 297"/>
                <a:gd name="T8" fmla="*/ 22 w 30"/>
                <a:gd name="T9" fmla="*/ 7 h 297"/>
                <a:gd name="T10" fmla="*/ 14 w 30"/>
                <a:gd name="T11" fmla="*/ 290 h 297"/>
                <a:gd name="T12" fmla="*/ 21 w 30"/>
                <a:gd name="T13" fmla="*/ 297 h 297"/>
              </a:gdLst>
              <a:ahLst/>
              <a:cxnLst>
                <a:cxn ang="0">
                  <a:pos x="T0" y="T1"/>
                </a:cxn>
                <a:cxn ang="0">
                  <a:pos x="T2" y="T3"/>
                </a:cxn>
                <a:cxn ang="0">
                  <a:pos x="T4" y="T5"/>
                </a:cxn>
                <a:cxn ang="0">
                  <a:pos x="T6" y="T7"/>
                </a:cxn>
                <a:cxn ang="0">
                  <a:pos x="T8" y="T9"/>
                </a:cxn>
                <a:cxn ang="0">
                  <a:pos x="T10" y="T11"/>
                </a:cxn>
                <a:cxn ang="0">
                  <a:pos x="T12" y="T13"/>
                </a:cxn>
              </a:cxnLst>
              <a:rect l="0" t="0" r="r" b="b"/>
              <a:pathLst>
                <a:path w="30" h="297">
                  <a:moveTo>
                    <a:pt x="21" y="297"/>
                  </a:moveTo>
                  <a:cubicBezTo>
                    <a:pt x="25" y="297"/>
                    <a:pt x="29" y="294"/>
                    <a:pt x="29" y="290"/>
                  </a:cubicBezTo>
                  <a:cubicBezTo>
                    <a:pt x="29" y="13"/>
                    <a:pt x="29" y="13"/>
                    <a:pt x="29" y="13"/>
                  </a:cubicBezTo>
                  <a:cubicBezTo>
                    <a:pt x="29" y="9"/>
                    <a:pt x="25" y="2"/>
                    <a:pt x="21" y="2"/>
                  </a:cubicBezTo>
                  <a:cubicBezTo>
                    <a:pt x="17" y="2"/>
                    <a:pt x="0" y="0"/>
                    <a:pt x="22" y="7"/>
                  </a:cubicBezTo>
                  <a:cubicBezTo>
                    <a:pt x="30" y="9"/>
                    <a:pt x="14" y="290"/>
                    <a:pt x="14" y="290"/>
                  </a:cubicBezTo>
                  <a:cubicBezTo>
                    <a:pt x="14" y="294"/>
                    <a:pt x="17" y="297"/>
                    <a:pt x="21" y="297"/>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4" name="Freeform 25"/>
            <p:cNvSpPr/>
            <p:nvPr/>
          </p:nvSpPr>
          <p:spPr bwMode="auto">
            <a:xfrm>
              <a:off x="9498961" y="4476888"/>
              <a:ext cx="157757" cy="1471545"/>
            </a:xfrm>
            <a:custGeom>
              <a:avLst/>
              <a:gdLst>
                <a:gd name="T0" fmla="*/ 8 w 26"/>
                <a:gd name="T1" fmla="*/ 240 h 240"/>
                <a:gd name="T2" fmla="*/ 16 w 26"/>
                <a:gd name="T3" fmla="*/ 233 h 240"/>
                <a:gd name="T4" fmla="*/ 17 w 26"/>
                <a:gd name="T5" fmla="*/ 34 h 240"/>
                <a:gd name="T6" fmla="*/ 12 w 26"/>
                <a:gd name="T7" fmla="*/ 33 h 240"/>
                <a:gd name="T8" fmla="*/ 1 w 26"/>
                <a:gd name="T9" fmla="*/ 233 h 240"/>
                <a:gd name="T10" fmla="*/ 8 w 26"/>
                <a:gd name="T11" fmla="*/ 240 h 240"/>
              </a:gdLst>
              <a:ahLst/>
              <a:cxnLst>
                <a:cxn ang="0">
                  <a:pos x="T0" y="T1"/>
                </a:cxn>
                <a:cxn ang="0">
                  <a:pos x="T2" y="T3"/>
                </a:cxn>
                <a:cxn ang="0">
                  <a:pos x="T4" y="T5"/>
                </a:cxn>
                <a:cxn ang="0">
                  <a:pos x="T6" y="T7"/>
                </a:cxn>
                <a:cxn ang="0">
                  <a:pos x="T8" y="T9"/>
                </a:cxn>
                <a:cxn ang="0">
                  <a:pos x="T10" y="T11"/>
                </a:cxn>
              </a:cxnLst>
              <a:rect l="0" t="0" r="r" b="b"/>
              <a:pathLst>
                <a:path w="26" h="240">
                  <a:moveTo>
                    <a:pt x="8" y="240"/>
                  </a:moveTo>
                  <a:cubicBezTo>
                    <a:pt x="12" y="240"/>
                    <a:pt x="16" y="237"/>
                    <a:pt x="16" y="233"/>
                  </a:cubicBezTo>
                  <a:cubicBezTo>
                    <a:pt x="16" y="233"/>
                    <a:pt x="8" y="68"/>
                    <a:pt x="17" y="34"/>
                  </a:cubicBezTo>
                  <a:cubicBezTo>
                    <a:pt x="26" y="0"/>
                    <a:pt x="15" y="30"/>
                    <a:pt x="12" y="33"/>
                  </a:cubicBezTo>
                  <a:cubicBezTo>
                    <a:pt x="0" y="53"/>
                    <a:pt x="1" y="233"/>
                    <a:pt x="1" y="233"/>
                  </a:cubicBezTo>
                  <a:cubicBezTo>
                    <a:pt x="1" y="237"/>
                    <a:pt x="4" y="240"/>
                    <a:pt x="8" y="240"/>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5" name="Freeform 26"/>
            <p:cNvSpPr/>
            <p:nvPr/>
          </p:nvSpPr>
          <p:spPr bwMode="auto">
            <a:xfrm>
              <a:off x="9196375" y="4065684"/>
              <a:ext cx="124137" cy="1611200"/>
            </a:xfrm>
            <a:custGeom>
              <a:avLst/>
              <a:gdLst>
                <a:gd name="T0" fmla="*/ 9 w 20"/>
                <a:gd name="T1" fmla="*/ 263 h 263"/>
                <a:gd name="T2" fmla="*/ 17 w 20"/>
                <a:gd name="T3" fmla="*/ 256 h 263"/>
                <a:gd name="T4" fmla="*/ 17 w 20"/>
                <a:gd name="T5" fmla="*/ 19 h 263"/>
                <a:gd name="T6" fmla="*/ 9 w 20"/>
                <a:gd name="T7" fmla="*/ 12 h 263"/>
                <a:gd name="T8" fmla="*/ 2 w 20"/>
                <a:gd name="T9" fmla="*/ 256 h 263"/>
                <a:gd name="T10" fmla="*/ 9 w 20"/>
                <a:gd name="T11" fmla="*/ 263 h 263"/>
              </a:gdLst>
              <a:ahLst/>
              <a:cxnLst>
                <a:cxn ang="0">
                  <a:pos x="T0" y="T1"/>
                </a:cxn>
                <a:cxn ang="0">
                  <a:pos x="T2" y="T3"/>
                </a:cxn>
                <a:cxn ang="0">
                  <a:pos x="T4" y="T5"/>
                </a:cxn>
                <a:cxn ang="0">
                  <a:pos x="T6" y="T7"/>
                </a:cxn>
                <a:cxn ang="0">
                  <a:pos x="T8" y="T9"/>
                </a:cxn>
                <a:cxn ang="0">
                  <a:pos x="T10" y="T11"/>
                </a:cxn>
              </a:cxnLst>
              <a:rect l="0" t="0" r="r" b="b"/>
              <a:pathLst>
                <a:path w="20" h="263">
                  <a:moveTo>
                    <a:pt x="9" y="263"/>
                  </a:moveTo>
                  <a:cubicBezTo>
                    <a:pt x="13" y="263"/>
                    <a:pt x="17" y="260"/>
                    <a:pt x="17" y="256"/>
                  </a:cubicBezTo>
                  <a:cubicBezTo>
                    <a:pt x="17" y="256"/>
                    <a:pt x="8" y="67"/>
                    <a:pt x="17" y="19"/>
                  </a:cubicBezTo>
                  <a:cubicBezTo>
                    <a:pt x="20" y="0"/>
                    <a:pt x="12" y="9"/>
                    <a:pt x="9" y="12"/>
                  </a:cubicBezTo>
                  <a:cubicBezTo>
                    <a:pt x="0" y="22"/>
                    <a:pt x="2" y="256"/>
                    <a:pt x="2" y="256"/>
                  </a:cubicBezTo>
                  <a:cubicBezTo>
                    <a:pt x="2" y="260"/>
                    <a:pt x="5" y="263"/>
                    <a:pt x="9" y="263"/>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6" name="Freeform 27"/>
            <p:cNvSpPr>
              <a:spLocks noEditPoints="1"/>
            </p:cNvSpPr>
            <p:nvPr/>
          </p:nvSpPr>
          <p:spPr bwMode="auto">
            <a:xfrm>
              <a:off x="8208449" y="5552358"/>
              <a:ext cx="1388786" cy="1194822"/>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7" name="Freeform 28"/>
            <p:cNvSpPr/>
            <p:nvPr/>
          </p:nvSpPr>
          <p:spPr bwMode="auto">
            <a:xfrm>
              <a:off x="6861512" y="2859315"/>
              <a:ext cx="1546462" cy="1423223"/>
            </a:xfrm>
            <a:custGeom>
              <a:avLst/>
              <a:gdLst>
                <a:gd name="T0" fmla="*/ 105 w 164"/>
                <a:gd name="T1" fmla="*/ 85 h 151"/>
                <a:gd name="T2" fmla="*/ 149 w 164"/>
                <a:gd name="T3" fmla="*/ 140 h 151"/>
                <a:gd name="T4" fmla="*/ 60 w 164"/>
                <a:gd name="T5" fmla="*/ 126 h 151"/>
                <a:gd name="T6" fmla="*/ 33 w 164"/>
                <a:gd name="T7" fmla="*/ 0 h 151"/>
                <a:gd name="T8" fmla="*/ 126 w 164"/>
                <a:gd name="T9" fmla="*/ 54 h 151"/>
                <a:gd name="T10" fmla="*/ 164 w 164"/>
                <a:gd name="T11" fmla="*/ 127 h 151"/>
                <a:gd name="T12" fmla="*/ 105 w 164"/>
                <a:gd name="T13" fmla="*/ 85 h 151"/>
              </a:gdLst>
              <a:ahLst/>
              <a:cxnLst>
                <a:cxn ang="0">
                  <a:pos x="T0" y="T1"/>
                </a:cxn>
                <a:cxn ang="0">
                  <a:pos x="T2" y="T3"/>
                </a:cxn>
                <a:cxn ang="0">
                  <a:pos x="T4" y="T5"/>
                </a:cxn>
                <a:cxn ang="0">
                  <a:pos x="T6" y="T7"/>
                </a:cxn>
                <a:cxn ang="0">
                  <a:pos x="T8" y="T9"/>
                </a:cxn>
                <a:cxn ang="0">
                  <a:pos x="T10" y="T11"/>
                </a:cxn>
                <a:cxn ang="0">
                  <a:pos x="T12" y="T13"/>
                </a:cxn>
              </a:cxnLst>
              <a:rect l="0" t="0" r="r" b="b"/>
              <a:pathLst>
                <a:path w="164" h="151">
                  <a:moveTo>
                    <a:pt x="105" y="85"/>
                  </a:moveTo>
                  <a:cubicBezTo>
                    <a:pt x="105" y="85"/>
                    <a:pt x="156" y="110"/>
                    <a:pt x="149" y="140"/>
                  </a:cubicBezTo>
                  <a:cubicBezTo>
                    <a:pt x="134" y="131"/>
                    <a:pt x="88" y="151"/>
                    <a:pt x="60" y="126"/>
                  </a:cubicBezTo>
                  <a:cubicBezTo>
                    <a:pt x="0" y="69"/>
                    <a:pt x="33" y="0"/>
                    <a:pt x="33" y="0"/>
                  </a:cubicBezTo>
                  <a:cubicBezTo>
                    <a:pt x="39" y="49"/>
                    <a:pt x="90" y="22"/>
                    <a:pt x="126" y="54"/>
                  </a:cubicBezTo>
                  <a:cubicBezTo>
                    <a:pt x="159" y="83"/>
                    <a:pt x="162" y="111"/>
                    <a:pt x="164" y="127"/>
                  </a:cubicBezTo>
                  <a:cubicBezTo>
                    <a:pt x="162" y="121"/>
                    <a:pt x="142" y="91"/>
                    <a:pt x="105" y="85"/>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8" name="Freeform 30"/>
            <p:cNvSpPr/>
            <p:nvPr/>
          </p:nvSpPr>
          <p:spPr bwMode="auto">
            <a:xfrm>
              <a:off x="9423961" y="2928144"/>
              <a:ext cx="1510337" cy="1135340"/>
            </a:xfrm>
            <a:custGeom>
              <a:avLst/>
              <a:gdLst>
                <a:gd name="T0" fmla="*/ 9 w 246"/>
                <a:gd name="T1" fmla="*/ 121 h 185"/>
                <a:gd name="T2" fmla="*/ 73 w 246"/>
                <a:gd name="T3" fmla="*/ 31 h 185"/>
                <a:gd name="T4" fmla="*/ 69 w 246"/>
                <a:gd name="T5" fmla="*/ 42 h 185"/>
                <a:gd name="T6" fmla="*/ 192 w 246"/>
                <a:gd name="T7" fmla="*/ 58 h 185"/>
                <a:gd name="T8" fmla="*/ 246 w 246"/>
                <a:gd name="T9" fmla="*/ 133 h 185"/>
                <a:gd name="T10" fmla="*/ 203 w 246"/>
                <a:gd name="T11" fmla="*/ 150 h 185"/>
                <a:gd name="T12" fmla="*/ 105 w 246"/>
                <a:gd name="T13" fmla="*/ 168 h 185"/>
                <a:gd name="T14" fmla="*/ 59 w 246"/>
                <a:gd name="T15" fmla="*/ 147 h 185"/>
                <a:gd name="T16" fmla="*/ 71 w 246"/>
                <a:gd name="T17" fmla="*/ 164 h 185"/>
                <a:gd name="T18" fmla="*/ 0 w 246"/>
                <a:gd name="T19" fmla="*/ 145 h 185"/>
                <a:gd name="T20" fmla="*/ 165 w 246"/>
                <a:gd name="T21" fmla="*/ 83 h 185"/>
                <a:gd name="T22" fmla="*/ 9 w 246"/>
                <a:gd name="T23" fmla="*/ 121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6" h="185">
                  <a:moveTo>
                    <a:pt x="9" y="121"/>
                  </a:moveTo>
                  <a:cubicBezTo>
                    <a:pt x="9" y="121"/>
                    <a:pt x="14" y="59"/>
                    <a:pt x="73" y="31"/>
                  </a:cubicBezTo>
                  <a:cubicBezTo>
                    <a:pt x="69" y="42"/>
                    <a:pt x="69" y="42"/>
                    <a:pt x="69" y="42"/>
                  </a:cubicBezTo>
                  <a:cubicBezTo>
                    <a:pt x="69" y="42"/>
                    <a:pt x="124" y="0"/>
                    <a:pt x="192" y="58"/>
                  </a:cubicBezTo>
                  <a:cubicBezTo>
                    <a:pt x="241" y="99"/>
                    <a:pt x="246" y="133"/>
                    <a:pt x="246" y="133"/>
                  </a:cubicBezTo>
                  <a:cubicBezTo>
                    <a:pt x="246" y="133"/>
                    <a:pt x="230" y="116"/>
                    <a:pt x="203" y="150"/>
                  </a:cubicBezTo>
                  <a:cubicBezTo>
                    <a:pt x="187" y="169"/>
                    <a:pt x="142" y="185"/>
                    <a:pt x="105" y="168"/>
                  </a:cubicBezTo>
                  <a:cubicBezTo>
                    <a:pt x="68" y="151"/>
                    <a:pt x="59" y="147"/>
                    <a:pt x="59" y="147"/>
                  </a:cubicBezTo>
                  <a:cubicBezTo>
                    <a:pt x="71" y="164"/>
                    <a:pt x="71" y="164"/>
                    <a:pt x="71" y="164"/>
                  </a:cubicBezTo>
                  <a:cubicBezTo>
                    <a:pt x="71" y="164"/>
                    <a:pt x="17" y="124"/>
                    <a:pt x="0" y="145"/>
                  </a:cubicBezTo>
                  <a:cubicBezTo>
                    <a:pt x="0" y="145"/>
                    <a:pt x="79" y="49"/>
                    <a:pt x="165" y="83"/>
                  </a:cubicBezTo>
                  <a:cubicBezTo>
                    <a:pt x="165" y="83"/>
                    <a:pt x="91" y="41"/>
                    <a:pt x="9" y="121"/>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19" name="Freeform 32"/>
            <p:cNvSpPr/>
            <p:nvPr/>
          </p:nvSpPr>
          <p:spPr bwMode="auto">
            <a:xfrm>
              <a:off x="8508448" y="3695592"/>
              <a:ext cx="93103" cy="1981292"/>
            </a:xfrm>
            <a:custGeom>
              <a:avLst/>
              <a:gdLst>
                <a:gd name="T0" fmla="*/ 13 w 15"/>
                <a:gd name="T1" fmla="*/ 4 h 300"/>
                <a:gd name="T2" fmla="*/ 15 w 15"/>
                <a:gd name="T3" fmla="*/ 293 h 300"/>
                <a:gd name="T4" fmla="*/ 7 w 15"/>
                <a:gd name="T5" fmla="*/ 300 h 300"/>
                <a:gd name="T6" fmla="*/ 0 w 15"/>
                <a:gd name="T7" fmla="*/ 293 h 300"/>
                <a:gd name="T8" fmla="*/ 4 w 15"/>
                <a:gd name="T9" fmla="*/ 0 h 300"/>
                <a:gd name="T10" fmla="*/ 13 w 15"/>
                <a:gd name="T11" fmla="*/ 4 h 300"/>
              </a:gdLst>
              <a:ahLst/>
              <a:cxnLst>
                <a:cxn ang="0">
                  <a:pos x="T0" y="T1"/>
                </a:cxn>
                <a:cxn ang="0">
                  <a:pos x="T2" y="T3"/>
                </a:cxn>
                <a:cxn ang="0">
                  <a:pos x="T4" y="T5"/>
                </a:cxn>
                <a:cxn ang="0">
                  <a:pos x="T6" y="T7"/>
                </a:cxn>
                <a:cxn ang="0">
                  <a:pos x="T8" y="T9"/>
                </a:cxn>
                <a:cxn ang="0">
                  <a:pos x="T10" y="T11"/>
                </a:cxn>
              </a:cxnLst>
              <a:rect l="0" t="0" r="r" b="b"/>
              <a:pathLst>
                <a:path w="15" h="300">
                  <a:moveTo>
                    <a:pt x="13" y="4"/>
                  </a:moveTo>
                  <a:cubicBezTo>
                    <a:pt x="13" y="137"/>
                    <a:pt x="15" y="293"/>
                    <a:pt x="15" y="293"/>
                  </a:cubicBezTo>
                  <a:cubicBezTo>
                    <a:pt x="15" y="297"/>
                    <a:pt x="11" y="300"/>
                    <a:pt x="7" y="300"/>
                  </a:cubicBezTo>
                  <a:cubicBezTo>
                    <a:pt x="3" y="300"/>
                    <a:pt x="0" y="297"/>
                    <a:pt x="0" y="293"/>
                  </a:cubicBezTo>
                  <a:cubicBezTo>
                    <a:pt x="0" y="293"/>
                    <a:pt x="3" y="134"/>
                    <a:pt x="4" y="0"/>
                  </a:cubicBezTo>
                  <a:cubicBezTo>
                    <a:pt x="7" y="2"/>
                    <a:pt x="10" y="3"/>
                    <a:pt x="13" y="4"/>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20" name="Freeform 33"/>
            <p:cNvSpPr/>
            <p:nvPr/>
          </p:nvSpPr>
          <p:spPr bwMode="auto">
            <a:xfrm>
              <a:off x="8435333" y="3910700"/>
              <a:ext cx="928895" cy="771083"/>
            </a:xfrm>
            <a:custGeom>
              <a:avLst/>
              <a:gdLst>
                <a:gd name="T0" fmla="*/ 167 w 196"/>
                <a:gd name="T1" fmla="*/ 142 h 163"/>
                <a:gd name="T2" fmla="*/ 170 w 196"/>
                <a:gd name="T3" fmla="*/ 48 h 163"/>
                <a:gd name="T4" fmla="*/ 167 w 196"/>
                <a:gd name="T5" fmla="*/ 57 h 163"/>
                <a:gd name="T6" fmla="*/ 75 w 196"/>
                <a:gd name="T7" fmla="*/ 3 h 163"/>
                <a:gd name="T8" fmla="*/ 0 w 196"/>
                <a:gd name="T9" fmla="*/ 26 h 163"/>
                <a:gd name="T10" fmla="*/ 20 w 196"/>
                <a:gd name="T11" fmla="*/ 60 h 163"/>
                <a:gd name="T12" fmla="*/ 77 w 196"/>
                <a:gd name="T13" fmla="*/ 124 h 163"/>
                <a:gd name="T14" fmla="*/ 119 w 196"/>
                <a:gd name="T15" fmla="*/ 134 h 163"/>
                <a:gd name="T16" fmla="*/ 102 w 196"/>
                <a:gd name="T17" fmla="*/ 139 h 163"/>
                <a:gd name="T18" fmla="*/ 161 w 196"/>
                <a:gd name="T19" fmla="*/ 163 h 163"/>
                <a:gd name="T20" fmla="*/ 81 w 196"/>
                <a:gd name="T21" fmla="*/ 35 h 163"/>
                <a:gd name="T22" fmla="*/ 167 w 196"/>
                <a:gd name="T23" fmla="*/ 142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6" h="163">
                  <a:moveTo>
                    <a:pt x="167" y="142"/>
                  </a:moveTo>
                  <a:cubicBezTo>
                    <a:pt x="167" y="142"/>
                    <a:pt x="196" y="98"/>
                    <a:pt x="170" y="48"/>
                  </a:cubicBezTo>
                  <a:cubicBezTo>
                    <a:pt x="167" y="57"/>
                    <a:pt x="167" y="57"/>
                    <a:pt x="167" y="57"/>
                  </a:cubicBezTo>
                  <a:cubicBezTo>
                    <a:pt x="167" y="57"/>
                    <a:pt x="152" y="0"/>
                    <a:pt x="75" y="3"/>
                  </a:cubicBezTo>
                  <a:cubicBezTo>
                    <a:pt x="21" y="6"/>
                    <a:pt x="0" y="26"/>
                    <a:pt x="0" y="26"/>
                  </a:cubicBezTo>
                  <a:cubicBezTo>
                    <a:pt x="0" y="26"/>
                    <a:pt x="19" y="23"/>
                    <a:pt x="20" y="60"/>
                  </a:cubicBezTo>
                  <a:cubicBezTo>
                    <a:pt x="21" y="81"/>
                    <a:pt x="43" y="116"/>
                    <a:pt x="77" y="124"/>
                  </a:cubicBezTo>
                  <a:cubicBezTo>
                    <a:pt x="111" y="131"/>
                    <a:pt x="119" y="134"/>
                    <a:pt x="119" y="134"/>
                  </a:cubicBezTo>
                  <a:cubicBezTo>
                    <a:pt x="102" y="139"/>
                    <a:pt x="102" y="139"/>
                    <a:pt x="102" y="139"/>
                  </a:cubicBezTo>
                  <a:cubicBezTo>
                    <a:pt x="102" y="139"/>
                    <a:pt x="159" y="140"/>
                    <a:pt x="161" y="163"/>
                  </a:cubicBezTo>
                  <a:cubicBezTo>
                    <a:pt x="161" y="163"/>
                    <a:pt x="157" y="56"/>
                    <a:pt x="81" y="35"/>
                  </a:cubicBezTo>
                  <a:cubicBezTo>
                    <a:pt x="81" y="35"/>
                    <a:pt x="153" y="45"/>
                    <a:pt x="167" y="142"/>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21" name="Freeform 34"/>
            <p:cNvSpPr/>
            <p:nvPr/>
          </p:nvSpPr>
          <p:spPr bwMode="auto">
            <a:xfrm>
              <a:off x="7838797" y="2620506"/>
              <a:ext cx="478445" cy="638791"/>
            </a:xfrm>
            <a:custGeom>
              <a:avLst/>
              <a:gdLst>
                <a:gd name="T0" fmla="*/ 23 w 78"/>
                <a:gd name="T1" fmla="*/ 85 h 104"/>
                <a:gd name="T2" fmla="*/ 18 w 78"/>
                <a:gd name="T3" fmla="*/ 31 h 104"/>
                <a:gd name="T4" fmla="*/ 45 w 78"/>
                <a:gd name="T5" fmla="*/ 0 h 104"/>
                <a:gd name="T6" fmla="*/ 57 w 78"/>
                <a:gd name="T7" fmla="*/ 17 h 104"/>
                <a:gd name="T8" fmla="*/ 75 w 78"/>
                <a:gd name="T9" fmla="*/ 57 h 104"/>
                <a:gd name="T10" fmla="*/ 70 w 78"/>
                <a:gd name="T11" fmla="*/ 79 h 104"/>
                <a:gd name="T12" fmla="*/ 76 w 78"/>
                <a:gd name="T13" fmla="*/ 72 h 104"/>
                <a:gd name="T14" fmla="*/ 73 w 78"/>
                <a:gd name="T15" fmla="*/ 104 h 104"/>
                <a:gd name="T16" fmla="*/ 62 w 78"/>
                <a:gd name="T17" fmla="*/ 95 h 104"/>
                <a:gd name="T18" fmla="*/ 33 w 78"/>
                <a:gd name="T19" fmla="*/ 30 h 104"/>
                <a:gd name="T20" fmla="*/ 57 w 78"/>
                <a:gd name="T21" fmla="*/ 104 h 104"/>
                <a:gd name="T22" fmla="*/ 19 w 78"/>
                <a:gd name="T23" fmla="*/ 85 h 104"/>
                <a:gd name="T24" fmla="*/ 23 w 78"/>
                <a:gd name="T25" fmla="*/ 8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104">
                  <a:moveTo>
                    <a:pt x="23" y="85"/>
                  </a:moveTo>
                  <a:cubicBezTo>
                    <a:pt x="23" y="85"/>
                    <a:pt x="0" y="66"/>
                    <a:pt x="18" y="31"/>
                  </a:cubicBezTo>
                  <a:cubicBezTo>
                    <a:pt x="31" y="5"/>
                    <a:pt x="45" y="0"/>
                    <a:pt x="45" y="0"/>
                  </a:cubicBezTo>
                  <a:cubicBezTo>
                    <a:pt x="45" y="0"/>
                    <a:pt x="40" y="8"/>
                    <a:pt x="57" y="17"/>
                  </a:cubicBezTo>
                  <a:cubicBezTo>
                    <a:pt x="67" y="22"/>
                    <a:pt x="78" y="40"/>
                    <a:pt x="75" y="57"/>
                  </a:cubicBezTo>
                  <a:cubicBezTo>
                    <a:pt x="71" y="75"/>
                    <a:pt x="70" y="79"/>
                    <a:pt x="70" y="79"/>
                  </a:cubicBezTo>
                  <a:cubicBezTo>
                    <a:pt x="76" y="72"/>
                    <a:pt x="76" y="72"/>
                    <a:pt x="76" y="72"/>
                  </a:cubicBezTo>
                  <a:cubicBezTo>
                    <a:pt x="76" y="72"/>
                    <a:pt x="66" y="96"/>
                    <a:pt x="73" y="104"/>
                  </a:cubicBezTo>
                  <a:cubicBezTo>
                    <a:pt x="69" y="101"/>
                    <a:pt x="66" y="98"/>
                    <a:pt x="62" y="95"/>
                  </a:cubicBezTo>
                  <a:cubicBezTo>
                    <a:pt x="41" y="76"/>
                    <a:pt x="31" y="51"/>
                    <a:pt x="33" y="30"/>
                  </a:cubicBezTo>
                  <a:cubicBezTo>
                    <a:pt x="27" y="50"/>
                    <a:pt x="29" y="77"/>
                    <a:pt x="57" y="104"/>
                  </a:cubicBezTo>
                  <a:cubicBezTo>
                    <a:pt x="48" y="104"/>
                    <a:pt x="31" y="101"/>
                    <a:pt x="19" y="85"/>
                  </a:cubicBezTo>
                  <a:lnTo>
                    <a:pt x="23" y="85"/>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22" name="Freeform 35"/>
            <p:cNvSpPr/>
            <p:nvPr/>
          </p:nvSpPr>
          <p:spPr bwMode="auto">
            <a:xfrm>
              <a:off x="9485256" y="4296241"/>
              <a:ext cx="571548" cy="545688"/>
            </a:xfrm>
            <a:custGeom>
              <a:avLst/>
              <a:gdLst>
                <a:gd name="T0" fmla="*/ 9 w 93"/>
                <a:gd name="T1" fmla="*/ 37 h 89"/>
                <a:gd name="T2" fmla="*/ 52 w 93"/>
                <a:gd name="T3" fmla="*/ 3 h 89"/>
                <a:gd name="T4" fmla="*/ 93 w 93"/>
                <a:gd name="T5" fmla="*/ 9 h 89"/>
                <a:gd name="T6" fmla="*/ 85 w 93"/>
                <a:gd name="T7" fmla="*/ 28 h 89"/>
                <a:gd name="T8" fmla="*/ 60 w 93"/>
                <a:gd name="T9" fmla="*/ 65 h 89"/>
                <a:gd name="T10" fmla="*/ 40 w 93"/>
                <a:gd name="T11" fmla="*/ 73 h 89"/>
                <a:gd name="T12" fmla="*/ 49 w 93"/>
                <a:gd name="T13" fmla="*/ 74 h 89"/>
                <a:gd name="T14" fmla="*/ 21 w 93"/>
                <a:gd name="T15" fmla="*/ 89 h 89"/>
                <a:gd name="T16" fmla="*/ 22 w 93"/>
                <a:gd name="T17" fmla="*/ 74 h 89"/>
                <a:gd name="T18" fmla="*/ 60 w 93"/>
                <a:gd name="T19" fmla="*/ 15 h 89"/>
                <a:gd name="T20" fmla="*/ 12 w 93"/>
                <a:gd name="T21" fmla="*/ 76 h 89"/>
                <a:gd name="T22" fmla="*/ 7 w 93"/>
                <a:gd name="T23" fmla="*/ 33 h 89"/>
                <a:gd name="T24" fmla="*/ 9 w 93"/>
                <a:gd name="T25" fmla="*/ 3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 h="89">
                  <a:moveTo>
                    <a:pt x="9" y="37"/>
                  </a:moveTo>
                  <a:cubicBezTo>
                    <a:pt x="9" y="37"/>
                    <a:pt x="13" y="7"/>
                    <a:pt x="52" y="3"/>
                  </a:cubicBezTo>
                  <a:cubicBezTo>
                    <a:pt x="80" y="0"/>
                    <a:pt x="93" y="9"/>
                    <a:pt x="93" y="9"/>
                  </a:cubicBezTo>
                  <a:cubicBezTo>
                    <a:pt x="93" y="9"/>
                    <a:pt x="83" y="9"/>
                    <a:pt x="85" y="28"/>
                  </a:cubicBezTo>
                  <a:cubicBezTo>
                    <a:pt x="86" y="39"/>
                    <a:pt x="77" y="58"/>
                    <a:pt x="60" y="65"/>
                  </a:cubicBezTo>
                  <a:cubicBezTo>
                    <a:pt x="44" y="71"/>
                    <a:pt x="40" y="73"/>
                    <a:pt x="40" y="73"/>
                  </a:cubicBezTo>
                  <a:cubicBezTo>
                    <a:pt x="49" y="74"/>
                    <a:pt x="49" y="74"/>
                    <a:pt x="49" y="74"/>
                  </a:cubicBezTo>
                  <a:cubicBezTo>
                    <a:pt x="49" y="74"/>
                    <a:pt x="23" y="78"/>
                    <a:pt x="21" y="89"/>
                  </a:cubicBezTo>
                  <a:cubicBezTo>
                    <a:pt x="21" y="84"/>
                    <a:pt x="21" y="79"/>
                    <a:pt x="22" y="74"/>
                  </a:cubicBezTo>
                  <a:cubicBezTo>
                    <a:pt x="27" y="47"/>
                    <a:pt x="42" y="25"/>
                    <a:pt x="60" y="15"/>
                  </a:cubicBezTo>
                  <a:cubicBezTo>
                    <a:pt x="41" y="21"/>
                    <a:pt x="19" y="37"/>
                    <a:pt x="12" y="76"/>
                  </a:cubicBezTo>
                  <a:cubicBezTo>
                    <a:pt x="7" y="68"/>
                    <a:pt x="0" y="52"/>
                    <a:pt x="7" y="33"/>
                  </a:cubicBezTo>
                  <a:lnTo>
                    <a:pt x="9" y="37"/>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23" name="Freeform 36"/>
            <p:cNvSpPr/>
            <p:nvPr/>
          </p:nvSpPr>
          <p:spPr bwMode="auto">
            <a:xfrm>
              <a:off x="9188231" y="2679483"/>
              <a:ext cx="483618" cy="620687"/>
            </a:xfrm>
            <a:custGeom>
              <a:avLst/>
              <a:gdLst>
                <a:gd name="T0" fmla="*/ 4 w 79"/>
                <a:gd name="T1" fmla="*/ 55 h 101"/>
                <a:gd name="T2" fmla="*/ 37 w 79"/>
                <a:gd name="T3" fmla="*/ 10 h 101"/>
                <a:gd name="T4" fmla="*/ 77 w 79"/>
                <a:gd name="T5" fmla="*/ 5 h 101"/>
                <a:gd name="T6" fmla="*/ 75 w 79"/>
                <a:gd name="T7" fmla="*/ 25 h 101"/>
                <a:gd name="T8" fmla="*/ 61 w 79"/>
                <a:gd name="T9" fmla="*/ 67 h 101"/>
                <a:gd name="T10" fmla="*/ 43 w 79"/>
                <a:gd name="T11" fmla="*/ 81 h 101"/>
                <a:gd name="T12" fmla="*/ 52 w 79"/>
                <a:gd name="T13" fmla="*/ 80 h 101"/>
                <a:gd name="T14" fmla="*/ 30 w 79"/>
                <a:gd name="T15" fmla="*/ 101 h 101"/>
                <a:gd name="T16" fmla="*/ 27 w 79"/>
                <a:gd name="T17" fmla="*/ 87 h 101"/>
                <a:gd name="T18" fmla="*/ 48 w 79"/>
                <a:gd name="T19" fmla="*/ 20 h 101"/>
                <a:gd name="T20" fmla="*/ 18 w 79"/>
                <a:gd name="T21" fmla="*/ 91 h 101"/>
                <a:gd name="T22" fmla="*/ 1 w 79"/>
                <a:gd name="T23" fmla="*/ 51 h 101"/>
                <a:gd name="T24" fmla="*/ 4 w 79"/>
                <a:gd name="T25" fmla="*/ 55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101">
                  <a:moveTo>
                    <a:pt x="4" y="55"/>
                  </a:moveTo>
                  <a:cubicBezTo>
                    <a:pt x="4" y="55"/>
                    <a:pt x="0" y="25"/>
                    <a:pt x="37" y="10"/>
                  </a:cubicBezTo>
                  <a:cubicBezTo>
                    <a:pt x="63" y="0"/>
                    <a:pt x="77" y="5"/>
                    <a:pt x="77" y="5"/>
                  </a:cubicBezTo>
                  <a:cubicBezTo>
                    <a:pt x="77" y="5"/>
                    <a:pt x="67" y="7"/>
                    <a:pt x="75" y="25"/>
                  </a:cubicBezTo>
                  <a:cubicBezTo>
                    <a:pt x="79" y="35"/>
                    <a:pt x="76" y="57"/>
                    <a:pt x="61" y="67"/>
                  </a:cubicBezTo>
                  <a:cubicBezTo>
                    <a:pt x="47" y="78"/>
                    <a:pt x="43" y="81"/>
                    <a:pt x="43" y="81"/>
                  </a:cubicBezTo>
                  <a:cubicBezTo>
                    <a:pt x="52" y="80"/>
                    <a:pt x="52" y="80"/>
                    <a:pt x="52" y="80"/>
                  </a:cubicBezTo>
                  <a:cubicBezTo>
                    <a:pt x="52" y="80"/>
                    <a:pt x="29" y="91"/>
                    <a:pt x="30" y="101"/>
                  </a:cubicBezTo>
                  <a:cubicBezTo>
                    <a:pt x="28" y="97"/>
                    <a:pt x="28" y="92"/>
                    <a:pt x="27" y="87"/>
                  </a:cubicBezTo>
                  <a:cubicBezTo>
                    <a:pt x="24" y="59"/>
                    <a:pt x="33" y="34"/>
                    <a:pt x="48" y="20"/>
                  </a:cubicBezTo>
                  <a:cubicBezTo>
                    <a:pt x="30" y="31"/>
                    <a:pt x="14" y="52"/>
                    <a:pt x="18" y="91"/>
                  </a:cubicBezTo>
                  <a:cubicBezTo>
                    <a:pt x="11" y="85"/>
                    <a:pt x="0" y="71"/>
                    <a:pt x="1" y="51"/>
                  </a:cubicBezTo>
                  <a:lnTo>
                    <a:pt x="4" y="55"/>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24" name="Freeform 37"/>
            <p:cNvSpPr/>
            <p:nvPr/>
          </p:nvSpPr>
          <p:spPr bwMode="auto">
            <a:xfrm>
              <a:off x="8205477" y="1954575"/>
              <a:ext cx="680168" cy="889651"/>
            </a:xfrm>
            <a:custGeom>
              <a:avLst/>
              <a:gdLst>
                <a:gd name="T0" fmla="*/ 15 w 111"/>
                <a:gd name="T1" fmla="*/ 90 h 145"/>
                <a:gd name="T2" fmla="*/ 45 w 111"/>
                <a:gd name="T3" fmla="*/ 21 h 145"/>
                <a:gd name="T4" fmla="*/ 98 w 111"/>
                <a:gd name="T5" fmla="*/ 2 h 145"/>
                <a:gd name="T6" fmla="*/ 101 w 111"/>
                <a:gd name="T7" fmla="*/ 31 h 145"/>
                <a:gd name="T8" fmla="*/ 94 w 111"/>
                <a:gd name="T9" fmla="*/ 91 h 145"/>
                <a:gd name="T10" fmla="*/ 74 w 111"/>
                <a:gd name="T11" fmla="*/ 114 h 145"/>
                <a:gd name="T12" fmla="*/ 86 w 111"/>
                <a:gd name="T13" fmla="*/ 110 h 145"/>
                <a:gd name="T14" fmla="*/ 61 w 111"/>
                <a:gd name="T15" fmla="*/ 145 h 145"/>
                <a:gd name="T16" fmla="*/ 54 w 111"/>
                <a:gd name="T17" fmla="*/ 126 h 145"/>
                <a:gd name="T18" fmla="*/ 63 w 111"/>
                <a:gd name="T19" fmla="*/ 30 h 145"/>
                <a:gd name="T20" fmla="*/ 42 w 111"/>
                <a:gd name="T21" fmla="*/ 134 h 145"/>
                <a:gd name="T22" fmla="*/ 9 w 111"/>
                <a:gd name="T23" fmla="*/ 86 h 145"/>
                <a:gd name="T24" fmla="*/ 15 w 111"/>
                <a:gd name="T25" fmla="*/ 9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145">
                  <a:moveTo>
                    <a:pt x="15" y="90"/>
                  </a:moveTo>
                  <a:cubicBezTo>
                    <a:pt x="15" y="90"/>
                    <a:pt x="0" y="50"/>
                    <a:pt x="45" y="21"/>
                  </a:cubicBezTo>
                  <a:cubicBezTo>
                    <a:pt x="78" y="0"/>
                    <a:pt x="98" y="2"/>
                    <a:pt x="98" y="2"/>
                  </a:cubicBezTo>
                  <a:cubicBezTo>
                    <a:pt x="98" y="2"/>
                    <a:pt x="86" y="9"/>
                    <a:pt x="101" y="31"/>
                  </a:cubicBezTo>
                  <a:cubicBezTo>
                    <a:pt x="109" y="43"/>
                    <a:pt x="111" y="72"/>
                    <a:pt x="94" y="91"/>
                  </a:cubicBezTo>
                  <a:cubicBezTo>
                    <a:pt x="78" y="109"/>
                    <a:pt x="74" y="114"/>
                    <a:pt x="74" y="114"/>
                  </a:cubicBezTo>
                  <a:cubicBezTo>
                    <a:pt x="86" y="110"/>
                    <a:pt x="86" y="110"/>
                    <a:pt x="86" y="110"/>
                  </a:cubicBezTo>
                  <a:cubicBezTo>
                    <a:pt x="86" y="110"/>
                    <a:pt x="58" y="131"/>
                    <a:pt x="61" y="145"/>
                  </a:cubicBezTo>
                  <a:cubicBezTo>
                    <a:pt x="59" y="139"/>
                    <a:pt x="56" y="133"/>
                    <a:pt x="54" y="126"/>
                  </a:cubicBezTo>
                  <a:cubicBezTo>
                    <a:pt x="42" y="90"/>
                    <a:pt x="47" y="53"/>
                    <a:pt x="63" y="30"/>
                  </a:cubicBezTo>
                  <a:cubicBezTo>
                    <a:pt x="43" y="50"/>
                    <a:pt x="27" y="84"/>
                    <a:pt x="42" y="134"/>
                  </a:cubicBezTo>
                  <a:cubicBezTo>
                    <a:pt x="32" y="128"/>
                    <a:pt x="14" y="113"/>
                    <a:pt x="9" y="86"/>
                  </a:cubicBezTo>
                  <a:lnTo>
                    <a:pt x="15" y="90"/>
                  </a:ln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sp>
          <p:nvSpPr>
            <p:cNvPr id="25" name="Freeform 33"/>
            <p:cNvSpPr/>
            <p:nvPr/>
          </p:nvSpPr>
          <p:spPr bwMode="auto">
            <a:xfrm>
              <a:off x="7066535" y="2493591"/>
              <a:ext cx="684651" cy="568335"/>
            </a:xfrm>
            <a:custGeom>
              <a:avLst/>
              <a:gdLst>
                <a:gd name="T0" fmla="*/ 167 w 196"/>
                <a:gd name="T1" fmla="*/ 142 h 163"/>
                <a:gd name="T2" fmla="*/ 170 w 196"/>
                <a:gd name="T3" fmla="*/ 48 h 163"/>
                <a:gd name="T4" fmla="*/ 167 w 196"/>
                <a:gd name="T5" fmla="*/ 57 h 163"/>
                <a:gd name="T6" fmla="*/ 75 w 196"/>
                <a:gd name="T7" fmla="*/ 3 h 163"/>
                <a:gd name="T8" fmla="*/ 0 w 196"/>
                <a:gd name="T9" fmla="*/ 26 h 163"/>
                <a:gd name="T10" fmla="*/ 20 w 196"/>
                <a:gd name="T11" fmla="*/ 60 h 163"/>
                <a:gd name="T12" fmla="*/ 77 w 196"/>
                <a:gd name="T13" fmla="*/ 124 h 163"/>
                <a:gd name="T14" fmla="*/ 119 w 196"/>
                <a:gd name="T15" fmla="*/ 134 h 163"/>
                <a:gd name="T16" fmla="*/ 102 w 196"/>
                <a:gd name="T17" fmla="*/ 139 h 163"/>
                <a:gd name="T18" fmla="*/ 161 w 196"/>
                <a:gd name="T19" fmla="*/ 163 h 163"/>
                <a:gd name="T20" fmla="*/ 81 w 196"/>
                <a:gd name="T21" fmla="*/ 35 h 163"/>
                <a:gd name="T22" fmla="*/ 167 w 196"/>
                <a:gd name="T23" fmla="*/ 142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6" h="163">
                  <a:moveTo>
                    <a:pt x="167" y="142"/>
                  </a:moveTo>
                  <a:cubicBezTo>
                    <a:pt x="167" y="142"/>
                    <a:pt x="196" y="98"/>
                    <a:pt x="170" y="48"/>
                  </a:cubicBezTo>
                  <a:cubicBezTo>
                    <a:pt x="167" y="57"/>
                    <a:pt x="167" y="57"/>
                    <a:pt x="167" y="57"/>
                  </a:cubicBezTo>
                  <a:cubicBezTo>
                    <a:pt x="167" y="57"/>
                    <a:pt x="152" y="0"/>
                    <a:pt x="75" y="3"/>
                  </a:cubicBezTo>
                  <a:cubicBezTo>
                    <a:pt x="21" y="6"/>
                    <a:pt x="0" y="26"/>
                    <a:pt x="0" y="26"/>
                  </a:cubicBezTo>
                  <a:cubicBezTo>
                    <a:pt x="0" y="26"/>
                    <a:pt x="19" y="23"/>
                    <a:pt x="20" y="60"/>
                  </a:cubicBezTo>
                  <a:cubicBezTo>
                    <a:pt x="21" y="81"/>
                    <a:pt x="43" y="116"/>
                    <a:pt x="77" y="124"/>
                  </a:cubicBezTo>
                  <a:cubicBezTo>
                    <a:pt x="111" y="131"/>
                    <a:pt x="119" y="134"/>
                    <a:pt x="119" y="134"/>
                  </a:cubicBezTo>
                  <a:cubicBezTo>
                    <a:pt x="102" y="139"/>
                    <a:pt x="102" y="139"/>
                    <a:pt x="102" y="139"/>
                  </a:cubicBezTo>
                  <a:cubicBezTo>
                    <a:pt x="102" y="139"/>
                    <a:pt x="159" y="140"/>
                    <a:pt x="161" y="163"/>
                  </a:cubicBezTo>
                  <a:cubicBezTo>
                    <a:pt x="161" y="163"/>
                    <a:pt x="157" y="56"/>
                    <a:pt x="81" y="35"/>
                  </a:cubicBezTo>
                  <a:cubicBezTo>
                    <a:pt x="81" y="35"/>
                    <a:pt x="153" y="45"/>
                    <a:pt x="167" y="142"/>
                  </a:cubicBezTo>
                  <a:close/>
                </a:path>
              </a:pathLst>
            </a:custGeom>
            <a:grpFill/>
            <a:ln>
              <a:noFill/>
            </a:ln>
          </p:spPr>
          <p:txBody>
            <a:bodyPr vert="horz" wrap="square" lIns="48214" tIns="24107" rIns="48214" bIns="24107" numCol="1" anchor="t" anchorCtr="0" compatLnSpc="1"/>
            <a:lstStyle/>
            <a:p>
              <a:endParaRPr lang="id-ID">
                <a:solidFill>
                  <a:prstClr val="black"/>
                </a:solidFill>
              </a:endParaRPr>
            </a:p>
          </p:txBody>
        </p:sp>
      </p:grpSp>
      <p:sp>
        <p:nvSpPr>
          <p:cNvPr id="26"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928739" y="871105"/>
            <a:ext cx="5644074" cy="1384995"/>
          </a:xfrm>
          <a:prstGeom prst="rect">
            <a:avLst/>
          </a:prstGeom>
        </p:spPr>
        <p:txBody>
          <a:bodyPr wrap="square">
            <a:spAutoFit/>
          </a:bodyPr>
          <a:lstStyle/>
          <a:p>
            <a:pPr lvl="0">
              <a:lnSpc>
                <a:spcPct val="200000"/>
              </a:lnSpc>
            </a:pPr>
            <a:r>
              <a:rPr lang="en-US" altLang="zh-CN" sz="2800" dirty="0">
                <a:solidFill>
                  <a:schemeClr val="bg1"/>
                </a:solidFill>
              </a:rPr>
              <a:t>HTML Document &amp; communication</a:t>
            </a:r>
            <a:endParaRPr lang="zh-CN" altLang="zh-CN" sz="2800" dirty="0">
              <a:solidFill>
                <a:schemeClr val="bg1"/>
              </a:solidFill>
            </a:endParaRPr>
          </a:p>
          <a:p>
            <a:pPr>
              <a:lnSpc>
                <a:spcPct val="200000"/>
              </a:lnSpc>
            </a:pPr>
            <a:endParaRPr lang="en-US" sz="1400" b="1" dirty="0">
              <a:solidFill>
                <a:schemeClr val="bg1"/>
              </a:solidFill>
              <a:latin typeface="+mj-lt"/>
              <a:ea typeface="Open Sans" panose="020B0606030504020204" pitchFamily="34" charset="0"/>
              <a:cs typeface="Open Sans" panose="020B0606030504020204" pitchFamily="34" charset="0"/>
            </a:endParaRPr>
          </a:p>
        </p:txBody>
      </p:sp>
      <p:sp>
        <p:nvSpPr>
          <p:cNvPr id="27"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7057195" y="1655784"/>
            <a:ext cx="4976961" cy="2556982"/>
          </a:xfrm>
          <a:prstGeom prst="rect">
            <a:avLst/>
          </a:prstGeom>
        </p:spPr>
        <p:txBody>
          <a:bodyPr wrap="square">
            <a:spAutoFit/>
          </a:bodyPr>
          <a:lstStyle/>
          <a:p>
            <a:pPr lvl="0">
              <a:lnSpc>
                <a:spcPct val="200000"/>
              </a:lnSpc>
            </a:pPr>
            <a:r>
              <a:rPr lang="en-US" altLang="zh-CN" sz="2800" spc="-80" dirty="0">
                <a:solidFill>
                  <a:schemeClr val="bg1"/>
                </a:solidFill>
              </a:rPr>
              <a:t>Python Library </a:t>
            </a:r>
            <a:endParaRPr lang="en-US" altLang="zh-CN" sz="2800" spc="-80" dirty="0">
              <a:solidFill>
                <a:schemeClr val="bg1"/>
              </a:solidFill>
            </a:endParaRPr>
          </a:p>
          <a:p>
            <a:pPr lvl="0">
              <a:lnSpc>
                <a:spcPct val="200000"/>
              </a:lnSpc>
            </a:pPr>
            <a:r>
              <a:rPr lang="en-US" altLang="zh-CN" sz="2800" spc="-80" dirty="0">
                <a:solidFill>
                  <a:schemeClr val="bg1"/>
                </a:solidFill>
              </a:rPr>
              <a:t>parse HTML Document </a:t>
            </a:r>
            <a:endParaRPr lang="en-US" altLang="zh-CN" sz="2800" spc="-80" dirty="0">
              <a:solidFill>
                <a:schemeClr val="bg1"/>
              </a:solidFill>
            </a:endParaRPr>
          </a:p>
          <a:p>
            <a:pPr lvl="0">
              <a:lnSpc>
                <a:spcPct val="200000"/>
              </a:lnSpc>
            </a:pPr>
            <a:r>
              <a:rPr lang="en-US" altLang="zh-CN" sz="2800" spc="-80" dirty="0">
                <a:solidFill>
                  <a:schemeClr val="bg1"/>
                </a:solidFill>
              </a:rPr>
              <a:t>realize HTTP communication</a:t>
            </a:r>
            <a:endParaRPr lang="en-US" sz="2800" spc="-80" dirty="0">
              <a:solidFill>
                <a:schemeClr val="bg1"/>
              </a:solidFill>
              <a:ea typeface="Open Sans" panose="020B0606030504020204" pitchFamily="34" charset="0"/>
              <a:cs typeface="Open Sans" panose="020B0606030504020204" pitchFamily="34" charset="0"/>
            </a:endParaRPr>
          </a:p>
        </p:txBody>
      </p:sp>
      <p:sp>
        <p:nvSpPr>
          <p:cNvPr id="28"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7057202" y="4001608"/>
            <a:ext cx="3935359" cy="1277273"/>
          </a:xfrm>
          <a:prstGeom prst="rect">
            <a:avLst/>
          </a:prstGeom>
        </p:spPr>
        <p:txBody>
          <a:bodyPr wrap="square">
            <a:spAutoFit/>
          </a:bodyPr>
          <a:lstStyle/>
          <a:p>
            <a:pPr lvl="0">
              <a:lnSpc>
                <a:spcPct val="200000"/>
              </a:lnSpc>
            </a:pPr>
            <a:r>
              <a:rPr lang="en-US" altLang="zh-CN" sz="2800" dirty="0">
                <a:solidFill>
                  <a:schemeClr val="bg1"/>
                </a:solidFill>
              </a:rPr>
              <a:t>Regular expression </a:t>
            </a:r>
            <a:endParaRPr lang="zh-CN" altLang="zh-CN" sz="2800" dirty="0">
              <a:solidFill>
                <a:schemeClr val="bg1"/>
              </a:solidFill>
            </a:endParaRPr>
          </a:p>
          <a:p>
            <a:pPr>
              <a:lnSpc>
                <a:spcPct val="200000"/>
              </a:lnSpc>
            </a:pPr>
            <a:endParaRPr lang="en-US" sz="1050"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7122512" y="5114134"/>
            <a:ext cx="3935359" cy="2139047"/>
          </a:xfrm>
          <a:prstGeom prst="rect">
            <a:avLst/>
          </a:prstGeom>
        </p:spPr>
        <p:txBody>
          <a:bodyPr wrap="square">
            <a:spAutoFit/>
          </a:bodyPr>
          <a:lstStyle/>
          <a:p>
            <a:pPr lvl="0"/>
            <a:r>
              <a:rPr lang="en-US" altLang="zh-CN" sz="2800" dirty="0">
                <a:solidFill>
                  <a:schemeClr val="bg1"/>
                </a:solidFill>
              </a:rPr>
              <a:t>Tools and calculation methods to analyze financial statements.</a:t>
            </a:r>
            <a:endParaRPr lang="zh-CN" altLang="zh-CN" sz="2800" dirty="0">
              <a:solidFill>
                <a:schemeClr val="bg1"/>
              </a:solidFill>
            </a:endParaRPr>
          </a:p>
          <a:p>
            <a:r>
              <a:rPr lang="en-US" altLang="zh-CN" sz="2800" dirty="0">
                <a:solidFill>
                  <a:schemeClr val="bg1"/>
                </a:solidFill>
              </a:rPr>
              <a:t> </a:t>
            </a:r>
            <a:endParaRPr lang="zh-CN" altLang="zh-CN" sz="2800" dirty="0">
              <a:solidFill>
                <a:schemeClr val="bg1"/>
              </a:solidFill>
            </a:endParaRPr>
          </a:p>
          <a:p>
            <a:pPr>
              <a:lnSpc>
                <a:spcPct val="200000"/>
              </a:lnSpc>
            </a:pPr>
            <a:endParaRPr lang="en-US" sz="1050"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任意多边形 2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466677" y="1464864"/>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1" name="任意多边形 3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473768" y="2362698"/>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2" name="任意多边形 3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441458" y="4683412"/>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3" name="任意多边形 3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441462" y="5596485"/>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4" name="矩形 3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060592" y="1279106"/>
            <a:ext cx="697627" cy="369332"/>
          </a:xfrm>
          <a:prstGeom prst="rect">
            <a:avLst/>
          </a:prstGeom>
        </p:spPr>
        <p:txBody>
          <a:bodyPr wrap="none">
            <a:spAutoFit/>
          </a:bodyPr>
          <a:lstStyle/>
          <a:p>
            <a:r>
              <a:rPr lang="en-US" altLang="zh-CN" dirty="0">
                <a:solidFill>
                  <a:srgbClr val="F0C76A"/>
                </a:solidFill>
                <a:latin typeface="Open Sans" panose="020B0606030504020204" pitchFamily="34" charset="0"/>
                <a:ea typeface="Open Sans" panose="020B0606030504020204" pitchFamily="34" charset="0"/>
                <a:cs typeface="Open Sans" panose="020B0606030504020204" pitchFamily="34" charset="0"/>
              </a:rPr>
              <a:t>01% </a:t>
            </a:r>
            <a:endParaRPr lang="zh-CN" altLang="en-US" dirty="0">
              <a:solidFill>
                <a:srgbClr val="F0C76A"/>
              </a:solidFill>
              <a:latin typeface="Open Sans" panose="020B0606030504020204" pitchFamily="34" charset="0"/>
              <a:cs typeface="Open Sans" panose="020B0606030504020204" pitchFamily="34" charset="0"/>
            </a:endParaRPr>
          </a:p>
        </p:txBody>
      </p:sp>
      <p:sp>
        <p:nvSpPr>
          <p:cNvPr id="35" name="矩形 3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061438" y="2166662"/>
            <a:ext cx="697627" cy="369332"/>
          </a:xfrm>
          <a:prstGeom prst="rect">
            <a:avLst/>
          </a:prstGeom>
        </p:spPr>
        <p:txBody>
          <a:bodyPr wrap="none">
            <a:spAutoFit/>
          </a:bodyPr>
          <a:lstStyle/>
          <a:p>
            <a:r>
              <a:rPr lang="en-US" altLang="zh-CN" dirty="0">
                <a:solidFill>
                  <a:srgbClr val="F0C76A"/>
                </a:solidFill>
                <a:latin typeface="Open Sans" panose="020B0606030504020204" pitchFamily="34" charset="0"/>
                <a:ea typeface="Open Sans" panose="020B0606030504020204" pitchFamily="34" charset="0"/>
                <a:cs typeface="Open Sans" panose="020B0606030504020204" pitchFamily="34" charset="0"/>
              </a:rPr>
              <a:t>02% </a:t>
            </a:r>
            <a:endParaRPr lang="zh-CN" altLang="en-US" dirty="0">
              <a:solidFill>
                <a:srgbClr val="F0C76A"/>
              </a:solidFill>
              <a:latin typeface="Open Sans" panose="020B0606030504020204" pitchFamily="34" charset="0"/>
              <a:cs typeface="Open Sans" panose="020B0606030504020204" pitchFamily="34" charset="0"/>
            </a:endParaRPr>
          </a:p>
        </p:txBody>
      </p:sp>
      <p:sp>
        <p:nvSpPr>
          <p:cNvPr id="36" name="矩形 3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061434" y="4387968"/>
            <a:ext cx="697627" cy="369332"/>
          </a:xfrm>
          <a:prstGeom prst="rect">
            <a:avLst/>
          </a:prstGeom>
        </p:spPr>
        <p:txBody>
          <a:bodyPr wrap="none">
            <a:spAutoFit/>
          </a:bodyPr>
          <a:lstStyle/>
          <a:p>
            <a:r>
              <a:rPr lang="en-US" altLang="zh-CN" dirty="0">
                <a:solidFill>
                  <a:srgbClr val="F0C76A"/>
                </a:solidFill>
                <a:latin typeface="Open Sans" panose="020B0606030504020204" pitchFamily="34" charset="0"/>
                <a:ea typeface="Open Sans" panose="020B0606030504020204" pitchFamily="34" charset="0"/>
                <a:cs typeface="Open Sans" panose="020B0606030504020204" pitchFamily="34" charset="0"/>
              </a:rPr>
              <a:t>03% </a:t>
            </a:r>
            <a:endParaRPr lang="zh-CN" altLang="en-US" dirty="0">
              <a:solidFill>
                <a:srgbClr val="F0C76A"/>
              </a:solidFill>
              <a:latin typeface="Open Sans" panose="020B0606030504020204" pitchFamily="34" charset="0"/>
              <a:cs typeface="Open Sans" panose="020B0606030504020204" pitchFamily="34" charset="0"/>
            </a:endParaRPr>
          </a:p>
        </p:txBody>
      </p:sp>
      <p:sp>
        <p:nvSpPr>
          <p:cNvPr id="37" name="矩形 3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061436" y="5388414"/>
            <a:ext cx="697627" cy="369332"/>
          </a:xfrm>
          <a:prstGeom prst="rect">
            <a:avLst/>
          </a:prstGeom>
        </p:spPr>
        <p:txBody>
          <a:bodyPr wrap="none">
            <a:spAutoFit/>
          </a:bodyPr>
          <a:lstStyle/>
          <a:p>
            <a:r>
              <a:rPr lang="en-US" altLang="zh-CN" dirty="0">
                <a:solidFill>
                  <a:srgbClr val="F0C76A"/>
                </a:solidFill>
                <a:latin typeface="Open Sans" panose="020B0606030504020204" pitchFamily="34" charset="0"/>
                <a:ea typeface="Open Sans" panose="020B0606030504020204" pitchFamily="34" charset="0"/>
                <a:cs typeface="Open Sans" panose="020B0606030504020204" pitchFamily="34" charset="0"/>
              </a:rPr>
              <a:t>04% </a:t>
            </a:r>
            <a:endParaRPr lang="zh-CN" altLang="en-US" dirty="0">
              <a:solidFill>
                <a:srgbClr val="F0C76A"/>
              </a:solidFill>
              <a:latin typeface="Open Sans" panose="020B0606030504020204" pitchFamily="34" charset="0"/>
              <a:cs typeface="Open Sans" panose="020B0606030504020204" pitchFamily="34" charset="0"/>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8" fill="hold" grpId="0" nodeType="withEffect">
                                  <p:stCondLst>
                                    <p:cond delay="2000"/>
                                  </p:stCondLst>
                                  <p:childTnLst>
                                    <p:set>
                                      <p:cBhvr>
                                        <p:cTn id="16" dur="1" fill="hold">
                                          <p:stCondLst>
                                            <p:cond delay="0"/>
                                          </p:stCondLst>
                                        </p:cTn>
                                        <p:tgtEl>
                                          <p:spTgt spid="26"/>
                                        </p:tgtEl>
                                        <p:attrNameLst>
                                          <p:attrName>style.visibility</p:attrName>
                                        </p:attrNameLst>
                                      </p:cBhvr>
                                      <p:to>
                                        <p:strVal val="visible"/>
                                      </p:to>
                                    </p:set>
                                    <p:animEffect transition="in" filter="wipe(left)">
                                      <p:cBhvr>
                                        <p:cTn id="17" dur="1000"/>
                                        <p:tgtEl>
                                          <p:spTgt spid="26"/>
                                        </p:tgtEl>
                                      </p:cBhvr>
                                    </p:animEffect>
                                  </p:childTnLst>
                                </p:cTn>
                              </p:par>
                              <p:par>
                                <p:cTn id="18" presetID="22" presetClass="entr" presetSubtype="8" fill="hold" grpId="0" nodeType="withEffect">
                                  <p:stCondLst>
                                    <p:cond delay="2250"/>
                                  </p:stCondLst>
                                  <p:childTnLst>
                                    <p:set>
                                      <p:cBhvr>
                                        <p:cTn id="19" dur="1" fill="hold">
                                          <p:stCondLst>
                                            <p:cond delay="0"/>
                                          </p:stCondLst>
                                        </p:cTn>
                                        <p:tgtEl>
                                          <p:spTgt spid="27"/>
                                        </p:tgtEl>
                                        <p:attrNameLst>
                                          <p:attrName>style.visibility</p:attrName>
                                        </p:attrNameLst>
                                      </p:cBhvr>
                                      <p:to>
                                        <p:strVal val="visible"/>
                                      </p:to>
                                    </p:set>
                                    <p:animEffect transition="in" filter="wipe(left)">
                                      <p:cBhvr>
                                        <p:cTn id="20" dur="1000"/>
                                        <p:tgtEl>
                                          <p:spTgt spid="27"/>
                                        </p:tgtEl>
                                      </p:cBhvr>
                                    </p:animEffect>
                                  </p:childTnLst>
                                </p:cTn>
                              </p:par>
                              <p:par>
                                <p:cTn id="21" presetID="22" presetClass="entr" presetSubtype="8" fill="hold" grpId="0" nodeType="withEffect">
                                  <p:stCondLst>
                                    <p:cond delay="250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1000"/>
                                        <p:tgtEl>
                                          <p:spTgt spid="28"/>
                                        </p:tgtEl>
                                      </p:cBhvr>
                                    </p:animEffect>
                                  </p:childTnLst>
                                </p:cTn>
                              </p:par>
                              <p:par>
                                <p:cTn id="24" presetID="22" presetClass="entr" presetSubtype="8" fill="hold" grpId="0" nodeType="withEffect">
                                  <p:stCondLst>
                                    <p:cond delay="275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1000"/>
                                        <p:tgtEl>
                                          <p:spTgt spid="29"/>
                                        </p:tgtEl>
                                      </p:cBhvr>
                                    </p:animEffect>
                                  </p:childTnLst>
                                </p:cTn>
                              </p:par>
                              <p:par>
                                <p:cTn id="27" presetID="53" presetClass="entr" presetSubtype="16" fill="hold" grpId="0" nodeType="withEffect">
                                  <p:stCondLst>
                                    <p:cond delay="2000"/>
                                  </p:stCondLst>
                                  <p:childTnLst>
                                    <p:set>
                                      <p:cBhvr>
                                        <p:cTn id="28" dur="1" fill="hold">
                                          <p:stCondLst>
                                            <p:cond delay="0"/>
                                          </p:stCondLst>
                                        </p:cTn>
                                        <p:tgtEl>
                                          <p:spTgt spid="34"/>
                                        </p:tgtEl>
                                        <p:attrNameLst>
                                          <p:attrName>style.visibility</p:attrName>
                                        </p:attrNameLst>
                                      </p:cBhvr>
                                      <p:to>
                                        <p:strVal val="visible"/>
                                      </p:to>
                                    </p:set>
                                    <p:anim calcmode="lin" valueType="num">
                                      <p:cBhvr>
                                        <p:cTn id="29" dur="1000" fill="hold"/>
                                        <p:tgtEl>
                                          <p:spTgt spid="34"/>
                                        </p:tgtEl>
                                        <p:attrNameLst>
                                          <p:attrName>ppt_w</p:attrName>
                                        </p:attrNameLst>
                                      </p:cBhvr>
                                      <p:tavLst>
                                        <p:tav tm="0">
                                          <p:val>
                                            <p:fltVal val="0"/>
                                          </p:val>
                                        </p:tav>
                                        <p:tav tm="100000">
                                          <p:val>
                                            <p:strVal val="#ppt_w"/>
                                          </p:val>
                                        </p:tav>
                                      </p:tavLst>
                                    </p:anim>
                                    <p:anim calcmode="lin" valueType="num">
                                      <p:cBhvr>
                                        <p:cTn id="30" dur="1000" fill="hold"/>
                                        <p:tgtEl>
                                          <p:spTgt spid="34"/>
                                        </p:tgtEl>
                                        <p:attrNameLst>
                                          <p:attrName>ppt_h</p:attrName>
                                        </p:attrNameLst>
                                      </p:cBhvr>
                                      <p:tavLst>
                                        <p:tav tm="0">
                                          <p:val>
                                            <p:fltVal val="0"/>
                                          </p:val>
                                        </p:tav>
                                        <p:tav tm="100000">
                                          <p:val>
                                            <p:strVal val="#ppt_h"/>
                                          </p:val>
                                        </p:tav>
                                      </p:tavLst>
                                    </p:anim>
                                    <p:animEffect transition="in" filter="fade">
                                      <p:cBhvr>
                                        <p:cTn id="31" dur="1000"/>
                                        <p:tgtEl>
                                          <p:spTgt spid="34"/>
                                        </p:tgtEl>
                                      </p:cBhvr>
                                    </p:animEffect>
                                  </p:childTnLst>
                                </p:cTn>
                              </p:par>
                              <p:par>
                                <p:cTn id="32" presetID="53" presetClass="entr" presetSubtype="16" fill="hold" grpId="0" nodeType="withEffect">
                                  <p:stCondLst>
                                    <p:cond delay="2500"/>
                                  </p:stCondLst>
                                  <p:childTnLst>
                                    <p:set>
                                      <p:cBhvr>
                                        <p:cTn id="33" dur="1" fill="hold">
                                          <p:stCondLst>
                                            <p:cond delay="0"/>
                                          </p:stCondLst>
                                        </p:cTn>
                                        <p:tgtEl>
                                          <p:spTgt spid="35"/>
                                        </p:tgtEl>
                                        <p:attrNameLst>
                                          <p:attrName>style.visibility</p:attrName>
                                        </p:attrNameLst>
                                      </p:cBhvr>
                                      <p:to>
                                        <p:strVal val="visible"/>
                                      </p:to>
                                    </p:set>
                                    <p:anim calcmode="lin" valueType="num">
                                      <p:cBhvr>
                                        <p:cTn id="34" dur="1000" fill="hold"/>
                                        <p:tgtEl>
                                          <p:spTgt spid="35"/>
                                        </p:tgtEl>
                                        <p:attrNameLst>
                                          <p:attrName>ppt_w</p:attrName>
                                        </p:attrNameLst>
                                      </p:cBhvr>
                                      <p:tavLst>
                                        <p:tav tm="0">
                                          <p:val>
                                            <p:fltVal val="0"/>
                                          </p:val>
                                        </p:tav>
                                        <p:tav tm="100000">
                                          <p:val>
                                            <p:strVal val="#ppt_w"/>
                                          </p:val>
                                        </p:tav>
                                      </p:tavLst>
                                    </p:anim>
                                    <p:anim calcmode="lin" valueType="num">
                                      <p:cBhvr>
                                        <p:cTn id="35" dur="1000" fill="hold"/>
                                        <p:tgtEl>
                                          <p:spTgt spid="35"/>
                                        </p:tgtEl>
                                        <p:attrNameLst>
                                          <p:attrName>ppt_h</p:attrName>
                                        </p:attrNameLst>
                                      </p:cBhvr>
                                      <p:tavLst>
                                        <p:tav tm="0">
                                          <p:val>
                                            <p:fltVal val="0"/>
                                          </p:val>
                                        </p:tav>
                                        <p:tav tm="100000">
                                          <p:val>
                                            <p:strVal val="#ppt_h"/>
                                          </p:val>
                                        </p:tav>
                                      </p:tavLst>
                                    </p:anim>
                                    <p:animEffect transition="in" filter="fade">
                                      <p:cBhvr>
                                        <p:cTn id="36" dur="1000"/>
                                        <p:tgtEl>
                                          <p:spTgt spid="35"/>
                                        </p:tgtEl>
                                      </p:cBhvr>
                                    </p:animEffect>
                                  </p:childTnLst>
                                </p:cTn>
                              </p:par>
                              <p:par>
                                <p:cTn id="37" presetID="53" presetClass="entr" presetSubtype="16" fill="hold" grpId="0" nodeType="withEffect">
                                  <p:stCondLst>
                                    <p:cond delay="3000"/>
                                  </p:stCondLst>
                                  <p:childTnLst>
                                    <p:set>
                                      <p:cBhvr>
                                        <p:cTn id="38" dur="1" fill="hold">
                                          <p:stCondLst>
                                            <p:cond delay="0"/>
                                          </p:stCondLst>
                                        </p:cTn>
                                        <p:tgtEl>
                                          <p:spTgt spid="36"/>
                                        </p:tgtEl>
                                        <p:attrNameLst>
                                          <p:attrName>style.visibility</p:attrName>
                                        </p:attrNameLst>
                                      </p:cBhvr>
                                      <p:to>
                                        <p:strVal val="visible"/>
                                      </p:to>
                                    </p:set>
                                    <p:anim calcmode="lin" valueType="num">
                                      <p:cBhvr>
                                        <p:cTn id="39" dur="1000" fill="hold"/>
                                        <p:tgtEl>
                                          <p:spTgt spid="36"/>
                                        </p:tgtEl>
                                        <p:attrNameLst>
                                          <p:attrName>ppt_w</p:attrName>
                                        </p:attrNameLst>
                                      </p:cBhvr>
                                      <p:tavLst>
                                        <p:tav tm="0">
                                          <p:val>
                                            <p:fltVal val="0"/>
                                          </p:val>
                                        </p:tav>
                                        <p:tav tm="100000">
                                          <p:val>
                                            <p:strVal val="#ppt_w"/>
                                          </p:val>
                                        </p:tav>
                                      </p:tavLst>
                                    </p:anim>
                                    <p:anim calcmode="lin" valueType="num">
                                      <p:cBhvr>
                                        <p:cTn id="40" dur="1000" fill="hold"/>
                                        <p:tgtEl>
                                          <p:spTgt spid="36"/>
                                        </p:tgtEl>
                                        <p:attrNameLst>
                                          <p:attrName>ppt_h</p:attrName>
                                        </p:attrNameLst>
                                      </p:cBhvr>
                                      <p:tavLst>
                                        <p:tav tm="0">
                                          <p:val>
                                            <p:fltVal val="0"/>
                                          </p:val>
                                        </p:tav>
                                        <p:tav tm="100000">
                                          <p:val>
                                            <p:strVal val="#ppt_h"/>
                                          </p:val>
                                        </p:tav>
                                      </p:tavLst>
                                    </p:anim>
                                    <p:animEffect transition="in" filter="fade">
                                      <p:cBhvr>
                                        <p:cTn id="41" dur="1000"/>
                                        <p:tgtEl>
                                          <p:spTgt spid="36"/>
                                        </p:tgtEl>
                                      </p:cBhvr>
                                    </p:animEffect>
                                  </p:childTnLst>
                                </p:cTn>
                              </p:par>
                              <p:par>
                                <p:cTn id="42" presetID="53" presetClass="entr" presetSubtype="16" fill="hold" grpId="0" nodeType="withEffect">
                                  <p:stCondLst>
                                    <p:cond delay="3500"/>
                                  </p:stCondLst>
                                  <p:childTnLst>
                                    <p:set>
                                      <p:cBhvr>
                                        <p:cTn id="43" dur="1" fill="hold">
                                          <p:stCondLst>
                                            <p:cond delay="0"/>
                                          </p:stCondLst>
                                        </p:cTn>
                                        <p:tgtEl>
                                          <p:spTgt spid="37"/>
                                        </p:tgtEl>
                                        <p:attrNameLst>
                                          <p:attrName>style.visibility</p:attrName>
                                        </p:attrNameLst>
                                      </p:cBhvr>
                                      <p:to>
                                        <p:strVal val="visible"/>
                                      </p:to>
                                    </p:set>
                                    <p:anim calcmode="lin" valueType="num">
                                      <p:cBhvr>
                                        <p:cTn id="44" dur="1000" fill="hold"/>
                                        <p:tgtEl>
                                          <p:spTgt spid="37"/>
                                        </p:tgtEl>
                                        <p:attrNameLst>
                                          <p:attrName>ppt_w</p:attrName>
                                        </p:attrNameLst>
                                      </p:cBhvr>
                                      <p:tavLst>
                                        <p:tav tm="0">
                                          <p:val>
                                            <p:fltVal val="0"/>
                                          </p:val>
                                        </p:tav>
                                        <p:tav tm="100000">
                                          <p:val>
                                            <p:strVal val="#ppt_w"/>
                                          </p:val>
                                        </p:tav>
                                      </p:tavLst>
                                    </p:anim>
                                    <p:anim calcmode="lin" valueType="num">
                                      <p:cBhvr>
                                        <p:cTn id="45" dur="1000" fill="hold"/>
                                        <p:tgtEl>
                                          <p:spTgt spid="37"/>
                                        </p:tgtEl>
                                        <p:attrNameLst>
                                          <p:attrName>ppt_h</p:attrName>
                                        </p:attrNameLst>
                                      </p:cBhvr>
                                      <p:tavLst>
                                        <p:tav tm="0">
                                          <p:val>
                                            <p:fltVal val="0"/>
                                          </p:val>
                                        </p:tav>
                                        <p:tav tm="100000">
                                          <p:val>
                                            <p:strVal val="#ppt_h"/>
                                          </p:val>
                                        </p:tav>
                                      </p:tavLst>
                                    </p:anim>
                                    <p:animEffect transition="in" filter="fade">
                                      <p:cBhvr>
                                        <p:cTn id="46" dur="1000"/>
                                        <p:tgtEl>
                                          <p:spTgt spid="37"/>
                                        </p:tgtEl>
                                      </p:cBhvr>
                                    </p:animEffect>
                                  </p:childTnLst>
                                </p:cTn>
                              </p:par>
                              <p:par>
                                <p:cTn id="47" presetID="10" presetClass="entr" presetSubtype="0" fill="hold" nodeType="withEffect">
                                  <p:stCondLst>
                                    <p:cond delay="100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500"/>
                                        <p:tgtEl>
                                          <p:spTgt spid="4"/>
                                        </p:tgtEl>
                                      </p:cBhvr>
                                    </p:animEffect>
                                  </p:childTnLst>
                                </p:cTn>
                              </p:par>
                              <p:par>
                                <p:cTn id="50" presetID="63" presetClass="path" presetSubtype="0" accel="50000" decel="50000" fill="hold" nodeType="withEffect">
                                  <p:stCondLst>
                                    <p:cond delay="1000"/>
                                  </p:stCondLst>
                                  <p:childTnLst>
                                    <p:animMotion origin="layout" path="M 0.075 0.00301 L -2.08333E-7 -1.11111E-6 " pathEditMode="relative" rAng="0" ptsTypes="AA">
                                      <p:cBhvr>
                                        <p:cTn id="51" dur="2000" fill="hold"/>
                                        <p:tgtEl>
                                          <p:spTgt spid="4"/>
                                        </p:tgtEl>
                                        <p:attrNameLst>
                                          <p:attrName>ppt_x</p:attrName>
                                          <p:attrName>ppt_y</p:attrName>
                                        </p:attrNameLst>
                                      </p:cBhvr>
                                      <p:rCtr x="-3750" y="-162"/>
                                    </p:animMotion>
                                  </p:childTnLst>
                                </p:cTn>
                              </p:par>
                              <p:par>
                                <p:cTn id="52" presetID="10" presetClass="entr" presetSubtype="0" fill="hold" grpId="0" nodeType="withEffect">
                                  <p:stCondLst>
                                    <p:cond delay="50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63" presetClass="path" presetSubtype="0" accel="50000" decel="50000" fill="hold" grpId="1" nodeType="withEffect">
                                  <p:stCondLst>
                                    <p:cond delay="500"/>
                                  </p:stCondLst>
                                  <p:childTnLst>
                                    <p:animMotion origin="layout" path="M -0.00013 0.12107 L -4.16667E-6 4.81481E-6 " pathEditMode="relative" rAng="0" ptsTypes="AA">
                                      <p:cBhvr>
                                        <p:cTn id="56" dur="2000" fill="hold"/>
                                        <p:tgtEl>
                                          <p:spTgt spid="30"/>
                                        </p:tgtEl>
                                        <p:attrNameLst>
                                          <p:attrName>ppt_x</p:attrName>
                                          <p:attrName>ppt_y</p:attrName>
                                        </p:attrNameLst>
                                      </p:cBhvr>
                                      <p:rCtr x="0" y="-6042"/>
                                    </p:animMotion>
                                  </p:childTnLst>
                                </p:cTn>
                              </p:par>
                              <p:par>
                                <p:cTn id="57" presetID="10" presetClass="entr" presetSubtype="0" fill="hold" grpId="0" nodeType="withEffect">
                                  <p:stCondLst>
                                    <p:cond delay="100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00"/>
                                        <p:tgtEl>
                                          <p:spTgt spid="31"/>
                                        </p:tgtEl>
                                      </p:cBhvr>
                                    </p:animEffect>
                                  </p:childTnLst>
                                </p:cTn>
                              </p:par>
                              <p:par>
                                <p:cTn id="60" presetID="63" presetClass="path" presetSubtype="0" accel="50000" decel="50000" fill="hold" grpId="1" nodeType="withEffect">
                                  <p:stCondLst>
                                    <p:cond delay="1000"/>
                                  </p:stCondLst>
                                  <p:childTnLst>
                                    <p:animMotion origin="layout" path="M -0.00013 0.12107 L -4.16667E-6 4.81481E-6 " pathEditMode="relative" rAng="0" ptsTypes="AA">
                                      <p:cBhvr>
                                        <p:cTn id="61" dur="2000" fill="hold"/>
                                        <p:tgtEl>
                                          <p:spTgt spid="31"/>
                                        </p:tgtEl>
                                        <p:attrNameLst>
                                          <p:attrName>ppt_x</p:attrName>
                                          <p:attrName>ppt_y</p:attrName>
                                        </p:attrNameLst>
                                      </p:cBhvr>
                                      <p:rCtr x="0" y="-6042"/>
                                    </p:animMotion>
                                  </p:childTnLst>
                                </p:cTn>
                              </p:par>
                              <p:par>
                                <p:cTn id="62" presetID="10" presetClass="entr" presetSubtype="0" fill="hold" grpId="0" nodeType="withEffect">
                                  <p:stCondLst>
                                    <p:cond delay="1500"/>
                                  </p:stCondLst>
                                  <p:childTnLst>
                                    <p:set>
                                      <p:cBhvr>
                                        <p:cTn id="63" dur="1" fill="hold">
                                          <p:stCondLst>
                                            <p:cond delay="0"/>
                                          </p:stCondLst>
                                        </p:cTn>
                                        <p:tgtEl>
                                          <p:spTgt spid="32"/>
                                        </p:tgtEl>
                                        <p:attrNameLst>
                                          <p:attrName>style.visibility</p:attrName>
                                        </p:attrNameLst>
                                      </p:cBhvr>
                                      <p:to>
                                        <p:strVal val="visible"/>
                                      </p:to>
                                    </p:set>
                                    <p:animEffect transition="in" filter="fade">
                                      <p:cBhvr>
                                        <p:cTn id="64" dur="500"/>
                                        <p:tgtEl>
                                          <p:spTgt spid="32"/>
                                        </p:tgtEl>
                                      </p:cBhvr>
                                    </p:animEffect>
                                  </p:childTnLst>
                                </p:cTn>
                              </p:par>
                              <p:par>
                                <p:cTn id="65" presetID="63" presetClass="path" presetSubtype="0" accel="50000" decel="50000" fill="hold" grpId="1" nodeType="withEffect">
                                  <p:stCondLst>
                                    <p:cond delay="1500"/>
                                  </p:stCondLst>
                                  <p:childTnLst>
                                    <p:animMotion origin="layout" path="M -0.00013 0.12107 L -4.16667E-6 4.81481E-6 " pathEditMode="relative" rAng="0" ptsTypes="AA">
                                      <p:cBhvr>
                                        <p:cTn id="66" dur="2000" fill="hold"/>
                                        <p:tgtEl>
                                          <p:spTgt spid="32"/>
                                        </p:tgtEl>
                                        <p:attrNameLst>
                                          <p:attrName>ppt_x</p:attrName>
                                          <p:attrName>ppt_y</p:attrName>
                                        </p:attrNameLst>
                                      </p:cBhvr>
                                      <p:rCtr x="0" y="-6042"/>
                                    </p:animMotion>
                                  </p:childTnLst>
                                </p:cTn>
                              </p:par>
                              <p:par>
                                <p:cTn id="67" presetID="10" presetClass="entr" presetSubtype="0" fill="hold" grpId="0" nodeType="withEffect">
                                  <p:stCondLst>
                                    <p:cond delay="200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500"/>
                                        <p:tgtEl>
                                          <p:spTgt spid="33"/>
                                        </p:tgtEl>
                                      </p:cBhvr>
                                    </p:animEffect>
                                  </p:childTnLst>
                                </p:cTn>
                              </p:par>
                              <p:par>
                                <p:cTn id="70" presetID="63" presetClass="path" presetSubtype="0" accel="50000" decel="50000" fill="hold" grpId="1" nodeType="withEffect">
                                  <p:stCondLst>
                                    <p:cond delay="2000"/>
                                  </p:stCondLst>
                                  <p:childTnLst>
                                    <p:animMotion origin="layout" path="M -0.00013 0.12107 L -4.16667E-6 4.81481E-6 " pathEditMode="relative" rAng="0" ptsTypes="AA">
                                      <p:cBhvr>
                                        <p:cTn id="71" dur="2000" fill="hold"/>
                                        <p:tgtEl>
                                          <p:spTgt spid="33"/>
                                        </p:tgtEl>
                                        <p:attrNameLst>
                                          <p:attrName>ppt_x</p:attrName>
                                          <p:attrName>ppt_y</p:attrName>
                                        </p:attrNameLst>
                                      </p:cBhvr>
                                      <p:rCtr x="0" y="-60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animBg="1"/>
      <p:bldP spid="7" grpId="1" animBg="1"/>
      <p:bldP spid="26" grpId="0"/>
      <p:bldP spid="27" grpId="0"/>
      <p:bldP spid="28" grpId="0"/>
      <p:bldP spid="29" grpId="0"/>
      <p:bldP spid="30" grpId="0" animBg="1"/>
      <p:bldP spid="30" grpId="1" animBg="1"/>
      <p:bldP spid="31" grpId="0" animBg="1"/>
      <p:bldP spid="31" grpId="1" animBg="1"/>
      <p:bldP spid="32" grpId="0" animBg="1"/>
      <p:bldP spid="32" grpId="1" animBg="1"/>
      <p:bldP spid="33" grpId="0" animBg="1"/>
      <p:bldP spid="33" grpId="1" animBg="1"/>
      <p:bldP spid="34" grpId="0"/>
      <p:bldP spid="35" grpId="0"/>
      <p:bldP spid="36" grpId="0"/>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760" y="345743"/>
            <a:ext cx="3274839" cy="646331"/>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The Model  We Used</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567116" y="944636"/>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矩形 6"/>
          <p:cNvSpPr/>
          <p:nvPr/>
        </p:nvSpPr>
        <p:spPr>
          <a:xfrm>
            <a:off x="6163037" y="1534602"/>
            <a:ext cx="4970423" cy="2099143"/>
          </a:xfrm>
          <a:prstGeom prst="rect">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600">
              <a:solidFill>
                <a:srgbClr val="F9F9F9"/>
              </a:solidFill>
            </a:endParaRPr>
          </a:p>
        </p:txBody>
      </p:sp>
      <p:sp>
        <p:nvSpPr>
          <p:cNvPr id="5" name="矩形 4"/>
          <p:cNvSpPr/>
          <p:nvPr/>
        </p:nvSpPr>
        <p:spPr>
          <a:xfrm>
            <a:off x="858742" y="3816626"/>
            <a:ext cx="5144494" cy="2246561"/>
          </a:xfrm>
          <a:prstGeom prst="rect">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chemeClr val="tx1"/>
                </a:solidFill>
              </a:rPr>
              <a:t>The F early warning system has been improved upon the Z early warning system, including cash flow as a predictive variable. </a:t>
            </a:r>
            <a:endParaRPr lang="zh-CN" altLang="zh-CN" sz="2800" b="1" dirty="0">
              <a:solidFill>
                <a:schemeClr val="tx1"/>
              </a:solidFill>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151964" y="2692711"/>
            <a:ext cx="1310725" cy="102832"/>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6"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17" name="矩形 16"/>
          <p:cNvSpPr/>
          <p:nvPr/>
        </p:nvSpPr>
        <p:spPr>
          <a:xfrm>
            <a:off x="6163036" y="1587908"/>
            <a:ext cx="4970423" cy="1815882"/>
          </a:xfrm>
          <a:prstGeom prst="rect">
            <a:avLst/>
          </a:prstGeom>
        </p:spPr>
        <p:txBody>
          <a:bodyPr wrap="square">
            <a:spAutoFit/>
          </a:bodyPr>
          <a:lstStyle/>
          <a:p>
            <a:r>
              <a:rPr lang="en-US" altLang="zh-CN" sz="2800" b="1" dirty="0"/>
              <a:t>An early warning system (EWS) is a system which is used for identifying current situations and predicting the risk level</a:t>
            </a:r>
            <a:endParaRPr lang="zh-CN" altLang="zh-CN" sz="2800" b="1" dirty="0"/>
          </a:p>
        </p:txBody>
      </p:sp>
      <p:sp>
        <p:nvSpPr>
          <p:cNvPr id="21" name="矩形 20"/>
          <p:cNvSpPr/>
          <p:nvPr/>
        </p:nvSpPr>
        <p:spPr>
          <a:xfrm>
            <a:off x="858743" y="1959297"/>
            <a:ext cx="5144494" cy="1569660"/>
          </a:xfrm>
          <a:prstGeom prst="rect">
            <a:avLst/>
          </a:prstGeom>
        </p:spPr>
        <p:txBody>
          <a:bodyPr wrap="square">
            <a:spAutoFit/>
          </a:bodyPr>
          <a:lstStyle/>
          <a:p>
            <a:r>
              <a:rPr lang="en-US" altLang="zh-CN" sz="3200" dirty="0">
                <a:solidFill>
                  <a:schemeClr val="bg1"/>
                </a:solidFill>
              </a:rPr>
              <a:t>F=0.1774+1.1091W1+1.9271W2+0.1074W3+0.0302W4+0.04961W5</a:t>
            </a:r>
            <a:endParaRPr lang="zh-CN" altLang="zh-CN" sz="3200" dirty="0">
              <a:solidFill>
                <a:schemeClr val="bg1"/>
              </a:solidFill>
            </a:endParaRPr>
          </a:p>
        </p:txBody>
      </p:sp>
      <p:sp>
        <p:nvSpPr>
          <p:cNvPr id="22" name="矩形 21"/>
          <p:cNvSpPr/>
          <p:nvPr/>
        </p:nvSpPr>
        <p:spPr>
          <a:xfrm>
            <a:off x="6163036" y="4021057"/>
            <a:ext cx="5869553" cy="1569660"/>
          </a:xfrm>
          <a:prstGeom prst="rect">
            <a:avLst/>
          </a:prstGeom>
        </p:spPr>
        <p:txBody>
          <a:bodyPr wrap="square">
            <a:spAutoFit/>
          </a:bodyPr>
          <a:lstStyle/>
          <a:p>
            <a:r>
              <a:rPr lang="en-US" altLang="zh-CN" sz="3200" dirty="0">
                <a:solidFill>
                  <a:schemeClr val="bg1"/>
                </a:solidFill>
              </a:rPr>
              <a:t>A simplified F early warning system model: </a:t>
            </a:r>
            <a:endParaRPr lang="en-US" altLang="zh-CN" sz="3200" dirty="0">
              <a:solidFill>
                <a:schemeClr val="bg1"/>
              </a:solidFill>
            </a:endParaRPr>
          </a:p>
          <a:p>
            <a:r>
              <a:rPr lang="en-US" altLang="zh-CN" sz="3200" dirty="0">
                <a:solidFill>
                  <a:schemeClr val="bg1"/>
                </a:solidFill>
              </a:rPr>
              <a:t>F=-0.1774+1.1091W1+1.9271W2.</a:t>
            </a:r>
            <a:endParaRPr lang="zh-CN" altLang="zh-CN" sz="3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63" presetClass="path" presetSubtype="0" accel="50000" decel="50000" fill="hold" grpId="1" nodeType="withEffect">
                                  <p:stCondLst>
                                    <p:cond delay="2000"/>
                                  </p:stCondLst>
                                  <p:childTnLst>
                                    <p:animMotion origin="layout" path="M -2.08333E-7 0.06481 L -2.08333E-7 4.44444E-6 " pathEditMode="relative" rAng="0" ptsTypes="AA">
                                      <p:cBhvr>
                                        <p:cTn id="19" dur="2000" fill="hold"/>
                                        <p:tgtEl>
                                          <p:spTgt spid="19"/>
                                        </p:tgtEl>
                                        <p:attrNameLst>
                                          <p:attrName>ppt_x</p:attrName>
                                          <p:attrName>ppt_y</p:attrName>
                                        </p:attrNameLst>
                                      </p:cBhvr>
                                      <p:rCtr x="0" y="-324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19" grpId="0" animBg="1"/>
      <p:bldP spid="19"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6" name="矩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224280" cy="1106805"/>
          </a:xfrm>
          <a:prstGeom prst="rect">
            <a:avLst/>
          </a:prstGeom>
        </p:spPr>
        <p:txBody>
          <a:bodyPr wrap="none">
            <a:spAutoFit/>
          </a:bodyPr>
          <a:lstStyle/>
          <a:p>
            <a:r>
              <a:rPr lang="en-US" altLang="zh-CN" sz="6600" dirty="0">
                <a:solidFill>
                  <a:srgbClr val="C99115"/>
                </a:solidFill>
                <a:latin typeface="Meiryo" panose="020B0604030504040204" pitchFamily="34" charset="-128"/>
                <a:ea typeface="Meiryo" panose="020B0604030504040204" pitchFamily="34" charset="-128"/>
              </a:rPr>
              <a:t>03</a:t>
            </a:r>
            <a:endParaRPr lang="en-US" altLang="zh-CN" sz="6600" dirty="0">
              <a:solidFill>
                <a:srgbClr val="C99115"/>
              </a:solidFill>
              <a:latin typeface="Meiryo" panose="020B0604030504040204" pitchFamily="34" charset="-128"/>
              <a:ea typeface="Meiryo" panose="020B0604030504040204" pitchFamily="34" charset="-128"/>
            </a:endParaRPr>
          </a:p>
        </p:txBody>
      </p:sp>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692844"/>
            <a:ext cx="6129604" cy="1445260"/>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The Development Process</a:t>
            </a:r>
            <a:endPar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7"/>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2000" fill="hold"/>
                                        <p:tgtEl>
                                          <p:spTgt spid="14"/>
                                        </p:tgtEl>
                                        <p:attrNameLst>
                                          <p:attrName>ppt_w</p:attrName>
                                        </p:attrNameLst>
                                      </p:cBhvr>
                                      <p:tavLst>
                                        <p:tav tm="0">
                                          <p:val>
                                            <p:fltVal val="0"/>
                                          </p:val>
                                        </p:tav>
                                        <p:tav tm="100000">
                                          <p:val>
                                            <p:strVal val="#ppt_w"/>
                                          </p:val>
                                        </p:tav>
                                      </p:tavLst>
                                    </p:anim>
                                    <p:anim calcmode="lin" valueType="num">
                                      <p:cBhvr>
                                        <p:cTn id="18" dur="2000" fill="hold"/>
                                        <p:tgtEl>
                                          <p:spTgt spid="14"/>
                                        </p:tgtEl>
                                        <p:attrNameLst>
                                          <p:attrName>ppt_h</p:attrName>
                                        </p:attrNameLst>
                                      </p:cBhvr>
                                      <p:tavLst>
                                        <p:tav tm="0">
                                          <p:val>
                                            <p:fltVal val="0"/>
                                          </p:val>
                                        </p:tav>
                                        <p:tav tm="100000">
                                          <p:val>
                                            <p:strVal val="#ppt_h"/>
                                          </p:val>
                                        </p:tav>
                                      </p:tavLst>
                                    </p:anim>
                                    <p:animEffect transition="in" filter="fade">
                                      <p:cBhvr>
                                        <p:cTn id="19" dur="2000"/>
                                        <p:tgtEl>
                                          <p:spTgt spid="14"/>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14"/>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1"/>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20"/>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3"/>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2"/>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2"/>
                                        </p:tgtEl>
                                      </p:cBhvr>
                                    </p:animEffect>
                                    <p:set>
                                      <p:cBhvr>
                                        <p:cTn id="53" dur="1" fill="hold">
                                          <p:stCondLst>
                                            <p:cond delay="499"/>
                                          </p:stCondLst>
                                        </p:cTn>
                                        <p:tgtEl>
                                          <p:spTgt spid="22"/>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9"/>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3" grpId="2"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6" name="矩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511952" cy="1107996"/>
          </a:xfrm>
          <a:prstGeom prst="rect">
            <a:avLst/>
          </a:prstGeom>
        </p:spPr>
        <p:txBody>
          <a:bodyPr wrap="none">
            <a:spAutoFit/>
          </a:bodyPr>
          <a:lstStyle/>
          <a:p>
            <a:r>
              <a:rPr lang="en-US" altLang="zh-CN" sz="6600" spc="-150" dirty="0">
                <a:solidFill>
                  <a:srgbClr val="C99115"/>
                </a:solidFill>
                <a:latin typeface="Meiryo" panose="020B0604030504040204" pitchFamily="34" charset="-128"/>
                <a:ea typeface="Meiryo" panose="020B0604030504040204" pitchFamily="34" charset="-128"/>
              </a:rPr>
              <a:t>3.1</a:t>
            </a:r>
            <a:endParaRPr lang="zh-CN" altLang="en-US" sz="6600" dirty="0">
              <a:solidFill>
                <a:srgbClr val="C99115"/>
              </a:solidFill>
              <a:latin typeface="Meiryo" panose="020B0604030504040204" pitchFamily="34" charset="-128"/>
              <a:ea typeface="Meiryo" panose="020B0604030504040204" pitchFamily="34" charset="-128"/>
            </a:endParaRPr>
          </a:p>
        </p:txBody>
      </p:sp>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692844"/>
            <a:ext cx="6129604" cy="768350"/>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Part 1</a:t>
            </a:r>
            <a:endPar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7"/>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2000" fill="hold"/>
                                        <p:tgtEl>
                                          <p:spTgt spid="14"/>
                                        </p:tgtEl>
                                        <p:attrNameLst>
                                          <p:attrName>ppt_w</p:attrName>
                                        </p:attrNameLst>
                                      </p:cBhvr>
                                      <p:tavLst>
                                        <p:tav tm="0">
                                          <p:val>
                                            <p:fltVal val="0"/>
                                          </p:val>
                                        </p:tav>
                                        <p:tav tm="100000">
                                          <p:val>
                                            <p:strVal val="#ppt_w"/>
                                          </p:val>
                                        </p:tav>
                                      </p:tavLst>
                                    </p:anim>
                                    <p:anim calcmode="lin" valueType="num">
                                      <p:cBhvr>
                                        <p:cTn id="18" dur="2000" fill="hold"/>
                                        <p:tgtEl>
                                          <p:spTgt spid="14"/>
                                        </p:tgtEl>
                                        <p:attrNameLst>
                                          <p:attrName>ppt_h</p:attrName>
                                        </p:attrNameLst>
                                      </p:cBhvr>
                                      <p:tavLst>
                                        <p:tav tm="0">
                                          <p:val>
                                            <p:fltVal val="0"/>
                                          </p:val>
                                        </p:tav>
                                        <p:tav tm="100000">
                                          <p:val>
                                            <p:strVal val="#ppt_h"/>
                                          </p:val>
                                        </p:tav>
                                      </p:tavLst>
                                    </p:anim>
                                    <p:animEffect transition="in" filter="fade">
                                      <p:cBhvr>
                                        <p:cTn id="19" dur="2000"/>
                                        <p:tgtEl>
                                          <p:spTgt spid="14"/>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14"/>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1"/>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20"/>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3"/>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2"/>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2"/>
                                        </p:tgtEl>
                                      </p:cBhvr>
                                    </p:animEffect>
                                    <p:set>
                                      <p:cBhvr>
                                        <p:cTn id="53" dur="1" fill="hold">
                                          <p:stCondLst>
                                            <p:cond delay="499"/>
                                          </p:stCondLst>
                                        </p:cTn>
                                        <p:tgtEl>
                                          <p:spTgt spid="22"/>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9"/>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9" grpId="0" bldLvl="0" animBg="1"/>
      <p:bldP spid="19" grpId="1" bldLvl="0" animBg="1"/>
      <p:bldP spid="19" grpId="2" bldLvl="0" animBg="1"/>
      <p:bldP spid="20" grpId="0" bldLvl="0" animBg="1"/>
      <p:bldP spid="20" grpId="1" bldLvl="0" animBg="1"/>
      <p:bldP spid="20" grpId="2" bldLvl="0" animBg="1"/>
      <p:bldP spid="21" grpId="0" bldLvl="0" animBg="1"/>
      <p:bldP spid="21" grpId="1" bldLvl="0" animBg="1"/>
      <p:bldP spid="21" grpId="2" bldLvl="0" animBg="1"/>
      <p:bldP spid="22" grpId="0" bldLvl="0" animBg="1"/>
      <p:bldP spid="22" grpId="1" bldLvl="0" animBg="1"/>
      <p:bldP spid="22" grpId="2" bldLvl="0" animBg="1"/>
      <p:bldP spid="23" grpId="0" bldLvl="0" animBg="1"/>
      <p:bldP spid="23" grpId="1" bldLvl="0" animBg="1"/>
      <p:bldP spid="23" grpId="2"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937331" y="902779"/>
            <a:ext cx="6129604" cy="1198880"/>
          </a:xfrm>
          <a:prstGeom prst="rect">
            <a:avLst/>
          </a:prstGeom>
          <a:noFill/>
        </p:spPr>
        <p:txBody>
          <a:bodyPr wrap="square" rtlCol="0">
            <a:spAutoFit/>
            <a:scene3d>
              <a:camera prst="orthographicFront">
                <a:rot lat="0" lon="0" rev="0"/>
              </a:camera>
              <a:lightRig rig="threePt" dir="t"/>
            </a:scene3d>
          </a:bodyPr>
          <a:lstStyle/>
          <a:p>
            <a:pPr algn="ctr"/>
            <a:r>
              <a:rPr lang="en-US" altLang="zh-CN" sz="7200" b="1"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Skeleton</a:t>
            </a:r>
            <a:endParaRPr lang="en-US" altLang="zh-CN" sz="7200" b="1"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矩形 1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547779" y="2519434"/>
            <a:ext cx="6096000" cy="3107690"/>
          </a:xfrm>
          <a:prstGeom prst="rect">
            <a:avLst/>
          </a:prstGeom>
        </p:spPr>
        <p:txBody>
          <a:bodyPr>
            <a:spAutoFit/>
          </a:bodyPr>
          <a:lstStyle/>
          <a:p>
            <a:r>
              <a:rPr lang="en-US" altLang="zh-CN" sz="2800" dirty="0">
                <a:solidFill>
                  <a:schemeClr val="bg1"/>
                </a:solidFill>
              </a:rPr>
              <a:t>As some unpredictable errors may appear when Python program runs for a long period, we decide to divide this part of program into three steps, so that the running time of each step can be decreased and this kind of error can be avoided.</a:t>
            </a:r>
            <a:endParaRPr lang="en-US" altLang="zh-CN" sz="2800" dirty="0">
              <a:solidFill>
                <a:schemeClr val="bg1"/>
              </a:solidFill>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par>
                                <p:cTn id="8" presetID="64" presetClass="path" presetSubtype="0" accel="50000" decel="50000" fill="hold" grpId="1" nodeType="withEffect">
                                  <p:stCondLst>
                                    <p:cond delay="2000"/>
                                  </p:stCondLst>
                                  <p:childTnLst>
                                    <p:animMotion origin="layout" path="M 1.04167E-6 -3.7037E-6 L 1.04167E-6 -0.01736 " pathEditMode="relative" rAng="0" ptsTypes="AA">
                                      <p:cBhvr>
                                        <p:cTn id="9" dur="1000" fill="hold"/>
                                        <p:tgtEl>
                                          <p:spTgt spid="17"/>
                                        </p:tgtEl>
                                        <p:attrNameLst>
                                          <p:attrName>ppt_x</p:attrName>
                                          <p:attrName>ppt_y</p:attrName>
                                        </p:attrNameLst>
                                      </p:cBhvr>
                                      <p:rCtr x="0" y="-880"/>
                                    </p:animMotion>
                                  </p:childTnLst>
                                </p:cTn>
                              </p:par>
                              <p:par>
                                <p:cTn id="10" presetID="53" presetClass="entr" presetSubtype="16"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2000" fill="hold"/>
                                        <p:tgtEl>
                                          <p:spTgt spid="14"/>
                                        </p:tgtEl>
                                        <p:attrNameLst>
                                          <p:attrName>ppt_w</p:attrName>
                                        </p:attrNameLst>
                                      </p:cBhvr>
                                      <p:tavLst>
                                        <p:tav tm="0">
                                          <p:val>
                                            <p:fltVal val="0"/>
                                          </p:val>
                                        </p:tav>
                                        <p:tav tm="100000">
                                          <p:val>
                                            <p:strVal val="#ppt_w"/>
                                          </p:val>
                                        </p:tav>
                                      </p:tavLst>
                                    </p:anim>
                                    <p:anim calcmode="lin" valueType="num">
                                      <p:cBhvr>
                                        <p:cTn id="13" dur="2000" fill="hold"/>
                                        <p:tgtEl>
                                          <p:spTgt spid="14"/>
                                        </p:tgtEl>
                                        <p:attrNameLst>
                                          <p:attrName>ppt_h</p:attrName>
                                        </p:attrNameLst>
                                      </p:cBhvr>
                                      <p:tavLst>
                                        <p:tav tm="0">
                                          <p:val>
                                            <p:fltVal val="0"/>
                                          </p:val>
                                        </p:tav>
                                        <p:tav tm="100000">
                                          <p:val>
                                            <p:strVal val="#ppt_h"/>
                                          </p:val>
                                        </p:tav>
                                      </p:tavLst>
                                    </p:anim>
                                    <p:animEffect transition="in" filter="fade">
                                      <p:cBhvr>
                                        <p:cTn id="14" dur="2000"/>
                                        <p:tgtEl>
                                          <p:spTgt spid="14"/>
                                        </p:tgtEl>
                                      </p:cBhvr>
                                    </p:animEffect>
                                  </p:childTnLst>
                                </p:cTn>
                              </p:par>
                              <p:par>
                                <p:cTn id="15" presetID="42" presetClass="path" presetSubtype="0" accel="50000" decel="50000" fill="hold" nodeType="withEffect">
                                  <p:stCondLst>
                                    <p:cond delay="0"/>
                                  </p:stCondLst>
                                  <p:childTnLst>
                                    <p:animMotion origin="layout" path="M -0.1086 0.00023 L 3.125E-6 -1.48148E-6 " pathEditMode="relative" rAng="0" ptsTypes="AA">
                                      <p:cBhvr>
                                        <p:cTn id="16" dur="2000" fill="hold"/>
                                        <p:tgtEl>
                                          <p:spTgt spid="14"/>
                                        </p:tgtEl>
                                        <p:attrNameLst>
                                          <p:attrName>ppt_x</p:attrName>
                                          <p:attrName>ppt_y</p:attrName>
                                        </p:attrNameLst>
                                      </p:cBhvr>
                                      <p:rCtr x="5430" y="-23"/>
                                    </p:animMotion>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63" presetClass="path" presetSubtype="0" accel="50000" decel="50000" fill="hold" grpId="1" nodeType="withEffect">
                                  <p:stCondLst>
                                    <p:cond delay="0"/>
                                  </p:stCondLst>
                                  <p:childTnLst>
                                    <p:animMotion origin="layout" path="M -3.75E-6 -1.85185E-6 L 0.00092 0.10093 " pathEditMode="relative" rAng="0" ptsTypes="AA">
                                      <p:cBhvr>
                                        <p:cTn id="21" dur="2000" fill="hold"/>
                                        <p:tgtEl>
                                          <p:spTgt spid="21"/>
                                        </p:tgtEl>
                                        <p:attrNameLst>
                                          <p:attrName>ppt_x</p:attrName>
                                          <p:attrName>ppt_y</p:attrName>
                                        </p:attrNameLst>
                                      </p:cBhvr>
                                      <p:rCtr x="39" y="5046"/>
                                    </p:animMotion>
                                  </p:childTnLst>
                                </p:cTn>
                              </p:par>
                              <p:par>
                                <p:cTn id="22" presetID="10" presetClass="exit" presetSubtype="0" fill="hold" grpId="2" nodeType="withEffect">
                                  <p:stCondLst>
                                    <p:cond delay="1500"/>
                                  </p:stCondLst>
                                  <p:childTnLst>
                                    <p:animEffect transition="out" filter="fade">
                                      <p:cBhvr>
                                        <p:cTn id="23" dur="500"/>
                                        <p:tgtEl>
                                          <p:spTgt spid="21"/>
                                        </p:tgtEl>
                                      </p:cBhvr>
                                    </p:animEffect>
                                    <p:set>
                                      <p:cBhvr>
                                        <p:cTn id="24" dur="1" fill="hold">
                                          <p:stCondLst>
                                            <p:cond delay="499"/>
                                          </p:stCondLst>
                                        </p:cTn>
                                        <p:tgtEl>
                                          <p:spTgt spid="21"/>
                                        </p:tgtEl>
                                        <p:attrNameLst>
                                          <p:attrName>style.visibility</p:attrName>
                                        </p:attrNameLst>
                                      </p:cBhvr>
                                      <p:to>
                                        <p:strVal val="hidden"/>
                                      </p:to>
                                    </p:set>
                                  </p:childTnLst>
                                </p:cTn>
                              </p:par>
                              <p:par>
                                <p:cTn id="25" presetID="10" presetClass="entr" presetSubtype="0" fill="hold" grpId="0" nodeType="withEffect">
                                  <p:stCondLst>
                                    <p:cond delay="50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63" presetClass="path" presetSubtype="0" accel="50000" decel="50000" fill="hold" grpId="1" nodeType="withEffect">
                                  <p:stCondLst>
                                    <p:cond delay="500"/>
                                  </p:stCondLst>
                                  <p:childTnLst>
                                    <p:animMotion origin="layout" path="M -4.58333E-6 -3.7037E-6 L -0.00013 -0.13495 " pathEditMode="relative" rAng="0" ptsTypes="AA">
                                      <p:cBhvr>
                                        <p:cTn id="29" dur="2000" fill="hold"/>
                                        <p:tgtEl>
                                          <p:spTgt spid="20"/>
                                        </p:tgtEl>
                                        <p:attrNameLst>
                                          <p:attrName>ppt_x</p:attrName>
                                          <p:attrName>ppt_y</p:attrName>
                                        </p:attrNameLst>
                                      </p:cBhvr>
                                      <p:rCtr x="-13" y="-6759"/>
                                    </p:animMotion>
                                  </p:childTnLst>
                                </p:cTn>
                              </p:par>
                              <p:par>
                                <p:cTn id="30" presetID="10" presetClass="exit" presetSubtype="0" fill="hold" grpId="2" nodeType="withEffect">
                                  <p:stCondLst>
                                    <p:cond delay="2000"/>
                                  </p:stCondLst>
                                  <p:childTnLst>
                                    <p:animEffect transition="out" filter="fade">
                                      <p:cBhvr>
                                        <p:cTn id="31" dur="500"/>
                                        <p:tgtEl>
                                          <p:spTgt spid="20"/>
                                        </p:tgtEl>
                                      </p:cBhvr>
                                    </p:animEffect>
                                    <p:set>
                                      <p:cBhvr>
                                        <p:cTn id="32" dur="1" fill="hold">
                                          <p:stCondLst>
                                            <p:cond delay="499"/>
                                          </p:stCondLst>
                                        </p:cTn>
                                        <p:tgtEl>
                                          <p:spTgt spid="20"/>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63" presetClass="path" presetSubtype="0" accel="50000" decel="50000" fill="hold" grpId="1" nodeType="withEffect">
                                  <p:stCondLst>
                                    <p:cond delay="0"/>
                                  </p:stCondLst>
                                  <p:childTnLst>
                                    <p:animMotion origin="layout" path="M 2.29167E-6 -7.40741E-7 L -0.00026 -0.07755 " pathEditMode="relative" rAng="0" ptsTypes="AA">
                                      <p:cBhvr>
                                        <p:cTn id="37" dur="2000" fill="hold"/>
                                        <p:tgtEl>
                                          <p:spTgt spid="23"/>
                                        </p:tgtEl>
                                        <p:attrNameLst>
                                          <p:attrName>ppt_x</p:attrName>
                                          <p:attrName>ppt_y</p:attrName>
                                        </p:attrNameLst>
                                      </p:cBhvr>
                                      <p:rCtr x="-13" y="-3889"/>
                                    </p:animMotion>
                                  </p:childTnLst>
                                </p:cTn>
                              </p:par>
                              <p:par>
                                <p:cTn id="38" presetID="10" presetClass="exit" presetSubtype="0" fill="hold" grpId="2" nodeType="withEffect">
                                  <p:stCondLst>
                                    <p:cond delay="1500"/>
                                  </p:stCondLst>
                                  <p:childTnLst>
                                    <p:animEffect transition="out" filter="fade">
                                      <p:cBhvr>
                                        <p:cTn id="39" dur="500"/>
                                        <p:tgtEl>
                                          <p:spTgt spid="23"/>
                                        </p:tgtEl>
                                      </p:cBhvr>
                                    </p:animEffect>
                                    <p:set>
                                      <p:cBhvr>
                                        <p:cTn id="40" dur="1" fill="hold">
                                          <p:stCondLst>
                                            <p:cond delay="499"/>
                                          </p:stCondLst>
                                        </p:cTn>
                                        <p:tgtEl>
                                          <p:spTgt spid="23"/>
                                        </p:tgtEl>
                                        <p:attrNameLst>
                                          <p:attrName>style.visibility</p:attrName>
                                        </p:attrNameLst>
                                      </p:cBhvr>
                                      <p:to>
                                        <p:strVal val="hidden"/>
                                      </p:to>
                                    </p:set>
                                  </p:childTnLst>
                                </p:cTn>
                              </p:par>
                              <p:par>
                                <p:cTn id="41" presetID="10" presetClass="entr" presetSubtype="0" fill="hold" grpId="0" nodeType="withEffect">
                                  <p:stCondLst>
                                    <p:cond delay="5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63" presetClass="path" presetSubtype="0" accel="50000" decel="50000" fill="hold" grpId="1" nodeType="withEffect">
                                  <p:stCondLst>
                                    <p:cond delay="500"/>
                                  </p:stCondLst>
                                  <p:childTnLst>
                                    <p:animMotion origin="layout" path="M 2.77556E-17 -7.40741E-7 L 0.00065 -0.10787 " pathEditMode="relative" rAng="0" ptsTypes="AA">
                                      <p:cBhvr>
                                        <p:cTn id="45" dur="2000" fill="hold"/>
                                        <p:tgtEl>
                                          <p:spTgt spid="22"/>
                                        </p:tgtEl>
                                        <p:attrNameLst>
                                          <p:attrName>ppt_x</p:attrName>
                                          <p:attrName>ppt_y</p:attrName>
                                        </p:attrNameLst>
                                      </p:cBhvr>
                                      <p:rCtr x="26" y="-5394"/>
                                    </p:animMotion>
                                  </p:childTnLst>
                                </p:cTn>
                              </p:par>
                              <p:par>
                                <p:cTn id="46" presetID="10" presetClass="exit" presetSubtype="0" fill="hold" grpId="2" nodeType="withEffect">
                                  <p:stCondLst>
                                    <p:cond delay="2000"/>
                                  </p:stCondLst>
                                  <p:childTnLst>
                                    <p:animEffect transition="out" filter="fade">
                                      <p:cBhvr>
                                        <p:cTn id="47" dur="500"/>
                                        <p:tgtEl>
                                          <p:spTgt spid="22"/>
                                        </p:tgtEl>
                                      </p:cBhvr>
                                    </p:animEffect>
                                    <p:set>
                                      <p:cBhvr>
                                        <p:cTn id="48" dur="1" fill="hold">
                                          <p:stCondLst>
                                            <p:cond delay="499"/>
                                          </p:stCondLst>
                                        </p:cTn>
                                        <p:tgtEl>
                                          <p:spTgt spid="22"/>
                                        </p:tgtEl>
                                        <p:attrNameLst>
                                          <p:attrName>style.visibility</p:attrName>
                                        </p:attrNameLst>
                                      </p:cBhvr>
                                      <p:to>
                                        <p:strVal val="hidden"/>
                                      </p:to>
                                    </p:set>
                                  </p:childTnLst>
                                </p:cTn>
                              </p:par>
                              <p:par>
                                <p:cTn id="49" presetID="10" presetClass="entr" presetSubtype="0" fill="hold" grpId="0" nodeType="withEffect">
                                  <p:stCondLst>
                                    <p:cond delay="7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63" presetClass="path" presetSubtype="0" accel="50000" decel="50000" fill="hold" grpId="1" nodeType="withEffect">
                                  <p:stCondLst>
                                    <p:cond delay="750"/>
                                  </p:stCondLst>
                                  <p:childTnLst>
                                    <p:animMotion origin="layout" path="M 8.33333E-7 3.7037E-7 L 8.33333E-7 0.15579 " pathEditMode="relative" rAng="0" ptsTypes="AA">
                                      <p:cBhvr>
                                        <p:cTn id="53" dur="2000" fill="hold"/>
                                        <p:tgtEl>
                                          <p:spTgt spid="19"/>
                                        </p:tgtEl>
                                        <p:attrNameLst>
                                          <p:attrName>ppt_x</p:attrName>
                                          <p:attrName>ppt_y</p:attrName>
                                        </p:attrNameLst>
                                      </p:cBhvr>
                                      <p:rCtr x="0" y="7778"/>
                                    </p:animMotion>
                                  </p:childTnLst>
                                </p:cTn>
                              </p:par>
                              <p:par>
                                <p:cTn id="54" presetID="10" presetClass="exit" presetSubtype="0" fill="hold" grpId="2" nodeType="withEffect">
                                  <p:stCondLst>
                                    <p:cond delay="2250"/>
                                  </p:stCondLst>
                                  <p:childTnLst>
                                    <p:animEffect transition="out" filter="fade">
                                      <p:cBhvr>
                                        <p:cTn id="55" dur="500"/>
                                        <p:tgtEl>
                                          <p:spTgt spid="19"/>
                                        </p:tgtEl>
                                      </p:cBhvr>
                                    </p:animEffect>
                                    <p:set>
                                      <p:cBhvr>
                                        <p:cTn id="56" dur="1" fill="hold">
                                          <p:stCondLst>
                                            <p:cond delay="499"/>
                                          </p:stCondLst>
                                        </p:cTn>
                                        <p:tgtEl>
                                          <p:spTgt spid="19"/>
                                        </p:tgtEl>
                                        <p:attrNameLst>
                                          <p:attrName>style.visibility</p:attrName>
                                        </p:attrNameLst>
                                      </p:cBhvr>
                                      <p:to>
                                        <p:strVal val="hidden"/>
                                      </p:to>
                                    </p:set>
                                  </p:childTnLst>
                                </p:cTn>
                              </p:par>
                              <p:par>
                                <p:cTn id="57" presetID="10" presetClass="entr" presetSubtype="0" fill="hold" grpId="0" nodeType="withEffect">
                                  <p:stCondLst>
                                    <p:cond delay="2250"/>
                                  </p:stCondLst>
                                  <p:childTnLst>
                                    <p:set>
                                      <p:cBhvr>
                                        <p:cTn id="58" dur="1" fill="hold">
                                          <p:stCondLst>
                                            <p:cond delay="0"/>
                                          </p:stCondLst>
                                        </p:cTn>
                                        <p:tgtEl>
                                          <p:spTgt spid="18"/>
                                        </p:tgtEl>
                                        <p:attrNameLst>
                                          <p:attrName>style.visibility</p:attrName>
                                        </p:attrNameLst>
                                      </p:cBhvr>
                                      <p:to>
                                        <p:strVal val="visible"/>
                                      </p:to>
                                    </p:set>
                                    <p:animEffect transition="in" filter="fade">
                                      <p:cBhvr>
                                        <p:cTn id="59" dur="1000"/>
                                        <p:tgtEl>
                                          <p:spTgt spid="18"/>
                                        </p:tgtEl>
                                      </p:cBhvr>
                                    </p:animEffect>
                                  </p:childTnLst>
                                </p:cTn>
                              </p:par>
                              <p:par>
                                <p:cTn id="60" presetID="64" presetClass="path" presetSubtype="0" accel="50000" decel="50000" fill="hold" grpId="1" nodeType="withEffect">
                                  <p:stCondLst>
                                    <p:cond delay="2250"/>
                                  </p:stCondLst>
                                  <p:childTnLst>
                                    <p:animMotion origin="layout" path="M 1.04167E-6 -3.7037E-6 L 1.04167E-6 -0.01736 " pathEditMode="relative" rAng="0" ptsTypes="AA">
                                      <p:cBhvr>
                                        <p:cTn id="61" dur="1000" fill="hold"/>
                                        <p:tgtEl>
                                          <p:spTgt spid="18"/>
                                        </p:tgtEl>
                                        <p:attrNameLst>
                                          <p:attrName>ppt_x</p:attrName>
                                          <p:attrName>ppt_y</p:attrName>
                                        </p:attrNameLst>
                                      </p:cBhvr>
                                      <p:rCtr x="0" y="-88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P spid="19" grpId="0" bldLvl="0" animBg="1"/>
      <p:bldP spid="19" grpId="1" bldLvl="0" animBg="1"/>
      <p:bldP spid="19" grpId="2" bldLvl="0" animBg="1"/>
      <p:bldP spid="20" grpId="0" bldLvl="0" animBg="1"/>
      <p:bldP spid="20" grpId="1" bldLvl="0" animBg="1"/>
      <p:bldP spid="20" grpId="2" bldLvl="0" animBg="1"/>
      <p:bldP spid="21" grpId="0" bldLvl="0" animBg="1"/>
      <p:bldP spid="21" grpId="1" bldLvl="0" animBg="1"/>
      <p:bldP spid="21" grpId="2" bldLvl="0" animBg="1"/>
      <p:bldP spid="22" grpId="0" bldLvl="0" animBg="1"/>
      <p:bldP spid="22" grpId="1" bldLvl="0" animBg="1"/>
      <p:bldP spid="22" grpId="2" bldLvl="0" animBg="1"/>
      <p:bldP spid="23" grpId="0" bldLvl="0" animBg="1"/>
      <p:bldP spid="23" grpId="1" bldLvl="0" animBg="1"/>
      <p:bldP spid="23" grpId="2"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761" y="345743"/>
            <a:ext cx="2628796" cy="646331"/>
          </a:xfrm>
          <a:prstGeom prst="rect">
            <a:avLst/>
          </a:prstGeom>
          <a:noFill/>
        </p:spPr>
        <p:txBody>
          <a:bodyPr wrap="square" rtlCol="0">
            <a:spAutoFit/>
            <a:scene3d>
              <a:camera prst="orthographicFront">
                <a:rot lat="0" lon="0" rev="0"/>
              </a:camera>
              <a:lightRig rig="threePt" dir="t"/>
            </a:scene3d>
          </a:bodyPr>
          <a:lstStyle/>
          <a:p>
            <a:pPr algn="ctr"/>
            <a:r>
              <a:rPr lang="en-US" altLang="zh-CN" sz="3600" b="1" spc="-150" dirty="0">
                <a:solidFill>
                  <a:srgbClr val="DFA117"/>
                </a:solidFill>
                <a:latin typeface="+mj-lt"/>
                <a:ea typeface="Open Sans" panose="020B0606030504020204" pitchFamily="34" charset="0"/>
                <a:cs typeface="Open Sans" panose="020B0606030504020204" pitchFamily="34" charset="0"/>
              </a:rPr>
              <a:t>Skeleton</a:t>
            </a:r>
            <a:endParaRPr lang="zh-CN" altLang="en-US" sz="3600" b="1" spc="-150" dirty="0">
              <a:solidFill>
                <a:srgbClr val="DFA117"/>
              </a:solidFill>
              <a:latin typeface="+mj-lt"/>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951742"/>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 name="六边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1529551" y="2036617"/>
            <a:ext cx="1976766" cy="1704109"/>
          </a:xfrm>
          <a:prstGeom prst="hexagon">
            <a:avLst>
              <a:gd name="adj" fmla="val 29545"/>
              <a:gd name="vf" fmla="val 115470"/>
            </a:avLst>
          </a:prstGeom>
          <a:blipFill dpi="0" rotWithShape="0">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六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4571036" y="1743274"/>
            <a:ext cx="2657322" cy="2290796"/>
          </a:xfrm>
          <a:prstGeom prst="hexagon">
            <a:avLst>
              <a:gd name="adj" fmla="val 29545"/>
              <a:gd name="vf" fmla="val 115470"/>
            </a:avLst>
          </a:prstGeom>
          <a:blipFill dpi="0" rotWithShape="0">
            <a:blip r:embed="rId3"/>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六边形 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8223697" y="2036618"/>
            <a:ext cx="1976766" cy="1704109"/>
          </a:xfrm>
          <a:prstGeom prst="hexagon">
            <a:avLst>
              <a:gd name="adj" fmla="val 29545"/>
              <a:gd name="vf" fmla="val 115470"/>
            </a:avLst>
          </a:prstGeom>
          <a:blipFill dpi="0" rotWithShape="0">
            <a:blip r:embed="rId4"/>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2" name="组合 1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4754299" y="4691063"/>
            <a:ext cx="2221415" cy="614012"/>
            <a:chOff x="2317117" y="2062784"/>
            <a:chExt cx="3997789" cy="614012"/>
          </a:xfrm>
        </p:grpSpPr>
        <p:sp>
          <p:nvSpPr>
            <p:cNvPr id="13" name="矩形 12"/>
            <p:cNvSpPr/>
            <p:nvPr/>
          </p:nvSpPr>
          <p:spPr>
            <a:xfrm>
              <a:off x="4149785" y="2062784"/>
              <a:ext cx="332451" cy="307777"/>
            </a:xfrm>
            <a:prstGeom prst="rect">
              <a:avLst/>
            </a:prstGeom>
          </p:spPr>
          <p:txBody>
            <a:bodyPr wrap="none">
              <a:spAutoFit/>
            </a:bodyPr>
            <a:lstStyle/>
            <a:p>
              <a:pPr algn="ctr">
                <a:defRPr/>
              </a:pPr>
              <a:endParaRPr lang="zh-CN" altLang="en-US" sz="1400" dirty="0">
                <a:solidFill>
                  <a:srgbClr val="EAB236"/>
                </a:solidFill>
                <a:latin typeface="Helvetica" panose="020B0604020202020204" pitchFamily="34" charset="0"/>
              </a:endParaRPr>
            </a:p>
          </p:txBody>
        </p:sp>
        <p:sp>
          <p:nvSpPr>
            <p:cNvPr id="14" name="矩形 13"/>
            <p:cNvSpPr/>
            <p:nvPr/>
          </p:nvSpPr>
          <p:spPr>
            <a:xfrm>
              <a:off x="2317117" y="2415186"/>
              <a:ext cx="3997789" cy="261610"/>
            </a:xfrm>
            <a:prstGeom prst="rect">
              <a:avLst/>
            </a:prstGeom>
          </p:spPr>
          <p:txBody>
            <a:bodyPr wrap="square">
              <a:spAutoFit/>
            </a:bodyPr>
            <a:lstStyle/>
            <a:p>
              <a:pPr algn="ctr"/>
              <a:endParaRPr lang="zh-CN" altLang="en-US" sz="1100" dirty="0">
                <a:solidFill>
                  <a:prstClr val="white"/>
                </a:solidFill>
              </a:endParaRPr>
            </a:p>
          </p:txBody>
        </p:sp>
      </p:grpSp>
      <p:grpSp>
        <p:nvGrpSpPr>
          <p:cNvPr id="15" name="组合 1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255361" y="4286476"/>
            <a:ext cx="2221415" cy="614012"/>
            <a:chOff x="2317117" y="2062784"/>
            <a:chExt cx="3997789" cy="614012"/>
          </a:xfrm>
        </p:grpSpPr>
        <p:sp>
          <p:nvSpPr>
            <p:cNvPr id="16" name="矩形 15"/>
            <p:cNvSpPr/>
            <p:nvPr/>
          </p:nvSpPr>
          <p:spPr>
            <a:xfrm>
              <a:off x="4149785" y="2062784"/>
              <a:ext cx="332451" cy="307777"/>
            </a:xfrm>
            <a:prstGeom prst="rect">
              <a:avLst/>
            </a:prstGeom>
          </p:spPr>
          <p:txBody>
            <a:bodyPr wrap="none">
              <a:spAutoFit/>
            </a:bodyPr>
            <a:lstStyle/>
            <a:p>
              <a:pPr algn="ctr">
                <a:defRPr/>
              </a:pPr>
              <a:endParaRPr lang="zh-CN" altLang="en-US" sz="1400" dirty="0">
                <a:solidFill>
                  <a:srgbClr val="EAB236"/>
                </a:solidFill>
                <a:latin typeface="Helvetica" panose="020B0604020202020204" pitchFamily="34" charset="0"/>
              </a:endParaRPr>
            </a:p>
          </p:txBody>
        </p:sp>
        <p:sp>
          <p:nvSpPr>
            <p:cNvPr id="17" name="矩形 16"/>
            <p:cNvSpPr/>
            <p:nvPr/>
          </p:nvSpPr>
          <p:spPr>
            <a:xfrm>
              <a:off x="2317117" y="2415186"/>
              <a:ext cx="3997789" cy="261610"/>
            </a:xfrm>
            <a:prstGeom prst="rect">
              <a:avLst/>
            </a:prstGeom>
          </p:spPr>
          <p:txBody>
            <a:bodyPr wrap="square">
              <a:spAutoFit/>
            </a:bodyPr>
            <a:lstStyle/>
            <a:p>
              <a:pPr algn="ctr"/>
              <a:r>
                <a:rPr lang="en-US" altLang="zh-CN" sz="1100" dirty="0">
                  <a:solidFill>
                    <a:prstClr val="white"/>
                  </a:solidFill>
                  <a:latin typeface="Roboto" panose="02000000000000000000" pitchFamily="2" charset="0"/>
                  <a:ea typeface="Roboto" panose="02000000000000000000" pitchFamily="2" charset="0"/>
                  <a:cs typeface="Open Sans" panose="020B0606030504020204" pitchFamily="34" charset="0"/>
                </a:rPr>
                <a:t>. </a:t>
              </a:r>
              <a:endParaRPr lang="zh-CN" altLang="en-US" sz="1100" dirty="0">
                <a:solidFill>
                  <a:prstClr val="white"/>
                </a:solidFill>
              </a:endParaRPr>
            </a:p>
          </p:txBody>
        </p:sp>
      </p:grpSp>
      <p:sp>
        <p:nvSpPr>
          <p:cNvPr id="18" name="任意多边形 1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2600000">
            <a:off x="2563520" y="1916828"/>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2600000">
            <a:off x="9158573" y="1916830"/>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2600000">
            <a:off x="5846487" y="1624756"/>
            <a:ext cx="1435089" cy="14599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3" name="矩形 2"/>
          <p:cNvSpPr/>
          <p:nvPr/>
        </p:nvSpPr>
        <p:spPr>
          <a:xfrm>
            <a:off x="694097" y="4473259"/>
            <a:ext cx="3845858" cy="2246769"/>
          </a:xfrm>
          <a:prstGeom prst="rect">
            <a:avLst/>
          </a:prstGeom>
        </p:spPr>
        <p:txBody>
          <a:bodyPr wrap="square">
            <a:spAutoFit/>
          </a:bodyPr>
          <a:lstStyle/>
          <a:p>
            <a:r>
              <a:rPr lang="en-US" altLang="zh-CN" sz="2800" dirty="0">
                <a:solidFill>
                  <a:schemeClr val="bg1"/>
                </a:solidFill>
              </a:rPr>
              <a:t>Search “CHINA” in the </a:t>
            </a:r>
            <a:r>
              <a:rPr lang="en-US" altLang="zh-CN" sz="2800" u="sng" dirty="0">
                <a:solidFill>
                  <a:schemeClr val="bg1"/>
                </a:solidFill>
                <a:hlinkClick r:id="rId5"/>
              </a:rPr>
              <a:t>SEC.gov | EDGAR | Search Tools</a:t>
            </a:r>
            <a:r>
              <a:rPr lang="en-US" altLang="zh-CN" sz="2800" dirty="0">
                <a:solidFill>
                  <a:schemeClr val="bg1"/>
                </a:solidFill>
              </a:rPr>
              <a:t>. Get the CIK codes. Save those in “10-XList”.</a:t>
            </a:r>
            <a:endParaRPr lang="zh-CN" altLang="zh-CN" sz="2800" dirty="0">
              <a:solidFill>
                <a:schemeClr val="bg1"/>
              </a:solidFill>
            </a:endParaRPr>
          </a:p>
        </p:txBody>
      </p:sp>
      <p:sp>
        <p:nvSpPr>
          <p:cNvPr id="21" name="TextBox 20"/>
          <p:cNvSpPr txBox="1"/>
          <p:nvPr/>
        </p:nvSpPr>
        <p:spPr>
          <a:xfrm>
            <a:off x="1395590" y="3873207"/>
            <a:ext cx="3057140" cy="584775"/>
          </a:xfrm>
          <a:prstGeom prst="rect">
            <a:avLst/>
          </a:prstGeom>
          <a:noFill/>
        </p:spPr>
        <p:txBody>
          <a:bodyPr wrap="square" rtlCol="0">
            <a:spAutoFit/>
          </a:bodyPr>
          <a:lstStyle/>
          <a:p>
            <a:r>
              <a:rPr lang="en-US" altLang="zh-CN" b="1" dirty="0">
                <a:solidFill>
                  <a:schemeClr val="accent4"/>
                </a:solidFill>
              </a:rPr>
              <a:t>         </a:t>
            </a:r>
            <a:r>
              <a:rPr lang="en-US" altLang="zh-CN" sz="3200" b="1" dirty="0">
                <a:solidFill>
                  <a:schemeClr val="accent4"/>
                </a:solidFill>
              </a:rPr>
              <a:t>Step 1</a:t>
            </a:r>
            <a:endParaRPr lang="zh-CN" altLang="en-US" sz="3200" b="1" dirty="0">
              <a:solidFill>
                <a:schemeClr val="accent4"/>
              </a:solidFill>
            </a:endParaRPr>
          </a:p>
        </p:txBody>
      </p:sp>
      <p:sp>
        <p:nvSpPr>
          <p:cNvPr id="22" name="矩形 21"/>
          <p:cNvSpPr/>
          <p:nvPr/>
        </p:nvSpPr>
        <p:spPr>
          <a:xfrm>
            <a:off x="4772625" y="4904145"/>
            <a:ext cx="3295147" cy="1384995"/>
          </a:xfrm>
          <a:prstGeom prst="rect">
            <a:avLst/>
          </a:prstGeom>
        </p:spPr>
        <p:txBody>
          <a:bodyPr wrap="square">
            <a:spAutoFit/>
          </a:bodyPr>
          <a:lstStyle/>
          <a:p>
            <a:r>
              <a:rPr lang="en-US" altLang="zh-CN" sz="2800" dirty="0">
                <a:solidFill>
                  <a:schemeClr val="bg1"/>
                </a:solidFill>
              </a:rPr>
              <a:t>Get the URLs. </a:t>
            </a:r>
            <a:endParaRPr lang="en-US" altLang="zh-CN" sz="2800" dirty="0">
              <a:solidFill>
                <a:schemeClr val="bg1"/>
              </a:solidFill>
            </a:endParaRPr>
          </a:p>
          <a:p>
            <a:r>
              <a:rPr lang="en-US" altLang="zh-CN" sz="2800" dirty="0">
                <a:solidFill>
                  <a:schemeClr val="bg1"/>
                </a:solidFill>
              </a:rPr>
              <a:t>Save them into the file ”</a:t>
            </a:r>
            <a:r>
              <a:rPr lang="en-US" altLang="zh-CN" sz="2800" dirty="0" err="1">
                <a:solidFill>
                  <a:schemeClr val="bg1"/>
                </a:solidFill>
              </a:rPr>
              <a:t>chartUrls</a:t>
            </a:r>
            <a:r>
              <a:rPr lang="en-US" altLang="zh-CN" sz="2800" dirty="0">
                <a:solidFill>
                  <a:schemeClr val="bg1"/>
                </a:solidFill>
              </a:rPr>
              <a:t>”.</a:t>
            </a:r>
            <a:endParaRPr lang="zh-CN" altLang="zh-CN" sz="2800" dirty="0">
              <a:solidFill>
                <a:schemeClr val="bg1"/>
              </a:solidFill>
            </a:endParaRPr>
          </a:p>
        </p:txBody>
      </p:sp>
      <p:sp>
        <p:nvSpPr>
          <p:cNvPr id="23" name="TextBox 22"/>
          <p:cNvSpPr txBox="1"/>
          <p:nvPr/>
        </p:nvSpPr>
        <p:spPr>
          <a:xfrm>
            <a:off x="4772626" y="4226007"/>
            <a:ext cx="2369489" cy="584775"/>
          </a:xfrm>
          <a:prstGeom prst="rect">
            <a:avLst/>
          </a:prstGeom>
          <a:noFill/>
        </p:spPr>
        <p:txBody>
          <a:bodyPr wrap="square" rtlCol="0">
            <a:spAutoFit/>
          </a:bodyPr>
          <a:lstStyle/>
          <a:p>
            <a:r>
              <a:rPr lang="en-US" altLang="zh-CN" sz="2800" b="1" dirty="0">
                <a:solidFill>
                  <a:schemeClr val="accent4"/>
                </a:solidFill>
              </a:rPr>
              <a:t>        </a:t>
            </a:r>
            <a:r>
              <a:rPr lang="en-US" altLang="zh-CN" sz="3200" b="1" dirty="0">
                <a:solidFill>
                  <a:schemeClr val="accent4"/>
                </a:solidFill>
              </a:rPr>
              <a:t>Step 2</a:t>
            </a:r>
            <a:endParaRPr lang="zh-CN" altLang="en-US" sz="3200" b="1" dirty="0">
              <a:solidFill>
                <a:schemeClr val="accent4"/>
              </a:solidFill>
            </a:endParaRPr>
          </a:p>
        </p:txBody>
      </p:sp>
      <p:sp>
        <p:nvSpPr>
          <p:cNvPr id="24" name="矩形 23"/>
          <p:cNvSpPr/>
          <p:nvPr/>
        </p:nvSpPr>
        <p:spPr>
          <a:xfrm>
            <a:off x="8134185" y="4612577"/>
            <a:ext cx="3649648" cy="1384995"/>
          </a:xfrm>
          <a:prstGeom prst="rect">
            <a:avLst/>
          </a:prstGeom>
        </p:spPr>
        <p:txBody>
          <a:bodyPr wrap="square">
            <a:spAutoFit/>
          </a:bodyPr>
          <a:lstStyle/>
          <a:p>
            <a:r>
              <a:rPr lang="en-US" altLang="zh-CN" sz="2800" dirty="0">
                <a:solidFill>
                  <a:schemeClr val="bg1"/>
                </a:solidFill>
              </a:rPr>
              <a:t>Visit the statements through the URLs in ”</a:t>
            </a:r>
            <a:r>
              <a:rPr lang="en-US" altLang="zh-CN" sz="2800" dirty="0" err="1">
                <a:solidFill>
                  <a:schemeClr val="bg1"/>
                </a:solidFill>
              </a:rPr>
              <a:t>chartUrls</a:t>
            </a:r>
            <a:r>
              <a:rPr lang="en-US" altLang="zh-CN" sz="2800" dirty="0">
                <a:solidFill>
                  <a:schemeClr val="bg1"/>
                </a:solidFill>
              </a:rPr>
              <a:t>”. </a:t>
            </a:r>
            <a:endParaRPr lang="zh-CN" altLang="zh-CN" sz="2800" dirty="0">
              <a:solidFill>
                <a:schemeClr val="bg1"/>
              </a:solidFill>
            </a:endParaRPr>
          </a:p>
        </p:txBody>
      </p:sp>
      <p:sp>
        <p:nvSpPr>
          <p:cNvPr id="25" name="矩形 24"/>
          <p:cNvSpPr/>
          <p:nvPr/>
        </p:nvSpPr>
        <p:spPr>
          <a:xfrm>
            <a:off x="8621410" y="3974197"/>
            <a:ext cx="1455655" cy="584775"/>
          </a:xfrm>
          <a:prstGeom prst="rect">
            <a:avLst/>
          </a:prstGeom>
        </p:spPr>
        <p:txBody>
          <a:bodyPr wrap="none">
            <a:spAutoFit/>
          </a:bodyPr>
          <a:lstStyle/>
          <a:p>
            <a:r>
              <a:rPr lang="en-US" altLang="zh-CN" b="1" dirty="0">
                <a:solidFill>
                  <a:schemeClr val="accent4"/>
                </a:solidFill>
              </a:rPr>
              <a:t>    </a:t>
            </a:r>
            <a:r>
              <a:rPr lang="en-US" altLang="zh-CN" sz="3200" b="1" dirty="0">
                <a:solidFill>
                  <a:schemeClr val="accent4"/>
                </a:solidFill>
              </a:rPr>
              <a:t>Step 3</a:t>
            </a:r>
            <a:endParaRPr lang="zh-CN" altLang="en-US" sz="3200" b="1" dirty="0">
              <a:solidFill>
                <a:schemeClr val="accent4"/>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1" fill="hold" nodeType="withEffect">
                                  <p:stCondLst>
                                    <p:cond delay="3000"/>
                                  </p:stCondLst>
                                  <p:childTnLst>
                                    <p:set>
                                      <p:cBhvr>
                                        <p:cTn id="16" dur="1" fill="hold">
                                          <p:stCondLst>
                                            <p:cond delay="0"/>
                                          </p:stCondLst>
                                        </p:cTn>
                                        <p:tgtEl>
                                          <p:spTgt spid="12"/>
                                        </p:tgtEl>
                                        <p:attrNameLst>
                                          <p:attrName>style.visibility</p:attrName>
                                        </p:attrNameLst>
                                      </p:cBhvr>
                                      <p:to>
                                        <p:strVal val="visible"/>
                                      </p:to>
                                    </p:set>
                                    <p:animEffect transition="in" filter="wipe(up)">
                                      <p:cBhvr>
                                        <p:cTn id="17" dur="1000"/>
                                        <p:tgtEl>
                                          <p:spTgt spid="12"/>
                                        </p:tgtEl>
                                      </p:cBhvr>
                                    </p:animEffect>
                                  </p:childTnLst>
                                </p:cTn>
                              </p:par>
                              <p:par>
                                <p:cTn id="18" presetID="22" presetClass="entr" presetSubtype="1" fill="hold" nodeType="withEffect">
                                  <p:stCondLst>
                                    <p:cond delay="300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1000"/>
                                        <p:tgtEl>
                                          <p:spTgt spid="15"/>
                                        </p:tgtEl>
                                      </p:cBhvr>
                                    </p:animEffect>
                                  </p:childTnLst>
                                </p:cTn>
                              </p:par>
                              <p:par>
                                <p:cTn id="21" presetID="10" presetClass="entr" presetSubtype="0" fill="hold" grpId="0" nodeType="withEffect">
                                  <p:stCondLst>
                                    <p:cond delay="100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63" presetClass="path" presetSubtype="0" accel="50000" decel="50000" fill="hold" grpId="1" nodeType="withEffect">
                                  <p:stCondLst>
                                    <p:cond delay="1000"/>
                                  </p:stCondLst>
                                  <p:childTnLst>
                                    <p:animMotion origin="layout" path="M -0.05443 -0.05486 L 0 1.11111E-6 " pathEditMode="relative" rAng="0" ptsTypes="AA">
                                      <p:cBhvr>
                                        <p:cTn id="25" dur="2000" fill="hold"/>
                                        <p:tgtEl>
                                          <p:spTgt spid="18"/>
                                        </p:tgtEl>
                                        <p:attrNameLst>
                                          <p:attrName>ppt_x</p:attrName>
                                          <p:attrName>ppt_y</p:attrName>
                                        </p:attrNameLst>
                                      </p:cBhvr>
                                      <p:rCtr x="2721" y="2731"/>
                                    </p:animMotion>
                                  </p:childTnLst>
                                </p:cTn>
                              </p:par>
                              <p:par>
                                <p:cTn id="26" presetID="10" presetClass="entr" presetSubtype="0" fill="hold" grpId="0" nodeType="withEffect">
                                  <p:stCondLst>
                                    <p:cond delay="100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500"/>
                                        <p:tgtEl>
                                          <p:spTgt spid="20"/>
                                        </p:tgtEl>
                                      </p:cBhvr>
                                    </p:animEffect>
                                  </p:childTnLst>
                                </p:cTn>
                              </p:par>
                              <p:par>
                                <p:cTn id="29" presetID="63" presetClass="path" presetSubtype="0" accel="50000" decel="50000" fill="hold" grpId="1" nodeType="withEffect">
                                  <p:stCondLst>
                                    <p:cond delay="1000"/>
                                  </p:stCondLst>
                                  <p:childTnLst>
                                    <p:animMotion origin="layout" path="M -0.05443 -0.05486 L 0 1.11111E-6 " pathEditMode="relative" rAng="0" ptsTypes="AA">
                                      <p:cBhvr>
                                        <p:cTn id="30" dur="2000" fill="hold"/>
                                        <p:tgtEl>
                                          <p:spTgt spid="20"/>
                                        </p:tgtEl>
                                        <p:attrNameLst>
                                          <p:attrName>ppt_x</p:attrName>
                                          <p:attrName>ppt_y</p:attrName>
                                        </p:attrNameLst>
                                      </p:cBhvr>
                                      <p:rCtr x="2721" y="2731"/>
                                    </p:animMotion>
                                  </p:childTnLst>
                                </p:cTn>
                              </p:par>
                              <p:par>
                                <p:cTn id="31" presetID="10" presetClass="entr" presetSubtype="0" fill="hold" grpId="0" nodeType="withEffect">
                                  <p:stCondLst>
                                    <p:cond delay="100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500"/>
                                        <p:tgtEl>
                                          <p:spTgt spid="19"/>
                                        </p:tgtEl>
                                      </p:cBhvr>
                                    </p:animEffect>
                                  </p:childTnLst>
                                </p:cTn>
                              </p:par>
                              <p:par>
                                <p:cTn id="34" presetID="63" presetClass="path" presetSubtype="0" accel="50000" decel="50000" fill="hold" grpId="1" nodeType="withEffect">
                                  <p:stCondLst>
                                    <p:cond delay="1000"/>
                                  </p:stCondLst>
                                  <p:childTnLst>
                                    <p:animMotion origin="layout" path="M -0.05443 -0.05486 L 0 1.11111E-6 " pathEditMode="relative" rAng="0" ptsTypes="AA">
                                      <p:cBhvr>
                                        <p:cTn id="35" dur="2000" fill="hold"/>
                                        <p:tgtEl>
                                          <p:spTgt spid="19"/>
                                        </p:tgtEl>
                                        <p:attrNameLst>
                                          <p:attrName>ppt_x</p:attrName>
                                          <p:attrName>ppt_y</p:attrName>
                                        </p:attrNameLst>
                                      </p:cBhvr>
                                      <p:rCtr x="2721" y="2731"/>
                                    </p:animMotion>
                                  </p:childTnLst>
                                </p:cTn>
                              </p:par>
                              <p:par>
                                <p:cTn id="36" presetID="53" presetClass="entr" presetSubtype="16" fill="hold" grpId="0" nodeType="withEffect">
                                  <p:stCondLst>
                                    <p:cond delay="1000"/>
                                  </p:stCondLst>
                                  <p:childTnLst>
                                    <p:set>
                                      <p:cBhvr>
                                        <p:cTn id="37" dur="1" fill="hold">
                                          <p:stCondLst>
                                            <p:cond delay="0"/>
                                          </p:stCondLst>
                                        </p:cTn>
                                        <p:tgtEl>
                                          <p:spTgt spid="4"/>
                                        </p:tgtEl>
                                        <p:attrNameLst>
                                          <p:attrName>style.visibility</p:attrName>
                                        </p:attrNameLst>
                                      </p:cBhvr>
                                      <p:to>
                                        <p:strVal val="visible"/>
                                      </p:to>
                                    </p:set>
                                    <p:anim calcmode="lin" valueType="num">
                                      <p:cBhvr>
                                        <p:cTn id="38" dur="2000" fill="hold"/>
                                        <p:tgtEl>
                                          <p:spTgt spid="4"/>
                                        </p:tgtEl>
                                        <p:attrNameLst>
                                          <p:attrName>ppt_w</p:attrName>
                                        </p:attrNameLst>
                                      </p:cBhvr>
                                      <p:tavLst>
                                        <p:tav tm="0">
                                          <p:val>
                                            <p:fltVal val="0"/>
                                          </p:val>
                                        </p:tav>
                                        <p:tav tm="100000">
                                          <p:val>
                                            <p:strVal val="#ppt_w"/>
                                          </p:val>
                                        </p:tav>
                                      </p:tavLst>
                                    </p:anim>
                                    <p:anim calcmode="lin" valueType="num">
                                      <p:cBhvr>
                                        <p:cTn id="39" dur="2000" fill="hold"/>
                                        <p:tgtEl>
                                          <p:spTgt spid="4"/>
                                        </p:tgtEl>
                                        <p:attrNameLst>
                                          <p:attrName>ppt_h</p:attrName>
                                        </p:attrNameLst>
                                      </p:cBhvr>
                                      <p:tavLst>
                                        <p:tav tm="0">
                                          <p:val>
                                            <p:fltVal val="0"/>
                                          </p:val>
                                        </p:tav>
                                        <p:tav tm="100000">
                                          <p:val>
                                            <p:strVal val="#ppt_h"/>
                                          </p:val>
                                        </p:tav>
                                      </p:tavLst>
                                    </p:anim>
                                    <p:animEffect transition="in" filter="fade">
                                      <p:cBhvr>
                                        <p:cTn id="40" dur="2000"/>
                                        <p:tgtEl>
                                          <p:spTgt spid="4"/>
                                        </p:tgtEl>
                                      </p:cBhvr>
                                    </p:animEffect>
                                  </p:childTnLst>
                                </p:cTn>
                              </p:par>
                              <p:par>
                                <p:cTn id="41" presetID="53" presetClass="entr" presetSubtype="16" fill="hold" grpId="0" nodeType="withEffect">
                                  <p:stCondLst>
                                    <p:cond delay="1000"/>
                                  </p:stCondLst>
                                  <p:childTnLst>
                                    <p:set>
                                      <p:cBhvr>
                                        <p:cTn id="42" dur="1" fill="hold">
                                          <p:stCondLst>
                                            <p:cond delay="0"/>
                                          </p:stCondLst>
                                        </p:cTn>
                                        <p:tgtEl>
                                          <p:spTgt spid="6"/>
                                        </p:tgtEl>
                                        <p:attrNameLst>
                                          <p:attrName>style.visibility</p:attrName>
                                        </p:attrNameLst>
                                      </p:cBhvr>
                                      <p:to>
                                        <p:strVal val="visible"/>
                                      </p:to>
                                    </p:set>
                                    <p:anim calcmode="lin" valueType="num">
                                      <p:cBhvr>
                                        <p:cTn id="43" dur="2000" fill="hold"/>
                                        <p:tgtEl>
                                          <p:spTgt spid="6"/>
                                        </p:tgtEl>
                                        <p:attrNameLst>
                                          <p:attrName>ppt_w</p:attrName>
                                        </p:attrNameLst>
                                      </p:cBhvr>
                                      <p:tavLst>
                                        <p:tav tm="0">
                                          <p:val>
                                            <p:fltVal val="0"/>
                                          </p:val>
                                        </p:tav>
                                        <p:tav tm="100000">
                                          <p:val>
                                            <p:strVal val="#ppt_w"/>
                                          </p:val>
                                        </p:tav>
                                      </p:tavLst>
                                    </p:anim>
                                    <p:anim calcmode="lin" valueType="num">
                                      <p:cBhvr>
                                        <p:cTn id="44" dur="2000" fill="hold"/>
                                        <p:tgtEl>
                                          <p:spTgt spid="6"/>
                                        </p:tgtEl>
                                        <p:attrNameLst>
                                          <p:attrName>ppt_h</p:attrName>
                                        </p:attrNameLst>
                                      </p:cBhvr>
                                      <p:tavLst>
                                        <p:tav tm="0">
                                          <p:val>
                                            <p:fltVal val="0"/>
                                          </p:val>
                                        </p:tav>
                                        <p:tav tm="100000">
                                          <p:val>
                                            <p:strVal val="#ppt_h"/>
                                          </p:val>
                                        </p:tav>
                                      </p:tavLst>
                                    </p:anim>
                                    <p:animEffect transition="in" filter="fade">
                                      <p:cBhvr>
                                        <p:cTn id="45" dur="2000"/>
                                        <p:tgtEl>
                                          <p:spTgt spid="6"/>
                                        </p:tgtEl>
                                      </p:cBhvr>
                                    </p:animEffect>
                                  </p:childTnLst>
                                </p:cTn>
                              </p:par>
                              <p:par>
                                <p:cTn id="46" presetID="53" presetClass="entr" presetSubtype="16" fill="hold" grpId="0" nodeType="withEffect">
                                  <p:stCondLst>
                                    <p:cond delay="1000"/>
                                  </p:stCondLst>
                                  <p:childTnLst>
                                    <p:set>
                                      <p:cBhvr>
                                        <p:cTn id="47" dur="1" fill="hold">
                                          <p:stCondLst>
                                            <p:cond delay="0"/>
                                          </p:stCondLst>
                                        </p:cTn>
                                        <p:tgtEl>
                                          <p:spTgt spid="8"/>
                                        </p:tgtEl>
                                        <p:attrNameLst>
                                          <p:attrName>style.visibility</p:attrName>
                                        </p:attrNameLst>
                                      </p:cBhvr>
                                      <p:to>
                                        <p:strVal val="visible"/>
                                      </p:to>
                                    </p:set>
                                    <p:anim calcmode="lin" valueType="num">
                                      <p:cBhvr>
                                        <p:cTn id="48" dur="2000" fill="hold"/>
                                        <p:tgtEl>
                                          <p:spTgt spid="8"/>
                                        </p:tgtEl>
                                        <p:attrNameLst>
                                          <p:attrName>ppt_w</p:attrName>
                                        </p:attrNameLst>
                                      </p:cBhvr>
                                      <p:tavLst>
                                        <p:tav tm="0">
                                          <p:val>
                                            <p:fltVal val="0"/>
                                          </p:val>
                                        </p:tav>
                                        <p:tav tm="100000">
                                          <p:val>
                                            <p:strVal val="#ppt_w"/>
                                          </p:val>
                                        </p:tav>
                                      </p:tavLst>
                                    </p:anim>
                                    <p:anim calcmode="lin" valueType="num">
                                      <p:cBhvr>
                                        <p:cTn id="49" dur="2000" fill="hold"/>
                                        <p:tgtEl>
                                          <p:spTgt spid="8"/>
                                        </p:tgtEl>
                                        <p:attrNameLst>
                                          <p:attrName>ppt_h</p:attrName>
                                        </p:attrNameLst>
                                      </p:cBhvr>
                                      <p:tavLst>
                                        <p:tav tm="0">
                                          <p:val>
                                            <p:fltVal val="0"/>
                                          </p:val>
                                        </p:tav>
                                        <p:tav tm="100000">
                                          <p:val>
                                            <p:strVal val="#ppt_h"/>
                                          </p:val>
                                        </p:tav>
                                      </p:tavLst>
                                    </p:anim>
                                    <p:animEffect transition="in" filter="fade">
                                      <p:cBhvr>
                                        <p:cTn id="5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animBg="1"/>
      <p:bldP spid="7" grpId="1" animBg="1"/>
      <p:bldP spid="4" grpId="0" animBg="1"/>
      <p:bldP spid="6" grpId="0" animBg="1"/>
      <p:bldP spid="8" grpId="0" animBg="1"/>
      <p:bldP spid="18" grpId="0" animBg="1"/>
      <p:bldP spid="18" grpId="1" animBg="1"/>
      <p:bldP spid="19" grpId="0" animBg="1"/>
      <p:bldP spid="19" grpId="1" animBg="1"/>
      <p:bldP spid="20" grpId="0" animBg="1"/>
      <p:bldP spid="20"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692844"/>
            <a:ext cx="6129604" cy="769441"/>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More Details</a:t>
            </a:r>
            <a:endParaRPr lang="zh-CN" altLang="en-US"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par>
                                <p:cTn id="8" presetID="64" presetClass="path" presetSubtype="0" accel="50000" decel="50000" fill="hold" grpId="1" nodeType="withEffect">
                                  <p:stCondLst>
                                    <p:cond delay="2000"/>
                                  </p:stCondLst>
                                  <p:childTnLst>
                                    <p:animMotion origin="layout" path="M 1.04167E-6 -3.7037E-6 L 1.04167E-6 -0.01736 " pathEditMode="relative" rAng="0" ptsTypes="AA">
                                      <p:cBhvr>
                                        <p:cTn id="9" dur="1000" fill="hold"/>
                                        <p:tgtEl>
                                          <p:spTgt spid="17"/>
                                        </p:tgtEl>
                                        <p:attrNameLst>
                                          <p:attrName>ppt_x</p:attrName>
                                          <p:attrName>ppt_y</p:attrName>
                                        </p:attrNameLst>
                                      </p:cBhvr>
                                      <p:rCtr x="0" y="-880"/>
                                    </p:animMotion>
                                  </p:childTnLst>
                                </p:cTn>
                              </p:par>
                              <p:par>
                                <p:cTn id="10" presetID="53" presetClass="entr" presetSubtype="16"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2000" fill="hold"/>
                                        <p:tgtEl>
                                          <p:spTgt spid="14"/>
                                        </p:tgtEl>
                                        <p:attrNameLst>
                                          <p:attrName>ppt_w</p:attrName>
                                        </p:attrNameLst>
                                      </p:cBhvr>
                                      <p:tavLst>
                                        <p:tav tm="0">
                                          <p:val>
                                            <p:fltVal val="0"/>
                                          </p:val>
                                        </p:tav>
                                        <p:tav tm="100000">
                                          <p:val>
                                            <p:strVal val="#ppt_w"/>
                                          </p:val>
                                        </p:tav>
                                      </p:tavLst>
                                    </p:anim>
                                    <p:anim calcmode="lin" valueType="num">
                                      <p:cBhvr>
                                        <p:cTn id="13" dur="2000" fill="hold"/>
                                        <p:tgtEl>
                                          <p:spTgt spid="14"/>
                                        </p:tgtEl>
                                        <p:attrNameLst>
                                          <p:attrName>ppt_h</p:attrName>
                                        </p:attrNameLst>
                                      </p:cBhvr>
                                      <p:tavLst>
                                        <p:tav tm="0">
                                          <p:val>
                                            <p:fltVal val="0"/>
                                          </p:val>
                                        </p:tav>
                                        <p:tav tm="100000">
                                          <p:val>
                                            <p:strVal val="#ppt_h"/>
                                          </p:val>
                                        </p:tav>
                                      </p:tavLst>
                                    </p:anim>
                                    <p:animEffect transition="in" filter="fade">
                                      <p:cBhvr>
                                        <p:cTn id="14" dur="2000"/>
                                        <p:tgtEl>
                                          <p:spTgt spid="14"/>
                                        </p:tgtEl>
                                      </p:cBhvr>
                                    </p:animEffect>
                                  </p:childTnLst>
                                </p:cTn>
                              </p:par>
                              <p:par>
                                <p:cTn id="15" presetID="42" presetClass="path" presetSubtype="0" accel="50000" decel="50000" fill="hold" nodeType="withEffect">
                                  <p:stCondLst>
                                    <p:cond delay="0"/>
                                  </p:stCondLst>
                                  <p:childTnLst>
                                    <p:animMotion origin="layout" path="M -0.1086 0.00023 L 3.125E-6 -1.48148E-6 " pathEditMode="relative" rAng="0" ptsTypes="AA">
                                      <p:cBhvr>
                                        <p:cTn id="16" dur="2000" fill="hold"/>
                                        <p:tgtEl>
                                          <p:spTgt spid="14"/>
                                        </p:tgtEl>
                                        <p:attrNameLst>
                                          <p:attrName>ppt_x</p:attrName>
                                          <p:attrName>ppt_y</p:attrName>
                                        </p:attrNameLst>
                                      </p:cBhvr>
                                      <p:rCtr x="5430" y="-23"/>
                                    </p:animMotion>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63" presetClass="path" presetSubtype="0" accel="50000" decel="50000" fill="hold" grpId="1" nodeType="withEffect">
                                  <p:stCondLst>
                                    <p:cond delay="0"/>
                                  </p:stCondLst>
                                  <p:childTnLst>
                                    <p:animMotion origin="layout" path="M -3.75E-6 -1.85185E-6 L 0.00092 0.10093 " pathEditMode="relative" rAng="0" ptsTypes="AA">
                                      <p:cBhvr>
                                        <p:cTn id="21" dur="2000" fill="hold"/>
                                        <p:tgtEl>
                                          <p:spTgt spid="21"/>
                                        </p:tgtEl>
                                        <p:attrNameLst>
                                          <p:attrName>ppt_x</p:attrName>
                                          <p:attrName>ppt_y</p:attrName>
                                        </p:attrNameLst>
                                      </p:cBhvr>
                                      <p:rCtr x="39" y="5046"/>
                                    </p:animMotion>
                                  </p:childTnLst>
                                </p:cTn>
                              </p:par>
                              <p:par>
                                <p:cTn id="22" presetID="10" presetClass="exit" presetSubtype="0" fill="hold" grpId="2" nodeType="withEffect">
                                  <p:stCondLst>
                                    <p:cond delay="1500"/>
                                  </p:stCondLst>
                                  <p:childTnLst>
                                    <p:animEffect transition="out" filter="fade">
                                      <p:cBhvr>
                                        <p:cTn id="23" dur="500"/>
                                        <p:tgtEl>
                                          <p:spTgt spid="21"/>
                                        </p:tgtEl>
                                      </p:cBhvr>
                                    </p:animEffect>
                                    <p:set>
                                      <p:cBhvr>
                                        <p:cTn id="24" dur="1" fill="hold">
                                          <p:stCondLst>
                                            <p:cond delay="499"/>
                                          </p:stCondLst>
                                        </p:cTn>
                                        <p:tgtEl>
                                          <p:spTgt spid="21"/>
                                        </p:tgtEl>
                                        <p:attrNameLst>
                                          <p:attrName>style.visibility</p:attrName>
                                        </p:attrNameLst>
                                      </p:cBhvr>
                                      <p:to>
                                        <p:strVal val="hidden"/>
                                      </p:to>
                                    </p:set>
                                  </p:childTnLst>
                                </p:cTn>
                              </p:par>
                              <p:par>
                                <p:cTn id="25" presetID="10" presetClass="entr" presetSubtype="0" fill="hold" grpId="0" nodeType="withEffect">
                                  <p:stCondLst>
                                    <p:cond delay="50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63" presetClass="path" presetSubtype="0" accel="50000" decel="50000" fill="hold" grpId="1" nodeType="withEffect">
                                  <p:stCondLst>
                                    <p:cond delay="500"/>
                                  </p:stCondLst>
                                  <p:childTnLst>
                                    <p:animMotion origin="layout" path="M -4.58333E-6 -3.7037E-6 L -0.00013 -0.13495 " pathEditMode="relative" rAng="0" ptsTypes="AA">
                                      <p:cBhvr>
                                        <p:cTn id="29" dur="2000" fill="hold"/>
                                        <p:tgtEl>
                                          <p:spTgt spid="20"/>
                                        </p:tgtEl>
                                        <p:attrNameLst>
                                          <p:attrName>ppt_x</p:attrName>
                                          <p:attrName>ppt_y</p:attrName>
                                        </p:attrNameLst>
                                      </p:cBhvr>
                                      <p:rCtr x="-13" y="-6759"/>
                                    </p:animMotion>
                                  </p:childTnLst>
                                </p:cTn>
                              </p:par>
                              <p:par>
                                <p:cTn id="30" presetID="10" presetClass="exit" presetSubtype="0" fill="hold" grpId="2" nodeType="withEffect">
                                  <p:stCondLst>
                                    <p:cond delay="2000"/>
                                  </p:stCondLst>
                                  <p:childTnLst>
                                    <p:animEffect transition="out" filter="fade">
                                      <p:cBhvr>
                                        <p:cTn id="31" dur="500"/>
                                        <p:tgtEl>
                                          <p:spTgt spid="20"/>
                                        </p:tgtEl>
                                      </p:cBhvr>
                                    </p:animEffect>
                                    <p:set>
                                      <p:cBhvr>
                                        <p:cTn id="32" dur="1" fill="hold">
                                          <p:stCondLst>
                                            <p:cond delay="499"/>
                                          </p:stCondLst>
                                        </p:cTn>
                                        <p:tgtEl>
                                          <p:spTgt spid="20"/>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par>
                                <p:cTn id="36" presetID="63" presetClass="path" presetSubtype="0" accel="50000" decel="50000" fill="hold" grpId="1" nodeType="withEffect">
                                  <p:stCondLst>
                                    <p:cond delay="0"/>
                                  </p:stCondLst>
                                  <p:childTnLst>
                                    <p:animMotion origin="layout" path="M 2.29167E-6 -7.40741E-7 L -0.00026 -0.07755 " pathEditMode="relative" rAng="0" ptsTypes="AA">
                                      <p:cBhvr>
                                        <p:cTn id="37" dur="2000" fill="hold"/>
                                        <p:tgtEl>
                                          <p:spTgt spid="23"/>
                                        </p:tgtEl>
                                        <p:attrNameLst>
                                          <p:attrName>ppt_x</p:attrName>
                                          <p:attrName>ppt_y</p:attrName>
                                        </p:attrNameLst>
                                      </p:cBhvr>
                                      <p:rCtr x="-13" y="-3889"/>
                                    </p:animMotion>
                                  </p:childTnLst>
                                </p:cTn>
                              </p:par>
                              <p:par>
                                <p:cTn id="38" presetID="10" presetClass="exit" presetSubtype="0" fill="hold" grpId="2" nodeType="withEffect">
                                  <p:stCondLst>
                                    <p:cond delay="1500"/>
                                  </p:stCondLst>
                                  <p:childTnLst>
                                    <p:animEffect transition="out" filter="fade">
                                      <p:cBhvr>
                                        <p:cTn id="39" dur="500"/>
                                        <p:tgtEl>
                                          <p:spTgt spid="23"/>
                                        </p:tgtEl>
                                      </p:cBhvr>
                                    </p:animEffect>
                                    <p:set>
                                      <p:cBhvr>
                                        <p:cTn id="40" dur="1" fill="hold">
                                          <p:stCondLst>
                                            <p:cond delay="499"/>
                                          </p:stCondLst>
                                        </p:cTn>
                                        <p:tgtEl>
                                          <p:spTgt spid="23"/>
                                        </p:tgtEl>
                                        <p:attrNameLst>
                                          <p:attrName>style.visibility</p:attrName>
                                        </p:attrNameLst>
                                      </p:cBhvr>
                                      <p:to>
                                        <p:strVal val="hidden"/>
                                      </p:to>
                                    </p:set>
                                  </p:childTnLst>
                                </p:cTn>
                              </p:par>
                              <p:par>
                                <p:cTn id="41" presetID="10" presetClass="entr" presetSubtype="0" fill="hold" grpId="0" nodeType="withEffect">
                                  <p:stCondLst>
                                    <p:cond delay="50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63" presetClass="path" presetSubtype="0" accel="50000" decel="50000" fill="hold" grpId="1" nodeType="withEffect">
                                  <p:stCondLst>
                                    <p:cond delay="500"/>
                                  </p:stCondLst>
                                  <p:childTnLst>
                                    <p:animMotion origin="layout" path="M 2.77556E-17 -7.40741E-7 L 0.00065 -0.10787 " pathEditMode="relative" rAng="0" ptsTypes="AA">
                                      <p:cBhvr>
                                        <p:cTn id="45" dur="2000" fill="hold"/>
                                        <p:tgtEl>
                                          <p:spTgt spid="22"/>
                                        </p:tgtEl>
                                        <p:attrNameLst>
                                          <p:attrName>ppt_x</p:attrName>
                                          <p:attrName>ppt_y</p:attrName>
                                        </p:attrNameLst>
                                      </p:cBhvr>
                                      <p:rCtr x="26" y="-5394"/>
                                    </p:animMotion>
                                  </p:childTnLst>
                                </p:cTn>
                              </p:par>
                              <p:par>
                                <p:cTn id="46" presetID="10" presetClass="exit" presetSubtype="0" fill="hold" grpId="2" nodeType="withEffect">
                                  <p:stCondLst>
                                    <p:cond delay="2000"/>
                                  </p:stCondLst>
                                  <p:childTnLst>
                                    <p:animEffect transition="out" filter="fade">
                                      <p:cBhvr>
                                        <p:cTn id="47" dur="500"/>
                                        <p:tgtEl>
                                          <p:spTgt spid="22"/>
                                        </p:tgtEl>
                                      </p:cBhvr>
                                    </p:animEffect>
                                    <p:set>
                                      <p:cBhvr>
                                        <p:cTn id="48" dur="1" fill="hold">
                                          <p:stCondLst>
                                            <p:cond delay="499"/>
                                          </p:stCondLst>
                                        </p:cTn>
                                        <p:tgtEl>
                                          <p:spTgt spid="22"/>
                                        </p:tgtEl>
                                        <p:attrNameLst>
                                          <p:attrName>style.visibility</p:attrName>
                                        </p:attrNameLst>
                                      </p:cBhvr>
                                      <p:to>
                                        <p:strVal val="hidden"/>
                                      </p:to>
                                    </p:set>
                                  </p:childTnLst>
                                </p:cTn>
                              </p:par>
                              <p:par>
                                <p:cTn id="49" presetID="10" presetClass="entr" presetSubtype="0" fill="hold" grpId="0" nodeType="withEffect">
                                  <p:stCondLst>
                                    <p:cond delay="75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63" presetClass="path" presetSubtype="0" accel="50000" decel="50000" fill="hold" grpId="1" nodeType="withEffect">
                                  <p:stCondLst>
                                    <p:cond delay="750"/>
                                  </p:stCondLst>
                                  <p:childTnLst>
                                    <p:animMotion origin="layout" path="M 8.33333E-7 3.7037E-7 L 8.33333E-7 0.15579 " pathEditMode="relative" rAng="0" ptsTypes="AA">
                                      <p:cBhvr>
                                        <p:cTn id="53" dur="2000" fill="hold"/>
                                        <p:tgtEl>
                                          <p:spTgt spid="19"/>
                                        </p:tgtEl>
                                        <p:attrNameLst>
                                          <p:attrName>ppt_x</p:attrName>
                                          <p:attrName>ppt_y</p:attrName>
                                        </p:attrNameLst>
                                      </p:cBhvr>
                                      <p:rCtr x="0" y="7778"/>
                                    </p:animMotion>
                                  </p:childTnLst>
                                </p:cTn>
                              </p:par>
                              <p:par>
                                <p:cTn id="54" presetID="10" presetClass="exit" presetSubtype="0" fill="hold" grpId="2" nodeType="withEffect">
                                  <p:stCondLst>
                                    <p:cond delay="2250"/>
                                  </p:stCondLst>
                                  <p:childTnLst>
                                    <p:animEffect transition="out" filter="fade">
                                      <p:cBhvr>
                                        <p:cTn id="55" dur="500"/>
                                        <p:tgtEl>
                                          <p:spTgt spid="19"/>
                                        </p:tgtEl>
                                      </p:cBhvr>
                                    </p:animEffect>
                                    <p:set>
                                      <p:cBhvr>
                                        <p:cTn id="56"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3"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149928" y="391716"/>
            <a:ext cx="2628796" cy="646331"/>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Step One</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505918" y="1040972"/>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3" name="矩形 2"/>
          <p:cNvSpPr/>
          <p:nvPr/>
        </p:nvSpPr>
        <p:spPr>
          <a:xfrm>
            <a:off x="505918" y="1526001"/>
            <a:ext cx="5135190" cy="3108543"/>
          </a:xfrm>
          <a:prstGeom prst="rect">
            <a:avLst/>
          </a:prstGeom>
        </p:spPr>
        <p:txBody>
          <a:bodyPr wrap="square">
            <a:spAutoFit/>
          </a:bodyPr>
          <a:lstStyle/>
          <a:p>
            <a:r>
              <a:rPr lang="en-US" altLang="zh-CN" sz="2800" dirty="0">
                <a:solidFill>
                  <a:schemeClr val="bg1"/>
                </a:solidFill>
              </a:rPr>
              <a:t>Obtain the URL and analyze its composition: “country=F4” “start” “count” . Set the valid range to 100. Put CIK code into the CIK list. Visit the URL. Search through the web page . Write the URL into </a:t>
            </a:r>
            <a:r>
              <a:rPr lang="zh-CN" altLang="en-US" sz="2800" dirty="0">
                <a:solidFill>
                  <a:schemeClr val="bg1"/>
                </a:solidFill>
              </a:rPr>
              <a:t>“</a:t>
            </a:r>
            <a:r>
              <a:rPr lang="en-US" altLang="zh-CN" sz="2800" dirty="0">
                <a:solidFill>
                  <a:schemeClr val="bg1"/>
                </a:solidFill>
              </a:rPr>
              <a:t>10-Xlist</a:t>
            </a:r>
            <a:r>
              <a:rPr lang="zh-CN" altLang="en-US" sz="2800" dirty="0">
                <a:solidFill>
                  <a:schemeClr val="bg1"/>
                </a:solidFill>
              </a:rPr>
              <a:t>”</a:t>
            </a:r>
            <a:r>
              <a:rPr lang="en-US" altLang="zh-CN" sz="2800" dirty="0">
                <a:solidFill>
                  <a:schemeClr val="bg1"/>
                </a:solidFill>
              </a:rPr>
              <a:t>. Get all the URL.</a:t>
            </a:r>
            <a:endParaRPr lang="zh-CN" altLang="zh-CN" sz="2800" dirty="0">
              <a:solidFill>
                <a:schemeClr val="bg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209" y="5286550"/>
            <a:ext cx="8112585" cy="1060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6301" y="3472137"/>
            <a:ext cx="1905951" cy="3238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1939" y="1086691"/>
            <a:ext cx="4855029" cy="2013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761" y="345743"/>
            <a:ext cx="2628796" cy="646331"/>
          </a:xfrm>
          <a:prstGeom prst="rect">
            <a:avLst/>
          </a:prstGeom>
          <a:noFill/>
        </p:spPr>
        <p:txBody>
          <a:bodyPr wrap="square" rtlCol="0">
            <a:spAutoFit/>
            <a:scene3d>
              <a:camera prst="orthographicFront">
                <a:rot lat="0" lon="0" rev="0"/>
              </a:camera>
              <a:lightRig rig="threePt" dir="t"/>
            </a:scene3d>
          </a:bodyPr>
          <a:lstStyle/>
          <a:p>
            <a:pPr algn="ctr"/>
            <a:r>
              <a:rPr lang="en-US" altLang="zh-CN"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More Details</a:t>
            </a:r>
            <a:endParaRPr lang="zh-CN" alt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560756"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5" name="组合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928081" y="2529979"/>
            <a:ext cx="1409701" cy="1409701"/>
            <a:chOff x="6498772" y="3074931"/>
            <a:chExt cx="1409701" cy="1409701"/>
          </a:xfrm>
        </p:grpSpPr>
        <p:sp>
          <p:nvSpPr>
            <p:cNvPr id="7" name="Oval 3"/>
            <p:cNvSpPr/>
            <p:nvPr/>
          </p:nvSpPr>
          <p:spPr>
            <a:xfrm>
              <a:off x="6498772" y="3074931"/>
              <a:ext cx="1409701" cy="1409701"/>
            </a:xfrm>
            <a:prstGeom prst="ellipse">
              <a:avLst/>
            </a:prstGeom>
            <a:noFill/>
            <a:ln w="38100">
              <a:solidFill>
                <a:srgbClr val="CC6F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latin typeface="Helvetica" panose="020B0604020202020204" pitchFamily="34" charset="0"/>
                  <a:ea typeface="Roboto" panose="02000000000000000000" pitchFamily="2" charset="0"/>
                  <a:cs typeface="Helvetica" panose="020B0604020202020204" pitchFamily="34" charset="0"/>
                </a:rPr>
                <a:t>Step Two</a:t>
              </a:r>
              <a:endParaRPr lang="en-US" sz="900" dirty="0">
                <a:solidFill>
                  <a:prstClr val="white"/>
                </a:solidFill>
                <a:latin typeface="Helvetica" panose="020B0604020202020204" pitchFamily="34" charset="0"/>
                <a:ea typeface="Roboto" panose="02000000000000000000" pitchFamily="2" charset="0"/>
                <a:cs typeface="Helvetica" panose="020B0604020202020204" pitchFamily="34" charset="0"/>
              </a:endParaRPr>
            </a:p>
          </p:txBody>
        </p:sp>
        <p:sp>
          <p:nvSpPr>
            <p:cNvPr id="8" name="Arc 16"/>
            <p:cNvSpPr/>
            <p:nvPr/>
          </p:nvSpPr>
          <p:spPr>
            <a:xfrm>
              <a:off x="6498772" y="3074931"/>
              <a:ext cx="1409701" cy="1409701"/>
            </a:xfrm>
            <a:prstGeom prst="arc">
              <a:avLst>
                <a:gd name="adj1" fmla="val 16200000"/>
                <a:gd name="adj2" fmla="val 10611064"/>
              </a:avLst>
            </a:prstGeom>
            <a:noFill/>
            <a:ln w="38100">
              <a:solidFill>
                <a:srgbClr val="F0C7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panose="020B0604020202020204" pitchFamily="34" charset="0"/>
                <a:cs typeface="Helvetica" panose="020B0604020202020204" pitchFamily="34" charset="0"/>
              </a:endParaRPr>
            </a:p>
          </p:txBody>
        </p:sp>
      </p:grpSp>
      <p:sp>
        <p:nvSpPr>
          <p:cNvPr id="30" name="任意多边形 2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1186648" y="3157659"/>
            <a:ext cx="1021021" cy="15433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3" name="矩形 2"/>
          <p:cNvSpPr/>
          <p:nvPr/>
        </p:nvSpPr>
        <p:spPr>
          <a:xfrm>
            <a:off x="3925286" y="2481965"/>
            <a:ext cx="5330032" cy="1568450"/>
          </a:xfrm>
          <a:prstGeom prst="rect">
            <a:avLst/>
          </a:prstGeom>
        </p:spPr>
        <p:txBody>
          <a:bodyPr wrap="square">
            <a:spAutoFit/>
          </a:bodyPr>
          <a:lstStyle/>
          <a:p>
            <a:r>
              <a:rPr lang="en-US" altLang="zh-CN" sz="3200" dirty="0">
                <a:solidFill>
                  <a:schemeClr val="bg1"/>
                </a:solidFill>
              </a:rPr>
              <a:t>Search through the index , find the corresponding URL and save it in “</a:t>
            </a:r>
            <a:r>
              <a:rPr lang="en-US" altLang="zh-CN" sz="3200" dirty="0" err="1">
                <a:solidFill>
                  <a:schemeClr val="bg1"/>
                </a:solidFill>
              </a:rPr>
              <a:t>chartUrls</a:t>
            </a:r>
            <a:r>
              <a:rPr lang="en-US" altLang="zh-CN" sz="3200" dirty="0">
                <a:solidFill>
                  <a:schemeClr val="bg1"/>
                </a:solidFill>
              </a:rPr>
              <a:t>”.</a:t>
            </a:r>
            <a:endParaRPr lang="en-US" altLang="zh-CN" sz="32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49" presetClass="entr" presetSubtype="0" decel="100000" fill="hold" nodeType="withEffect">
                                  <p:stCondLst>
                                    <p:cond delay="1000"/>
                                  </p:stCondLst>
                                  <p:childTnLst>
                                    <p:set>
                                      <p:cBhvr>
                                        <p:cTn id="16" dur="1" fill="hold">
                                          <p:stCondLst>
                                            <p:cond delay="0"/>
                                          </p:stCondLst>
                                        </p:cTn>
                                        <p:tgtEl>
                                          <p:spTgt spid="5"/>
                                        </p:tgtEl>
                                        <p:attrNameLst>
                                          <p:attrName>style.visibility</p:attrName>
                                        </p:attrNameLst>
                                      </p:cBhvr>
                                      <p:to>
                                        <p:strVal val="visible"/>
                                      </p:to>
                                    </p:set>
                                    <p:anim calcmode="lin" valueType="num">
                                      <p:cBhvr>
                                        <p:cTn id="17" dur="2000" fill="hold"/>
                                        <p:tgtEl>
                                          <p:spTgt spid="5"/>
                                        </p:tgtEl>
                                        <p:attrNameLst>
                                          <p:attrName>ppt_w</p:attrName>
                                        </p:attrNameLst>
                                      </p:cBhvr>
                                      <p:tavLst>
                                        <p:tav tm="0">
                                          <p:val>
                                            <p:fltVal val="0"/>
                                          </p:val>
                                        </p:tav>
                                        <p:tav tm="100000">
                                          <p:val>
                                            <p:strVal val="#ppt_w"/>
                                          </p:val>
                                        </p:tav>
                                      </p:tavLst>
                                    </p:anim>
                                    <p:anim calcmode="lin" valueType="num">
                                      <p:cBhvr>
                                        <p:cTn id="18" dur="2000" fill="hold"/>
                                        <p:tgtEl>
                                          <p:spTgt spid="5"/>
                                        </p:tgtEl>
                                        <p:attrNameLst>
                                          <p:attrName>ppt_h</p:attrName>
                                        </p:attrNameLst>
                                      </p:cBhvr>
                                      <p:tavLst>
                                        <p:tav tm="0">
                                          <p:val>
                                            <p:fltVal val="0"/>
                                          </p:val>
                                        </p:tav>
                                        <p:tav tm="100000">
                                          <p:val>
                                            <p:strVal val="#ppt_h"/>
                                          </p:val>
                                        </p:tav>
                                      </p:tavLst>
                                    </p:anim>
                                    <p:anim calcmode="lin" valueType="num">
                                      <p:cBhvr>
                                        <p:cTn id="19" dur="2000" fill="hold"/>
                                        <p:tgtEl>
                                          <p:spTgt spid="5"/>
                                        </p:tgtEl>
                                        <p:attrNameLst>
                                          <p:attrName>style.rotation</p:attrName>
                                        </p:attrNameLst>
                                      </p:cBhvr>
                                      <p:tavLst>
                                        <p:tav tm="0">
                                          <p:val>
                                            <p:fltVal val="360"/>
                                          </p:val>
                                        </p:tav>
                                        <p:tav tm="100000">
                                          <p:val>
                                            <p:fltVal val="0"/>
                                          </p:val>
                                        </p:tav>
                                      </p:tavLst>
                                    </p:anim>
                                    <p:animEffect transition="in" filter="fade">
                                      <p:cBhvr>
                                        <p:cTn id="20" dur="2000"/>
                                        <p:tgtEl>
                                          <p:spTgt spid="5"/>
                                        </p:tgtEl>
                                      </p:cBhvr>
                                    </p:animEffect>
                                  </p:childTnLst>
                                </p:cTn>
                              </p:par>
                              <p:par>
                                <p:cTn id="21" presetID="10" presetClass="entr" presetSubtype="0" fill="hold" grpId="0" nodeType="withEffect">
                                  <p:stCondLst>
                                    <p:cond delay="10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par>
                                <p:cTn id="24" presetID="63" presetClass="path" presetSubtype="0" accel="50000" decel="50000" fill="hold" grpId="1" nodeType="withEffect">
                                  <p:stCondLst>
                                    <p:cond delay="1000"/>
                                  </p:stCondLst>
                                  <p:childTnLst>
                                    <p:animMotion origin="layout" path="M -0.00013 0.13195 L -6.25E-7 -1.85185E-6 " pathEditMode="relative" rAng="0" ptsTypes="AA">
                                      <p:cBhvr>
                                        <p:cTn id="25" dur="2000" fill="hold"/>
                                        <p:tgtEl>
                                          <p:spTgt spid="30"/>
                                        </p:tgtEl>
                                        <p:attrNameLst>
                                          <p:attrName>ppt_x</p:attrName>
                                          <p:attrName>ppt_y</p:attrName>
                                        </p:attrNameLst>
                                      </p:cBhvr>
                                      <p:rCtr x="0" y="-659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30" grpId="0" animBg="1"/>
      <p:bldP spid="30"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047" y="630693"/>
            <a:ext cx="1444625" cy="144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109" y="805649"/>
            <a:ext cx="12700" cy="1023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38167" y="2075318"/>
            <a:ext cx="3141800" cy="3539430"/>
          </a:xfrm>
          <a:prstGeom prst="rect">
            <a:avLst/>
          </a:prstGeom>
          <a:noFill/>
        </p:spPr>
        <p:txBody>
          <a:bodyPr wrap="square" rtlCol="0">
            <a:spAutoFit/>
          </a:bodyPr>
          <a:lstStyle/>
          <a:p>
            <a:r>
              <a:rPr lang="en-US" altLang="zh-CN" sz="2800" dirty="0">
                <a:solidFill>
                  <a:schemeClr val="bg1"/>
                </a:solidFill>
              </a:rPr>
              <a:t>Judge every &lt;</a:t>
            </a:r>
            <a:r>
              <a:rPr lang="en-US" altLang="zh-CN" sz="2800" dirty="0" err="1">
                <a:solidFill>
                  <a:schemeClr val="bg1"/>
                </a:solidFill>
              </a:rPr>
              <a:t>tr</a:t>
            </a:r>
            <a:r>
              <a:rPr lang="en-US" altLang="zh-CN" sz="2800" dirty="0">
                <a:solidFill>
                  <a:schemeClr val="bg1"/>
                </a:solidFill>
              </a:rPr>
              <a:t>&gt; in the file. Take the average value of first two items. Save them in data.txt in the form of “CIK\</a:t>
            </a:r>
            <a:r>
              <a:rPr lang="en-US" altLang="zh-CN" sz="2800" dirty="0" err="1">
                <a:solidFill>
                  <a:schemeClr val="bg1"/>
                </a:solidFill>
              </a:rPr>
              <a:t>tTCA</a:t>
            </a:r>
            <a:r>
              <a:rPr lang="en-US" altLang="zh-CN" sz="2800" dirty="0">
                <a:solidFill>
                  <a:schemeClr val="bg1"/>
                </a:solidFill>
              </a:rPr>
              <a:t>\</a:t>
            </a:r>
            <a:r>
              <a:rPr lang="en-US" altLang="zh-CN" sz="2800" dirty="0" err="1">
                <a:solidFill>
                  <a:schemeClr val="bg1"/>
                </a:solidFill>
              </a:rPr>
              <a:t>tTCL</a:t>
            </a:r>
            <a:r>
              <a:rPr lang="en-US" altLang="zh-CN" sz="2800" dirty="0">
                <a:solidFill>
                  <a:schemeClr val="bg1"/>
                </a:solidFill>
              </a:rPr>
              <a:t>\</a:t>
            </a:r>
            <a:r>
              <a:rPr lang="en-US" altLang="zh-CN" sz="2800" dirty="0" err="1">
                <a:solidFill>
                  <a:schemeClr val="bg1"/>
                </a:solidFill>
              </a:rPr>
              <a:t>tTSE</a:t>
            </a:r>
            <a:r>
              <a:rPr lang="en-US" altLang="zh-CN" sz="2800" dirty="0">
                <a:solidFill>
                  <a:schemeClr val="bg1"/>
                </a:solidFill>
              </a:rPr>
              <a:t>\</a:t>
            </a:r>
            <a:r>
              <a:rPr lang="en-US" altLang="zh-CN" sz="2800" dirty="0" err="1">
                <a:solidFill>
                  <a:schemeClr val="bg1"/>
                </a:solidFill>
              </a:rPr>
              <a:t>tNI</a:t>
            </a:r>
            <a:r>
              <a:rPr lang="en-US" altLang="zh-CN" sz="2800" dirty="0">
                <a:solidFill>
                  <a:schemeClr val="bg1"/>
                </a:solidFill>
              </a:rPr>
              <a:t>\n</a:t>
            </a:r>
            <a:r>
              <a:rPr lang="en-US" altLang="zh-CN" sz="2400" dirty="0">
                <a:solidFill>
                  <a:schemeClr val="bg1"/>
                </a:solidFill>
              </a:rPr>
              <a:t>”</a:t>
            </a:r>
            <a:endParaRPr lang="zh-CN" altLang="en-US" sz="2400" dirty="0"/>
          </a:p>
        </p:txBody>
      </p:sp>
      <p:pic>
        <p:nvPicPr>
          <p:cNvPr id="1029" name="Picture 5" descr="C:\Users\王莹\Desktop\微信图片_2017060816312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9967" y="1144988"/>
            <a:ext cx="4862028" cy="304535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王莹\Desktop\微信图片_2017060816322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9968" y="435912"/>
            <a:ext cx="8132304" cy="4891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Users\王莹\Desktop\微信图片_20170608163312.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05535" y="4190339"/>
            <a:ext cx="5286466" cy="26676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9239417" y="1160965"/>
            <a:ext cx="2077988" cy="2862322"/>
          </a:xfrm>
          <a:prstGeom prst="rect">
            <a:avLst/>
          </a:prstGeom>
          <a:noFill/>
        </p:spPr>
        <p:txBody>
          <a:bodyPr wrap="square" rtlCol="0">
            <a:spAutoFit/>
          </a:bodyPr>
          <a:lstStyle/>
          <a:p>
            <a:r>
              <a:rPr lang="en-US" altLang="zh-CN" dirty="0">
                <a:solidFill>
                  <a:schemeClr val="bg1"/>
                </a:solidFill>
              </a:rPr>
              <a:t>Comments:</a:t>
            </a:r>
            <a:endParaRPr lang="en-US" altLang="zh-CN" dirty="0">
              <a:solidFill>
                <a:schemeClr val="bg1"/>
              </a:solidFill>
            </a:endParaRPr>
          </a:p>
          <a:p>
            <a:r>
              <a:rPr lang="en-US" altLang="zh-CN" dirty="0">
                <a:solidFill>
                  <a:schemeClr val="bg1"/>
                </a:solidFill>
              </a:rPr>
              <a:t>CIK——CIK code; TCA——Total Current Assets; TCL——Total Current Liabilities; TSE——Total Stockholders’ Equity; NI——Net Income</a:t>
            </a:r>
            <a:endParaRPr lang="en-US" altLang="zh-CN"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6" name="矩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459865" cy="1106805"/>
          </a:xfrm>
          <a:prstGeom prst="rect">
            <a:avLst/>
          </a:prstGeom>
        </p:spPr>
        <p:txBody>
          <a:bodyPr wrap="none">
            <a:spAutoFit/>
          </a:bodyPr>
          <a:lstStyle/>
          <a:p>
            <a:r>
              <a:rPr lang="en-US" altLang="zh-CN" sz="6600" spc="-150" dirty="0">
                <a:solidFill>
                  <a:srgbClr val="C99115"/>
                </a:solidFill>
                <a:latin typeface="Meiryo" panose="020B0604030504040204" pitchFamily="34" charset="-128"/>
                <a:ea typeface="Meiryo" panose="020B0604030504040204" pitchFamily="34" charset="-128"/>
              </a:rPr>
              <a:t>3.2</a:t>
            </a:r>
            <a:endParaRPr lang="zh-CN" altLang="en-US" sz="6600" dirty="0">
              <a:solidFill>
                <a:srgbClr val="C99115"/>
              </a:solidFill>
              <a:latin typeface="Meiryo" panose="020B0604030504040204" pitchFamily="34" charset="-128"/>
              <a:ea typeface="Meiryo" panose="020B0604030504040204" pitchFamily="34" charset="-128"/>
            </a:endParaRPr>
          </a:p>
        </p:txBody>
      </p:sp>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692844"/>
            <a:ext cx="6129604" cy="768350"/>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Part 2</a:t>
            </a:r>
            <a:endPar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7"/>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2000" fill="hold"/>
                                        <p:tgtEl>
                                          <p:spTgt spid="14"/>
                                        </p:tgtEl>
                                        <p:attrNameLst>
                                          <p:attrName>ppt_w</p:attrName>
                                        </p:attrNameLst>
                                      </p:cBhvr>
                                      <p:tavLst>
                                        <p:tav tm="0">
                                          <p:val>
                                            <p:fltVal val="0"/>
                                          </p:val>
                                        </p:tav>
                                        <p:tav tm="100000">
                                          <p:val>
                                            <p:strVal val="#ppt_w"/>
                                          </p:val>
                                        </p:tav>
                                      </p:tavLst>
                                    </p:anim>
                                    <p:anim calcmode="lin" valueType="num">
                                      <p:cBhvr>
                                        <p:cTn id="18" dur="2000" fill="hold"/>
                                        <p:tgtEl>
                                          <p:spTgt spid="14"/>
                                        </p:tgtEl>
                                        <p:attrNameLst>
                                          <p:attrName>ppt_h</p:attrName>
                                        </p:attrNameLst>
                                      </p:cBhvr>
                                      <p:tavLst>
                                        <p:tav tm="0">
                                          <p:val>
                                            <p:fltVal val="0"/>
                                          </p:val>
                                        </p:tav>
                                        <p:tav tm="100000">
                                          <p:val>
                                            <p:strVal val="#ppt_h"/>
                                          </p:val>
                                        </p:tav>
                                      </p:tavLst>
                                    </p:anim>
                                    <p:animEffect transition="in" filter="fade">
                                      <p:cBhvr>
                                        <p:cTn id="19" dur="2000"/>
                                        <p:tgtEl>
                                          <p:spTgt spid="14"/>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14"/>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1"/>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20"/>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3"/>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2"/>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2"/>
                                        </p:tgtEl>
                                      </p:cBhvr>
                                    </p:animEffect>
                                    <p:set>
                                      <p:cBhvr>
                                        <p:cTn id="53" dur="1" fill="hold">
                                          <p:stCondLst>
                                            <p:cond delay="499"/>
                                          </p:stCondLst>
                                        </p:cTn>
                                        <p:tgtEl>
                                          <p:spTgt spid="22"/>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9"/>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9" grpId="0" bldLvl="0" animBg="1"/>
      <p:bldP spid="19" grpId="1" bldLvl="0" animBg="1"/>
      <p:bldP spid="19" grpId="2" bldLvl="0" animBg="1"/>
      <p:bldP spid="20" grpId="0" bldLvl="0" animBg="1"/>
      <p:bldP spid="20" grpId="1" bldLvl="0" animBg="1"/>
      <p:bldP spid="20" grpId="2" bldLvl="0" animBg="1"/>
      <p:bldP spid="21" grpId="0" bldLvl="0" animBg="1"/>
      <p:bldP spid="21" grpId="1" bldLvl="0" animBg="1"/>
      <p:bldP spid="21" grpId="2" bldLvl="0" animBg="1"/>
      <p:bldP spid="22" grpId="0" bldLvl="0" animBg="1"/>
      <p:bldP spid="22" grpId="1" bldLvl="0" animBg="1"/>
      <p:bldP spid="22" grpId="2" bldLvl="0" animBg="1"/>
      <p:bldP spid="23" grpId="0" bldLvl="0" animBg="1"/>
      <p:bldP spid="23" grpId="1" bldLvl="0" animBg="1"/>
      <p:bldP spid="23" grpId="2"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28481" y="162863"/>
            <a:ext cx="2628796"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part 2</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grpSp>
        <p:nvGrpSpPr>
          <p:cNvPr id="3" name="组合 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597024" y="3317977"/>
            <a:ext cx="985223" cy="985223"/>
            <a:chOff x="1597024" y="3317977"/>
            <a:chExt cx="985223" cy="985223"/>
          </a:xfrm>
        </p:grpSpPr>
        <p:sp>
          <p:nvSpPr>
            <p:cNvPr id="14" name="椭圆 13"/>
            <p:cNvSpPr/>
            <p:nvPr/>
          </p:nvSpPr>
          <p:spPr>
            <a:xfrm>
              <a:off x="1597024" y="3317977"/>
              <a:ext cx="985223" cy="985223"/>
            </a:xfrm>
            <a:prstGeom prst="ellipse">
              <a:avLst/>
            </a:pr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nvGrpSpPr>
            <p:cNvPr id="18" name="组合 17"/>
            <p:cNvGrpSpPr/>
            <p:nvPr/>
          </p:nvGrpSpPr>
          <p:grpSpPr>
            <a:xfrm>
              <a:off x="1784396" y="3502100"/>
              <a:ext cx="554888" cy="558173"/>
              <a:chOff x="1725613" y="5727700"/>
              <a:chExt cx="268287" cy="269875"/>
            </a:xfrm>
          </p:grpSpPr>
          <p:sp>
            <p:nvSpPr>
              <p:cNvPr id="19" name="Freeform 10"/>
              <p:cNvSpPr/>
              <p:nvPr/>
            </p:nvSpPr>
            <p:spPr bwMode="auto">
              <a:xfrm>
                <a:off x="1766888" y="5757863"/>
                <a:ext cx="31750" cy="31750"/>
              </a:xfrm>
              <a:custGeom>
                <a:avLst/>
                <a:gdLst>
                  <a:gd name="T0" fmla="*/ 10 w 12"/>
                  <a:gd name="T1" fmla="*/ 6 h 12"/>
                  <a:gd name="T2" fmla="*/ 6 w 12"/>
                  <a:gd name="T3" fmla="*/ 2 h 12"/>
                  <a:gd name="T4" fmla="*/ 2 w 12"/>
                  <a:gd name="T5" fmla="*/ 2 h 12"/>
                  <a:gd name="T6" fmla="*/ 2 w 12"/>
                  <a:gd name="T7" fmla="*/ 6 h 12"/>
                  <a:gd name="T8" fmla="*/ 6 w 12"/>
                  <a:gd name="T9" fmla="*/ 10 h 12"/>
                  <a:gd name="T10" fmla="*/ 10 w 12"/>
                  <a:gd name="T11" fmla="*/ 10 h 12"/>
                  <a:gd name="T12" fmla="*/ 10 w 12"/>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0" y="6"/>
                    </a:moveTo>
                    <a:cubicBezTo>
                      <a:pt x="6" y="2"/>
                      <a:pt x="6" y="2"/>
                      <a:pt x="6" y="2"/>
                    </a:cubicBezTo>
                    <a:cubicBezTo>
                      <a:pt x="5" y="0"/>
                      <a:pt x="3" y="0"/>
                      <a:pt x="2" y="2"/>
                    </a:cubicBezTo>
                    <a:cubicBezTo>
                      <a:pt x="0" y="3"/>
                      <a:pt x="0" y="5"/>
                      <a:pt x="2" y="6"/>
                    </a:cubicBezTo>
                    <a:cubicBezTo>
                      <a:pt x="6" y="10"/>
                      <a:pt x="6" y="10"/>
                      <a:pt x="6" y="10"/>
                    </a:cubicBezTo>
                    <a:cubicBezTo>
                      <a:pt x="7" y="12"/>
                      <a:pt x="9" y="12"/>
                      <a:pt x="10" y="10"/>
                    </a:cubicBezTo>
                    <a:cubicBezTo>
                      <a:pt x="12" y="9"/>
                      <a:pt x="12" y="7"/>
                      <a:pt x="10" y="6"/>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0" name="Freeform 11"/>
              <p:cNvSpPr/>
              <p:nvPr/>
            </p:nvSpPr>
            <p:spPr bwMode="auto">
              <a:xfrm>
                <a:off x="1725613" y="5846763"/>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1" name="Freeform 12"/>
              <p:cNvSpPr/>
              <p:nvPr/>
            </p:nvSpPr>
            <p:spPr bwMode="auto">
              <a:xfrm>
                <a:off x="1960563" y="5862638"/>
                <a:ext cx="33337" cy="15875"/>
              </a:xfrm>
              <a:custGeom>
                <a:avLst/>
                <a:gdLst>
                  <a:gd name="T0" fmla="*/ 9 w 12"/>
                  <a:gd name="T1" fmla="*/ 0 h 6"/>
                  <a:gd name="T2" fmla="*/ 3 w 12"/>
                  <a:gd name="T3" fmla="*/ 0 h 6"/>
                  <a:gd name="T4" fmla="*/ 0 w 12"/>
                  <a:gd name="T5" fmla="*/ 3 h 6"/>
                  <a:gd name="T6" fmla="*/ 3 w 12"/>
                  <a:gd name="T7" fmla="*/ 6 h 6"/>
                  <a:gd name="T8" fmla="*/ 9 w 12"/>
                  <a:gd name="T9" fmla="*/ 6 h 6"/>
                  <a:gd name="T10" fmla="*/ 12 w 12"/>
                  <a:gd name="T11" fmla="*/ 3 h 6"/>
                  <a:gd name="T12" fmla="*/ 9 w 12"/>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2" h="6">
                    <a:moveTo>
                      <a:pt x="9" y="0"/>
                    </a:moveTo>
                    <a:cubicBezTo>
                      <a:pt x="3" y="0"/>
                      <a:pt x="3" y="0"/>
                      <a:pt x="3" y="0"/>
                    </a:cubicBezTo>
                    <a:cubicBezTo>
                      <a:pt x="1" y="0"/>
                      <a:pt x="0" y="1"/>
                      <a:pt x="0" y="3"/>
                    </a:cubicBezTo>
                    <a:cubicBezTo>
                      <a:pt x="0" y="5"/>
                      <a:pt x="1" y="6"/>
                      <a:pt x="3" y="6"/>
                    </a:cubicBezTo>
                    <a:cubicBezTo>
                      <a:pt x="9" y="6"/>
                      <a:pt x="9" y="6"/>
                      <a:pt x="9" y="6"/>
                    </a:cubicBezTo>
                    <a:cubicBezTo>
                      <a:pt x="11" y="6"/>
                      <a:pt x="12" y="5"/>
                      <a:pt x="12" y="3"/>
                    </a:cubicBezTo>
                    <a:cubicBezTo>
                      <a:pt x="12" y="1"/>
                      <a:pt x="11" y="0"/>
                      <a:pt x="9"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2" name="Freeform 13"/>
              <p:cNvSpPr/>
              <p:nvPr/>
            </p:nvSpPr>
            <p:spPr bwMode="auto">
              <a:xfrm>
                <a:off x="1933575" y="5770563"/>
                <a:ext cx="30162" cy="30162"/>
              </a:xfrm>
              <a:custGeom>
                <a:avLst/>
                <a:gdLst>
                  <a:gd name="T0" fmla="*/ 10 w 11"/>
                  <a:gd name="T1" fmla="*/ 1 h 11"/>
                  <a:gd name="T2" fmla="*/ 5 w 11"/>
                  <a:gd name="T3" fmla="*/ 1 h 11"/>
                  <a:gd name="T4" fmla="*/ 1 w 11"/>
                  <a:gd name="T5" fmla="*/ 5 h 11"/>
                  <a:gd name="T6" fmla="*/ 1 w 11"/>
                  <a:gd name="T7" fmla="*/ 10 h 11"/>
                  <a:gd name="T8" fmla="*/ 5 w 11"/>
                  <a:gd name="T9" fmla="*/ 10 h 11"/>
                  <a:gd name="T10" fmla="*/ 10 w 11"/>
                  <a:gd name="T11" fmla="*/ 5 h 11"/>
                  <a:gd name="T12" fmla="*/ 10 w 11"/>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10" y="1"/>
                    </a:moveTo>
                    <a:cubicBezTo>
                      <a:pt x="9" y="0"/>
                      <a:pt x="7" y="0"/>
                      <a:pt x="5" y="1"/>
                    </a:cubicBezTo>
                    <a:cubicBezTo>
                      <a:pt x="1" y="5"/>
                      <a:pt x="1" y="5"/>
                      <a:pt x="1" y="5"/>
                    </a:cubicBezTo>
                    <a:cubicBezTo>
                      <a:pt x="0" y="7"/>
                      <a:pt x="0" y="9"/>
                      <a:pt x="1" y="10"/>
                    </a:cubicBezTo>
                    <a:cubicBezTo>
                      <a:pt x="2" y="11"/>
                      <a:pt x="4" y="11"/>
                      <a:pt x="5" y="10"/>
                    </a:cubicBezTo>
                    <a:cubicBezTo>
                      <a:pt x="10" y="5"/>
                      <a:pt x="10" y="5"/>
                      <a:pt x="10" y="5"/>
                    </a:cubicBezTo>
                    <a:cubicBezTo>
                      <a:pt x="11" y="4"/>
                      <a:pt x="11" y="2"/>
                      <a:pt x="10"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3" name="Freeform 14"/>
              <p:cNvSpPr/>
              <p:nvPr/>
            </p:nvSpPr>
            <p:spPr bwMode="auto">
              <a:xfrm>
                <a:off x="1860550" y="5727700"/>
                <a:ext cx="17462" cy="34925"/>
              </a:xfrm>
              <a:custGeom>
                <a:avLst/>
                <a:gdLst>
                  <a:gd name="T0" fmla="*/ 3 w 6"/>
                  <a:gd name="T1" fmla="*/ 13 h 13"/>
                  <a:gd name="T2" fmla="*/ 5 w 6"/>
                  <a:gd name="T3" fmla="*/ 12 h 13"/>
                  <a:gd name="T4" fmla="*/ 6 w 6"/>
                  <a:gd name="T5" fmla="*/ 10 h 13"/>
                  <a:gd name="T6" fmla="*/ 6 w 6"/>
                  <a:gd name="T7" fmla="*/ 3 h 13"/>
                  <a:gd name="T8" fmla="*/ 3 w 6"/>
                  <a:gd name="T9" fmla="*/ 0 h 13"/>
                  <a:gd name="T10" fmla="*/ 0 w 6"/>
                  <a:gd name="T11" fmla="*/ 2 h 13"/>
                  <a:gd name="T12" fmla="*/ 0 w 6"/>
                  <a:gd name="T13" fmla="*/ 3 h 13"/>
                  <a:gd name="T14" fmla="*/ 0 w 6"/>
                  <a:gd name="T15" fmla="*/ 10 h 13"/>
                  <a:gd name="T16" fmla="*/ 3 w 6"/>
                  <a:gd name="T17" fmla="*/ 13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3" y="13"/>
                    </a:moveTo>
                    <a:cubicBezTo>
                      <a:pt x="3" y="13"/>
                      <a:pt x="4" y="12"/>
                      <a:pt x="5" y="12"/>
                    </a:cubicBezTo>
                    <a:cubicBezTo>
                      <a:pt x="5" y="11"/>
                      <a:pt x="6" y="11"/>
                      <a:pt x="6" y="10"/>
                    </a:cubicBezTo>
                    <a:cubicBezTo>
                      <a:pt x="6" y="3"/>
                      <a:pt x="6" y="3"/>
                      <a:pt x="6" y="3"/>
                    </a:cubicBezTo>
                    <a:cubicBezTo>
                      <a:pt x="6" y="2"/>
                      <a:pt x="4" y="0"/>
                      <a:pt x="3" y="0"/>
                    </a:cubicBezTo>
                    <a:cubicBezTo>
                      <a:pt x="1" y="0"/>
                      <a:pt x="0" y="1"/>
                      <a:pt x="0" y="2"/>
                    </a:cubicBezTo>
                    <a:cubicBezTo>
                      <a:pt x="0" y="3"/>
                      <a:pt x="0" y="3"/>
                      <a:pt x="0" y="3"/>
                    </a:cubicBezTo>
                    <a:cubicBezTo>
                      <a:pt x="0" y="10"/>
                      <a:pt x="0" y="10"/>
                      <a:pt x="0" y="10"/>
                    </a:cubicBezTo>
                    <a:cubicBezTo>
                      <a:pt x="0" y="11"/>
                      <a:pt x="1" y="13"/>
                      <a:pt x="3" y="1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4" name="Freeform 15"/>
              <p:cNvSpPr/>
              <p:nvPr/>
            </p:nvSpPr>
            <p:spPr bwMode="auto">
              <a:xfrm>
                <a:off x="1793875" y="5794375"/>
                <a:ext cx="131762" cy="152400"/>
              </a:xfrm>
              <a:custGeom>
                <a:avLst/>
                <a:gdLst>
                  <a:gd name="T0" fmla="*/ 25 w 49"/>
                  <a:gd name="T1" fmla="*/ 0 h 56"/>
                  <a:gd name="T2" fmla="*/ 0 w 49"/>
                  <a:gd name="T3" fmla="*/ 25 h 56"/>
                  <a:gd name="T4" fmla="*/ 12 w 49"/>
                  <a:gd name="T5" fmla="*/ 46 h 56"/>
                  <a:gd name="T6" fmla="*/ 12 w 49"/>
                  <a:gd name="T7" fmla="*/ 56 h 56"/>
                  <a:gd name="T8" fmla="*/ 37 w 49"/>
                  <a:gd name="T9" fmla="*/ 56 h 56"/>
                  <a:gd name="T10" fmla="*/ 37 w 49"/>
                  <a:gd name="T11" fmla="*/ 46 h 56"/>
                  <a:gd name="T12" fmla="*/ 49 w 49"/>
                  <a:gd name="T13" fmla="*/ 25 h 56"/>
                  <a:gd name="T14" fmla="*/ 25 w 49"/>
                  <a:gd name="T15" fmla="*/ 0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56">
                    <a:moveTo>
                      <a:pt x="25" y="0"/>
                    </a:moveTo>
                    <a:cubicBezTo>
                      <a:pt x="11" y="0"/>
                      <a:pt x="0" y="11"/>
                      <a:pt x="0" y="25"/>
                    </a:cubicBezTo>
                    <a:cubicBezTo>
                      <a:pt x="0" y="34"/>
                      <a:pt x="5" y="42"/>
                      <a:pt x="12" y="46"/>
                    </a:cubicBezTo>
                    <a:cubicBezTo>
                      <a:pt x="12" y="56"/>
                      <a:pt x="12" y="56"/>
                      <a:pt x="12" y="56"/>
                    </a:cubicBezTo>
                    <a:cubicBezTo>
                      <a:pt x="37" y="56"/>
                      <a:pt x="37" y="56"/>
                      <a:pt x="37" y="56"/>
                    </a:cubicBezTo>
                    <a:cubicBezTo>
                      <a:pt x="37" y="46"/>
                      <a:pt x="37" y="46"/>
                      <a:pt x="37" y="46"/>
                    </a:cubicBezTo>
                    <a:cubicBezTo>
                      <a:pt x="44" y="42"/>
                      <a:pt x="49" y="34"/>
                      <a:pt x="49" y="25"/>
                    </a:cubicBezTo>
                    <a:cubicBezTo>
                      <a:pt x="49" y="11"/>
                      <a:pt x="38" y="0"/>
                      <a:pt x="25"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5" name="Freeform 16"/>
              <p:cNvSpPr/>
              <p:nvPr/>
            </p:nvSpPr>
            <p:spPr bwMode="auto">
              <a:xfrm>
                <a:off x="1825625" y="5962650"/>
                <a:ext cx="68262" cy="34925"/>
              </a:xfrm>
              <a:custGeom>
                <a:avLst/>
                <a:gdLst>
                  <a:gd name="T0" fmla="*/ 0 w 25"/>
                  <a:gd name="T1" fmla="*/ 6 h 13"/>
                  <a:gd name="T2" fmla="*/ 7 w 25"/>
                  <a:gd name="T3" fmla="*/ 6 h 13"/>
                  <a:gd name="T4" fmla="*/ 6 w 25"/>
                  <a:gd name="T5" fmla="*/ 7 h 13"/>
                  <a:gd name="T6" fmla="*/ 13 w 25"/>
                  <a:gd name="T7" fmla="*/ 13 h 13"/>
                  <a:gd name="T8" fmla="*/ 19 w 25"/>
                  <a:gd name="T9" fmla="*/ 7 h 13"/>
                  <a:gd name="T10" fmla="*/ 19 w 25"/>
                  <a:gd name="T11" fmla="*/ 6 h 13"/>
                  <a:gd name="T12" fmla="*/ 25 w 25"/>
                  <a:gd name="T13" fmla="*/ 6 h 13"/>
                  <a:gd name="T14" fmla="*/ 25 w 25"/>
                  <a:gd name="T15" fmla="*/ 0 h 13"/>
                  <a:gd name="T16" fmla="*/ 0 w 25"/>
                  <a:gd name="T17" fmla="*/ 0 h 13"/>
                  <a:gd name="T18" fmla="*/ 0 w 25"/>
                  <a:gd name="T19" fmla="*/ 6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13">
                    <a:moveTo>
                      <a:pt x="0" y="6"/>
                    </a:moveTo>
                    <a:cubicBezTo>
                      <a:pt x="7" y="6"/>
                      <a:pt x="7" y="6"/>
                      <a:pt x="7" y="6"/>
                    </a:cubicBezTo>
                    <a:cubicBezTo>
                      <a:pt x="6" y="7"/>
                      <a:pt x="6" y="7"/>
                      <a:pt x="6" y="7"/>
                    </a:cubicBezTo>
                    <a:cubicBezTo>
                      <a:pt x="6" y="10"/>
                      <a:pt x="9" y="13"/>
                      <a:pt x="13" y="13"/>
                    </a:cubicBezTo>
                    <a:cubicBezTo>
                      <a:pt x="16" y="13"/>
                      <a:pt x="19" y="10"/>
                      <a:pt x="19" y="7"/>
                    </a:cubicBezTo>
                    <a:cubicBezTo>
                      <a:pt x="19" y="6"/>
                      <a:pt x="19" y="6"/>
                      <a:pt x="19" y="6"/>
                    </a:cubicBezTo>
                    <a:cubicBezTo>
                      <a:pt x="25" y="6"/>
                      <a:pt x="25" y="6"/>
                      <a:pt x="25" y="6"/>
                    </a:cubicBezTo>
                    <a:cubicBezTo>
                      <a:pt x="25" y="0"/>
                      <a:pt x="25" y="0"/>
                      <a:pt x="25" y="0"/>
                    </a:cubicBezTo>
                    <a:cubicBezTo>
                      <a:pt x="0" y="0"/>
                      <a:pt x="0" y="0"/>
                      <a:pt x="0" y="0"/>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8" name="组合 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7442057" y="3648925"/>
            <a:ext cx="985223" cy="985223"/>
            <a:chOff x="7442057" y="3648925"/>
            <a:chExt cx="985223" cy="985223"/>
          </a:xfrm>
        </p:grpSpPr>
        <p:sp>
          <p:nvSpPr>
            <p:cNvPr id="17" name="椭圆 16"/>
            <p:cNvSpPr/>
            <p:nvPr/>
          </p:nvSpPr>
          <p:spPr>
            <a:xfrm flipH="1">
              <a:off x="7442057" y="3648925"/>
              <a:ext cx="985223" cy="985223"/>
            </a:xfrm>
            <a:prstGeom prst="ellipse">
              <a:avLst/>
            </a:pr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nvGrpSpPr>
            <p:cNvPr id="26" name="组合 25"/>
            <p:cNvGrpSpPr/>
            <p:nvPr/>
          </p:nvGrpSpPr>
          <p:grpSpPr>
            <a:xfrm>
              <a:off x="7708091" y="3915777"/>
              <a:ext cx="453154" cy="451518"/>
              <a:chOff x="5287964" y="2994026"/>
              <a:chExt cx="879475" cy="876300"/>
            </a:xfrm>
            <a:solidFill>
              <a:schemeClr val="bg1"/>
            </a:solidFill>
          </p:grpSpPr>
          <p:sp>
            <p:nvSpPr>
              <p:cNvPr id="27" name="Freeform 75"/>
              <p:cNvSpPr>
                <a:spLocks noEditPoints="1"/>
              </p:cNvSpPr>
              <p:nvPr/>
            </p:nvSpPr>
            <p:spPr bwMode="auto">
              <a:xfrm>
                <a:off x="5287964" y="3076576"/>
                <a:ext cx="796925" cy="793750"/>
              </a:xfrm>
              <a:custGeom>
                <a:avLst/>
                <a:gdLst>
                  <a:gd name="T0" fmla="*/ 105 w 211"/>
                  <a:gd name="T1" fmla="*/ 211 h 211"/>
                  <a:gd name="T2" fmla="*/ 211 w 211"/>
                  <a:gd name="T3" fmla="*/ 106 h 211"/>
                  <a:gd name="T4" fmla="*/ 198 w 211"/>
                  <a:gd name="T5" fmla="*/ 56 h 211"/>
                  <a:gd name="T6" fmla="*/ 196 w 211"/>
                  <a:gd name="T7" fmla="*/ 56 h 211"/>
                  <a:gd name="T8" fmla="*/ 194 w 211"/>
                  <a:gd name="T9" fmla="*/ 56 h 211"/>
                  <a:gd name="T10" fmla="*/ 181 w 211"/>
                  <a:gd name="T11" fmla="*/ 55 h 211"/>
                  <a:gd name="T12" fmla="*/ 171 w 211"/>
                  <a:gd name="T13" fmla="*/ 65 h 211"/>
                  <a:gd name="T14" fmla="*/ 183 w 211"/>
                  <a:gd name="T15" fmla="*/ 106 h 211"/>
                  <a:gd name="T16" fmla="*/ 105 w 211"/>
                  <a:gd name="T17" fmla="*/ 183 h 211"/>
                  <a:gd name="T18" fmla="*/ 28 w 211"/>
                  <a:gd name="T19" fmla="*/ 106 h 211"/>
                  <a:gd name="T20" fmla="*/ 105 w 211"/>
                  <a:gd name="T21" fmla="*/ 28 h 211"/>
                  <a:gd name="T22" fmla="*/ 146 w 211"/>
                  <a:gd name="T23" fmla="*/ 40 h 211"/>
                  <a:gd name="T24" fmla="*/ 155 w 211"/>
                  <a:gd name="T25" fmla="*/ 31 h 211"/>
                  <a:gd name="T26" fmla="*/ 154 w 211"/>
                  <a:gd name="T27" fmla="*/ 16 h 211"/>
                  <a:gd name="T28" fmla="*/ 154 w 211"/>
                  <a:gd name="T29" fmla="*/ 12 h 211"/>
                  <a:gd name="T30" fmla="*/ 105 w 211"/>
                  <a:gd name="T31" fmla="*/ 0 h 211"/>
                  <a:gd name="T32" fmla="*/ 0 w 211"/>
                  <a:gd name="T33" fmla="*/ 106 h 211"/>
                  <a:gd name="T34" fmla="*/ 105 w 211"/>
                  <a:gd name="T35" fmla="*/ 211 h 211"/>
                  <a:gd name="T36" fmla="*/ 105 w 211"/>
                  <a:gd name="T37" fmla="*/ 211 h 211"/>
                  <a:gd name="T38" fmla="*/ 105 w 211"/>
                  <a:gd name="T39"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1" h="211">
                    <a:moveTo>
                      <a:pt x="105" y="211"/>
                    </a:moveTo>
                    <a:cubicBezTo>
                      <a:pt x="164" y="211"/>
                      <a:pt x="211" y="164"/>
                      <a:pt x="211" y="106"/>
                    </a:cubicBezTo>
                    <a:cubicBezTo>
                      <a:pt x="211" y="88"/>
                      <a:pt x="206" y="71"/>
                      <a:pt x="198" y="56"/>
                    </a:cubicBezTo>
                    <a:cubicBezTo>
                      <a:pt x="198" y="56"/>
                      <a:pt x="197" y="56"/>
                      <a:pt x="196" y="56"/>
                    </a:cubicBezTo>
                    <a:cubicBezTo>
                      <a:pt x="195" y="56"/>
                      <a:pt x="195" y="56"/>
                      <a:pt x="194" y="56"/>
                    </a:cubicBezTo>
                    <a:cubicBezTo>
                      <a:pt x="181" y="55"/>
                      <a:pt x="181" y="55"/>
                      <a:pt x="181" y="55"/>
                    </a:cubicBezTo>
                    <a:cubicBezTo>
                      <a:pt x="171" y="65"/>
                      <a:pt x="171" y="65"/>
                      <a:pt x="171" y="65"/>
                    </a:cubicBezTo>
                    <a:cubicBezTo>
                      <a:pt x="179" y="77"/>
                      <a:pt x="183" y="91"/>
                      <a:pt x="183" y="106"/>
                    </a:cubicBezTo>
                    <a:cubicBezTo>
                      <a:pt x="183" y="149"/>
                      <a:pt x="148" y="183"/>
                      <a:pt x="105" y="183"/>
                    </a:cubicBezTo>
                    <a:cubicBezTo>
                      <a:pt x="62" y="183"/>
                      <a:pt x="28" y="149"/>
                      <a:pt x="28" y="106"/>
                    </a:cubicBezTo>
                    <a:cubicBezTo>
                      <a:pt x="28" y="63"/>
                      <a:pt x="62" y="28"/>
                      <a:pt x="105" y="28"/>
                    </a:cubicBezTo>
                    <a:cubicBezTo>
                      <a:pt x="120" y="28"/>
                      <a:pt x="134" y="32"/>
                      <a:pt x="146" y="40"/>
                    </a:cubicBezTo>
                    <a:cubicBezTo>
                      <a:pt x="155" y="31"/>
                      <a:pt x="155" y="31"/>
                      <a:pt x="155" y="31"/>
                    </a:cubicBezTo>
                    <a:cubicBezTo>
                      <a:pt x="154" y="16"/>
                      <a:pt x="154" y="16"/>
                      <a:pt x="154" y="16"/>
                    </a:cubicBezTo>
                    <a:cubicBezTo>
                      <a:pt x="154" y="14"/>
                      <a:pt x="154" y="13"/>
                      <a:pt x="154" y="12"/>
                    </a:cubicBezTo>
                    <a:cubicBezTo>
                      <a:pt x="139" y="5"/>
                      <a:pt x="123" y="0"/>
                      <a:pt x="105" y="0"/>
                    </a:cubicBezTo>
                    <a:cubicBezTo>
                      <a:pt x="47" y="0"/>
                      <a:pt x="0" y="48"/>
                      <a:pt x="0" y="106"/>
                    </a:cubicBezTo>
                    <a:cubicBezTo>
                      <a:pt x="0" y="164"/>
                      <a:pt x="47" y="211"/>
                      <a:pt x="105" y="211"/>
                    </a:cubicBezTo>
                    <a:close/>
                    <a:moveTo>
                      <a:pt x="105" y="211"/>
                    </a:moveTo>
                    <a:cubicBezTo>
                      <a:pt x="105" y="211"/>
                      <a:pt x="105" y="211"/>
                      <a:pt x="105" y="211"/>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8" name="Freeform 76"/>
              <p:cNvSpPr>
                <a:spLocks noEditPoints="1"/>
              </p:cNvSpPr>
              <p:nvPr/>
            </p:nvSpPr>
            <p:spPr bwMode="auto">
              <a:xfrm>
                <a:off x="5487989" y="3279776"/>
                <a:ext cx="392113" cy="392113"/>
              </a:xfrm>
              <a:custGeom>
                <a:avLst/>
                <a:gdLst>
                  <a:gd name="T0" fmla="*/ 52 w 104"/>
                  <a:gd name="T1" fmla="*/ 25 h 104"/>
                  <a:gd name="T2" fmla="*/ 54 w 104"/>
                  <a:gd name="T3" fmla="*/ 25 h 104"/>
                  <a:gd name="T4" fmla="*/ 74 w 104"/>
                  <a:gd name="T5" fmla="*/ 5 h 104"/>
                  <a:gd name="T6" fmla="*/ 74 w 104"/>
                  <a:gd name="T7" fmla="*/ 5 h 104"/>
                  <a:gd name="T8" fmla="*/ 52 w 104"/>
                  <a:gd name="T9" fmla="*/ 0 h 104"/>
                  <a:gd name="T10" fmla="*/ 0 w 104"/>
                  <a:gd name="T11" fmla="*/ 52 h 104"/>
                  <a:gd name="T12" fmla="*/ 52 w 104"/>
                  <a:gd name="T13" fmla="*/ 104 h 104"/>
                  <a:gd name="T14" fmla="*/ 104 w 104"/>
                  <a:gd name="T15" fmla="*/ 52 h 104"/>
                  <a:gd name="T16" fmla="*/ 99 w 104"/>
                  <a:gd name="T17" fmla="*/ 30 h 104"/>
                  <a:gd name="T18" fmla="*/ 99 w 104"/>
                  <a:gd name="T19" fmla="*/ 30 h 104"/>
                  <a:gd name="T20" fmla="*/ 79 w 104"/>
                  <a:gd name="T21" fmla="*/ 50 h 104"/>
                  <a:gd name="T22" fmla="*/ 79 w 104"/>
                  <a:gd name="T23" fmla="*/ 52 h 104"/>
                  <a:gd name="T24" fmla="*/ 52 w 104"/>
                  <a:gd name="T25" fmla="*/ 79 h 104"/>
                  <a:gd name="T26" fmla="*/ 25 w 104"/>
                  <a:gd name="T27" fmla="*/ 52 h 104"/>
                  <a:gd name="T28" fmla="*/ 52 w 104"/>
                  <a:gd name="T29" fmla="*/ 25 h 104"/>
                  <a:gd name="T30" fmla="*/ 52 w 104"/>
                  <a:gd name="T31" fmla="*/ 25 h 104"/>
                  <a:gd name="T32" fmla="*/ 52 w 104"/>
                  <a:gd name="T33" fmla="*/ 2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04">
                    <a:moveTo>
                      <a:pt x="52" y="25"/>
                    </a:moveTo>
                    <a:cubicBezTo>
                      <a:pt x="53" y="25"/>
                      <a:pt x="54" y="25"/>
                      <a:pt x="54" y="25"/>
                    </a:cubicBezTo>
                    <a:cubicBezTo>
                      <a:pt x="74" y="5"/>
                      <a:pt x="74" y="5"/>
                      <a:pt x="74" y="5"/>
                    </a:cubicBezTo>
                    <a:cubicBezTo>
                      <a:pt x="74" y="5"/>
                      <a:pt x="74" y="5"/>
                      <a:pt x="74" y="5"/>
                    </a:cubicBezTo>
                    <a:cubicBezTo>
                      <a:pt x="68" y="2"/>
                      <a:pt x="60" y="0"/>
                      <a:pt x="52" y="0"/>
                    </a:cubicBezTo>
                    <a:cubicBezTo>
                      <a:pt x="24" y="0"/>
                      <a:pt x="0" y="23"/>
                      <a:pt x="0" y="52"/>
                    </a:cubicBezTo>
                    <a:cubicBezTo>
                      <a:pt x="0" y="81"/>
                      <a:pt x="24" y="104"/>
                      <a:pt x="52" y="104"/>
                    </a:cubicBezTo>
                    <a:cubicBezTo>
                      <a:pt x="81" y="104"/>
                      <a:pt x="104" y="81"/>
                      <a:pt x="104" y="52"/>
                    </a:cubicBezTo>
                    <a:cubicBezTo>
                      <a:pt x="104" y="44"/>
                      <a:pt x="102" y="37"/>
                      <a:pt x="99" y="30"/>
                    </a:cubicBezTo>
                    <a:cubicBezTo>
                      <a:pt x="99" y="30"/>
                      <a:pt x="99" y="30"/>
                      <a:pt x="99" y="30"/>
                    </a:cubicBezTo>
                    <a:cubicBezTo>
                      <a:pt x="79" y="50"/>
                      <a:pt x="79" y="50"/>
                      <a:pt x="79" y="50"/>
                    </a:cubicBezTo>
                    <a:cubicBezTo>
                      <a:pt x="79" y="50"/>
                      <a:pt x="79" y="51"/>
                      <a:pt x="79" y="52"/>
                    </a:cubicBezTo>
                    <a:cubicBezTo>
                      <a:pt x="79" y="67"/>
                      <a:pt x="67" y="79"/>
                      <a:pt x="52" y="79"/>
                    </a:cubicBezTo>
                    <a:cubicBezTo>
                      <a:pt x="37" y="79"/>
                      <a:pt x="25" y="67"/>
                      <a:pt x="25" y="52"/>
                    </a:cubicBezTo>
                    <a:cubicBezTo>
                      <a:pt x="25" y="37"/>
                      <a:pt x="37" y="25"/>
                      <a:pt x="52" y="25"/>
                    </a:cubicBezTo>
                    <a:close/>
                    <a:moveTo>
                      <a:pt x="52" y="25"/>
                    </a:moveTo>
                    <a:cubicBezTo>
                      <a:pt x="52" y="25"/>
                      <a:pt x="52" y="25"/>
                      <a:pt x="52" y="25"/>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29" name="Freeform 77"/>
              <p:cNvSpPr>
                <a:spLocks noEditPoints="1"/>
              </p:cNvSpPr>
              <p:nvPr/>
            </p:nvSpPr>
            <p:spPr bwMode="auto">
              <a:xfrm>
                <a:off x="5722939" y="2994026"/>
                <a:ext cx="444500" cy="441325"/>
              </a:xfrm>
              <a:custGeom>
                <a:avLst/>
                <a:gdLst>
                  <a:gd name="T0" fmla="*/ 99 w 118"/>
                  <a:gd name="T1" fmla="*/ 32 h 117"/>
                  <a:gd name="T2" fmla="*/ 105 w 118"/>
                  <a:gd name="T3" fmla="*/ 26 h 117"/>
                  <a:gd name="T4" fmla="*/ 105 w 118"/>
                  <a:gd name="T5" fmla="*/ 17 h 117"/>
                  <a:gd name="T6" fmla="*/ 101 w 118"/>
                  <a:gd name="T7" fmla="*/ 13 h 117"/>
                  <a:gd name="T8" fmla="*/ 96 w 118"/>
                  <a:gd name="T9" fmla="*/ 11 h 117"/>
                  <a:gd name="T10" fmla="*/ 92 w 118"/>
                  <a:gd name="T11" fmla="*/ 13 h 117"/>
                  <a:gd name="T12" fmla="*/ 85 w 118"/>
                  <a:gd name="T13" fmla="*/ 19 h 117"/>
                  <a:gd name="T14" fmla="*/ 84 w 118"/>
                  <a:gd name="T15" fmla="*/ 2 h 117"/>
                  <a:gd name="T16" fmla="*/ 82 w 118"/>
                  <a:gd name="T17" fmla="*/ 0 h 117"/>
                  <a:gd name="T18" fmla="*/ 80 w 118"/>
                  <a:gd name="T19" fmla="*/ 1 h 117"/>
                  <a:gd name="T20" fmla="*/ 54 w 118"/>
                  <a:gd name="T21" fmla="*/ 26 h 117"/>
                  <a:gd name="T22" fmla="*/ 51 w 118"/>
                  <a:gd name="T23" fmla="*/ 35 h 117"/>
                  <a:gd name="T24" fmla="*/ 51 w 118"/>
                  <a:gd name="T25" fmla="*/ 36 h 117"/>
                  <a:gd name="T26" fmla="*/ 52 w 118"/>
                  <a:gd name="T27" fmla="*/ 52 h 117"/>
                  <a:gd name="T28" fmla="*/ 43 w 118"/>
                  <a:gd name="T29" fmla="*/ 62 h 117"/>
                  <a:gd name="T30" fmla="*/ 26 w 118"/>
                  <a:gd name="T31" fmla="*/ 78 h 117"/>
                  <a:gd name="T32" fmla="*/ 26 w 118"/>
                  <a:gd name="T33" fmla="*/ 79 h 117"/>
                  <a:gd name="T34" fmla="*/ 10 w 118"/>
                  <a:gd name="T35" fmla="*/ 95 h 117"/>
                  <a:gd name="T36" fmla="*/ 2 w 118"/>
                  <a:gd name="T37" fmla="*/ 102 h 117"/>
                  <a:gd name="T38" fmla="*/ 1 w 118"/>
                  <a:gd name="T39" fmla="*/ 106 h 117"/>
                  <a:gd name="T40" fmla="*/ 0 w 118"/>
                  <a:gd name="T41" fmla="*/ 111 h 117"/>
                  <a:gd name="T42" fmla="*/ 6 w 118"/>
                  <a:gd name="T43" fmla="*/ 117 h 117"/>
                  <a:gd name="T44" fmla="*/ 6 w 118"/>
                  <a:gd name="T45" fmla="*/ 117 h 117"/>
                  <a:gd name="T46" fmla="*/ 12 w 118"/>
                  <a:gd name="T47" fmla="*/ 117 h 117"/>
                  <a:gd name="T48" fmla="*/ 16 w 118"/>
                  <a:gd name="T49" fmla="*/ 115 h 117"/>
                  <a:gd name="T50" fmla="*/ 66 w 118"/>
                  <a:gd name="T51" fmla="*/ 65 h 117"/>
                  <a:gd name="T52" fmla="*/ 81 w 118"/>
                  <a:gd name="T53" fmla="*/ 66 h 117"/>
                  <a:gd name="T54" fmla="*/ 82 w 118"/>
                  <a:gd name="T55" fmla="*/ 66 h 117"/>
                  <a:gd name="T56" fmla="*/ 83 w 118"/>
                  <a:gd name="T57" fmla="*/ 66 h 117"/>
                  <a:gd name="T58" fmla="*/ 91 w 118"/>
                  <a:gd name="T59" fmla="*/ 63 h 117"/>
                  <a:gd name="T60" fmla="*/ 116 w 118"/>
                  <a:gd name="T61" fmla="*/ 37 h 117"/>
                  <a:gd name="T62" fmla="*/ 115 w 118"/>
                  <a:gd name="T63" fmla="*/ 33 h 117"/>
                  <a:gd name="T64" fmla="*/ 99 w 118"/>
                  <a:gd name="T65" fmla="*/ 32 h 117"/>
                  <a:gd name="T66" fmla="*/ 99 w 118"/>
                  <a:gd name="T67" fmla="*/ 32 h 117"/>
                  <a:gd name="T68" fmla="*/ 99 w 118"/>
                  <a:gd name="T69" fmla="*/ 3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8" h="117">
                    <a:moveTo>
                      <a:pt x="99" y="32"/>
                    </a:moveTo>
                    <a:cubicBezTo>
                      <a:pt x="105" y="26"/>
                      <a:pt x="105" y="26"/>
                      <a:pt x="105" y="26"/>
                    </a:cubicBezTo>
                    <a:cubicBezTo>
                      <a:pt x="108" y="24"/>
                      <a:pt x="108" y="20"/>
                      <a:pt x="105" y="17"/>
                    </a:cubicBezTo>
                    <a:cubicBezTo>
                      <a:pt x="101" y="13"/>
                      <a:pt x="101" y="13"/>
                      <a:pt x="101" y="13"/>
                    </a:cubicBezTo>
                    <a:cubicBezTo>
                      <a:pt x="100" y="12"/>
                      <a:pt x="98" y="11"/>
                      <a:pt x="96" y="11"/>
                    </a:cubicBezTo>
                    <a:cubicBezTo>
                      <a:pt x="95" y="11"/>
                      <a:pt x="93" y="12"/>
                      <a:pt x="92" y="13"/>
                    </a:cubicBezTo>
                    <a:cubicBezTo>
                      <a:pt x="85" y="19"/>
                      <a:pt x="85" y="19"/>
                      <a:pt x="85" y="19"/>
                    </a:cubicBezTo>
                    <a:cubicBezTo>
                      <a:pt x="84" y="2"/>
                      <a:pt x="84" y="2"/>
                      <a:pt x="84" y="2"/>
                    </a:cubicBezTo>
                    <a:cubicBezTo>
                      <a:pt x="84" y="1"/>
                      <a:pt x="83" y="0"/>
                      <a:pt x="82" y="0"/>
                    </a:cubicBezTo>
                    <a:cubicBezTo>
                      <a:pt x="81" y="0"/>
                      <a:pt x="80" y="0"/>
                      <a:pt x="80" y="1"/>
                    </a:cubicBezTo>
                    <a:cubicBezTo>
                      <a:pt x="54" y="26"/>
                      <a:pt x="54" y="26"/>
                      <a:pt x="54" y="26"/>
                    </a:cubicBezTo>
                    <a:cubicBezTo>
                      <a:pt x="52" y="29"/>
                      <a:pt x="51" y="32"/>
                      <a:pt x="51" y="35"/>
                    </a:cubicBezTo>
                    <a:cubicBezTo>
                      <a:pt x="51" y="36"/>
                      <a:pt x="51" y="36"/>
                      <a:pt x="51" y="36"/>
                    </a:cubicBezTo>
                    <a:cubicBezTo>
                      <a:pt x="52" y="52"/>
                      <a:pt x="52" y="52"/>
                      <a:pt x="52" y="52"/>
                    </a:cubicBezTo>
                    <a:cubicBezTo>
                      <a:pt x="43" y="62"/>
                      <a:pt x="43" y="62"/>
                      <a:pt x="43" y="62"/>
                    </a:cubicBezTo>
                    <a:cubicBezTo>
                      <a:pt x="26" y="78"/>
                      <a:pt x="26" y="78"/>
                      <a:pt x="26" y="78"/>
                    </a:cubicBezTo>
                    <a:cubicBezTo>
                      <a:pt x="26" y="79"/>
                      <a:pt x="26" y="79"/>
                      <a:pt x="26" y="79"/>
                    </a:cubicBezTo>
                    <a:cubicBezTo>
                      <a:pt x="10" y="95"/>
                      <a:pt x="10" y="95"/>
                      <a:pt x="10" y="95"/>
                    </a:cubicBezTo>
                    <a:cubicBezTo>
                      <a:pt x="2" y="102"/>
                      <a:pt x="2" y="102"/>
                      <a:pt x="2" y="102"/>
                    </a:cubicBezTo>
                    <a:cubicBezTo>
                      <a:pt x="1" y="103"/>
                      <a:pt x="1" y="104"/>
                      <a:pt x="1" y="106"/>
                    </a:cubicBezTo>
                    <a:cubicBezTo>
                      <a:pt x="0" y="111"/>
                      <a:pt x="0" y="111"/>
                      <a:pt x="0" y="111"/>
                    </a:cubicBezTo>
                    <a:cubicBezTo>
                      <a:pt x="0" y="115"/>
                      <a:pt x="3" y="117"/>
                      <a:pt x="6" y="117"/>
                    </a:cubicBezTo>
                    <a:cubicBezTo>
                      <a:pt x="6" y="117"/>
                      <a:pt x="6" y="117"/>
                      <a:pt x="6" y="117"/>
                    </a:cubicBezTo>
                    <a:cubicBezTo>
                      <a:pt x="12" y="117"/>
                      <a:pt x="12" y="117"/>
                      <a:pt x="12" y="117"/>
                    </a:cubicBezTo>
                    <a:cubicBezTo>
                      <a:pt x="14" y="117"/>
                      <a:pt x="15" y="116"/>
                      <a:pt x="16" y="115"/>
                    </a:cubicBezTo>
                    <a:cubicBezTo>
                      <a:pt x="66" y="65"/>
                      <a:pt x="66" y="65"/>
                      <a:pt x="66" y="65"/>
                    </a:cubicBezTo>
                    <a:cubicBezTo>
                      <a:pt x="81" y="66"/>
                      <a:pt x="81" y="66"/>
                      <a:pt x="81" y="66"/>
                    </a:cubicBezTo>
                    <a:cubicBezTo>
                      <a:pt x="82" y="66"/>
                      <a:pt x="82" y="66"/>
                      <a:pt x="82" y="66"/>
                    </a:cubicBezTo>
                    <a:cubicBezTo>
                      <a:pt x="82" y="66"/>
                      <a:pt x="82" y="66"/>
                      <a:pt x="83" y="66"/>
                    </a:cubicBezTo>
                    <a:cubicBezTo>
                      <a:pt x="86" y="66"/>
                      <a:pt x="89" y="65"/>
                      <a:pt x="91" y="63"/>
                    </a:cubicBezTo>
                    <a:cubicBezTo>
                      <a:pt x="116" y="37"/>
                      <a:pt x="116" y="37"/>
                      <a:pt x="116" y="37"/>
                    </a:cubicBezTo>
                    <a:cubicBezTo>
                      <a:pt x="118" y="36"/>
                      <a:pt x="117" y="33"/>
                      <a:pt x="115" y="33"/>
                    </a:cubicBezTo>
                    <a:lnTo>
                      <a:pt x="99" y="32"/>
                    </a:lnTo>
                    <a:close/>
                    <a:moveTo>
                      <a:pt x="99" y="32"/>
                    </a:moveTo>
                    <a:cubicBezTo>
                      <a:pt x="99" y="32"/>
                      <a:pt x="99" y="32"/>
                      <a:pt x="99" y="32"/>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7" name="组合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5446762" y="2772836"/>
            <a:ext cx="985223" cy="985223"/>
            <a:chOff x="5446762" y="2772836"/>
            <a:chExt cx="985223" cy="985223"/>
          </a:xfrm>
        </p:grpSpPr>
        <p:sp>
          <p:nvSpPr>
            <p:cNvPr id="16" name="椭圆 15"/>
            <p:cNvSpPr/>
            <p:nvPr/>
          </p:nvSpPr>
          <p:spPr>
            <a:xfrm rot="2711270" flipH="1">
              <a:off x="5446762" y="2772836"/>
              <a:ext cx="985223" cy="985223"/>
            </a:xfrm>
            <a:prstGeom prst="ellipse">
              <a:avLst/>
            </a:pr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nvGrpSpPr>
            <p:cNvPr id="30" name="组合 29"/>
            <p:cNvGrpSpPr/>
            <p:nvPr/>
          </p:nvGrpSpPr>
          <p:grpSpPr>
            <a:xfrm>
              <a:off x="5651478" y="3024422"/>
              <a:ext cx="524087" cy="498584"/>
              <a:chOff x="6323014" y="4870451"/>
              <a:chExt cx="652463" cy="620713"/>
            </a:xfrm>
            <a:solidFill>
              <a:schemeClr val="bg1"/>
            </a:solidFill>
          </p:grpSpPr>
          <p:sp>
            <p:nvSpPr>
              <p:cNvPr id="31" name="Freeform 81"/>
              <p:cNvSpPr/>
              <p:nvPr/>
            </p:nvSpPr>
            <p:spPr bwMode="auto">
              <a:xfrm>
                <a:off x="6789739" y="4870451"/>
                <a:ext cx="185738" cy="185738"/>
              </a:xfrm>
              <a:custGeom>
                <a:avLst/>
                <a:gdLst>
                  <a:gd name="T0" fmla="*/ 38 w 49"/>
                  <a:gd name="T1" fmla="*/ 11 h 49"/>
                  <a:gd name="T2" fmla="*/ 3 w 49"/>
                  <a:gd name="T3" fmla="*/ 7 h 49"/>
                  <a:gd name="T4" fmla="*/ 2 w 49"/>
                  <a:gd name="T5" fmla="*/ 15 h 49"/>
                  <a:gd name="T6" fmla="*/ 34 w 49"/>
                  <a:gd name="T7" fmla="*/ 47 h 49"/>
                  <a:gd name="T8" fmla="*/ 42 w 49"/>
                  <a:gd name="T9" fmla="*/ 46 h 49"/>
                  <a:gd name="T10" fmla="*/ 38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38" y="11"/>
                    </a:moveTo>
                    <a:cubicBezTo>
                      <a:pt x="28" y="2"/>
                      <a:pt x="14" y="0"/>
                      <a:pt x="3" y="7"/>
                    </a:cubicBezTo>
                    <a:cubicBezTo>
                      <a:pt x="0" y="9"/>
                      <a:pt x="0" y="13"/>
                      <a:pt x="2" y="15"/>
                    </a:cubicBezTo>
                    <a:cubicBezTo>
                      <a:pt x="34" y="47"/>
                      <a:pt x="34" y="47"/>
                      <a:pt x="34" y="47"/>
                    </a:cubicBezTo>
                    <a:cubicBezTo>
                      <a:pt x="36" y="49"/>
                      <a:pt x="40" y="49"/>
                      <a:pt x="42" y="46"/>
                    </a:cubicBezTo>
                    <a:cubicBezTo>
                      <a:pt x="49" y="35"/>
                      <a:pt x="47" y="21"/>
                      <a:pt x="38"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2" name="Freeform 82"/>
              <p:cNvSpPr>
                <a:spLocks noEditPoints="1"/>
              </p:cNvSpPr>
              <p:nvPr/>
            </p:nvSpPr>
            <p:spPr bwMode="auto">
              <a:xfrm>
                <a:off x="6364289" y="4924426"/>
                <a:ext cx="554038" cy="566738"/>
              </a:xfrm>
              <a:custGeom>
                <a:avLst/>
                <a:gdLst>
                  <a:gd name="T0" fmla="*/ 134 w 147"/>
                  <a:gd name="T1" fmla="*/ 115 h 151"/>
                  <a:gd name="T2" fmla="*/ 147 w 147"/>
                  <a:gd name="T3" fmla="*/ 72 h 151"/>
                  <a:gd name="T4" fmla="*/ 75 w 147"/>
                  <a:gd name="T5" fmla="*/ 0 h 151"/>
                  <a:gd name="T6" fmla="*/ 74 w 147"/>
                  <a:gd name="T7" fmla="*/ 0 h 151"/>
                  <a:gd name="T8" fmla="*/ 3 w 147"/>
                  <a:gd name="T9" fmla="*/ 72 h 151"/>
                  <a:gd name="T10" fmla="*/ 15 w 147"/>
                  <a:gd name="T11" fmla="*/ 112 h 151"/>
                  <a:gd name="T12" fmla="*/ 2 w 147"/>
                  <a:gd name="T13" fmla="*/ 137 h 151"/>
                  <a:gd name="T14" fmla="*/ 6 w 147"/>
                  <a:gd name="T15" fmla="*/ 150 h 151"/>
                  <a:gd name="T16" fmla="*/ 11 w 147"/>
                  <a:gd name="T17" fmla="*/ 151 h 151"/>
                  <a:gd name="T18" fmla="*/ 20 w 147"/>
                  <a:gd name="T19" fmla="*/ 146 h 151"/>
                  <a:gd name="T20" fmla="*/ 29 w 147"/>
                  <a:gd name="T21" fmla="*/ 128 h 151"/>
                  <a:gd name="T22" fmla="*/ 74 w 147"/>
                  <a:gd name="T23" fmla="*/ 145 h 151"/>
                  <a:gd name="T24" fmla="*/ 75 w 147"/>
                  <a:gd name="T25" fmla="*/ 145 h 151"/>
                  <a:gd name="T26" fmla="*/ 119 w 147"/>
                  <a:gd name="T27" fmla="*/ 129 h 151"/>
                  <a:gd name="T28" fmla="*/ 127 w 147"/>
                  <a:gd name="T29" fmla="*/ 146 h 151"/>
                  <a:gd name="T30" fmla="*/ 136 w 147"/>
                  <a:gd name="T31" fmla="*/ 151 h 151"/>
                  <a:gd name="T32" fmla="*/ 141 w 147"/>
                  <a:gd name="T33" fmla="*/ 150 h 151"/>
                  <a:gd name="T34" fmla="*/ 145 w 147"/>
                  <a:gd name="T35" fmla="*/ 137 h 151"/>
                  <a:gd name="T36" fmla="*/ 134 w 147"/>
                  <a:gd name="T37" fmla="*/ 115 h 151"/>
                  <a:gd name="T38" fmla="*/ 75 w 147"/>
                  <a:gd name="T39" fmla="*/ 125 h 151"/>
                  <a:gd name="T40" fmla="*/ 74 w 147"/>
                  <a:gd name="T41" fmla="*/ 125 h 151"/>
                  <a:gd name="T42" fmla="*/ 22 w 147"/>
                  <a:gd name="T43" fmla="*/ 72 h 151"/>
                  <a:gd name="T44" fmla="*/ 74 w 147"/>
                  <a:gd name="T45" fmla="*/ 20 h 151"/>
                  <a:gd name="T46" fmla="*/ 75 w 147"/>
                  <a:gd name="T47" fmla="*/ 19 h 151"/>
                  <a:gd name="T48" fmla="*/ 128 w 147"/>
                  <a:gd name="T49" fmla="*/ 72 h 151"/>
                  <a:gd name="T50" fmla="*/ 75 w 147"/>
                  <a:gd name="T51"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7" h="151">
                    <a:moveTo>
                      <a:pt x="134" y="115"/>
                    </a:moveTo>
                    <a:cubicBezTo>
                      <a:pt x="142" y="103"/>
                      <a:pt x="147" y="88"/>
                      <a:pt x="147" y="72"/>
                    </a:cubicBezTo>
                    <a:cubicBezTo>
                      <a:pt x="147" y="32"/>
                      <a:pt x="115" y="0"/>
                      <a:pt x="75" y="0"/>
                    </a:cubicBezTo>
                    <a:cubicBezTo>
                      <a:pt x="75" y="0"/>
                      <a:pt x="74" y="0"/>
                      <a:pt x="74" y="0"/>
                    </a:cubicBezTo>
                    <a:cubicBezTo>
                      <a:pt x="35" y="0"/>
                      <a:pt x="3" y="33"/>
                      <a:pt x="3" y="72"/>
                    </a:cubicBezTo>
                    <a:cubicBezTo>
                      <a:pt x="3" y="87"/>
                      <a:pt x="7" y="101"/>
                      <a:pt x="15" y="112"/>
                    </a:cubicBezTo>
                    <a:cubicBezTo>
                      <a:pt x="2" y="137"/>
                      <a:pt x="2" y="137"/>
                      <a:pt x="2" y="137"/>
                    </a:cubicBezTo>
                    <a:cubicBezTo>
                      <a:pt x="0" y="142"/>
                      <a:pt x="2" y="148"/>
                      <a:pt x="6" y="150"/>
                    </a:cubicBezTo>
                    <a:cubicBezTo>
                      <a:pt x="8" y="151"/>
                      <a:pt x="9" y="151"/>
                      <a:pt x="11" y="151"/>
                    </a:cubicBezTo>
                    <a:cubicBezTo>
                      <a:pt x="14" y="151"/>
                      <a:pt x="18" y="149"/>
                      <a:pt x="20" y="146"/>
                    </a:cubicBezTo>
                    <a:cubicBezTo>
                      <a:pt x="29" y="128"/>
                      <a:pt x="29" y="128"/>
                      <a:pt x="29" y="128"/>
                    </a:cubicBezTo>
                    <a:cubicBezTo>
                      <a:pt x="41" y="138"/>
                      <a:pt x="57" y="145"/>
                      <a:pt x="74" y="145"/>
                    </a:cubicBezTo>
                    <a:cubicBezTo>
                      <a:pt x="74" y="145"/>
                      <a:pt x="75" y="145"/>
                      <a:pt x="75" y="145"/>
                    </a:cubicBezTo>
                    <a:cubicBezTo>
                      <a:pt x="92" y="145"/>
                      <a:pt x="107" y="139"/>
                      <a:pt x="119" y="129"/>
                    </a:cubicBezTo>
                    <a:cubicBezTo>
                      <a:pt x="127" y="146"/>
                      <a:pt x="127" y="146"/>
                      <a:pt x="127" y="146"/>
                    </a:cubicBezTo>
                    <a:cubicBezTo>
                      <a:pt x="129" y="149"/>
                      <a:pt x="133" y="151"/>
                      <a:pt x="136" y="151"/>
                    </a:cubicBezTo>
                    <a:cubicBezTo>
                      <a:pt x="138" y="151"/>
                      <a:pt x="139" y="151"/>
                      <a:pt x="141" y="150"/>
                    </a:cubicBezTo>
                    <a:cubicBezTo>
                      <a:pt x="145" y="148"/>
                      <a:pt x="147" y="142"/>
                      <a:pt x="145" y="137"/>
                    </a:cubicBezTo>
                    <a:lnTo>
                      <a:pt x="134" y="115"/>
                    </a:lnTo>
                    <a:close/>
                    <a:moveTo>
                      <a:pt x="75" y="125"/>
                    </a:moveTo>
                    <a:cubicBezTo>
                      <a:pt x="75" y="125"/>
                      <a:pt x="74" y="125"/>
                      <a:pt x="74" y="125"/>
                    </a:cubicBezTo>
                    <a:cubicBezTo>
                      <a:pt x="45" y="125"/>
                      <a:pt x="22" y="101"/>
                      <a:pt x="22" y="72"/>
                    </a:cubicBezTo>
                    <a:cubicBezTo>
                      <a:pt x="22" y="43"/>
                      <a:pt x="45" y="20"/>
                      <a:pt x="74" y="20"/>
                    </a:cubicBezTo>
                    <a:cubicBezTo>
                      <a:pt x="74" y="20"/>
                      <a:pt x="75" y="19"/>
                      <a:pt x="75" y="19"/>
                    </a:cubicBezTo>
                    <a:cubicBezTo>
                      <a:pt x="104" y="19"/>
                      <a:pt x="128" y="43"/>
                      <a:pt x="128" y="72"/>
                    </a:cubicBezTo>
                    <a:cubicBezTo>
                      <a:pt x="128" y="102"/>
                      <a:pt x="104" y="125"/>
                      <a:pt x="75"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3" name="Freeform 83"/>
              <p:cNvSpPr/>
              <p:nvPr/>
            </p:nvSpPr>
            <p:spPr bwMode="auto">
              <a:xfrm>
                <a:off x="6534151" y="5092701"/>
                <a:ext cx="131763" cy="236538"/>
              </a:xfrm>
              <a:custGeom>
                <a:avLst/>
                <a:gdLst>
                  <a:gd name="T0" fmla="*/ 30 w 35"/>
                  <a:gd name="T1" fmla="*/ 0 h 63"/>
                  <a:gd name="T2" fmla="*/ 29 w 35"/>
                  <a:gd name="T3" fmla="*/ 0 h 63"/>
                  <a:gd name="T4" fmla="*/ 24 w 35"/>
                  <a:gd name="T5" fmla="*/ 6 h 63"/>
                  <a:gd name="T6" fmla="*/ 24 w 35"/>
                  <a:gd name="T7" fmla="*/ 27 h 63"/>
                  <a:gd name="T8" fmla="*/ 2 w 35"/>
                  <a:gd name="T9" fmla="*/ 54 h 63"/>
                  <a:gd name="T10" fmla="*/ 3 w 35"/>
                  <a:gd name="T11" fmla="*/ 61 h 63"/>
                  <a:gd name="T12" fmla="*/ 6 w 35"/>
                  <a:gd name="T13" fmla="*/ 63 h 63"/>
                  <a:gd name="T14" fmla="*/ 10 w 35"/>
                  <a:gd name="T15" fmla="*/ 61 h 63"/>
                  <a:gd name="T16" fmla="*/ 29 w 35"/>
                  <a:gd name="T17" fmla="*/ 39 h 63"/>
                  <a:gd name="T18" fmla="*/ 33 w 35"/>
                  <a:gd name="T19" fmla="*/ 34 h 63"/>
                  <a:gd name="T20" fmla="*/ 35 w 35"/>
                  <a:gd name="T21" fmla="*/ 29 h 63"/>
                  <a:gd name="T22" fmla="*/ 35 w 35"/>
                  <a:gd name="T23" fmla="*/ 6 h 63"/>
                  <a:gd name="T24" fmla="*/ 30 w 35"/>
                  <a:gd name="T25"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63">
                    <a:moveTo>
                      <a:pt x="30" y="0"/>
                    </a:moveTo>
                    <a:cubicBezTo>
                      <a:pt x="30" y="0"/>
                      <a:pt x="29" y="0"/>
                      <a:pt x="29" y="0"/>
                    </a:cubicBezTo>
                    <a:cubicBezTo>
                      <a:pt x="26" y="1"/>
                      <a:pt x="24" y="3"/>
                      <a:pt x="24" y="6"/>
                    </a:cubicBezTo>
                    <a:cubicBezTo>
                      <a:pt x="24" y="27"/>
                      <a:pt x="24" y="27"/>
                      <a:pt x="24" y="27"/>
                    </a:cubicBezTo>
                    <a:cubicBezTo>
                      <a:pt x="2" y="54"/>
                      <a:pt x="2" y="54"/>
                      <a:pt x="2" y="54"/>
                    </a:cubicBezTo>
                    <a:cubicBezTo>
                      <a:pt x="0" y="56"/>
                      <a:pt x="0" y="59"/>
                      <a:pt x="3" y="61"/>
                    </a:cubicBezTo>
                    <a:cubicBezTo>
                      <a:pt x="4" y="62"/>
                      <a:pt x="5" y="63"/>
                      <a:pt x="6" y="63"/>
                    </a:cubicBezTo>
                    <a:cubicBezTo>
                      <a:pt x="8" y="63"/>
                      <a:pt x="9" y="62"/>
                      <a:pt x="10" y="61"/>
                    </a:cubicBezTo>
                    <a:cubicBezTo>
                      <a:pt x="29" y="39"/>
                      <a:pt x="29" y="39"/>
                      <a:pt x="29" y="39"/>
                    </a:cubicBezTo>
                    <a:cubicBezTo>
                      <a:pt x="33" y="34"/>
                      <a:pt x="33" y="34"/>
                      <a:pt x="33" y="34"/>
                    </a:cubicBezTo>
                    <a:cubicBezTo>
                      <a:pt x="35" y="33"/>
                      <a:pt x="35" y="31"/>
                      <a:pt x="35" y="29"/>
                    </a:cubicBezTo>
                    <a:cubicBezTo>
                      <a:pt x="35" y="6"/>
                      <a:pt x="35" y="6"/>
                      <a:pt x="35" y="6"/>
                    </a:cubicBezTo>
                    <a:cubicBezTo>
                      <a:pt x="35" y="3"/>
                      <a:pt x="33" y="0"/>
                      <a:pt x="3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4" name="Freeform 84"/>
              <p:cNvSpPr/>
              <p:nvPr/>
            </p:nvSpPr>
            <p:spPr bwMode="auto">
              <a:xfrm>
                <a:off x="6323014" y="4870451"/>
                <a:ext cx="184150" cy="185738"/>
              </a:xfrm>
              <a:custGeom>
                <a:avLst/>
                <a:gdLst>
                  <a:gd name="T0" fmla="*/ 11 w 49"/>
                  <a:gd name="T1" fmla="*/ 11 h 49"/>
                  <a:gd name="T2" fmla="*/ 7 w 49"/>
                  <a:gd name="T3" fmla="*/ 46 h 49"/>
                  <a:gd name="T4" fmla="*/ 14 w 49"/>
                  <a:gd name="T5" fmla="*/ 47 h 49"/>
                  <a:gd name="T6" fmla="*/ 46 w 49"/>
                  <a:gd name="T7" fmla="*/ 15 h 49"/>
                  <a:gd name="T8" fmla="*/ 45 w 49"/>
                  <a:gd name="T9" fmla="*/ 7 h 49"/>
                  <a:gd name="T10" fmla="*/ 11 w 49"/>
                  <a:gd name="T11" fmla="*/ 11 h 49"/>
                </a:gdLst>
                <a:ahLst/>
                <a:cxnLst>
                  <a:cxn ang="0">
                    <a:pos x="T0" y="T1"/>
                  </a:cxn>
                  <a:cxn ang="0">
                    <a:pos x="T2" y="T3"/>
                  </a:cxn>
                  <a:cxn ang="0">
                    <a:pos x="T4" y="T5"/>
                  </a:cxn>
                  <a:cxn ang="0">
                    <a:pos x="T6" y="T7"/>
                  </a:cxn>
                  <a:cxn ang="0">
                    <a:pos x="T8" y="T9"/>
                  </a:cxn>
                  <a:cxn ang="0">
                    <a:pos x="T10" y="T11"/>
                  </a:cxn>
                </a:cxnLst>
                <a:rect l="0" t="0" r="r" b="b"/>
                <a:pathLst>
                  <a:path w="49" h="49">
                    <a:moveTo>
                      <a:pt x="11" y="11"/>
                    </a:moveTo>
                    <a:cubicBezTo>
                      <a:pt x="1" y="21"/>
                      <a:pt x="0" y="35"/>
                      <a:pt x="7" y="46"/>
                    </a:cubicBezTo>
                    <a:cubicBezTo>
                      <a:pt x="9" y="49"/>
                      <a:pt x="12" y="49"/>
                      <a:pt x="14" y="47"/>
                    </a:cubicBezTo>
                    <a:cubicBezTo>
                      <a:pt x="46" y="15"/>
                      <a:pt x="46" y="15"/>
                      <a:pt x="46" y="15"/>
                    </a:cubicBezTo>
                    <a:cubicBezTo>
                      <a:pt x="49" y="13"/>
                      <a:pt x="48" y="9"/>
                      <a:pt x="45" y="7"/>
                    </a:cubicBezTo>
                    <a:cubicBezTo>
                      <a:pt x="35" y="0"/>
                      <a:pt x="20" y="2"/>
                      <a:pt x="11"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grpSp>
        <p:nvGrpSpPr>
          <p:cNvPr id="5" name="组合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3430168" y="4559774"/>
            <a:ext cx="985223" cy="985223"/>
            <a:chOff x="3430168" y="4559774"/>
            <a:chExt cx="985223" cy="985223"/>
          </a:xfrm>
        </p:grpSpPr>
        <p:sp>
          <p:nvSpPr>
            <p:cNvPr id="15" name="椭圆 14"/>
            <p:cNvSpPr/>
            <p:nvPr/>
          </p:nvSpPr>
          <p:spPr>
            <a:xfrm rot="18888730">
              <a:off x="3430168" y="4559774"/>
              <a:ext cx="985223" cy="985223"/>
            </a:xfrm>
            <a:prstGeom prst="ellipse">
              <a:avLst/>
            </a:pr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nvGrpSpPr>
            <p:cNvPr id="35" name="Group 4"/>
            <p:cNvGrpSpPr>
              <a:grpSpLocks noChangeAspect="1"/>
            </p:cNvGrpSpPr>
            <p:nvPr/>
          </p:nvGrpSpPr>
          <p:grpSpPr bwMode="auto">
            <a:xfrm>
              <a:off x="3680845" y="4835351"/>
              <a:ext cx="461588" cy="453764"/>
              <a:chOff x="3722" y="2043"/>
              <a:chExt cx="236" cy="232"/>
            </a:xfrm>
            <a:solidFill>
              <a:schemeClr val="bg1"/>
            </a:solidFill>
          </p:grpSpPr>
          <p:sp>
            <p:nvSpPr>
              <p:cNvPr id="36" name="Freeform 5"/>
              <p:cNvSpPr>
                <a:spLocks noEditPoints="1"/>
              </p:cNvSpPr>
              <p:nvPr/>
            </p:nvSpPr>
            <p:spPr bwMode="auto">
              <a:xfrm>
                <a:off x="3810" y="2089"/>
                <a:ext cx="14" cy="32"/>
              </a:xfrm>
              <a:custGeom>
                <a:avLst/>
                <a:gdLst>
                  <a:gd name="T0" fmla="*/ 4 w 6"/>
                  <a:gd name="T1" fmla="*/ 0 h 13"/>
                  <a:gd name="T2" fmla="*/ 2 w 6"/>
                  <a:gd name="T3" fmla="*/ 0 h 13"/>
                  <a:gd name="T4" fmla="*/ 0 w 6"/>
                  <a:gd name="T5" fmla="*/ 2 h 13"/>
                  <a:gd name="T6" fmla="*/ 0 w 6"/>
                  <a:gd name="T7" fmla="*/ 13 h 13"/>
                  <a:gd name="T8" fmla="*/ 6 w 6"/>
                  <a:gd name="T9" fmla="*/ 13 h 13"/>
                  <a:gd name="T10" fmla="*/ 6 w 6"/>
                  <a:gd name="T11" fmla="*/ 2 h 13"/>
                  <a:gd name="T12" fmla="*/ 4 w 6"/>
                  <a:gd name="T13" fmla="*/ 0 h 13"/>
                  <a:gd name="T14" fmla="*/ 4 w 6"/>
                  <a:gd name="T15" fmla="*/ 0 h 13"/>
                  <a:gd name="T16" fmla="*/ 4 w 6"/>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3">
                    <a:moveTo>
                      <a:pt x="4" y="0"/>
                    </a:moveTo>
                    <a:cubicBezTo>
                      <a:pt x="2" y="0"/>
                      <a:pt x="2" y="0"/>
                      <a:pt x="2" y="0"/>
                    </a:cubicBezTo>
                    <a:cubicBezTo>
                      <a:pt x="1" y="0"/>
                      <a:pt x="0" y="1"/>
                      <a:pt x="0" y="2"/>
                    </a:cubicBezTo>
                    <a:cubicBezTo>
                      <a:pt x="0" y="13"/>
                      <a:pt x="0" y="13"/>
                      <a:pt x="0" y="13"/>
                    </a:cubicBezTo>
                    <a:cubicBezTo>
                      <a:pt x="6" y="13"/>
                      <a:pt x="6" y="13"/>
                      <a:pt x="6" y="13"/>
                    </a:cubicBezTo>
                    <a:cubicBezTo>
                      <a:pt x="6" y="2"/>
                      <a:pt x="6" y="2"/>
                      <a:pt x="6" y="2"/>
                    </a:cubicBezTo>
                    <a:cubicBezTo>
                      <a:pt x="6" y="1"/>
                      <a:pt x="5" y="0"/>
                      <a:pt x="4" y="0"/>
                    </a:cubicBezTo>
                    <a:close/>
                    <a:moveTo>
                      <a:pt x="4" y="0"/>
                    </a:move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7" name="Freeform 6"/>
              <p:cNvSpPr>
                <a:spLocks noEditPoints="1"/>
              </p:cNvSpPr>
              <p:nvPr/>
            </p:nvSpPr>
            <p:spPr bwMode="auto">
              <a:xfrm>
                <a:off x="3853" y="2089"/>
                <a:ext cx="17" cy="32"/>
              </a:xfrm>
              <a:custGeom>
                <a:avLst/>
                <a:gdLst>
                  <a:gd name="T0" fmla="*/ 4 w 7"/>
                  <a:gd name="T1" fmla="*/ 0 h 13"/>
                  <a:gd name="T2" fmla="*/ 3 w 7"/>
                  <a:gd name="T3" fmla="*/ 0 h 13"/>
                  <a:gd name="T4" fmla="*/ 0 w 7"/>
                  <a:gd name="T5" fmla="*/ 2 h 13"/>
                  <a:gd name="T6" fmla="*/ 0 w 7"/>
                  <a:gd name="T7" fmla="*/ 13 h 13"/>
                  <a:gd name="T8" fmla="*/ 7 w 7"/>
                  <a:gd name="T9" fmla="*/ 13 h 13"/>
                  <a:gd name="T10" fmla="*/ 7 w 7"/>
                  <a:gd name="T11" fmla="*/ 2 h 13"/>
                  <a:gd name="T12" fmla="*/ 4 w 7"/>
                  <a:gd name="T13" fmla="*/ 0 h 13"/>
                  <a:gd name="T14" fmla="*/ 4 w 7"/>
                  <a:gd name="T15" fmla="*/ 0 h 13"/>
                  <a:gd name="T16" fmla="*/ 4 w 7"/>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13">
                    <a:moveTo>
                      <a:pt x="4" y="0"/>
                    </a:moveTo>
                    <a:cubicBezTo>
                      <a:pt x="3" y="0"/>
                      <a:pt x="3" y="0"/>
                      <a:pt x="3" y="0"/>
                    </a:cubicBezTo>
                    <a:cubicBezTo>
                      <a:pt x="1" y="0"/>
                      <a:pt x="0" y="1"/>
                      <a:pt x="0" y="2"/>
                    </a:cubicBezTo>
                    <a:cubicBezTo>
                      <a:pt x="0" y="13"/>
                      <a:pt x="0" y="13"/>
                      <a:pt x="0" y="13"/>
                    </a:cubicBezTo>
                    <a:cubicBezTo>
                      <a:pt x="7" y="13"/>
                      <a:pt x="7" y="13"/>
                      <a:pt x="7" y="13"/>
                    </a:cubicBezTo>
                    <a:cubicBezTo>
                      <a:pt x="7" y="2"/>
                      <a:pt x="7" y="2"/>
                      <a:pt x="7" y="2"/>
                    </a:cubicBezTo>
                    <a:cubicBezTo>
                      <a:pt x="7" y="1"/>
                      <a:pt x="6" y="0"/>
                      <a:pt x="4" y="0"/>
                    </a:cubicBezTo>
                    <a:close/>
                    <a:moveTo>
                      <a:pt x="4" y="0"/>
                    </a:moveTo>
                    <a:cubicBezTo>
                      <a:pt x="4" y="0"/>
                      <a:pt x="4" y="0"/>
                      <a:pt x="4"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sp>
            <p:nvSpPr>
              <p:cNvPr id="38" name="Freeform 7"/>
              <p:cNvSpPr>
                <a:spLocks noEditPoints="1"/>
              </p:cNvSpPr>
              <p:nvPr/>
            </p:nvSpPr>
            <p:spPr bwMode="auto">
              <a:xfrm>
                <a:off x="3722" y="2043"/>
                <a:ext cx="236" cy="232"/>
              </a:xfrm>
              <a:custGeom>
                <a:avLst/>
                <a:gdLst>
                  <a:gd name="T0" fmla="*/ 48 w 97"/>
                  <a:gd name="T1" fmla="*/ 0 h 95"/>
                  <a:gd name="T2" fmla="*/ 0 w 97"/>
                  <a:gd name="T3" fmla="*/ 49 h 95"/>
                  <a:gd name="T4" fmla="*/ 14 w 97"/>
                  <a:gd name="T5" fmla="*/ 83 h 95"/>
                  <a:gd name="T6" fmla="*/ 33 w 97"/>
                  <a:gd name="T7" fmla="*/ 95 h 95"/>
                  <a:gd name="T8" fmla="*/ 35 w 97"/>
                  <a:gd name="T9" fmla="*/ 95 h 95"/>
                  <a:gd name="T10" fmla="*/ 39 w 97"/>
                  <a:gd name="T11" fmla="*/ 92 h 95"/>
                  <a:gd name="T12" fmla="*/ 36 w 97"/>
                  <a:gd name="T13" fmla="*/ 86 h 95"/>
                  <a:gd name="T14" fmla="*/ 20 w 97"/>
                  <a:gd name="T15" fmla="*/ 76 h 95"/>
                  <a:gd name="T16" fmla="*/ 9 w 97"/>
                  <a:gd name="T17" fmla="*/ 49 h 95"/>
                  <a:gd name="T18" fmla="*/ 48 w 97"/>
                  <a:gd name="T19" fmla="*/ 9 h 95"/>
                  <a:gd name="T20" fmla="*/ 87 w 97"/>
                  <a:gd name="T21" fmla="*/ 49 h 95"/>
                  <a:gd name="T22" fmla="*/ 76 w 97"/>
                  <a:gd name="T23" fmla="*/ 76 h 95"/>
                  <a:gd name="T24" fmla="*/ 62 w 97"/>
                  <a:gd name="T25" fmla="*/ 84 h 95"/>
                  <a:gd name="T26" fmla="*/ 57 w 97"/>
                  <a:gd name="T27" fmla="*/ 82 h 95"/>
                  <a:gd name="T28" fmla="*/ 53 w 97"/>
                  <a:gd name="T29" fmla="*/ 65 h 95"/>
                  <a:gd name="T30" fmla="*/ 67 w 97"/>
                  <a:gd name="T31" fmla="*/ 50 h 95"/>
                  <a:gd name="T32" fmla="*/ 67 w 97"/>
                  <a:gd name="T33" fmla="*/ 35 h 95"/>
                  <a:gd name="T34" fmla="*/ 29 w 97"/>
                  <a:gd name="T35" fmla="*/ 35 h 95"/>
                  <a:gd name="T36" fmla="*/ 29 w 97"/>
                  <a:gd name="T37" fmla="*/ 50 h 95"/>
                  <a:gd name="T38" fmla="*/ 43 w 97"/>
                  <a:gd name="T39" fmla="*/ 65 h 95"/>
                  <a:gd name="T40" fmla="*/ 50 w 97"/>
                  <a:gd name="T41" fmla="*/ 88 h 95"/>
                  <a:gd name="T42" fmla="*/ 62 w 97"/>
                  <a:gd name="T43" fmla="*/ 93 h 95"/>
                  <a:gd name="T44" fmla="*/ 82 w 97"/>
                  <a:gd name="T45" fmla="*/ 83 h 95"/>
                  <a:gd name="T46" fmla="*/ 83 w 97"/>
                  <a:gd name="T47" fmla="*/ 83 h 95"/>
                  <a:gd name="T48" fmla="*/ 97 w 97"/>
                  <a:gd name="T49" fmla="*/ 49 h 95"/>
                  <a:gd name="T50" fmla="*/ 48 w 97"/>
                  <a:gd name="T51" fmla="*/ 0 h 95"/>
                  <a:gd name="T52" fmla="*/ 48 w 97"/>
                  <a:gd name="T53" fmla="*/ 0 h 95"/>
                  <a:gd name="T54" fmla="*/ 48 w 97"/>
                  <a:gd name="T55"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7" h="95">
                    <a:moveTo>
                      <a:pt x="48" y="0"/>
                    </a:moveTo>
                    <a:cubicBezTo>
                      <a:pt x="21" y="0"/>
                      <a:pt x="0" y="22"/>
                      <a:pt x="0" y="49"/>
                    </a:cubicBezTo>
                    <a:cubicBezTo>
                      <a:pt x="0" y="61"/>
                      <a:pt x="5" y="74"/>
                      <a:pt x="14" y="83"/>
                    </a:cubicBezTo>
                    <a:cubicBezTo>
                      <a:pt x="19" y="88"/>
                      <a:pt x="26" y="92"/>
                      <a:pt x="33" y="95"/>
                    </a:cubicBezTo>
                    <a:cubicBezTo>
                      <a:pt x="34" y="95"/>
                      <a:pt x="34" y="95"/>
                      <a:pt x="35" y="95"/>
                    </a:cubicBezTo>
                    <a:cubicBezTo>
                      <a:pt x="37" y="95"/>
                      <a:pt x="38" y="94"/>
                      <a:pt x="39" y="92"/>
                    </a:cubicBezTo>
                    <a:cubicBezTo>
                      <a:pt x="40" y="89"/>
                      <a:pt x="39" y="87"/>
                      <a:pt x="36" y="86"/>
                    </a:cubicBezTo>
                    <a:cubicBezTo>
                      <a:pt x="30" y="84"/>
                      <a:pt x="25" y="81"/>
                      <a:pt x="20" y="76"/>
                    </a:cubicBezTo>
                    <a:cubicBezTo>
                      <a:pt x="13" y="69"/>
                      <a:pt x="9" y="59"/>
                      <a:pt x="9" y="49"/>
                    </a:cubicBezTo>
                    <a:cubicBezTo>
                      <a:pt x="9" y="27"/>
                      <a:pt x="27" y="9"/>
                      <a:pt x="48" y="9"/>
                    </a:cubicBezTo>
                    <a:cubicBezTo>
                      <a:pt x="70" y="9"/>
                      <a:pt x="87" y="27"/>
                      <a:pt x="87" y="49"/>
                    </a:cubicBezTo>
                    <a:cubicBezTo>
                      <a:pt x="87" y="59"/>
                      <a:pt x="83" y="69"/>
                      <a:pt x="76" y="76"/>
                    </a:cubicBezTo>
                    <a:cubicBezTo>
                      <a:pt x="73" y="79"/>
                      <a:pt x="66" y="84"/>
                      <a:pt x="62" y="84"/>
                    </a:cubicBezTo>
                    <a:cubicBezTo>
                      <a:pt x="60" y="84"/>
                      <a:pt x="58" y="83"/>
                      <a:pt x="57" y="82"/>
                    </a:cubicBezTo>
                    <a:cubicBezTo>
                      <a:pt x="53" y="78"/>
                      <a:pt x="53" y="70"/>
                      <a:pt x="53" y="65"/>
                    </a:cubicBezTo>
                    <a:cubicBezTo>
                      <a:pt x="61" y="65"/>
                      <a:pt x="67" y="58"/>
                      <a:pt x="67" y="50"/>
                    </a:cubicBezTo>
                    <a:cubicBezTo>
                      <a:pt x="67" y="35"/>
                      <a:pt x="67" y="35"/>
                      <a:pt x="67" y="35"/>
                    </a:cubicBezTo>
                    <a:cubicBezTo>
                      <a:pt x="29" y="35"/>
                      <a:pt x="29" y="35"/>
                      <a:pt x="29" y="35"/>
                    </a:cubicBezTo>
                    <a:cubicBezTo>
                      <a:pt x="29" y="50"/>
                      <a:pt x="29" y="50"/>
                      <a:pt x="29" y="50"/>
                    </a:cubicBezTo>
                    <a:cubicBezTo>
                      <a:pt x="29" y="58"/>
                      <a:pt x="35" y="65"/>
                      <a:pt x="43" y="65"/>
                    </a:cubicBezTo>
                    <a:cubicBezTo>
                      <a:pt x="43" y="71"/>
                      <a:pt x="44" y="82"/>
                      <a:pt x="50" y="88"/>
                    </a:cubicBezTo>
                    <a:cubicBezTo>
                      <a:pt x="53" y="91"/>
                      <a:pt x="57" y="93"/>
                      <a:pt x="62" y="93"/>
                    </a:cubicBezTo>
                    <a:cubicBezTo>
                      <a:pt x="71" y="93"/>
                      <a:pt x="81" y="84"/>
                      <a:pt x="82" y="83"/>
                    </a:cubicBezTo>
                    <a:cubicBezTo>
                      <a:pt x="83" y="83"/>
                      <a:pt x="83" y="83"/>
                      <a:pt x="83" y="83"/>
                    </a:cubicBezTo>
                    <a:cubicBezTo>
                      <a:pt x="92" y="74"/>
                      <a:pt x="97" y="62"/>
                      <a:pt x="97" y="49"/>
                    </a:cubicBezTo>
                    <a:cubicBezTo>
                      <a:pt x="97" y="22"/>
                      <a:pt x="75" y="0"/>
                      <a:pt x="48" y="0"/>
                    </a:cubicBezTo>
                    <a:close/>
                    <a:moveTo>
                      <a:pt x="48" y="0"/>
                    </a:moveTo>
                    <a:cubicBezTo>
                      <a:pt x="48" y="0"/>
                      <a:pt x="48" y="0"/>
                      <a:pt x="48"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endParaRPr>
              </a:p>
            </p:txBody>
          </p:sp>
        </p:gr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3"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1106651" y="2114397"/>
            <a:ext cx="3035757" cy="953135"/>
          </a:xfrm>
          <a:prstGeom prst="rect">
            <a:avLst/>
          </a:prstGeom>
        </p:spPr>
        <p:txBody>
          <a:bodyPr wrap="square">
            <a:spAutoFit/>
          </a:bodyPr>
          <a:lstStyle/>
          <a:p>
            <a:pPr>
              <a:lnSpc>
                <a:spcPct val="200000"/>
              </a:lnSpc>
            </a:pPr>
            <a:r>
              <a:rPr lang="en-US" altLang="zh-CN" sz="2800" b="1" i="1" dirty="0">
                <a:solidFill>
                  <a:srgbClr val="F0C76A"/>
                </a:solidFill>
                <a:ea typeface="Open Sans Light" panose="020B0306030504020204" pitchFamily="34" charset="0"/>
                <a:cs typeface="Open Sans Light" panose="020B0306030504020204" pitchFamily="34" charset="0"/>
              </a:rPr>
              <a:t>read the data</a:t>
            </a:r>
            <a:r>
              <a:rPr lang="en-US" sz="2800" dirty="0">
                <a:solidFill>
                  <a:prstClr val="white"/>
                </a:solidFill>
                <a:ea typeface="Open Sans Light" panose="020B0306030504020204" pitchFamily="34" charset="0"/>
                <a:cs typeface="Open Sans Light" panose="020B0306030504020204" pitchFamily="34" charset="0"/>
              </a:rPr>
              <a:t>.</a:t>
            </a:r>
            <a:endParaRPr lang="en-US" sz="2800" dirty="0">
              <a:solidFill>
                <a:prstClr val="white"/>
              </a:solidFill>
              <a:ea typeface="Open Sans Light" panose="020B0306030504020204" pitchFamily="34" charset="0"/>
              <a:cs typeface="Open Sans Light" panose="020B0306030504020204" pitchFamily="34" charset="0"/>
            </a:endParaRPr>
          </a:p>
        </p:txBody>
      </p:sp>
      <p:sp>
        <p:nvSpPr>
          <p:cNvPr id="44"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1991360" y="5289550"/>
            <a:ext cx="4273550" cy="953135"/>
          </a:xfrm>
          <a:prstGeom prst="rect">
            <a:avLst/>
          </a:prstGeom>
        </p:spPr>
        <p:txBody>
          <a:bodyPr wrap="square">
            <a:spAutoFit/>
          </a:bodyPr>
          <a:lstStyle/>
          <a:p>
            <a:pPr>
              <a:lnSpc>
                <a:spcPct val="200000"/>
              </a:lnSpc>
            </a:pPr>
            <a:r>
              <a:rPr lang="en-US" altLang="zh-CN" sz="2800" b="1" i="1" dirty="0">
                <a:solidFill>
                  <a:srgbClr val="F0C76A"/>
                </a:solidFill>
                <a:ea typeface="Open Sans Light" panose="020B0306030504020204" pitchFamily="34" charset="0"/>
                <a:cs typeface="Open Sans Light" panose="020B0306030504020204" pitchFamily="34" charset="0"/>
              </a:rPr>
              <a:t>process the original data</a:t>
            </a:r>
            <a:r>
              <a:rPr lang="en-US" sz="2800" b="1" i="1" dirty="0">
                <a:solidFill>
                  <a:prstClr val="white"/>
                </a:solidFill>
                <a:ea typeface="Open Sans Light" panose="020B0306030504020204" pitchFamily="34" charset="0"/>
                <a:cs typeface="Open Sans Light" panose="020B0306030504020204" pitchFamily="34" charset="0"/>
              </a:rPr>
              <a:t>.</a:t>
            </a:r>
            <a:endParaRPr lang="en-US" sz="2800" b="1" i="1" dirty="0">
              <a:solidFill>
                <a:prstClr val="white"/>
              </a:solidFill>
              <a:ea typeface="Open Sans Light" panose="020B0306030504020204" pitchFamily="34" charset="0"/>
              <a:cs typeface="Open Sans Light" panose="020B0306030504020204" pitchFamily="34" charset="0"/>
            </a:endParaRPr>
          </a:p>
        </p:txBody>
      </p:sp>
      <p:sp>
        <p:nvSpPr>
          <p:cNvPr id="45"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635750" y="4634230"/>
            <a:ext cx="3590290" cy="953135"/>
          </a:xfrm>
          <a:prstGeom prst="rect">
            <a:avLst/>
          </a:prstGeom>
        </p:spPr>
        <p:txBody>
          <a:bodyPr wrap="square">
            <a:spAutoFit/>
          </a:bodyPr>
          <a:lstStyle/>
          <a:p>
            <a:pPr>
              <a:lnSpc>
                <a:spcPct val="200000"/>
              </a:lnSpc>
            </a:pPr>
            <a:r>
              <a:rPr lang="en-US" altLang="zh-CN" sz="2800" b="1" i="1" dirty="0">
                <a:solidFill>
                  <a:srgbClr val="F0C76A"/>
                </a:solidFill>
                <a:ea typeface="Open Sans Light" panose="020B0306030504020204" pitchFamily="34" charset="0"/>
                <a:cs typeface="Open Sans Light" panose="020B0306030504020204" pitchFamily="34" charset="0"/>
              </a:rPr>
              <a:t>sort the F-score</a:t>
            </a:r>
            <a:endParaRPr lang="en-US" altLang="zh-CN" sz="2800" b="1" i="1" dirty="0">
              <a:solidFill>
                <a:srgbClr val="F0C76A"/>
              </a:solidFill>
              <a:ea typeface="Open Sans Light" panose="020B0306030504020204" pitchFamily="34" charset="0"/>
              <a:cs typeface="Open Sans Light" panose="020B0306030504020204" pitchFamily="34" charset="0"/>
            </a:endParaRPr>
          </a:p>
        </p:txBody>
      </p:sp>
      <p:sp>
        <p:nvSpPr>
          <p:cNvPr id="46"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722495" y="839470"/>
            <a:ext cx="3705225" cy="1814830"/>
          </a:xfrm>
          <a:prstGeom prst="rect">
            <a:avLst/>
          </a:prstGeom>
        </p:spPr>
        <p:txBody>
          <a:bodyPr wrap="square">
            <a:spAutoFit/>
          </a:bodyPr>
          <a:lstStyle/>
          <a:p>
            <a:pPr>
              <a:lnSpc>
                <a:spcPct val="200000"/>
              </a:lnSpc>
            </a:pPr>
            <a:r>
              <a:rPr lang="en-US" altLang="zh-CN" sz="2800" b="1" i="1" dirty="0">
                <a:solidFill>
                  <a:srgbClr val="F0C76A"/>
                </a:solidFill>
                <a:ea typeface="Open Sans Light" panose="020B0306030504020204" pitchFamily="34" charset="0"/>
                <a:cs typeface="Open Sans Light" panose="020B0306030504020204" pitchFamily="34" charset="0"/>
              </a:rPr>
              <a:t>compute rational financial ratios </a:t>
            </a:r>
            <a:endParaRPr lang="en-US" altLang="zh-CN" sz="2800" b="1" i="1" dirty="0">
              <a:solidFill>
                <a:srgbClr val="F0C76A"/>
              </a:solidFill>
              <a:ea typeface="Open Sans Light" panose="020B0306030504020204" pitchFamily="34" charset="0"/>
              <a:cs typeface="Open Sans Light" panose="020B0306030504020204" pitchFamily="34" charset="0"/>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22" presetClass="entr" presetSubtype="8" fill="hold" grpId="0" nodeType="withEffect">
                                  <p:stCondLst>
                                    <p:cond delay="3500"/>
                                  </p:stCondLst>
                                  <p:childTnLst>
                                    <p:set>
                                      <p:cBhvr>
                                        <p:cTn id="16" dur="1" fill="hold">
                                          <p:stCondLst>
                                            <p:cond delay="0"/>
                                          </p:stCondLst>
                                        </p:cTn>
                                        <p:tgtEl>
                                          <p:spTgt spid="43"/>
                                        </p:tgtEl>
                                        <p:attrNameLst>
                                          <p:attrName>style.visibility</p:attrName>
                                        </p:attrNameLst>
                                      </p:cBhvr>
                                      <p:to>
                                        <p:strVal val="visible"/>
                                      </p:to>
                                    </p:set>
                                    <p:animEffect transition="in" filter="wipe(left)">
                                      <p:cBhvr>
                                        <p:cTn id="17" dur="500"/>
                                        <p:tgtEl>
                                          <p:spTgt spid="43"/>
                                        </p:tgtEl>
                                      </p:cBhvr>
                                    </p:animEffect>
                                  </p:childTnLst>
                                </p:cTn>
                              </p:par>
                              <p:par>
                                <p:cTn id="18" presetID="22" presetClass="entr" presetSubtype="8" fill="hold" grpId="0" nodeType="withEffect">
                                  <p:stCondLst>
                                    <p:cond delay="3500"/>
                                  </p:stCondLst>
                                  <p:childTnLst>
                                    <p:set>
                                      <p:cBhvr>
                                        <p:cTn id="19" dur="1" fill="hold">
                                          <p:stCondLst>
                                            <p:cond delay="0"/>
                                          </p:stCondLst>
                                        </p:cTn>
                                        <p:tgtEl>
                                          <p:spTgt spid="44"/>
                                        </p:tgtEl>
                                        <p:attrNameLst>
                                          <p:attrName>style.visibility</p:attrName>
                                        </p:attrNameLst>
                                      </p:cBhvr>
                                      <p:to>
                                        <p:strVal val="visible"/>
                                      </p:to>
                                    </p:set>
                                    <p:animEffect transition="in" filter="wipe(left)">
                                      <p:cBhvr>
                                        <p:cTn id="20" dur="500"/>
                                        <p:tgtEl>
                                          <p:spTgt spid="44"/>
                                        </p:tgtEl>
                                      </p:cBhvr>
                                    </p:animEffect>
                                  </p:childTnLst>
                                </p:cTn>
                              </p:par>
                              <p:par>
                                <p:cTn id="21" presetID="22" presetClass="entr" presetSubtype="8" fill="hold" grpId="0" nodeType="withEffect">
                                  <p:stCondLst>
                                    <p:cond delay="3500"/>
                                  </p:stCondLst>
                                  <p:childTnLst>
                                    <p:set>
                                      <p:cBhvr>
                                        <p:cTn id="22" dur="1" fill="hold">
                                          <p:stCondLst>
                                            <p:cond delay="0"/>
                                          </p:stCondLst>
                                        </p:cTn>
                                        <p:tgtEl>
                                          <p:spTgt spid="45"/>
                                        </p:tgtEl>
                                        <p:attrNameLst>
                                          <p:attrName>style.visibility</p:attrName>
                                        </p:attrNameLst>
                                      </p:cBhvr>
                                      <p:to>
                                        <p:strVal val="visible"/>
                                      </p:to>
                                    </p:set>
                                    <p:animEffect transition="in" filter="wipe(left)">
                                      <p:cBhvr>
                                        <p:cTn id="23" dur="500"/>
                                        <p:tgtEl>
                                          <p:spTgt spid="45"/>
                                        </p:tgtEl>
                                      </p:cBhvr>
                                    </p:animEffect>
                                  </p:childTnLst>
                                </p:cTn>
                              </p:par>
                              <p:par>
                                <p:cTn id="24" presetID="22" presetClass="entr" presetSubtype="8" fill="hold" grpId="0" nodeType="withEffect">
                                  <p:stCondLst>
                                    <p:cond delay="3500"/>
                                  </p:stCondLst>
                                  <p:childTnLst>
                                    <p:set>
                                      <p:cBhvr>
                                        <p:cTn id="25" dur="1" fill="hold">
                                          <p:stCondLst>
                                            <p:cond delay="0"/>
                                          </p:stCondLst>
                                        </p:cTn>
                                        <p:tgtEl>
                                          <p:spTgt spid="46"/>
                                        </p:tgtEl>
                                        <p:attrNameLst>
                                          <p:attrName>style.visibility</p:attrName>
                                        </p:attrNameLst>
                                      </p:cBhvr>
                                      <p:to>
                                        <p:strVal val="visible"/>
                                      </p:to>
                                    </p:set>
                                    <p:animEffect transition="in" filter="wipe(left)">
                                      <p:cBhvr>
                                        <p:cTn id="26" dur="500"/>
                                        <p:tgtEl>
                                          <p:spTgt spid="46"/>
                                        </p:tgtEl>
                                      </p:cBhvr>
                                    </p:animEffect>
                                  </p:childTnLst>
                                </p:cTn>
                              </p:par>
                              <p:par>
                                <p:cTn id="27" presetID="53" presetClass="entr" presetSubtype="16" fill="hold" nodeType="withEffect">
                                  <p:stCondLst>
                                    <p:cond delay="1000"/>
                                  </p:stCondLst>
                                  <p:childTnLst>
                                    <p:set>
                                      <p:cBhvr>
                                        <p:cTn id="28" dur="1" fill="hold">
                                          <p:stCondLst>
                                            <p:cond delay="0"/>
                                          </p:stCondLst>
                                        </p:cTn>
                                        <p:tgtEl>
                                          <p:spTgt spid="3"/>
                                        </p:tgtEl>
                                        <p:attrNameLst>
                                          <p:attrName>style.visibility</p:attrName>
                                        </p:attrNameLst>
                                      </p:cBhvr>
                                      <p:to>
                                        <p:strVal val="visible"/>
                                      </p:to>
                                    </p:set>
                                    <p:anim calcmode="lin" valueType="num">
                                      <p:cBhvr>
                                        <p:cTn id="29" dur="1000" fill="hold"/>
                                        <p:tgtEl>
                                          <p:spTgt spid="3"/>
                                        </p:tgtEl>
                                        <p:attrNameLst>
                                          <p:attrName>ppt_w</p:attrName>
                                        </p:attrNameLst>
                                      </p:cBhvr>
                                      <p:tavLst>
                                        <p:tav tm="0">
                                          <p:val>
                                            <p:fltVal val="0"/>
                                          </p:val>
                                        </p:tav>
                                        <p:tav tm="100000">
                                          <p:val>
                                            <p:strVal val="#ppt_w"/>
                                          </p:val>
                                        </p:tav>
                                      </p:tavLst>
                                    </p:anim>
                                    <p:anim calcmode="lin" valueType="num">
                                      <p:cBhvr>
                                        <p:cTn id="30" dur="1000" fill="hold"/>
                                        <p:tgtEl>
                                          <p:spTgt spid="3"/>
                                        </p:tgtEl>
                                        <p:attrNameLst>
                                          <p:attrName>ppt_h</p:attrName>
                                        </p:attrNameLst>
                                      </p:cBhvr>
                                      <p:tavLst>
                                        <p:tav tm="0">
                                          <p:val>
                                            <p:fltVal val="0"/>
                                          </p:val>
                                        </p:tav>
                                        <p:tav tm="100000">
                                          <p:val>
                                            <p:strVal val="#ppt_h"/>
                                          </p:val>
                                        </p:tav>
                                      </p:tavLst>
                                    </p:anim>
                                    <p:animEffect transition="in" filter="fade">
                                      <p:cBhvr>
                                        <p:cTn id="31" dur="1000"/>
                                        <p:tgtEl>
                                          <p:spTgt spid="3"/>
                                        </p:tgtEl>
                                      </p:cBhvr>
                                    </p:animEffect>
                                  </p:childTnLst>
                                </p:cTn>
                              </p:par>
                              <p:par>
                                <p:cTn id="32" presetID="10" presetClass="entr" presetSubtype="0" fill="hold" grpId="0" nodeType="withEffect">
                                  <p:stCondLst>
                                    <p:cond delay="2000"/>
                                  </p:stCondLst>
                                  <p:childTnLst>
                                    <p:set>
                                      <p:cBhvr>
                                        <p:cTn id="33" dur="1" fill="hold">
                                          <p:stCondLst>
                                            <p:cond delay="0"/>
                                          </p:stCondLst>
                                        </p:cTn>
                                        <p:tgtEl>
                                          <p:spTgt spid="39"/>
                                        </p:tgtEl>
                                        <p:attrNameLst>
                                          <p:attrName>style.visibility</p:attrName>
                                        </p:attrNameLst>
                                      </p:cBhvr>
                                      <p:to>
                                        <p:strVal val="visible"/>
                                      </p:to>
                                    </p:set>
                                    <p:animEffect transition="in" filter="fade">
                                      <p:cBhvr>
                                        <p:cTn id="34" dur="500"/>
                                        <p:tgtEl>
                                          <p:spTgt spid="39"/>
                                        </p:tgtEl>
                                      </p:cBhvr>
                                    </p:animEffect>
                                  </p:childTnLst>
                                </p:cTn>
                              </p:par>
                              <p:par>
                                <p:cTn id="35" presetID="63" presetClass="path" presetSubtype="0" accel="50000" decel="50000" fill="hold" grpId="1" nodeType="withEffect">
                                  <p:stCondLst>
                                    <p:cond delay="2000"/>
                                  </p:stCondLst>
                                  <p:childTnLst>
                                    <p:animMotion origin="layout" path="M -0.03177 -0.05556 L 8.33333E-7 1.48148E-6 " pathEditMode="relative" rAng="0" ptsTypes="AA">
                                      <p:cBhvr>
                                        <p:cTn id="36" dur="2000" fill="hold"/>
                                        <p:tgtEl>
                                          <p:spTgt spid="39"/>
                                        </p:tgtEl>
                                        <p:attrNameLst>
                                          <p:attrName>ppt_x</p:attrName>
                                          <p:attrName>ppt_y</p:attrName>
                                        </p:attrNameLst>
                                      </p:cBhvr>
                                      <p:rCtr x="1589" y="2778"/>
                                    </p:animMotion>
                                  </p:childTnLst>
                                </p:cTn>
                              </p:par>
                              <p:par>
                                <p:cTn id="37" presetID="53" presetClass="entr" presetSubtype="16" fill="hold" nodeType="withEffect">
                                  <p:stCondLst>
                                    <p:cond delay="1000"/>
                                  </p:stCondLst>
                                  <p:childTnLst>
                                    <p:set>
                                      <p:cBhvr>
                                        <p:cTn id="38" dur="1" fill="hold">
                                          <p:stCondLst>
                                            <p:cond delay="0"/>
                                          </p:stCondLst>
                                        </p:cTn>
                                        <p:tgtEl>
                                          <p:spTgt spid="5"/>
                                        </p:tgtEl>
                                        <p:attrNameLst>
                                          <p:attrName>style.visibility</p:attrName>
                                        </p:attrNameLst>
                                      </p:cBhvr>
                                      <p:to>
                                        <p:strVal val="visible"/>
                                      </p:to>
                                    </p:set>
                                    <p:anim calcmode="lin" valueType="num">
                                      <p:cBhvr>
                                        <p:cTn id="39" dur="1000" fill="hold"/>
                                        <p:tgtEl>
                                          <p:spTgt spid="5"/>
                                        </p:tgtEl>
                                        <p:attrNameLst>
                                          <p:attrName>ppt_w</p:attrName>
                                        </p:attrNameLst>
                                      </p:cBhvr>
                                      <p:tavLst>
                                        <p:tav tm="0">
                                          <p:val>
                                            <p:fltVal val="0"/>
                                          </p:val>
                                        </p:tav>
                                        <p:tav tm="100000">
                                          <p:val>
                                            <p:strVal val="#ppt_w"/>
                                          </p:val>
                                        </p:tav>
                                      </p:tavLst>
                                    </p:anim>
                                    <p:anim calcmode="lin" valueType="num">
                                      <p:cBhvr>
                                        <p:cTn id="40" dur="1000" fill="hold"/>
                                        <p:tgtEl>
                                          <p:spTgt spid="5"/>
                                        </p:tgtEl>
                                        <p:attrNameLst>
                                          <p:attrName>ppt_h</p:attrName>
                                        </p:attrNameLst>
                                      </p:cBhvr>
                                      <p:tavLst>
                                        <p:tav tm="0">
                                          <p:val>
                                            <p:fltVal val="0"/>
                                          </p:val>
                                        </p:tav>
                                        <p:tav tm="100000">
                                          <p:val>
                                            <p:strVal val="#ppt_h"/>
                                          </p:val>
                                        </p:tav>
                                      </p:tavLst>
                                    </p:anim>
                                    <p:animEffect transition="in" filter="fade">
                                      <p:cBhvr>
                                        <p:cTn id="41" dur="1000"/>
                                        <p:tgtEl>
                                          <p:spTgt spid="5"/>
                                        </p:tgtEl>
                                      </p:cBhvr>
                                    </p:animEffect>
                                  </p:childTnLst>
                                </p:cTn>
                              </p:par>
                              <p:par>
                                <p:cTn id="42" presetID="53" presetClass="entr" presetSubtype="16" fill="hold" nodeType="withEffect">
                                  <p:stCondLst>
                                    <p:cond delay="1000"/>
                                  </p:stCondLst>
                                  <p:childTnLst>
                                    <p:set>
                                      <p:cBhvr>
                                        <p:cTn id="43" dur="1" fill="hold">
                                          <p:stCondLst>
                                            <p:cond delay="0"/>
                                          </p:stCondLst>
                                        </p:cTn>
                                        <p:tgtEl>
                                          <p:spTgt spid="7"/>
                                        </p:tgtEl>
                                        <p:attrNameLst>
                                          <p:attrName>style.visibility</p:attrName>
                                        </p:attrNameLst>
                                      </p:cBhvr>
                                      <p:to>
                                        <p:strVal val="visible"/>
                                      </p:to>
                                    </p:set>
                                    <p:anim calcmode="lin" valueType="num">
                                      <p:cBhvr>
                                        <p:cTn id="44" dur="1000" fill="hold"/>
                                        <p:tgtEl>
                                          <p:spTgt spid="7"/>
                                        </p:tgtEl>
                                        <p:attrNameLst>
                                          <p:attrName>ppt_w</p:attrName>
                                        </p:attrNameLst>
                                      </p:cBhvr>
                                      <p:tavLst>
                                        <p:tav tm="0">
                                          <p:val>
                                            <p:fltVal val="0"/>
                                          </p:val>
                                        </p:tav>
                                        <p:tav tm="100000">
                                          <p:val>
                                            <p:strVal val="#ppt_w"/>
                                          </p:val>
                                        </p:tav>
                                      </p:tavLst>
                                    </p:anim>
                                    <p:anim calcmode="lin" valueType="num">
                                      <p:cBhvr>
                                        <p:cTn id="45" dur="1000" fill="hold"/>
                                        <p:tgtEl>
                                          <p:spTgt spid="7"/>
                                        </p:tgtEl>
                                        <p:attrNameLst>
                                          <p:attrName>ppt_h</p:attrName>
                                        </p:attrNameLst>
                                      </p:cBhvr>
                                      <p:tavLst>
                                        <p:tav tm="0">
                                          <p:val>
                                            <p:fltVal val="0"/>
                                          </p:val>
                                        </p:tav>
                                        <p:tav tm="100000">
                                          <p:val>
                                            <p:strVal val="#ppt_h"/>
                                          </p:val>
                                        </p:tav>
                                      </p:tavLst>
                                    </p:anim>
                                    <p:animEffect transition="in" filter="fade">
                                      <p:cBhvr>
                                        <p:cTn id="46" dur="1000"/>
                                        <p:tgtEl>
                                          <p:spTgt spid="7"/>
                                        </p:tgtEl>
                                      </p:cBhvr>
                                    </p:animEffect>
                                  </p:childTnLst>
                                </p:cTn>
                              </p:par>
                              <p:par>
                                <p:cTn id="47" presetID="53" presetClass="entr" presetSubtype="16" fill="hold" nodeType="withEffect">
                                  <p:stCondLst>
                                    <p:cond delay="1000"/>
                                  </p:stCondLst>
                                  <p:childTnLst>
                                    <p:set>
                                      <p:cBhvr>
                                        <p:cTn id="48" dur="1" fill="hold">
                                          <p:stCondLst>
                                            <p:cond delay="0"/>
                                          </p:stCondLst>
                                        </p:cTn>
                                        <p:tgtEl>
                                          <p:spTgt spid="8"/>
                                        </p:tgtEl>
                                        <p:attrNameLst>
                                          <p:attrName>style.visibility</p:attrName>
                                        </p:attrNameLst>
                                      </p:cBhvr>
                                      <p:to>
                                        <p:strVal val="visible"/>
                                      </p:to>
                                    </p:set>
                                    <p:anim calcmode="lin" valueType="num">
                                      <p:cBhvr>
                                        <p:cTn id="49" dur="1000" fill="hold"/>
                                        <p:tgtEl>
                                          <p:spTgt spid="8"/>
                                        </p:tgtEl>
                                        <p:attrNameLst>
                                          <p:attrName>ppt_w</p:attrName>
                                        </p:attrNameLst>
                                      </p:cBhvr>
                                      <p:tavLst>
                                        <p:tav tm="0">
                                          <p:val>
                                            <p:fltVal val="0"/>
                                          </p:val>
                                        </p:tav>
                                        <p:tav tm="100000">
                                          <p:val>
                                            <p:strVal val="#ppt_w"/>
                                          </p:val>
                                        </p:tav>
                                      </p:tavLst>
                                    </p:anim>
                                    <p:anim calcmode="lin" valueType="num">
                                      <p:cBhvr>
                                        <p:cTn id="50" dur="1000" fill="hold"/>
                                        <p:tgtEl>
                                          <p:spTgt spid="8"/>
                                        </p:tgtEl>
                                        <p:attrNameLst>
                                          <p:attrName>ppt_h</p:attrName>
                                        </p:attrNameLst>
                                      </p:cBhvr>
                                      <p:tavLst>
                                        <p:tav tm="0">
                                          <p:val>
                                            <p:fltVal val="0"/>
                                          </p:val>
                                        </p:tav>
                                        <p:tav tm="100000">
                                          <p:val>
                                            <p:strVal val="#ppt_h"/>
                                          </p:val>
                                        </p:tav>
                                      </p:tavLst>
                                    </p:anim>
                                    <p:animEffect transition="in" filter="fade">
                                      <p:cBhvr>
                                        <p:cTn id="51" dur="1000"/>
                                        <p:tgtEl>
                                          <p:spTgt spid="8"/>
                                        </p:tgtEl>
                                      </p:cBhvr>
                                    </p:animEffect>
                                  </p:childTnLst>
                                </p:cTn>
                              </p:par>
                              <p:par>
                                <p:cTn id="52" presetID="10" presetClass="entr" presetSubtype="0" fill="hold" grpId="0" nodeType="withEffect">
                                  <p:stCondLst>
                                    <p:cond delay="200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par>
                                <p:cTn id="55" presetID="63" presetClass="path" presetSubtype="0" accel="50000" decel="50000" fill="hold" grpId="1" nodeType="withEffect">
                                  <p:stCondLst>
                                    <p:cond delay="2000"/>
                                  </p:stCondLst>
                                  <p:childTnLst>
                                    <p:animMotion origin="layout" path="M -0.03177 -0.05556 L 8.33333E-7 1.48148E-6 " pathEditMode="relative" rAng="0" ptsTypes="AA">
                                      <p:cBhvr>
                                        <p:cTn id="56" dur="2000" fill="hold"/>
                                        <p:tgtEl>
                                          <p:spTgt spid="41"/>
                                        </p:tgtEl>
                                        <p:attrNameLst>
                                          <p:attrName>ppt_x</p:attrName>
                                          <p:attrName>ppt_y</p:attrName>
                                        </p:attrNameLst>
                                      </p:cBhvr>
                                      <p:rCtr x="1589" y="2778"/>
                                    </p:animMotion>
                                  </p:childTnLst>
                                </p:cTn>
                              </p:par>
                              <p:par>
                                <p:cTn id="57" presetID="10" presetClass="entr" presetSubtype="0" fill="hold" grpId="0" nodeType="withEffect">
                                  <p:stCondLst>
                                    <p:cond delay="200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childTnLst>
                                </p:cTn>
                              </p:par>
                              <p:par>
                                <p:cTn id="60" presetID="63" presetClass="path" presetSubtype="0" accel="50000" decel="50000" fill="hold" grpId="1" nodeType="withEffect">
                                  <p:stCondLst>
                                    <p:cond delay="2000"/>
                                  </p:stCondLst>
                                  <p:childTnLst>
                                    <p:animMotion origin="layout" path="M -0.04088 0.07407 L -2.08333E-6 3.7037E-7 " pathEditMode="relative" rAng="0" ptsTypes="AA">
                                      <p:cBhvr>
                                        <p:cTn id="61" dur="2000" fill="hold"/>
                                        <p:tgtEl>
                                          <p:spTgt spid="40"/>
                                        </p:tgtEl>
                                        <p:attrNameLst>
                                          <p:attrName>ppt_x</p:attrName>
                                          <p:attrName>ppt_y</p:attrName>
                                        </p:attrNameLst>
                                      </p:cBhvr>
                                      <p:rCtr x="2044" y="-3704"/>
                                    </p:animMotion>
                                  </p:childTnLst>
                                </p:cTn>
                              </p:par>
                              <p:par>
                                <p:cTn id="62" presetID="10" presetClass="entr" presetSubtype="0" fill="hold" grpId="0" nodeType="withEffect">
                                  <p:stCondLst>
                                    <p:cond delay="200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500"/>
                                        <p:tgtEl>
                                          <p:spTgt spid="42"/>
                                        </p:tgtEl>
                                      </p:cBhvr>
                                    </p:animEffect>
                                  </p:childTnLst>
                                </p:cTn>
                              </p:par>
                              <p:par>
                                <p:cTn id="65" presetID="63" presetClass="path" presetSubtype="0" accel="50000" decel="50000" fill="hold" grpId="1" nodeType="withEffect">
                                  <p:stCondLst>
                                    <p:cond delay="2000"/>
                                  </p:stCondLst>
                                  <p:childTnLst>
                                    <p:animMotion origin="layout" path="M -0.04088 0.07407 L -2.08333E-6 3.7037E-7 " pathEditMode="relative" rAng="0" ptsTypes="AA">
                                      <p:cBhvr>
                                        <p:cTn id="66" dur="2000" fill="hold"/>
                                        <p:tgtEl>
                                          <p:spTgt spid="42"/>
                                        </p:tgtEl>
                                        <p:attrNameLst>
                                          <p:attrName>ppt_x</p:attrName>
                                          <p:attrName>ppt_y</p:attrName>
                                        </p:attrNameLst>
                                      </p:cBhvr>
                                      <p:rCtr x="2044" y="-3704"/>
                                    </p:animMotion>
                                  </p:childTnLst>
                                </p:cTn>
                              </p:par>
                              <p:par>
                                <p:cTn id="67" presetID="10" presetClass="entr" presetSubtype="0" fill="hold" nodeType="withEffect">
                                  <p:stCondLst>
                                    <p:cond delay="2000"/>
                                  </p:stCondLst>
                                  <p:childTnLst>
                                    <p:set>
                                      <p:cBhvr>
                                        <p:cTn id="68" dur="1" fill="hold">
                                          <p:stCondLst>
                                            <p:cond delay="0"/>
                                          </p:stCondLst>
                                        </p:cTn>
                                        <p:tgtEl>
                                          <p:spTgt spid="2"/>
                                        </p:tgtEl>
                                        <p:attrNameLst>
                                          <p:attrName>style.visibility</p:attrName>
                                        </p:attrNameLst>
                                      </p:cBhvr>
                                      <p:to>
                                        <p:strVal val="visible"/>
                                      </p:to>
                                    </p:set>
                                    <p:animEffect transition="in" filter="fade">
                                      <p:cBhvr>
                                        <p:cTn id="69" dur="500"/>
                                        <p:tgtEl>
                                          <p:spTgt spid="2"/>
                                        </p:tgtEl>
                                      </p:cBhvr>
                                    </p:animEffect>
                                  </p:childTnLst>
                                </p:cTn>
                              </p:par>
                              <p:par>
                                <p:cTn id="70" presetID="63" presetClass="path" presetSubtype="0" accel="50000" decel="50000" fill="hold" nodeType="withEffect">
                                  <p:stCondLst>
                                    <p:cond delay="2000"/>
                                  </p:stCondLst>
                                  <p:childTnLst>
                                    <p:animMotion origin="layout" path="M -0.04088 0.07407 L -2.08333E-6 3.7037E-7 " pathEditMode="relative" rAng="0" ptsTypes="AA">
                                      <p:cBhvr>
                                        <p:cTn id="71" dur="2000" fill="hold"/>
                                        <p:tgtEl>
                                          <p:spTgt spid="2"/>
                                        </p:tgtEl>
                                        <p:attrNameLst>
                                          <p:attrName>ppt_x</p:attrName>
                                          <p:attrName>ppt_y</p:attrName>
                                        </p:attrNameLst>
                                      </p:cBhvr>
                                      <p:rCtr x="2044" y="-370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39" grpId="0" animBg="1"/>
      <p:bldP spid="39" grpId="1" animBg="1"/>
      <p:bldP spid="40" grpId="0" animBg="1"/>
      <p:bldP spid="40" grpId="1" animBg="1"/>
      <p:bldP spid="41" grpId="0" animBg="1"/>
      <p:bldP spid="41" grpId="1" animBg="1"/>
      <p:bldP spid="42" grpId="0" animBg="1"/>
      <p:bldP spid="42" grpId="1" animBg="1"/>
      <p:bldP spid="43" grpId="0"/>
      <p:bldP spid="44" grpId="0"/>
      <p:bldP spid="45" grpId="0"/>
      <p:bldP spid="46"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549910" y="162560"/>
            <a:ext cx="3604895"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 read the data</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49" name="图片 48" descr="20170608201356"/>
          <p:cNvPicPr>
            <a:picLocks noChangeAspect="1"/>
          </p:cNvPicPr>
          <p:nvPr/>
        </p:nvPicPr>
        <p:blipFill>
          <a:blip r:embed="rId2"/>
          <a:stretch>
            <a:fillRect/>
          </a:stretch>
        </p:blipFill>
        <p:spPr>
          <a:xfrm>
            <a:off x="1887220" y="1501775"/>
            <a:ext cx="7478395" cy="4276725"/>
          </a:xfrm>
          <a:prstGeom prst="rect">
            <a:avLst/>
          </a:prstGeom>
        </p:spPr>
      </p:pic>
      <p:pic>
        <p:nvPicPr>
          <p:cNvPr id="50" name="图片 49" descr="20170608205038"/>
          <p:cNvPicPr/>
          <p:nvPr/>
        </p:nvPicPr>
        <p:blipFill>
          <a:blip r:embed="rId3"/>
          <a:srcRect r="-1574" b="55093"/>
          <a:stretch>
            <a:fillRect/>
          </a:stretch>
        </p:blipFill>
        <p:spPr>
          <a:xfrm>
            <a:off x="607060" y="880745"/>
            <a:ext cx="10777220" cy="19177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39"/>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63" presetClass="path" presetSubtype="0" accel="50000" decel="50000" fill="hold" grpId="1" nodeType="withEffect">
                                  <p:stCondLst>
                                    <p:cond delay="2000"/>
                                  </p:stCondLst>
                                  <p:childTnLst>
                                    <p:animMotion origin="layout" path="M -0.03177 -0.05556 L 8.33333E-7 1.48148E-6 " pathEditMode="relative" rAng="0" ptsTypes="AA">
                                      <p:cBhvr>
                                        <p:cTn id="24" dur="2000" fill="hold"/>
                                        <p:tgtEl>
                                          <p:spTgt spid="41"/>
                                        </p:tgtEl>
                                        <p:attrNameLst>
                                          <p:attrName>ppt_x</p:attrName>
                                          <p:attrName>ppt_y</p:attrName>
                                        </p:attrNameLst>
                                      </p:cBhvr>
                                      <p:rCtr x="1589" y="2778"/>
                                    </p:animMotion>
                                  </p:childTnLst>
                                </p:cTn>
                              </p:par>
                              <p:par>
                                <p:cTn id="25" presetID="10" presetClass="entr" presetSubtype="0" fill="hold" grpId="0" nodeType="withEffect">
                                  <p:stCondLst>
                                    <p:cond delay="200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63" presetClass="path" presetSubtype="0" accel="50000" decel="50000" fill="hold" grpId="1" nodeType="withEffect">
                                  <p:stCondLst>
                                    <p:cond delay="2000"/>
                                  </p:stCondLst>
                                  <p:childTnLst>
                                    <p:animMotion origin="layout" path="M -0.04088 0.07407 L -2.08333E-6 3.7037E-7 " pathEditMode="relative" rAng="0" ptsTypes="AA">
                                      <p:cBhvr>
                                        <p:cTn id="29" dur="2000" fill="hold"/>
                                        <p:tgtEl>
                                          <p:spTgt spid="40"/>
                                        </p:tgtEl>
                                        <p:attrNameLst>
                                          <p:attrName>ppt_x</p:attrName>
                                          <p:attrName>ppt_y</p:attrName>
                                        </p:attrNameLst>
                                      </p:cBhvr>
                                      <p:rCtr x="2044" y="-3704"/>
                                    </p:animMotion>
                                  </p:childTnLst>
                                </p:cTn>
                              </p:par>
                              <p:par>
                                <p:cTn id="30" presetID="10" presetClass="entr" presetSubtype="0" fill="hold" grpId="0" nodeType="withEffect">
                                  <p:stCondLst>
                                    <p:cond delay="200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63" presetClass="path" presetSubtype="0" accel="50000" decel="50000" fill="hold" grpId="1" nodeType="withEffect">
                                  <p:stCondLst>
                                    <p:cond delay="2000"/>
                                  </p:stCondLst>
                                  <p:childTnLst>
                                    <p:animMotion origin="layout" path="M -0.04088 0.07407 L -2.08333E-6 3.7037E-7 " pathEditMode="relative" rAng="0" ptsTypes="AA">
                                      <p:cBhvr>
                                        <p:cTn id="34" dur="2000" fill="hold"/>
                                        <p:tgtEl>
                                          <p:spTgt spid="42"/>
                                        </p:tgtEl>
                                        <p:attrNameLst>
                                          <p:attrName>ppt_x</p:attrName>
                                          <p:attrName>ppt_y</p:attrName>
                                        </p:attrNameLst>
                                      </p:cBhvr>
                                      <p:rCtr x="2044" y="-3704"/>
                                    </p:animMotion>
                                  </p:childTnLst>
                                </p:cTn>
                              </p:par>
                              <p:par>
                                <p:cTn id="35" presetID="10" presetClass="entr" presetSubtype="0" fill="hold" nodeType="withEffect">
                                  <p:stCondLst>
                                    <p:cond delay="200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par>
                                <p:cTn id="38" presetID="63" presetClass="path" presetSubtype="0" accel="50000" decel="50000" fill="hold" nodeType="withEffect">
                                  <p:stCondLst>
                                    <p:cond delay="2000"/>
                                  </p:stCondLst>
                                  <p:childTnLst>
                                    <p:animMotion origin="layout" path="M -0.04088 0.07407 L -2.08333E-6 3.7037E-7 " pathEditMode="relative" rAng="0" ptsTypes="AA">
                                      <p:cBhvr>
                                        <p:cTn id="39" dur="2000" fill="hold"/>
                                        <p:tgtEl>
                                          <p:spTgt spid="2"/>
                                        </p:tgtEl>
                                        <p:attrNameLst>
                                          <p:attrName>ppt_x</p:attrName>
                                          <p:attrName>ppt_y</p:attrName>
                                        </p:attrNameLst>
                                      </p:cBhvr>
                                      <p:rCtr x="2044" y="-3704"/>
                                    </p:animMotion>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blinds(horizontal)">
                                      <p:cBhvr>
                                        <p:cTn id="44" dur="1000"/>
                                        <p:tgtEl>
                                          <p:spTgt spid="50"/>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xit" presetSubtype="10" fill="hold" nodeType="clickEffect">
                                  <p:stCondLst>
                                    <p:cond delay="0"/>
                                  </p:stCondLst>
                                  <p:childTnLst>
                                    <p:animEffect transition="out" filter="blinds(horizontal)">
                                      <p:cBhvr>
                                        <p:cTn id="48" dur="500"/>
                                        <p:tgtEl>
                                          <p:spTgt spid="50"/>
                                        </p:tgtEl>
                                      </p:cBhvr>
                                    </p:animEffect>
                                    <p:set>
                                      <p:cBhvr>
                                        <p:cTn id="49" dur="1" fill="hold">
                                          <p:stCondLst>
                                            <p:cond delay="499"/>
                                          </p:stCondLst>
                                        </p:cTn>
                                        <p:tgtEl>
                                          <p:spTgt spid="50"/>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0" presetClass="entr" presetSubtype="0" fill="hold" nodeType="click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wedge">
                                      <p:cBhvr>
                                        <p:cTn id="54" dur="2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P spid="41" grpId="0" bldLvl="0" animBg="1"/>
      <p:bldP spid="41" grpId="1" bldLvl="0" animBg="1"/>
      <p:bldP spid="42" grpId="0" bldLvl="0" animBg="1"/>
      <p:bldP spid="42" grpId="1"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37820" y="162560"/>
            <a:ext cx="6666230" cy="769441"/>
          </a:xfrm>
          <a:prstGeom prst="rect">
            <a:avLst/>
          </a:prstGeom>
          <a:noFill/>
        </p:spPr>
        <p:txBody>
          <a:bodyPr wrap="square" rtlCol="0">
            <a:spAutoFit/>
            <a:scene3d>
              <a:camera prst="orthographicFront">
                <a:rot lat="0" lon="0" rev="0"/>
              </a:camera>
              <a:lightRig rig="threePt" dir="t"/>
            </a:scene3d>
          </a:bodyPr>
          <a:lstStyle/>
          <a:p>
            <a:pPr algn="ctr"/>
            <a:r>
              <a:rPr lang="en-US" sz="4400" spc="-150" dirty="0">
                <a:solidFill>
                  <a:srgbClr val="DFA117"/>
                </a:solidFill>
                <a:latin typeface="Monotype Corsiva" panose="03010101010201010101" pitchFamily="66" charset="0"/>
                <a:ea typeface="Open Sans" panose="020B0606030504020204" pitchFamily="34" charset="0"/>
                <a:cs typeface="Open Sans" panose="020B0606030504020204" pitchFamily="34" charset="0"/>
              </a:rPr>
              <a:t>compute financial ratios</a:t>
            </a:r>
            <a:endParaRPr lang="en-US" sz="4400" spc="-150" dirty="0">
              <a:solidFill>
                <a:srgbClr val="DFA117"/>
              </a:solidFill>
              <a:latin typeface="Monotype Corsiva" panose="03010101010201010101" pitchFamily="66"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solidFill>
                  <a:prstClr val="black"/>
                </a:solidFill>
              </a:rPr>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solidFill>
                <a:prstClr val="black"/>
              </a:solidFill>
            </a:endParaRPr>
          </a:p>
        </p:txBody>
      </p:sp>
      <p:pic>
        <p:nvPicPr>
          <p:cNvPr id="8" name="图片 7" descr="C:\Users\win 8\Desktop\20170608221737.png20170608221737"/>
          <p:cNvPicPr>
            <a:picLocks noChangeAspect="1"/>
          </p:cNvPicPr>
          <p:nvPr/>
        </p:nvPicPr>
        <p:blipFill>
          <a:blip r:embed="rId2"/>
          <a:srcRect/>
          <a:stretch>
            <a:fillRect/>
          </a:stretch>
        </p:blipFill>
        <p:spPr>
          <a:xfrm>
            <a:off x="1666604" y="1036773"/>
            <a:ext cx="8858885" cy="2237740"/>
          </a:xfrm>
          <a:prstGeom prst="rect">
            <a:avLst/>
          </a:prstGeom>
        </p:spPr>
      </p:pic>
      <p:sp>
        <p:nvSpPr>
          <p:cNvPr id="3" name="矩形 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168205" y="4619924"/>
            <a:ext cx="4961255"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Current Ratio=</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5" name="对象 4">
            <a:hlinkClick r:id="" action="ppaction://ole?verb=0"/>
          </p:cNvPr>
          <p:cNvGraphicFramePr>
            <a:graphicFrameLocks noChangeAspect="1"/>
          </p:cNvGraphicFramePr>
          <p:nvPr/>
        </p:nvGraphicFramePr>
        <p:xfrm>
          <a:off x="5187950" y="3346450"/>
          <a:ext cx="1816100" cy="165100"/>
        </p:xfrm>
        <a:graphic>
          <a:graphicData uri="http://schemas.openxmlformats.org/presentationml/2006/ole">
            <mc:AlternateContent xmlns:mc="http://schemas.openxmlformats.org/markup-compatibility/2006">
              <mc:Choice xmlns:v="urn:schemas-microsoft-com:vml" Requires="v">
                <p:oleObj spid="_x0000_s2050" name="" r:id="rId3" imgW="1816100" imgH="165100" progId="Equation.KSEE3">
                  <p:embed/>
                </p:oleObj>
              </mc:Choice>
              <mc:Fallback>
                <p:oleObj name="" r:id="rId3" imgW="1816100" imgH="165100" progId="Equation.KSEE3">
                  <p:embed/>
                  <p:pic>
                    <p:nvPicPr>
                      <p:cNvPr id="0" name="图片 2049"/>
                      <p:cNvPicPr/>
                      <p:nvPr/>
                    </p:nvPicPr>
                    <p:blipFill>
                      <a:blip r:embed="rId4"/>
                      <a:stretch>
                        <a:fillRect/>
                      </a:stretch>
                    </p:blipFill>
                    <p:spPr>
                      <a:xfrm>
                        <a:off x="5187950" y="3346450"/>
                        <a:ext cx="1816100" cy="165100"/>
                      </a:xfrm>
                      <a:prstGeom prst="rect">
                        <a:avLst/>
                      </a:prstGeom>
                    </p:spPr>
                  </p:pic>
                </p:oleObj>
              </mc:Fallback>
            </mc:AlternateContent>
          </a:graphicData>
        </a:graphic>
      </p:graphicFrame>
      <p:cxnSp>
        <p:nvCxnSpPr>
          <p:cNvPr id="17" name="直接连接符 16"/>
          <p:cNvCxnSpPr/>
          <p:nvPr/>
        </p:nvCxnSpPr>
        <p:spPr>
          <a:xfrm>
            <a:off x="4632960" y="4851400"/>
            <a:ext cx="4498975" cy="2286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18" name="矩形 1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138295" y="4836160"/>
            <a:ext cx="5511800" cy="521970"/>
          </a:xfrm>
          <a:prstGeom prst="rect">
            <a:avLst/>
          </a:prstGeom>
          <a:noFill/>
        </p:spPr>
        <p:txBody>
          <a:bodyPr wrap="square" rtlCol="0">
            <a:spAutoFit/>
            <a:scene3d>
              <a:camera prst="orthographicFront">
                <a:rot lat="0" lon="0" rev="0"/>
              </a:camera>
              <a:lightRig rig="threePt" dir="t"/>
            </a:scene3d>
          </a:bodyPr>
          <a:lstStyle/>
          <a:p>
            <a:pPr algn="ctr"/>
            <a:r>
              <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Average Total Current Liabilities</a:t>
            </a:r>
            <a:endPar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矩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18418" y="5655646"/>
            <a:ext cx="4922520"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Return On Equity=</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矩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446905" y="5473700"/>
            <a:ext cx="3863975" cy="521970"/>
          </a:xfrm>
          <a:prstGeom prst="rect">
            <a:avLst/>
          </a:prstGeom>
          <a:noFill/>
        </p:spPr>
        <p:txBody>
          <a:bodyPr wrap="square" rtlCol="0">
            <a:spAutoFit/>
            <a:scene3d>
              <a:camera prst="orthographicFront">
                <a:rot lat="0" lon="0" rev="0"/>
              </a:camera>
              <a:lightRig rig="threePt" dir="t"/>
            </a:scene3d>
          </a:bodyPr>
          <a:lstStyle/>
          <a:p>
            <a:pPr algn="ctr"/>
            <a:r>
              <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sym typeface="+mn-ea"/>
              </a:rPr>
              <a:t> Net Income</a:t>
            </a:r>
            <a:endPar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sym typeface="+mn-ea"/>
            </a:endParaRPr>
          </a:p>
        </p:txBody>
      </p:sp>
      <p:sp>
        <p:nvSpPr>
          <p:cNvPr id="21" name="矩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379595" y="4329430"/>
            <a:ext cx="4961255" cy="521970"/>
          </a:xfrm>
          <a:prstGeom prst="rect">
            <a:avLst/>
          </a:prstGeom>
          <a:noFill/>
        </p:spPr>
        <p:txBody>
          <a:bodyPr wrap="square" rtlCol="0">
            <a:spAutoFit/>
            <a:scene3d>
              <a:camera prst="orthographicFront">
                <a:rot lat="0" lon="0" rev="0"/>
              </a:camera>
              <a:lightRig rig="threePt" dir="t"/>
            </a:scene3d>
          </a:bodyPr>
          <a:lstStyle/>
          <a:p>
            <a:pPr algn="ctr"/>
            <a:r>
              <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Average Total Current Assets</a:t>
            </a:r>
            <a:endPar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2" name="直接连接符 21"/>
          <p:cNvCxnSpPr/>
          <p:nvPr/>
        </p:nvCxnSpPr>
        <p:spPr>
          <a:xfrm>
            <a:off x="5172075" y="5984875"/>
            <a:ext cx="3135630" cy="10795"/>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24" name="矩形 2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137660" y="5984875"/>
            <a:ext cx="4961255" cy="521970"/>
          </a:xfrm>
          <a:prstGeom prst="rect">
            <a:avLst/>
          </a:prstGeom>
          <a:noFill/>
        </p:spPr>
        <p:txBody>
          <a:bodyPr wrap="square" rtlCol="0">
            <a:spAutoFit/>
            <a:scene3d>
              <a:camera prst="orthographicFront">
                <a:rot lat="0" lon="0" rev="0"/>
              </a:camera>
              <a:lightRig rig="threePt" dir="t"/>
            </a:scene3d>
          </a:bodyPr>
          <a:lstStyle/>
          <a:p>
            <a:pPr algn="ctr"/>
            <a:r>
              <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Average Total Equity </a:t>
            </a:r>
            <a:endPar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矩形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541428" y="3679519"/>
            <a:ext cx="7676334" cy="584775"/>
          </a:xfrm>
          <a:prstGeom prst="rect">
            <a:avLst/>
          </a:prstGeom>
          <a:noFill/>
        </p:spPr>
        <p:txBody>
          <a:bodyPr wrap="square" rtlCol="0">
            <a:spAutoFit/>
            <a:scene3d>
              <a:camera prst="orthographicFront">
                <a:rot lat="0" lon="0" rev="0"/>
              </a:camera>
              <a:lightRig rig="threePt" dir="t"/>
            </a:scene3d>
          </a:bodyPr>
          <a:lstStyle/>
          <a:p>
            <a:pPr algn="ctr"/>
            <a:r>
              <a:rPr lang="en-US" altLang="zh-CN" sz="3200" dirty="0">
                <a:solidFill>
                  <a:srgbClr val="DFA117"/>
                </a:solidFill>
              </a:rPr>
              <a:t>F=0.1774+1.1091W1+1.9271W2 </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图片 6"/>
          <p:cNvPicPr>
            <a:picLocks noChangeAspect="1"/>
          </p:cNvPicPr>
          <p:nvPr/>
        </p:nvPicPr>
        <p:blipFill>
          <a:blip r:embed="rId5"/>
          <a:stretch>
            <a:fillRect/>
          </a:stretch>
        </p:blipFill>
        <p:spPr>
          <a:xfrm>
            <a:off x="4680149" y="2088964"/>
            <a:ext cx="6372225" cy="2590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1 3.33333E-6 L -1.66667E-6 3.33333E-6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39"/>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63" presetClass="path" presetSubtype="0" accel="50000" decel="50000" fill="hold" grpId="1" nodeType="withEffect">
                                  <p:stCondLst>
                                    <p:cond delay="2000"/>
                                  </p:stCondLst>
                                  <p:childTnLst>
                                    <p:animMotion origin="layout" path="M -0.03177 -0.05556 L 8.33333E-7 1.48148E-6 " pathEditMode="relative" rAng="0" ptsTypes="AA">
                                      <p:cBhvr>
                                        <p:cTn id="24" dur="2000" fill="hold"/>
                                        <p:tgtEl>
                                          <p:spTgt spid="41"/>
                                        </p:tgtEl>
                                        <p:attrNameLst>
                                          <p:attrName>ppt_x</p:attrName>
                                          <p:attrName>ppt_y</p:attrName>
                                        </p:attrNameLst>
                                      </p:cBhvr>
                                      <p:rCtr x="1589" y="2778"/>
                                    </p:animMotion>
                                  </p:childTnLst>
                                </p:cTn>
                              </p:par>
                              <p:par>
                                <p:cTn id="25" presetID="10" presetClass="entr" presetSubtype="0" fill="hold" grpId="0" nodeType="withEffect">
                                  <p:stCondLst>
                                    <p:cond delay="200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63" presetClass="path" presetSubtype="0" accel="50000" decel="50000" fill="hold" grpId="1" nodeType="withEffect">
                                  <p:stCondLst>
                                    <p:cond delay="2000"/>
                                  </p:stCondLst>
                                  <p:childTnLst>
                                    <p:animMotion origin="layout" path="M -0.04088 0.07407 L -2.08333E-6 3.7037E-7 " pathEditMode="relative" rAng="0" ptsTypes="AA">
                                      <p:cBhvr>
                                        <p:cTn id="29" dur="2000" fill="hold"/>
                                        <p:tgtEl>
                                          <p:spTgt spid="40"/>
                                        </p:tgtEl>
                                        <p:attrNameLst>
                                          <p:attrName>ppt_x</p:attrName>
                                          <p:attrName>ppt_y</p:attrName>
                                        </p:attrNameLst>
                                      </p:cBhvr>
                                      <p:rCtr x="2044" y="-3704"/>
                                    </p:animMotion>
                                  </p:childTnLst>
                                </p:cTn>
                              </p:par>
                              <p:par>
                                <p:cTn id="30" presetID="10" presetClass="entr" presetSubtype="0" fill="hold" grpId="0" nodeType="withEffect">
                                  <p:stCondLst>
                                    <p:cond delay="200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63" presetClass="path" presetSubtype="0" accel="50000" decel="50000" fill="hold" grpId="1" nodeType="withEffect">
                                  <p:stCondLst>
                                    <p:cond delay="2000"/>
                                  </p:stCondLst>
                                  <p:childTnLst>
                                    <p:animMotion origin="layout" path="M -0.04088 0.07407 L -2.08333E-6 3.7037E-7 " pathEditMode="relative" rAng="0" ptsTypes="AA">
                                      <p:cBhvr>
                                        <p:cTn id="34" dur="2000" fill="hold"/>
                                        <p:tgtEl>
                                          <p:spTgt spid="42"/>
                                        </p:tgtEl>
                                        <p:attrNameLst>
                                          <p:attrName>ppt_x</p:attrName>
                                          <p:attrName>ppt_y</p:attrName>
                                        </p:attrNameLst>
                                      </p:cBhvr>
                                      <p:rCtr x="2044" y="-3704"/>
                                    </p:animMotion>
                                  </p:childTnLst>
                                </p:cTn>
                              </p:par>
                              <p:par>
                                <p:cTn id="35" presetID="10" presetClass="entr" presetSubtype="0" fill="hold" nodeType="withEffect">
                                  <p:stCondLst>
                                    <p:cond delay="200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par>
                                <p:cTn id="38" presetID="63" presetClass="path" presetSubtype="0" accel="50000" decel="50000" fill="hold" nodeType="withEffect">
                                  <p:stCondLst>
                                    <p:cond delay="2000"/>
                                  </p:stCondLst>
                                  <p:childTnLst>
                                    <p:animMotion origin="layout" path="M -0.04088 0.07407 L -2.08333E-6 3.7037E-7 " pathEditMode="relative" rAng="0" ptsTypes="AA">
                                      <p:cBhvr>
                                        <p:cTn id="39" dur="2000" fill="hold"/>
                                        <p:tgtEl>
                                          <p:spTgt spid="2"/>
                                        </p:tgtEl>
                                        <p:attrNameLst>
                                          <p:attrName>ppt_x</p:attrName>
                                          <p:attrName>ppt_y</p:attrName>
                                        </p:attrNameLst>
                                      </p:cBhvr>
                                      <p:rCtr x="2044" y="-3704"/>
                                    </p:animMotion>
                                  </p:childTnLst>
                                </p:cTn>
                              </p:par>
                              <p:par>
                                <p:cTn id="40" presetID="10"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63" presetClass="path" presetSubtype="0" accel="50000" decel="50000" fill="hold" grpId="1" nodeType="withEffect">
                                  <p:stCondLst>
                                    <p:cond delay="0"/>
                                  </p:stCondLst>
                                  <p:childTnLst>
                                    <p:animMotion origin="layout" path="M -0.06081 -3.7037E-6 L 2.5E-6 -3.7037E-6 " pathEditMode="relative" rAng="0" ptsTypes="AA">
                                      <p:cBhvr>
                                        <p:cTn id="44" dur="2000" fill="hold"/>
                                        <p:tgtEl>
                                          <p:spTgt spid="3"/>
                                        </p:tgtEl>
                                        <p:attrNameLst>
                                          <p:attrName>ppt_x</p:attrName>
                                          <p:attrName>ppt_y</p:attrName>
                                        </p:attrNameLst>
                                      </p:cBhvr>
                                      <p:rCtr x="3034" y="0"/>
                                    </p:animMotion>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63" presetClass="path" presetSubtype="0" accel="50000" decel="50000" fill="hold" grpId="1" nodeType="withEffect">
                                  <p:stCondLst>
                                    <p:cond delay="0"/>
                                  </p:stCondLst>
                                  <p:childTnLst>
                                    <p:animMotion origin="layout" path="M -0.0608 3.7037E-7 L -2.70833E-6 3.7037E-7 " pathEditMode="relative" rAng="0" ptsTypes="AA">
                                      <p:cBhvr>
                                        <p:cTn id="49" dur="2000" fill="hold"/>
                                        <p:tgtEl>
                                          <p:spTgt spid="18"/>
                                        </p:tgtEl>
                                        <p:attrNameLst>
                                          <p:attrName>ppt_x</p:attrName>
                                          <p:attrName>ppt_y</p:attrName>
                                        </p:attrNameLst>
                                      </p:cBhvr>
                                      <p:rCtr x="3034" y="0"/>
                                    </p:animMotion>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63" presetClass="path" presetSubtype="0" accel="50000" decel="50000" fill="hold" grpId="1" nodeType="withEffect">
                                  <p:stCondLst>
                                    <p:cond delay="0"/>
                                  </p:stCondLst>
                                  <p:childTnLst>
                                    <p:animMotion origin="layout" path="M -0.06081 3.7037E-7 L 2.08333E-6 3.7037E-7 " pathEditMode="relative" rAng="0" ptsTypes="AA">
                                      <p:cBhvr>
                                        <p:cTn id="54" dur="2000" fill="hold"/>
                                        <p:tgtEl>
                                          <p:spTgt spid="19"/>
                                        </p:tgtEl>
                                        <p:attrNameLst>
                                          <p:attrName>ppt_x</p:attrName>
                                          <p:attrName>ppt_y</p:attrName>
                                        </p:attrNameLst>
                                      </p:cBhvr>
                                      <p:rCtr x="3034" y="0"/>
                                    </p:animMotion>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63" presetClass="path" presetSubtype="0" accel="50000" decel="50000" fill="hold" grpId="1" nodeType="withEffect">
                                  <p:stCondLst>
                                    <p:cond delay="0"/>
                                  </p:stCondLst>
                                  <p:childTnLst>
                                    <p:animMotion origin="layout" path="M -0.0608 3.7037E-7 L -2.70833E-6 3.7037E-7 " pathEditMode="relative" rAng="0" ptsTypes="AA">
                                      <p:cBhvr>
                                        <p:cTn id="59" dur="2000" fill="hold"/>
                                        <p:tgtEl>
                                          <p:spTgt spid="20"/>
                                        </p:tgtEl>
                                        <p:attrNameLst>
                                          <p:attrName>ppt_x</p:attrName>
                                          <p:attrName>ppt_y</p:attrName>
                                        </p:attrNameLst>
                                      </p:cBhvr>
                                      <p:rCtr x="3034" y="0"/>
                                    </p:animMotion>
                                  </p:childTnLst>
                                </p:cTn>
                              </p:par>
                              <p:par>
                                <p:cTn id="60" presetID="10" presetClass="entr" presetSubtype="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63" presetClass="path" presetSubtype="0" accel="50000" decel="50000" fill="hold" grpId="1" nodeType="withEffect">
                                  <p:stCondLst>
                                    <p:cond delay="0"/>
                                  </p:stCondLst>
                                  <p:childTnLst>
                                    <p:animMotion origin="layout" path="M -0.0608 3.7037E-7 L -2.70833E-6 3.7037E-7 " pathEditMode="relative" rAng="0" ptsTypes="AA">
                                      <p:cBhvr>
                                        <p:cTn id="64" dur="2000" fill="hold"/>
                                        <p:tgtEl>
                                          <p:spTgt spid="21"/>
                                        </p:tgtEl>
                                        <p:attrNameLst>
                                          <p:attrName>ppt_x</p:attrName>
                                          <p:attrName>ppt_y</p:attrName>
                                        </p:attrNameLst>
                                      </p:cBhvr>
                                      <p:rCtr x="3034" y="0"/>
                                    </p:animMotion>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63" presetClass="path" presetSubtype="0" accel="50000" decel="50000" fill="hold" grpId="1" nodeType="withEffect">
                                  <p:stCondLst>
                                    <p:cond delay="0"/>
                                  </p:stCondLst>
                                  <p:childTnLst>
                                    <p:animMotion origin="layout" path="M -0.0608 3.7037E-7 L -2.70833E-6 3.7037E-7 " pathEditMode="relative" rAng="0" ptsTypes="AA">
                                      <p:cBhvr>
                                        <p:cTn id="69" dur="2000" fill="hold"/>
                                        <p:tgtEl>
                                          <p:spTgt spid="24"/>
                                        </p:tgtEl>
                                        <p:attrNameLst>
                                          <p:attrName>ppt_x</p:attrName>
                                          <p:attrName>ppt_y</p:attrName>
                                        </p:attrNameLst>
                                      </p:cBhvr>
                                      <p:rCtr x="3034" y="0"/>
                                    </p:animMotion>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par>
                                <p:cTn id="73" presetID="63" presetClass="path" presetSubtype="0" accel="50000" decel="50000" fill="hold" grpId="1" nodeType="withEffect">
                                  <p:stCondLst>
                                    <p:cond delay="0"/>
                                  </p:stCondLst>
                                  <p:childTnLst>
                                    <p:animMotion origin="layout" path="M -0.0608 3.33333E-6 L -4.79167E-6 3.33333E-6 " pathEditMode="relative" rAng="0" ptsTypes="AA">
                                      <p:cBhvr>
                                        <p:cTn id="74" dur="2000" fill="hold"/>
                                        <p:tgtEl>
                                          <p:spTgt spid="28"/>
                                        </p:tgtEl>
                                        <p:attrNameLst>
                                          <p:attrName>ppt_x</p:attrName>
                                          <p:attrName>ppt_y</p:attrName>
                                        </p:attrNameLst>
                                      </p:cBhvr>
                                      <p:rCtr x="3034" y="0"/>
                                    </p:animMotion>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anim calcmode="lin" valueType="num">
                                      <p:cBhvr additive="base">
                                        <p:cTn id="79" dur="500" fill="hold"/>
                                        <p:tgtEl>
                                          <p:spTgt spid="7"/>
                                        </p:tgtEl>
                                        <p:attrNameLst>
                                          <p:attrName>ppt_x</p:attrName>
                                        </p:attrNameLst>
                                      </p:cBhvr>
                                      <p:tavLst>
                                        <p:tav tm="0">
                                          <p:val>
                                            <p:strVal val="#ppt_x"/>
                                          </p:val>
                                        </p:tav>
                                        <p:tav tm="100000">
                                          <p:val>
                                            <p:strVal val="#ppt_x"/>
                                          </p:val>
                                        </p:tav>
                                      </p:tavLst>
                                    </p:anim>
                                    <p:anim calcmode="lin" valueType="num">
                                      <p:cBhvr additive="base">
                                        <p:cTn id="8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P spid="41" grpId="0" bldLvl="0" animBg="1"/>
      <p:bldP spid="41" grpId="1" bldLvl="0" animBg="1"/>
      <p:bldP spid="42" grpId="0" bldLvl="0" animBg="1"/>
      <p:bldP spid="42" grpId="1" bldLvl="0" animBg="1"/>
      <p:bldP spid="3" grpId="0"/>
      <p:bldP spid="3" grpId="1"/>
      <p:bldP spid="18" grpId="0"/>
      <p:bldP spid="18" grpId="1"/>
      <p:bldP spid="19" grpId="0"/>
      <p:bldP spid="19" grpId="1"/>
      <p:bldP spid="20" grpId="0"/>
      <p:bldP spid="20" grpId="1"/>
      <p:bldP spid="21" grpId="0"/>
      <p:bldP spid="21" grpId="1"/>
      <p:bldP spid="24" grpId="0"/>
      <p:bldP spid="24" grpId="1"/>
      <p:bldP spid="28" grpId="0"/>
      <p:bldP spid="28"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28625" y="162560"/>
            <a:ext cx="9763760"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Try to sort the F in the descending order</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3" name="图片 2" descr="20170608201429"/>
          <p:cNvPicPr>
            <a:picLocks noChangeAspect="1"/>
          </p:cNvPicPr>
          <p:nvPr/>
        </p:nvPicPr>
        <p:blipFill>
          <a:blip r:embed="rId2"/>
          <a:srcRect r="1944" b="78021"/>
          <a:stretch>
            <a:fillRect/>
          </a:stretch>
        </p:blipFill>
        <p:spPr>
          <a:xfrm>
            <a:off x="1553845" y="3199765"/>
            <a:ext cx="8966200" cy="1149350"/>
          </a:xfrm>
          <a:prstGeom prst="rect">
            <a:avLst/>
          </a:prstGeom>
        </p:spPr>
      </p:pic>
      <p:pic>
        <p:nvPicPr>
          <p:cNvPr id="5" name="图片 4" descr="20170608201546"/>
          <p:cNvPicPr>
            <a:picLocks noChangeAspect="1"/>
          </p:cNvPicPr>
          <p:nvPr/>
        </p:nvPicPr>
        <p:blipFill>
          <a:blip r:embed="rId3"/>
          <a:srcRect r="250" b="79920"/>
          <a:stretch>
            <a:fillRect/>
          </a:stretch>
        </p:blipFill>
        <p:spPr>
          <a:xfrm>
            <a:off x="1553845" y="4913630"/>
            <a:ext cx="9371330" cy="1078865"/>
          </a:xfrm>
          <a:prstGeom prst="rect">
            <a:avLst/>
          </a:prstGeom>
        </p:spPr>
      </p:pic>
      <p:pic>
        <p:nvPicPr>
          <p:cNvPr id="7" name="图片 6" descr="20170608205214"/>
          <p:cNvPicPr>
            <a:picLocks noChangeAspect="1"/>
          </p:cNvPicPr>
          <p:nvPr/>
        </p:nvPicPr>
        <p:blipFill>
          <a:blip r:embed="rId4"/>
          <a:stretch>
            <a:fillRect/>
          </a:stretch>
        </p:blipFill>
        <p:spPr>
          <a:xfrm>
            <a:off x="2566670" y="1424305"/>
            <a:ext cx="6348730" cy="10572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39"/>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63" presetClass="path" presetSubtype="0" accel="50000" decel="50000" fill="hold" grpId="1" nodeType="withEffect">
                                  <p:stCondLst>
                                    <p:cond delay="2000"/>
                                  </p:stCondLst>
                                  <p:childTnLst>
                                    <p:animMotion origin="layout" path="M -0.03177 -0.05556 L 8.33333E-7 1.48148E-6 " pathEditMode="relative" rAng="0" ptsTypes="AA">
                                      <p:cBhvr>
                                        <p:cTn id="24" dur="2000" fill="hold"/>
                                        <p:tgtEl>
                                          <p:spTgt spid="41"/>
                                        </p:tgtEl>
                                        <p:attrNameLst>
                                          <p:attrName>ppt_x</p:attrName>
                                          <p:attrName>ppt_y</p:attrName>
                                        </p:attrNameLst>
                                      </p:cBhvr>
                                      <p:rCtr x="1589" y="2778"/>
                                    </p:animMotion>
                                  </p:childTnLst>
                                </p:cTn>
                              </p:par>
                              <p:par>
                                <p:cTn id="25" presetID="10" presetClass="entr" presetSubtype="0" fill="hold" grpId="0" nodeType="withEffect">
                                  <p:stCondLst>
                                    <p:cond delay="200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63" presetClass="path" presetSubtype="0" accel="50000" decel="50000" fill="hold" grpId="1" nodeType="withEffect">
                                  <p:stCondLst>
                                    <p:cond delay="2000"/>
                                  </p:stCondLst>
                                  <p:childTnLst>
                                    <p:animMotion origin="layout" path="M -0.04088 0.07407 L -2.08333E-6 3.7037E-7 " pathEditMode="relative" rAng="0" ptsTypes="AA">
                                      <p:cBhvr>
                                        <p:cTn id="29" dur="2000" fill="hold"/>
                                        <p:tgtEl>
                                          <p:spTgt spid="40"/>
                                        </p:tgtEl>
                                        <p:attrNameLst>
                                          <p:attrName>ppt_x</p:attrName>
                                          <p:attrName>ppt_y</p:attrName>
                                        </p:attrNameLst>
                                      </p:cBhvr>
                                      <p:rCtr x="2044" y="-3704"/>
                                    </p:animMotion>
                                  </p:childTnLst>
                                </p:cTn>
                              </p:par>
                              <p:par>
                                <p:cTn id="30" presetID="10" presetClass="entr" presetSubtype="0" fill="hold" grpId="0" nodeType="withEffect">
                                  <p:stCondLst>
                                    <p:cond delay="200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63" presetClass="path" presetSubtype="0" accel="50000" decel="50000" fill="hold" grpId="1" nodeType="withEffect">
                                  <p:stCondLst>
                                    <p:cond delay="2000"/>
                                  </p:stCondLst>
                                  <p:childTnLst>
                                    <p:animMotion origin="layout" path="M -0.04088 0.07407 L -2.08333E-6 3.7037E-7 " pathEditMode="relative" rAng="0" ptsTypes="AA">
                                      <p:cBhvr>
                                        <p:cTn id="34" dur="2000" fill="hold"/>
                                        <p:tgtEl>
                                          <p:spTgt spid="42"/>
                                        </p:tgtEl>
                                        <p:attrNameLst>
                                          <p:attrName>ppt_x</p:attrName>
                                          <p:attrName>ppt_y</p:attrName>
                                        </p:attrNameLst>
                                      </p:cBhvr>
                                      <p:rCtr x="2044" y="-3704"/>
                                    </p:animMotion>
                                  </p:childTnLst>
                                </p:cTn>
                              </p:par>
                              <p:par>
                                <p:cTn id="35" presetID="10" presetClass="entr" presetSubtype="0" fill="hold" nodeType="withEffect">
                                  <p:stCondLst>
                                    <p:cond delay="200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par>
                                <p:cTn id="38" presetID="63" presetClass="path" presetSubtype="0" accel="50000" decel="50000" fill="hold" nodeType="withEffect">
                                  <p:stCondLst>
                                    <p:cond delay="2000"/>
                                  </p:stCondLst>
                                  <p:childTnLst>
                                    <p:animMotion origin="layout" path="M -0.04088 0.07407 L -2.08333E-6 3.7037E-7 " pathEditMode="relative" rAng="0" ptsTypes="AA">
                                      <p:cBhvr>
                                        <p:cTn id="39" dur="2000" fill="hold"/>
                                        <p:tgtEl>
                                          <p:spTgt spid="2"/>
                                        </p:tgtEl>
                                        <p:attrNameLst>
                                          <p:attrName>ppt_x</p:attrName>
                                          <p:attrName>ppt_y</p:attrName>
                                        </p:attrNameLst>
                                      </p:cBhvr>
                                      <p:rCtr x="2044" y="-3704"/>
                                    </p:animMotion>
                                  </p:childTnLst>
                                </p:cTn>
                              </p:par>
                            </p:childTnLst>
                          </p:cTn>
                        </p:par>
                      </p:childTnLst>
                    </p:cTn>
                  </p:par>
                  <p:par>
                    <p:cTn id="40" fill="hold">
                      <p:stCondLst>
                        <p:cond delay="indefinite"/>
                      </p:stCondLst>
                      <p:childTnLst>
                        <p:par>
                          <p:cTn id="41" fill="hold">
                            <p:stCondLst>
                              <p:cond delay="0"/>
                            </p:stCondLst>
                            <p:childTnLst>
                              <p:par>
                                <p:cTn id="42" presetID="6" presetClass="emph" presetSubtype="0" fill="hold" nodeType="clickEffect">
                                  <p:stCondLst>
                                    <p:cond delay="0"/>
                                  </p:stCondLst>
                                  <p:childTnLst>
                                    <p:animScale>
                                      <p:cBhvr>
                                        <p:cTn id="43" dur="2000" fill="hold"/>
                                        <p:tgtEl>
                                          <p:spTgt spid="7"/>
                                        </p:tgtEl>
                                      </p:cBhvr>
                                      <p:by x="150000" y="150000"/>
                                    </p:animScale>
                                  </p:childTnLst>
                                </p:cTn>
                              </p:par>
                            </p:childTnLst>
                          </p:cTn>
                        </p:par>
                      </p:childTnLst>
                    </p:cTn>
                  </p:par>
                  <p:par>
                    <p:cTn id="44" fill="hold">
                      <p:stCondLst>
                        <p:cond delay="indefinite"/>
                      </p:stCondLst>
                      <p:childTnLst>
                        <p:par>
                          <p:cTn id="45" fill="hold">
                            <p:stCondLst>
                              <p:cond delay="0"/>
                            </p:stCondLst>
                            <p:childTnLst>
                              <p:par>
                                <p:cTn id="46" presetID="13" presetClass="entr" presetSubtype="16"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plus(in)">
                                      <p:cBhvr>
                                        <p:cTn id="48" dur="2000"/>
                                        <p:tgtEl>
                                          <p:spTgt spid="3"/>
                                        </p:tgtEl>
                                      </p:cBhvr>
                                    </p:animEffect>
                                  </p:childTnLst>
                                </p:cTn>
                              </p:par>
                            </p:childTnLst>
                          </p:cTn>
                        </p:par>
                      </p:childTnLst>
                    </p:cTn>
                  </p:par>
                  <p:par>
                    <p:cTn id="49" fill="hold">
                      <p:stCondLst>
                        <p:cond delay="indefinite"/>
                      </p:stCondLst>
                      <p:childTnLst>
                        <p:par>
                          <p:cTn id="50" fill="hold">
                            <p:stCondLst>
                              <p:cond delay="0"/>
                            </p:stCondLst>
                            <p:childTnLst>
                              <p:par>
                                <p:cTn id="51" presetID="13" presetClass="entr" presetSubtype="16"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plus(in)">
                                      <p:cBhvr>
                                        <p:cTn id="5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P spid="41" grpId="0" bldLvl="0" animBg="1"/>
      <p:bldP spid="41" grpId="1" bldLvl="0" animBg="1"/>
      <p:bldP spid="42" grpId="0" bldLvl="0" animBg="1"/>
      <p:bldP spid="42" grpId="1"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6" name="矩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459865" cy="1106805"/>
          </a:xfrm>
          <a:prstGeom prst="rect">
            <a:avLst/>
          </a:prstGeom>
        </p:spPr>
        <p:txBody>
          <a:bodyPr wrap="none">
            <a:spAutoFit/>
          </a:bodyPr>
          <a:lstStyle/>
          <a:p>
            <a:r>
              <a:rPr lang="en-US" altLang="zh-CN" sz="6600" spc="-150" dirty="0">
                <a:solidFill>
                  <a:srgbClr val="C99115"/>
                </a:solidFill>
                <a:latin typeface="Meiryo" panose="020B0604030504040204" pitchFamily="34" charset="-128"/>
                <a:ea typeface="Meiryo" panose="020B0604030504040204" pitchFamily="34" charset="-128"/>
              </a:rPr>
              <a:t>3.3</a:t>
            </a:r>
            <a:endParaRPr lang="zh-CN" altLang="en-US" sz="6600" dirty="0">
              <a:solidFill>
                <a:srgbClr val="C99115"/>
              </a:solidFill>
              <a:latin typeface="Meiryo" panose="020B0604030504040204" pitchFamily="34" charset="-128"/>
              <a:ea typeface="Meiryo" panose="020B0604030504040204" pitchFamily="34" charset="-128"/>
            </a:endParaRPr>
          </a:p>
        </p:txBody>
      </p:sp>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692844"/>
            <a:ext cx="6129604" cy="768350"/>
          </a:xfrm>
          <a:prstGeom prst="rect">
            <a:avLst/>
          </a:prstGeom>
          <a:noFill/>
        </p:spPr>
        <p:txBody>
          <a:bodyPr wrap="square" rtlCol="0">
            <a:spAutoFit/>
            <a:scene3d>
              <a:camera prst="orthographicFront">
                <a:rot lat="0" lon="0" rev="0"/>
              </a:camera>
              <a:lightRig rig="threePt" dir="t"/>
            </a:scene3d>
          </a:bodyPr>
          <a:lstStyle/>
          <a:p>
            <a:pPr algn="ct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Part 3</a:t>
            </a:r>
            <a:endPar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7"/>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2000" fill="hold"/>
                                        <p:tgtEl>
                                          <p:spTgt spid="14"/>
                                        </p:tgtEl>
                                        <p:attrNameLst>
                                          <p:attrName>ppt_w</p:attrName>
                                        </p:attrNameLst>
                                      </p:cBhvr>
                                      <p:tavLst>
                                        <p:tav tm="0">
                                          <p:val>
                                            <p:fltVal val="0"/>
                                          </p:val>
                                        </p:tav>
                                        <p:tav tm="100000">
                                          <p:val>
                                            <p:strVal val="#ppt_w"/>
                                          </p:val>
                                        </p:tav>
                                      </p:tavLst>
                                    </p:anim>
                                    <p:anim calcmode="lin" valueType="num">
                                      <p:cBhvr>
                                        <p:cTn id="18" dur="2000" fill="hold"/>
                                        <p:tgtEl>
                                          <p:spTgt spid="14"/>
                                        </p:tgtEl>
                                        <p:attrNameLst>
                                          <p:attrName>ppt_h</p:attrName>
                                        </p:attrNameLst>
                                      </p:cBhvr>
                                      <p:tavLst>
                                        <p:tav tm="0">
                                          <p:val>
                                            <p:fltVal val="0"/>
                                          </p:val>
                                        </p:tav>
                                        <p:tav tm="100000">
                                          <p:val>
                                            <p:strVal val="#ppt_h"/>
                                          </p:val>
                                        </p:tav>
                                      </p:tavLst>
                                    </p:anim>
                                    <p:animEffect transition="in" filter="fade">
                                      <p:cBhvr>
                                        <p:cTn id="19" dur="2000"/>
                                        <p:tgtEl>
                                          <p:spTgt spid="14"/>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14"/>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1"/>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20"/>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3"/>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2"/>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2"/>
                                        </p:tgtEl>
                                      </p:cBhvr>
                                    </p:animEffect>
                                    <p:set>
                                      <p:cBhvr>
                                        <p:cTn id="53" dur="1" fill="hold">
                                          <p:stCondLst>
                                            <p:cond delay="499"/>
                                          </p:stCondLst>
                                        </p:cTn>
                                        <p:tgtEl>
                                          <p:spTgt spid="22"/>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9"/>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9" grpId="0" bldLvl="0" animBg="1"/>
      <p:bldP spid="19" grpId="1" bldLvl="0" animBg="1"/>
      <p:bldP spid="19" grpId="2" bldLvl="0" animBg="1"/>
      <p:bldP spid="20" grpId="0" bldLvl="0" animBg="1"/>
      <p:bldP spid="20" grpId="1" bldLvl="0" animBg="1"/>
      <p:bldP spid="20" grpId="2" bldLvl="0" animBg="1"/>
      <p:bldP spid="21" grpId="0" bldLvl="0" animBg="1"/>
      <p:bldP spid="21" grpId="1" bldLvl="0" animBg="1"/>
      <p:bldP spid="21" grpId="2" bldLvl="0" animBg="1"/>
      <p:bldP spid="22" grpId="0" bldLvl="0" animBg="1"/>
      <p:bldP spid="22" grpId="1" bldLvl="0" animBg="1"/>
      <p:bldP spid="22" grpId="2" bldLvl="0" animBg="1"/>
      <p:bldP spid="23" grpId="0" bldLvl="0" animBg="1"/>
      <p:bldP spid="23" grpId="1" bldLvl="0" animBg="1"/>
      <p:bldP spid="23" grpId="2"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82761" y="345743"/>
            <a:ext cx="2628796" cy="521970"/>
          </a:xfrm>
          <a:prstGeom prst="rect">
            <a:avLst/>
          </a:prstGeom>
          <a:noFill/>
        </p:spPr>
        <p:txBody>
          <a:bodyPr wrap="square" rtlCol="0">
            <a:spAutoFit/>
            <a:scene3d>
              <a:camera prst="orthographicFront">
                <a:rot lat="0" lon="0" rev="0"/>
              </a:camera>
              <a:lightRig rig="threePt" dir="t"/>
            </a:scene3d>
          </a:bodyPr>
          <a:lstStyle/>
          <a:p>
            <a:pPr algn="ctr"/>
            <a:r>
              <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part 3</a:t>
            </a:r>
            <a:endParaRPr lang="en-US" sz="28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782275" y="2592669"/>
            <a:ext cx="3147076" cy="3340650"/>
            <a:chOff x="1981972" y="2365250"/>
            <a:chExt cx="3509838" cy="3725725"/>
          </a:xfrm>
        </p:grpSpPr>
        <p:sp>
          <p:nvSpPr>
            <p:cNvPr id="60" name="任意多边形 59"/>
            <p:cNvSpPr/>
            <p:nvPr/>
          </p:nvSpPr>
          <p:spPr>
            <a:xfrm rot="20398272">
              <a:off x="1981972" y="2365250"/>
              <a:ext cx="2639532" cy="3725725"/>
            </a:xfrm>
            <a:custGeom>
              <a:avLst/>
              <a:gdLst>
                <a:gd name="connsiteX0" fmla="*/ 1199111 w 2639532"/>
                <a:gd name="connsiteY0" fmla="*/ 3036130 h 3725725"/>
                <a:gd name="connsiteX1" fmla="*/ 957562 w 2639532"/>
                <a:gd name="connsiteY1" fmla="*/ 3148618 h 3725725"/>
                <a:gd name="connsiteX2" fmla="*/ 1070050 w 2639532"/>
                <a:gd name="connsiteY2" fmla="*/ 3390166 h 3725725"/>
                <a:gd name="connsiteX3" fmla="*/ 1311599 w 2639532"/>
                <a:gd name="connsiteY3" fmla="*/ 3277679 h 3725725"/>
                <a:gd name="connsiteX4" fmla="*/ 1199111 w 2639532"/>
                <a:gd name="connsiteY4" fmla="*/ 3036130 h 3725725"/>
                <a:gd name="connsiteX5" fmla="*/ 1310087 w 2639532"/>
                <a:gd name="connsiteY5" fmla="*/ 2731702 h 3725725"/>
                <a:gd name="connsiteX6" fmla="*/ 1616027 w 2639532"/>
                <a:gd name="connsiteY6" fmla="*/ 3388655 h 3725725"/>
                <a:gd name="connsiteX7" fmla="*/ 959074 w 2639532"/>
                <a:gd name="connsiteY7" fmla="*/ 3694594 h 3725725"/>
                <a:gd name="connsiteX8" fmla="*/ 653133 w 2639532"/>
                <a:gd name="connsiteY8" fmla="*/ 3037642 h 3725725"/>
                <a:gd name="connsiteX9" fmla="*/ 1310087 w 2639532"/>
                <a:gd name="connsiteY9" fmla="*/ 2731702 h 3725725"/>
                <a:gd name="connsiteX10" fmla="*/ 2552496 w 2639532"/>
                <a:gd name="connsiteY10" fmla="*/ 3122828 h 3725725"/>
                <a:gd name="connsiteX11" fmla="*/ 2639532 w 2639532"/>
                <a:gd name="connsiteY11" fmla="*/ 3254132 h 3725725"/>
                <a:gd name="connsiteX12" fmla="*/ 2497028 w 2639532"/>
                <a:gd name="connsiteY12" fmla="*/ 3396634 h 3725725"/>
                <a:gd name="connsiteX13" fmla="*/ 1660613 w 2639532"/>
                <a:gd name="connsiteY13" fmla="*/ 3396635 h 3725725"/>
                <a:gd name="connsiteX14" fmla="*/ 1686543 w 2639532"/>
                <a:gd name="connsiteY14" fmla="*/ 3294698 h 3725725"/>
                <a:gd name="connsiteX15" fmla="*/ 1691868 w 2639532"/>
                <a:gd name="connsiteY15" fmla="*/ 3185185 h 3725725"/>
                <a:gd name="connsiteX16" fmla="*/ 1680924 w 2639532"/>
                <a:gd name="connsiteY16" fmla="*/ 3111629 h 3725725"/>
                <a:gd name="connsiteX17" fmla="*/ 2497027 w 2639532"/>
                <a:gd name="connsiteY17" fmla="*/ 3111630 h 3725725"/>
                <a:gd name="connsiteX18" fmla="*/ 2552496 w 2639532"/>
                <a:gd name="connsiteY18" fmla="*/ 3122828 h 3725725"/>
                <a:gd name="connsiteX19" fmla="*/ 1109080 w 2639532"/>
                <a:gd name="connsiteY19" fmla="*/ 1013 h 3725725"/>
                <a:gd name="connsiteX20" fmla="*/ 1109080 w 2639532"/>
                <a:gd name="connsiteY20" fmla="*/ 1013 h 3725725"/>
                <a:gd name="connsiteX21" fmla="*/ 1109079 w 2639532"/>
                <a:gd name="connsiteY21" fmla="*/ 1013 h 3725725"/>
                <a:gd name="connsiteX22" fmla="*/ 1163295 w 2639532"/>
                <a:gd name="connsiteY22" fmla="*/ 11812 h 3725725"/>
                <a:gd name="connsiteX23" fmla="*/ 1248650 w 2639532"/>
                <a:gd name="connsiteY23" fmla="*/ 139861 h 3725725"/>
                <a:gd name="connsiteX24" fmla="*/ 1255222 w 2639532"/>
                <a:gd name="connsiteY24" fmla="*/ 2671127 h 3725725"/>
                <a:gd name="connsiteX25" fmla="*/ 1216131 w 2639532"/>
                <a:gd name="connsiteY25" fmla="*/ 2661183 h 3725725"/>
                <a:gd name="connsiteX26" fmla="*/ 999975 w 2639532"/>
                <a:gd name="connsiteY26" fmla="*/ 2671726 h 3725725"/>
                <a:gd name="connsiteX27" fmla="*/ 976823 w 2639532"/>
                <a:gd name="connsiteY27" fmla="*/ 2679924 h 3725725"/>
                <a:gd name="connsiteX28" fmla="*/ 970607 w 2639532"/>
                <a:gd name="connsiteY28" fmla="*/ 285006 h 3725725"/>
                <a:gd name="connsiteX29" fmla="*/ 142503 w 2639532"/>
                <a:gd name="connsiteY29" fmla="*/ 285006 h 3725725"/>
                <a:gd name="connsiteX30" fmla="*/ 0 w 2639532"/>
                <a:gd name="connsiteY30" fmla="*/ 142503 h 3725725"/>
                <a:gd name="connsiteX31" fmla="*/ 142503 w 2639532"/>
                <a:gd name="connsiteY31" fmla="*/ 0 h 3725725"/>
                <a:gd name="connsiteX32" fmla="*/ 1070854 w 2639532"/>
                <a:gd name="connsiteY32" fmla="*/ 0 h 3725725"/>
                <a:gd name="connsiteX33" fmla="*/ 1092586 w 2639532"/>
                <a:gd name="connsiteY33" fmla="*/ 4388 h 3725725"/>
                <a:gd name="connsiteX34" fmla="*/ 1109080 w 2639532"/>
                <a:gd name="connsiteY34" fmla="*/ 1013 h 372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639532" h="3725725">
                  <a:moveTo>
                    <a:pt x="1199111" y="3036130"/>
                  </a:moveTo>
                  <a:cubicBezTo>
                    <a:pt x="1101346" y="3000491"/>
                    <a:pt x="993201" y="3050853"/>
                    <a:pt x="957562" y="3148618"/>
                  </a:cubicBezTo>
                  <a:cubicBezTo>
                    <a:pt x="921923" y="3246383"/>
                    <a:pt x="972286" y="3354527"/>
                    <a:pt x="1070050" y="3390166"/>
                  </a:cubicBezTo>
                  <a:cubicBezTo>
                    <a:pt x="1167815" y="3425805"/>
                    <a:pt x="1275960" y="3375443"/>
                    <a:pt x="1311599" y="3277679"/>
                  </a:cubicBezTo>
                  <a:cubicBezTo>
                    <a:pt x="1347238" y="3179914"/>
                    <a:pt x="1296875" y="3071770"/>
                    <a:pt x="1199111" y="3036130"/>
                  </a:cubicBezTo>
                  <a:close/>
                  <a:moveTo>
                    <a:pt x="1310087" y="2731702"/>
                  </a:moveTo>
                  <a:cubicBezTo>
                    <a:pt x="1575982" y="2828632"/>
                    <a:pt x="1712957" y="3122759"/>
                    <a:pt x="1616027" y="3388655"/>
                  </a:cubicBezTo>
                  <a:cubicBezTo>
                    <a:pt x="1519098" y="3654550"/>
                    <a:pt x="1224970" y="3791524"/>
                    <a:pt x="959074" y="3694594"/>
                  </a:cubicBezTo>
                  <a:cubicBezTo>
                    <a:pt x="693179" y="3597665"/>
                    <a:pt x="556204" y="3303537"/>
                    <a:pt x="653133" y="3037642"/>
                  </a:cubicBezTo>
                  <a:cubicBezTo>
                    <a:pt x="750063" y="2771746"/>
                    <a:pt x="1044191" y="2634773"/>
                    <a:pt x="1310087" y="2731702"/>
                  </a:cubicBezTo>
                  <a:close/>
                  <a:moveTo>
                    <a:pt x="2552496" y="3122828"/>
                  </a:moveTo>
                  <a:cubicBezTo>
                    <a:pt x="2603643" y="3144461"/>
                    <a:pt x="2639532" y="3195105"/>
                    <a:pt x="2639532" y="3254132"/>
                  </a:cubicBezTo>
                  <a:cubicBezTo>
                    <a:pt x="2639530" y="3332834"/>
                    <a:pt x="2575731" y="3396635"/>
                    <a:pt x="2497028" y="3396634"/>
                  </a:cubicBezTo>
                  <a:lnTo>
                    <a:pt x="1660613" y="3396635"/>
                  </a:lnTo>
                  <a:lnTo>
                    <a:pt x="1686543" y="3294698"/>
                  </a:lnTo>
                  <a:cubicBezTo>
                    <a:pt x="1692000" y="3258034"/>
                    <a:pt x="1693701" y="3221371"/>
                    <a:pt x="1691868" y="3185185"/>
                  </a:cubicBezTo>
                  <a:lnTo>
                    <a:pt x="1680924" y="3111629"/>
                  </a:lnTo>
                  <a:lnTo>
                    <a:pt x="2497027" y="3111630"/>
                  </a:lnTo>
                  <a:cubicBezTo>
                    <a:pt x="2516702" y="3111629"/>
                    <a:pt x="2535447" y="3115616"/>
                    <a:pt x="2552496" y="3122828"/>
                  </a:cubicBezTo>
                  <a:close/>
                  <a:moveTo>
                    <a:pt x="1109080" y="1013"/>
                  </a:moveTo>
                  <a:lnTo>
                    <a:pt x="1109080" y="1013"/>
                  </a:lnTo>
                  <a:lnTo>
                    <a:pt x="1109079" y="1013"/>
                  </a:lnTo>
                  <a:close/>
                  <a:moveTo>
                    <a:pt x="1163295" y="11812"/>
                  </a:moveTo>
                  <a:cubicBezTo>
                    <a:pt x="1213314" y="32816"/>
                    <a:pt x="1248500" y="82199"/>
                    <a:pt x="1248650" y="139861"/>
                  </a:cubicBezTo>
                  <a:lnTo>
                    <a:pt x="1255222" y="2671127"/>
                  </a:lnTo>
                  <a:lnTo>
                    <a:pt x="1216131" y="2661183"/>
                  </a:lnTo>
                  <a:cubicBezTo>
                    <a:pt x="1142804" y="2650271"/>
                    <a:pt x="1069474" y="2654381"/>
                    <a:pt x="999975" y="2671726"/>
                  </a:cubicBezTo>
                  <a:lnTo>
                    <a:pt x="976823" y="2679924"/>
                  </a:lnTo>
                  <a:lnTo>
                    <a:pt x="970607" y="285006"/>
                  </a:lnTo>
                  <a:lnTo>
                    <a:pt x="142503" y="285006"/>
                  </a:lnTo>
                  <a:cubicBezTo>
                    <a:pt x="63801" y="285006"/>
                    <a:pt x="0" y="221205"/>
                    <a:pt x="0" y="142503"/>
                  </a:cubicBezTo>
                  <a:cubicBezTo>
                    <a:pt x="0" y="63801"/>
                    <a:pt x="63801" y="0"/>
                    <a:pt x="142503" y="0"/>
                  </a:cubicBezTo>
                  <a:lnTo>
                    <a:pt x="1070854" y="0"/>
                  </a:lnTo>
                  <a:lnTo>
                    <a:pt x="1092586" y="4388"/>
                  </a:lnTo>
                  <a:lnTo>
                    <a:pt x="1109080" y="1013"/>
                  </a:lnTo>
                  <a:close/>
                </a:path>
              </a:pathLst>
            </a:custGeom>
            <a:gradFill>
              <a:gsLst>
                <a:gs pos="0">
                  <a:srgbClr val="F0C76A"/>
                </a:gs>
                <a:gs pos="100000">
                  <a:srgbClr val="CC6F62"/>
                </a:gs>
              </a:gsLst>
              <a:lin ang="0" scaled="0"/>
            </a:gradFill>
            <a:ln w="28575">
              <a:noFill/>
              <a:round/>
            </a:ln>
            <a:effectLst>
              <a:outerShdw blurRad="241300" dist="38100" dir="5400000" sx="99000" sy="99000" algn="t" rotWithShape="0">
                <a:prstClr val="black">
                  <a:alpha val="40000"/>
                </a:prstClr>
              </a:outerShdw>
            </a:effectLst>
          </p:spPr>
          <p:txBody>
            <a:bodyPr vert="horz" wrap="square" lIns="91440" tIns="45720" rIns="91440" bIns="45720" numCol="1" anchor="t" anchorCtr="0" compatLnSpc="1"/>
            <a:lstStyle/>
            <a:p>
              <a:endParaRPr lang="zh-CN" altLang="en-US" sz="1600">
                <a:solidFill>
                  <a:prstClr val="white"/>
                </a:solidFill>
                <a:latin typeface="Open Sans" panose="020B0606030504020204" pitchFamily="34" charset="0"/>
                <a:cs typeface="Open Sans" panose="020B0606030504020204" pitchFamily="34" charset="0"/>
              </a:endParaRPr>
            </a:p>
          </p:txBody>
        </p:sp>
        <p:sp>
          <p:nvSpPr>
            <p:cNvPr id="62" name="任意多边形 61"/>
            <p:cNvSpPr/>
            <p:nvPr/>
          </p:nvSpPr>
          <p:spPr>
            <a:xfrm rot="20414608">
              <a:off x="3526799" y="4135253"/>
              <a:ext cx="1965011" cy="815927"/>
            </a:xfrm>
            <a:custGeom>
              <a:avLst/>
              <a:gdLst>
                <a:gd name="connsiteX0" fmla="*/ 1610487 w 1610487"/>
                <a:gd name="connsiteY0" fmla="*/ 0 h 668719"/>
                <a:gd name="connsiteX1" fmla="*/ 1610487 w 1610487"/>
                <a:gd name="connsiteY1" fmla="*/ 668719 h 668719"/>
                <a:gd name="connsiteX2" fmla="*/ 227858 w 1610487"/>
                <a:gd name="connsiteY2" fmla="*/ 668719 h 668719"/>
                <a:gd name="connsiteX3" fmla="*/ 183312 w 1610487"/>
                <a:gd name="connsiteY3" fmla="*/ 593749 h 668719"/>
                <a:gd name="connsiteX4" fmla="*/ 52706 w 1610487"/>
                <a:gd name="connsiteY4" fmla="*/ 473743 h 668719"/>
                <a:gd name="connsiteX5" fmla="*/ 0 w 1610487"/>
                <a:gd name="connsiteY5" fmla="*/ 448590 h 668719"/>
                <a:gd name="connsiteX6" fmla="*/ 0 w 1610487"/>
                <a:gd name="connsiteY6" fmla="*/ 0 h 668719"/>
                <a:gd name="connsiteX7" fmla="*/ 1610487 w 1610487"/>
                <a:gd name="connsiteY7" fmla="*/ 0 h 668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0487" h="668719">
                  <a:moveTo>
                    <a:pt x="1610487" y="0"/>
                  </a:moveTo>
                  <a:lnTo>
                    <a:pt x="1610487" y="668719"/>
                  </a:lnTo>
                  <a:lnTo>
                    <a:pt x="227858" y="668719"/>
                  </a:lnTo>
                  <a:lnTo>
                    <a:pt x="183312" y="593749"/>
                  </a:lnTo>
                  <a:cubicBezTo>
                    <a:pt x="148639" y="546375"/>
                    <a:pt x="104610" y="505328"/>
                    <a:pt x="52706" y="473743"/>
                  </a:cubicBezTo>
                  <a:lnTo>
                    <a:pt x="0" y="448590"/>
                  </a:lnTo>
                  <a:lnTo>
                    <a:pt x="0" y="0"/>
                  </a:lnTo>
                  <a:lnTo>
                    <a:pt x="1610487" y="0"/>
                  </a:lnTo>
                  <a:close/>
                </a:path>
              </a:pathLst>
            </a:custGeom>
            <a:gradFill>
              <a:gsLst>
                <a:gs pos="0">
                  <a:srgbClr val="F0C76A"/>
                </a:gs>
                <a:gs pos="100000">
                  <a:srgbClr val="CC6F62"/>
                </a:gs>
              </a:gsLst>
              <a:lin ang="0" scaled="0"/>
            </a:gradFill>
            <a:ln w="28575">
              <a:noFill/>
              <a:round/>
            </a:ln>
            <a:effectLst/>
          </p:spPr>
          <p:txBody>
            <a:bodyPr vert="horz" wrap="square" lIns="91440" tIns="45720" rIns="91440" bIns="45720" numCol="1" anchor="t" anchorCtr="0" compatLnSpc="1"/>
            <a:lstStyle/>
            <a:p>
              <a:pPr algn="ctr"/>
              <a:endParaRPr lang="en-US" altLang="zh-CN" sz="1600"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a:p>
              <a:pPr algn="ctr"/>
              <a:endParaRPr lang="zh-CN" altLang="en-US" sz="1600" dirty="0">
                <a:solidFill>
                  <a:prstClr val="white"/>
                </a:solidFill>
                <a:latin typeface="Open Sans" panose="020B0606030504020204" pitchFamily="34" charset="0"/>
                <a:cs typeface="Open Sans" panose="020B0606030504020204" pitchFamily="34" charset="0"/>
              </a:endParaRPr>
            </a:p>
          </p:txBody>
        </p:sp>
        <p:sp>
          <p:nvSpPr>
            <p:cNvPr id="63" name="任意多边形 62"/>
            <p:cNvSpPr/>
            <p:nvPr/>
          </p:nvSpPr>
          <p:spPr>
            <a:xfrm rot="20414608">
              <a:off x="2953280" y="2571979"/>
              <a:ext cx="1621531" cy="756319"/>
            </a:xfrm>
            <a:custGeom>
              <a:avLst/>
              <a:gdLst>
                <a:gd name="connsiteX0" fmla="*/ 1328977 w 1328977"/>
                <a:gd name="connsiteY0" fmla="*/ 0 h 619865"/>
                <a:gd name="connsiteX1" fmla="*/ 1328976 w 1328977"/>
                <a:gd name="connsiteY1" fmla="*/ 619865 h 619865"/>
                <a:gd name="connsiteX2" fmla="*/ 0 w 1328977"/>
                <a:gd name="connsiteY2" fmla="*/ 619865 h 619865"/>
                <a:gd name="connsiteX3" fmla="*/ 1 w 1328977"/>
                <a:gd name="connsiteY3" fmla="*/ 0 h 619865"/>
                <a:gd name="connsiteX4" fmla="*/ 1328977 w 1328977"/>
                <a:gd name="connsiteY4" fmla="*/ 0 h 6198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8977" h="619865">
                  <a:moveTo>
                    <a:pt x="1328977" y="0"/>
                  </a:moveTo>
                  <a:lnTo>
                    <a:pt x="1328976" y="619865"/>
                  </a:lnTo>
                  <a:lnTo>
                    <a:pt x="0" y="619865"/>
                  </a:lnTo>
                  <a:lnTo>
                    <a:pt x="1" y="0"/>
                  </a:lnTo>
                  <a:lnTo>
                    <a:pt x="1328977" y="0"/>
                  </a:lnTo>
                  <a:close/>
                </a:path>
              </a:pathLst>
            </a:custGeom>
            <a:gradFill>
              <a:gsLst>
                <a:gs pos="0">
                  <a:srgbClr val="F0C76A"/>
                </a:gs>
                <a:gs pos="100000">
                  <a:srgbClr val="CC6F62"/>
                </a:gs>
              </a:gsLst>
              <a:lin ang="0" scaled="0"/>
            </a:gradFill>
            <a:ln w="28575">
              <a:noFill/>
              <a:round/>
            </a:ln>
            <a:effectLst/>
          </p:spPr>
          <p:txBody>
            <a:bodyPr vert="horz" wrap="square" lIns="91440" tIns="45720" rIns="91440" bIns="45720" numCol="1" anchor="t" anchorCtr="0" compatLnSpc="1"/>
            <a:lstStyle/>
            <a:p>
              <a:pPr algn="ctr"/>
              <a:endParaRPr lang="en-US" altLang="zh-CN" sz="1600"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a:p>
              <a:pPr algn="ctr"/>
              <a:endParaRPr lang="zh-CN" altLang="en-US" sz="1600" dirty="0">
                <a:solidFill>
                  <a:prstClr val="white"/>
                </a:solidFill>
                <a:latin typeface="Open Sans" panose="020B0606030504020204" pitchFamily="34" charset="0"/>
                <a:cs typeface="Open Sans" panose="020B0606030504020204" pitchFamily="34" charset="0"/>
              </a:endParaRPr>
            </a:p>
          </p:txBody>
        </p:sp>
        <p:sp>
          <p:nvSpPr>
            <p:cNvPr id="64" name="任意多边形 63"/>
            <p:cNvSpPr/>
            <p:nvPr/>
          </p:nvSpPr>
          <p:spPr>
            <a:xfrm rot="20414608">
              <a:off x="3226916" y="3305046"/>
              <a:ext cx="1965012" cy="771833"/>
            </a:xfrm>
            <a:custGeom>
              <a:avLst/>
              <a:gdLst>
                <a:gd name="connsiteX0" fmla="*/ 1610488 w 1610488"/>
                <a:gd name="connsiteY0" fmla="*/ 0 h 632580"/>
                <a:gd name="connsiteX1" fmla="*/ 1610488 w 1610488"/>
                <a:gd name="connsiteY1" fmla="*/ 632580 h 632580"/>
                <a:gd name="connsiteX2" fmla="*/ 1 w 1610488"/>
                <a:gd name="connsiteY2" fmla="*/ 632580 h 632580"/>
                <a:gd name="connsiteX3" fmla="*/ 0 w 1610488"/>
                <a:gd name="connsiteY3" fmla="*/ 1 h 632580"/>
                <a:gd name="connsiteX4" fmla="*/ 1610488 w 1610488"/>
                <a:gd name="connsiteY4" fmla="*/ 0 h 632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488" h="632580">
                  <a:moveTo>
                    <a:pt x="1610488" y="0"/>
                  </a:moveTo>
                  <a:lnTo>
                    <a:pt x="1610488" y="632580"/>
                  </a:lnTo>
                  <a:lnTo>
                    <a:pt x="1" y="632580"/>
                  </a:lnTo>
                  <a:lnTo>
                    <a:pt x="0" y="1"/>
                  </a:lnTo>
                  <a:lnTo>
                    <a:pt x="1610488" y="0"/>
                  </a:lnTo>
                  <a:close/>
                </a:path>
              </a:pathLst>
            </a:custGeom>
            <a:gradFill>
              <a:gsLst>
                <a:gs pos="0">
                  <a:srgbClr val="F0C76A"/>
                </a:gs>
                <a:gs pos="100000">
                  <a:srgbClr val="CC6F62"/>
                </a:gs>
              </a:gsLst>
              <a:lin ang="0" scaled="0"/>
            </a:gradFill>
            <a:ln w="28575">
              <a:noFill/>
              <a:round/>
            </a:ln>
            <a:effectLst/>
          </p:spPr>
          <p:txBody>
            <a:bodyPr vert="horz" wrap="square" lIns="91440" tIns="45720" rIns="91440" bIns="45720" numCol="1" anchor="t" anchorCtr="0" compatLnSpc="1"/>
            <a:lstStyle/>
            <a:p>
              <a:pPr algn="ctr"/>
              <a:endParaRPr lang="en-US" altLang="zh-CN" sz="1600"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a:p>
              <a:pPr algn="ctr"/>
              <a:endParaRPr lang="zh-CN" altLang="en-US" sz="1600" dirty="0">
                <a:solidFill>
                  <a:prstClr val="white"/>
                </a:solidFill>
                <a:latin typeface="Open Sans" panose="020B0606030504020204" pitchFamily="34" charset="0"/>
                <a:cs typeface="Open Sans" panose="020B0606030504020204" pitchFamily="34" charset="0"/>
              </a:endParaRPr>
            </a:p>
          </p:txBody>
        </p:sp>
      </p:grpSp>
      <p:sp>
        <p:nvSpPr>
          <p:cNvPr id="18"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864490" y="1475449"/>
            <a:ext cx="3935359" cy="1322070"/>
          </a:xfrm>
          <a:prstGeom prst="rect">
            <a:avLst/>
          </a:prstGeom>
        </p:spPr>
        <p:txBody>
          <a:bodyPr wrap="square">
            <a:spAutoFit/>
          </a:bodyPr>
          <a:lstStyle/>
          <a:p>
            <a:pPr>
              <a:lnSpc>
                <a:spcPct val="200000"/>
              </a:lnSpc>
            </a:pPr>
            <a:r>
              <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rPr>
              <a:t>Step One:covert the format “txt.” into “csv.”</a:t>
            </a:r>
            <a:endPar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864350" y="2797810"/>
            <a:ext cx="4943475" cy="706755"/>
          </a:xfrm>
          <a:prstGeom prst="rect">
            <a:avLst/>
          </a:prstGeom>
        </p:spPr>
        <p:txBody>
          <a:bodyPr wrap="square">
            <a:spAutoFit/>
          </a:bodyPr>
          <a:lstStyle/>
          <a:p>
            <a:pPr>
              <a:lnSpc>
                <a:spcPct val="200000"/>
              </a:lnSpc>
            </a:pPr>
            <a:r>
              <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rPr>
              <a:t>Step two: Utilize machine learning</a:t>
            </a:r>
            <a:endPar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864490" y="4923814"/>
            <a:ext cx="3935359" cy="706755"/>
          </a:xfrm>
          <a:prstGeom prst="rect">
            <a:avLst/>
          </a:prstGeom>
        </p:spPr>
        <p:txBody>
          <a:bodyPr wrap="square">
            <a:spAutoFit/>
          </a:bodyPr>
          <a:lstStyle/>
          <a:p>
            <a:pPr>
              <a:lnSpc>
                <a:spcPct val="200000"/>
              </a:lnSpc>
            </a:pPr>
            <a:r>
              <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rPr>
              <a:t>Step four:  Export graphics</a:t>
            </a:r>
            <a:endPar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287225" y="2054337"/>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287226" y="3202003"/>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任意多边形 2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287225" y="4220764"/>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287225" y="5365669"/>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864350" y="3601720"/>
            <a:ext cx="4062095" cy="1322070"/>
          </a:xfrm>
          <a:prstGeom prst="rect">
            <a:avLst/>
          </a:prstGeom>
        </p:spPr>
        <p:txBody>
          <a:bodyPr wrap="square">
            <a:spAutoFit/>
          </a:bodyPr>
          <a:lstStyle/>
          <a:p>
            <a:pPr>
              <a:lnSpc>
                <a:spcPct val="200000"/>
              </a:lnSpc>
            </a:pPr>
            <a:r>
              <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rPr>
              <a:t>Step three:  evaluate KNN-Regressor mode's accuracy</a:t>
            </a:r>
            <a:endPar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63" presetClass="path" presetSubtype="0" accel="50000" decel="50000" fill="hold" nodeType="withEffect">
                                  <p:stCondLst>
                                    <p:cond delay="0"/>
                                  </p:stCondLst>
                                  <p:childTnLst>
                                    <p:animMotion origin="layout" path="M -0.20755 7.40741E-7 L -4.16667E-7 7.40741E-7 " pathEditMode="relative" rAng="0" ptsTypes="AA">
                                      <p:cBhvr>
                                        <p:cTn id="19" dur="2000" fill="hold"/>
                                        <p:tgtEl>
                                          <p:spTgt spid="2"/>
                                        </p:tgtEl>
                                        <p:attrNameLst>
                                          <p:attrName>ppt_x</p:attrName>
                                          <p:attrName>ppt_y</p:attrName>
                                        </p:attrNameLst>
                                      </p:cBhvr>
                                      <p:rCtr x="10378" y="0"/>
                                    </p:animMotion>
                                  </p:childTnLst>
                                </p:cTn>
                              </p:par>
                              <p:par>
                                <p:cTn id="20" presetID="22" presetClass="entr" presetSubtype="8" fill="hold" grpId="0" nodeType="withEffect">
                                  <p:stCondLst>
                                    <p:cond delay="200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1000"/>
                                        <p:tgtEl>
                                          <p:spTgt spid="18"/>
                                        </p:tgtEl>
                                      </p:cBhvr>
                                    </p:animEffect>
                                  </p:childTnLst>
                                </p:cTn>
                              </p:par>
                              <p:par>
                                <p:cTn id="23" presetID="22" presetClass="entr" presetSubtype="8" fill="hold" grpId="0" nodeType="withEffect">
                                  <p:stCondLst>
                                    <p:cond delay="2250"/>
                                  </p:stCondLst>
                                  <p:childTnLst>
                                    <p:set>
                                      <p:cBhvr>
                                        <p:cTn id="24" dur="1" fill="hold">
                                          <p:stCondLst>
                                            <p:cond delay="0"/>
                                          </p:stCondLst>
                                        </p:cTn>
                                        <p:tgtEl>
                                          <p:spTgt spid="19"/>
                                        </p:tgtEl>
                                        <p:attrNameLst>
                                          <p:attrName>style.visibility</p:attrName>
                                        </p:attrNameLst>
                                      </p:cBhvr>
                                      <p:to>
                                        <p:strVal val="visible"/>
                                      </p:to>
                                    </p:set>
                                    <p:animEffect transition="in" filter="wipe(left)">
                                      <p:cBhvr>
                                        <p:cTn id="25" dur="1000"/>
                                        <p:tgtEl>
                                          <p:spTgt spid="19"/>
                                        </p:tgtEl>
                                      </p:cBhvr>
                                    </p:animEffect>
                                  </p:childTnLst>
                                </p:cTn>
                              </p:par>
                              <p:par>
                                <p:cTn id="26" presetID="22" presetClass="entr" presetSubtype="8" fill="hold" grpId="0" nodeType="withEffect">
                                  <p:stCondLst>
                                    <p:cond delay="250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1000"/>
                                        <p:tgtEl>
                                          <p:spTgt spid="20"/>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00"/>
                                        <p:tgtEl>
                                          <p:spTgt spid="22"/>
                                        </p:tgtEl>
                                      </p:cBhvr>
                                    </p:animEffect>
                                  </p:childTnLst>
                                </p:cTn>
                              </p:par>
                              <p:par>
                                <p:cTn id="32" presetID="63" presetClass="path" presetSubtype="0" accel="50000" decel="50000" fill="hold" grpId="1" nodeType="withEffect">
                                  <p:stCondLst>
                                    <p:cond delay="500"/>
                                  </p:stCondLst>
                                  <p:childTnLst>
                                    <p:animMotion origin="layout" path="M -0.00013 0.12106 L -4.16667E-6 1.11111E-6 " pathEditMode="relative" rAng="0" ptsTypes="AA">
                                      <p:cBhvr>
                                        <p:cTn id="33" dur="2000" fill="hold"/>
                                        <p:tgtEl>
                                          <p:spTgt spid="22"/>
                                        </p:tgtEl>
                                        <p:attrNameLst>
                                          <p:attrName>ppt_x</p:attrName>
                                          <p:attrName>ppt_y</p:attrName>
                                        </p:attrNameLst>
                                      </p:cBhvr>
                                      <p:rCtr x="0" y="-6065"/>
                                    </p:animMotion>
                                  </p:childTnLst>
                                </p:cTn>
                              </p:par>
                              <p:par>
                                <p:cTn id="34" presetID="10" presetClass="entr" presetSubtype="0" fill="hold" grpId="0" nodeType="withEffect">
                                  <p:stCondLst>
                                    <p:cond delay="100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childTnLst>
                                </p:cTn>
                              </p:par>
                              <p:par>
                                <p:cTn id="37" presetID="63" presetClass="path" presetSubtype="0" accel="50000" decel="50000" fill="hold" grpId="1" nodeType="withEffect">
                                  <p:stCondLst>
                                    <p:cond delay="1000"/>
                                  </p:stCondLst>
                                  <p:childTnLst>
                                    <p:animMotion origin="layout" path="M -0.00013 0.12106 L -4.16667E-6 0 " pathEditMode="relative" rAng="0" ptsTypes="AA">
                                      <p:cBhvr>
                                        <p:cTn id="38" dur="2000" fill="hold"/>
                                        <p:tgtEl>
                                          <p:spTgt spid="23"/>
                                        </p:tgtEl>
                                        <p:attrNameLst>
                                          <p:attrName>ppt_x</p:attrName>
                                          <p:attrName>ppt_y</p:attrName>
                                        </p:attrNameLst>
                                      </p:cBhvr>
                                      <p:rCtr x="0" y="-6065"/>
                                    </p:animMotion>
                                  </p:childTnLst>
                                </p:cTn>
                              </p:par>
                              <p:par>
                                <p:cTn id="39" presetID="10" presetClass="entr" presetSubtype="0" fill="hold" grpId="0" nodeType="withEffect">
                                  <p:stCondLst>
                                    <p:cond delay="150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par>
                                <p:cTn id="42" presetID="63" presetClass="path" presetSubtype="0" accel="50000" decel="50000" fill="hold" grpId="1" nodeType="withEffect">
                                  <p:stCondLst>
                                    <p:cond delay="1500"/>
                                  </p:stCondLst>
                                  <p:childTnLst>
                                    <p:animMotion origin="layout" path="M -0.00013 0.12107 L -4.16667E-6 -1.11111E-6 " pathEditMode="relative" rAng="0" ptsTypes="AA">
                                      <p:cBhvr>
                                        <p:cTn id="43" dur="2000" fill="hold"/>
                                        <p:tgtEl>
                                          <p:spTgt spid="24"/>
                                        </p:tgtEl>
                                        <p:attrNameLst>
                                          <p:attrName>ppt_x</p:attrName>
                                          <p:attrName>ppt_y</p:attrName>
                                        </p:attrNameLst>
                                      </p:cBhvr>
                                      <p:rCtr x="0" y="-6065"/>
                                    </p:animMotion>
                                  </p:childTnLst>
                                </p:cTn>
                              </p:par>
                              <p:par>
                                <p:cTn id="44" presetID="10" presetClass="entr" presetSubtype="0" fill="hold" grpId="0" nodeType="withEffect">
                                  <p:stCondLst>
                                    <p:cond delay="150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par>
                                <p:cTn id="47" presetID="63" presetClass="path" presetSubtype="0" accel="50000" decel="50000" fill="hold" grpId="1" nodeType="withEffect">
                                  <p:stCondLst>
                                    <p:cond delay="1500"/>
                                  </p:stCondLst>
                                  <p:childTnLst>
                                    <p:animMotion origin="layout" path="M -0.00013 0.12107 L -4.16667E-6 -1.11111E-6 " pathEditMode="relative" rAng="0" ptsTypes="AA">
                                      <p:cBhvr>
                                        <p:cTn id="48" dur="2000" fill="hold"/>
                                        <p:tgtEl>
                                          <p:spTgt spid="7"/>
                                        </p:tgtEl>
                                        <p:attrNameLst>
                                          <p:attrName>ppt_x</p:attrName>
                                          <p:attrName>ppt_y</p:attrName>
                                        </p:attrNameLst>
                                      </p:cBhvr>
                                      <p:rCtr x="0" y="-6065"/>
                                    </p:animMotion>
                                  </p:childTnLst>
                                </p:cTn>
                              </p:par>
                              <p:par>
                                <p:cTn id="49" presetID="22" presetClass="entr" presetSubtype="8" fill="hold" grpId="0" nodeType="withEffect">
                                  <p:stCondLst>
                                    <p:cond delay="2500"/>
                                  </p:stCondLst>
                                  <p:childTnLst>
                                    <p:set>
                                      <p:cBhvr>
                                        <p:cTn id="50" dur="1" fill="hold">
                                          <p:stCondLst>
                                            <p:cond delay="0"/>
                                          </p:stCondLst>
                                        </p:cTn>
                                        <p:tgtEl>
                                          <p:spTgt spid="8"/>
                                        </p:tgtEl>
                                        <p:attrNameLst>
                                          <p:attrName>style.visibility</p:attrName>
                                        </p:attrNameLst>
                                      </p:cBhvr>
                                      <p:to>
                                        <p:strVal val="visible"/>
                                      </p:to>
                                    </p:set>
                                    <p:animEffect transition="in" filter="wipe(left)">
                                      <p:cBhvr>
                                        <p:cTn id="5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18" grpId="0"/>
      <p:bldP spid="19" grpId="0"/>
      <p:bldP spid="20" grpId="0"/>
      <p:bldP spid="22" grpId="0" animBg="1"/>
      <p:bldP spid="22" grpId="1" animBg="1"/>
      <p:bldP spid="23" grpId="0" animBg="1"/>
      <p:bldP spid="23" grpId="1" animBg="1"/>
      <p:bldP spid="24" grpId="0" bldLvl="0" animBg="1"/>
      <p:bldP spid="24" grpId="1" bldLvl="0" animBg="1"/>
      <p:bldP spid="7" grpId="0" bldLvl="0" animBg="1"/>
      <p:bldP spid="7" grpId="1" bldLvl="0" animBg="1"/>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721995" y="1245870"/>
            <a:ext cx="8190230" cy="1998980"/>
          </a:xfrm>
          <a:prstGeom prst="rect">
            <a:avLst/>
          </a:prstGeom>
        </p:spPr>
      </p:pic>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5" name="图片 4"/>
          <p:cNvPicPr>
            <a:picLocks noChangeAspect="1"/>
          </p:cNvPicPr>
          <p:nvPr/>
        </p:nvPicPr>
        <p:blipFill>
          <a:blip r:embed="rId3"/>
          <a:stretch>
            <a:fillRect/>
          </a:stretch>
        </p:blipFill>
        <p:spPr>
          <a:xfrm>
            <a:off x="8481060" y="984885"/>
            <a:ext cx="2987675" cy="5310505"/>
          </a:xfrm>
          <a:prstGeom prst="rect">
            <a:avLst/>
          </a:prstGeom>
        </p:spPr>
      </p:pic>
      <p:sp>
        <p:nvSpPr>
          <p:cNvPr id="8" name="文本框 7"/>
          <p:cNvSpPr txBox="1"/>
          <p:nvPr/>
        </p:nvSpPr>
        <p:spPr>
          <a:xfrm>
            <a:off x="607060" y="255270"/>
            <a:ext cx="6504305" cy="521970"/>
          </a:xfrm>
          <a:prstGeom prst="rect">
            <a:avLst/>
          </a:prstGeom>
          <a:noFill/>
        </p:spPr>
        <p:txBody>
          <a:bodyPr wrap="square" rtlCol="0">
            <a:spAutoFit/>
          </a:bodyPr>
          <a:lstStyle/>
          <a:p>
            <a:r>
              <a:rPr lang="en-US" altLang="zh-CN" sz="2800" b="1" dirty="0">
                <a:solidFill>
                  <a:srgbClr val="F0C76A"/>
                </a:solidFill>
                <a:latin typeface="Open Sans" panose="020B0606030504020204" pitchFamily="34" charset="0"/>
                <a:ea typeface="Open Sans" panose="020B0606030504020204" pitchFamily="34" charset="0"/>
                <a:cs typeface="Open Sans" panose="020B0606030504020204" pitchFamily="34" charset="0"/>
                <a:sym typeface="+mn-ea"/>
              </a:rPr>
              <a:t>covert “txt.” into “csv.”</a:t>
            </a:r>
            <a:endParaRPr lang="zh-CN" altLang="en-US" sz="2800"/>
          </a:p>
        </p:txBody>
      </p:sp>
      <p:sp>
        <p:nvSpPr>
          <p:cNvPr id="17" name="文本框 16"/>
          <p:cNvSpPr txBox="1"/>
          <p:nvPr/>
        </p:nvSpPr>
        <p:spPr>
          <a:xfrm>
            <a:off x="721995" y="3496310"/>
            <a:ext cx="6868795" cy="460375"/>
          </a:xfrm>
          <a:prstGeom prst="rect">
            <a:avLst/>
          </a:prstGeom>
          <a:noFill/>
        </p:spPr>
        <p:txBody>
          <a:bodyPr wrap="square" rtlCol="0">
            <a:spAutoFit/>
          </a:bodyPr>
          <a:lstStyle/>
          <a:p>
            <a:r>
              <a:rPr lang="en-US" altLang="zh-CN" sz="2400">
                <a:solidFill>
                  <a:schemeClr val="bg1"/>
                </a:solidFill>
                <a:latin typeface="Comic Sans MS" panose="030F0702030302020204" charset="0"/>
              </a:rPr>
              <a:t>Print“F-score”“CR””ROE”seperately row by row</a:t>
            </a:r>
            <a:endParaRPr lang="en-US" altLang="zh-CN" sz="2400">
              <a:solidFill>
                <a:schemeClr val="bg1"/>
              </a:solidFill>
              <a:latin typeface="Comic Sans MS" panose="030F0702030302020204" charset="0"/>
            </a:endParaRPr>
          </a:p>
        </p:txBody>
      </p:sp>
      <p:pic>
        <p:nvPicPr>
          <p:cNvPr id="18" name="图片 17"/>
          <p:cNvPicPr>
            <a:picLocks noChangeAspect="1"/>
          </p:cNvPicPr>
          <p:nvPr/>
        </p:nvPicPr>
        <p:blipFill>
          <a:blip r:embed="rId4"/>
          <a:stretch>
            <a:fillRect/>
          </a:stretch>
        </p:blipFill>
        <p:spPr>
          <a:xfrm>
            <a:off x="721995" y="4062095"/>
            <a:ext cx="4008755" cy="1630045"/>
          </a:xfrm>
          <a:prstGeom prst="rect">
            <a:avLst/>
          </a:prstGeom>
        </p:spPr>
      </p:pic>
      <p:sp>
        <p:nvSpPr>
          <p:cNvPr id="19" name="文本框 18"/>
          <p:cNvSpPr txBox="1"/>
          <p:nvPr/>
        </p:nvSpPr>
        <p:spPr>
          <a:xfrm>
            <a:off x="1115695" y="5692140"/>
            <a:ext cx="2616200" cy="398780"/>
          </a:xfrm>
          <a:prstGeom prst="rect">
            <a:avLst/>
          </a:prstGeom>
          <a:noFill/>
        </p:spPr>
        <p:txBody>
          <a:bodyPr wrap="square" rtlCol="0">
            <a:spAutoFit/>
          </a:bodyPr>
          <a:lstStyle/>
          <a:p>
            <a:r>
              <a:rPr lang="zh-CN" altLang="en-US" sz="2000">
                <a:solidFill>
                  <a:schemeClr val="bg1"/>
                </a:solidFill>
                <a:uFillTx/>
                <a:latin typeface="Comic Sans MS" panose="030F0702030302020204" charset="0"/>
              </a:rPr>
              <a:t>（</a:t>
            </a:r>
            <a:r>
              <a:rPr lang="en-US" altLang="zh-CN" sz="2000">
                <a:solidFill>
                  <a:schemeClr val="bg1"/>
                </a:solidFill>
                <a:uFillTx/>
                <a:latin typeface="Comic Sans MS" panose="030F0702030302020204" charset="0"/>
              </a:rPr>
              <a:t>Sample output</a:t>
            </a:r>
            <a:r>
              <a:rPr lang="zh-CN" altLang="en-US" sz="2000">
                <a:solidFill>
                  <a:schemeClr val="bg1"/>
                </a:solidFill>
                <a:uFillTx/>
                <a:latin typeface="Comic Sans MS" panose="030F0702030302020204" charset="0"/>
              </a:rPr>
              <a:t>）</a:t>
            </a:r>
            <a:endParaRPr lang="zh-CN" altLang="en-US" sz="2000">
              <a:solidFill>
                <a:schemeClr val="bg1"/>
              </a:solidFill>
              <a:uFillTx/>
              <a:latin typeface="Comic Sans MS" panose="030F0702030302020204" charset="0"/>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200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par>
                                <p:cTn id="13" presetID="63" presetClass="path" presetSubtype="0" accel="50000" decel="50000" fill="hold" grpId="1" nodeType="withEffect">
                                  <p:stCondLst>
                                    <p:cond delay="2000"/>
                                  </p:stCondLst>
                                  <p:childTnLst>
                                    <p:animMotion origin="layout" path="M -0.03177 -0.05556 L 8.33333E-7 1.48148E-6 " pathEditMode="relative" rAng="0" ptsTypes="AA">
                                      <p:cBhvr>
                                        <p:cTn id="14" dur="2000" fill="hold"/>
                                        <p:tgtEl>
                                          <p:spTgt spid="39"/>
                                        </p:tgtEl>
                                        <p:attrNameLst>
                                          <p:attrName>ppt_x</p:attrName>
                                          <p:attrName>ppt_y</p:attrName>
                                        </p:attrNameLst>
                                      </p:cBhvr>
                                      <p:rCtr x="1589" y="2778"/>
                                    </p:animMotion>
                                  </p:childTnLst>
                                </p:cTn>
                              </p:par>
                              <p:par>
                                <p:cTn id="15" presetID="10" presetClass="entr" presetSubtype="0" fill="hold" grpId="0" nodeType="withEffect">
                                  <p:stCondLst>
                                    <p:cond delay="2000"/>
                                  </p:stCondLst>
                                  <p:childTnLst>
                                    <p:set>
                                      <p:cBhvr>
                                        <p:cTn id="16" dur="1" fill="hold">
                                          <p:stCondLst>
                                            <p:cond delay="0"/>
                                          </p:stCondLst>
                                        </p:cTn>
                                        <p:tgtEl>
                                          <p:spTgt spid="41"/>
                                        </p:tgtEl>
                                        <p:attrNameLst>
                                          <p:attrName>style.visibility</p:attrName>
                                        </p:attrNameLst>
                                      </p:cBhvr>
                                      <p:to>
                                        <p:strVal val="visible"/>
                                      </p:to>
                                    </p:set>
                                    <p:animEffect transition="in" filter="fade">
                                      <p:cBhvr>
                                        <p:cTn id="17" dur="500"/>
                                        <p:tgtEl>
                                          <p:spTgt spid="41"/>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41"/>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63" presetClass="path" presetSubtype="0" accel="50000" decel="50000" fill="hold" grpId="1" nodeType="withEffect">
                                  <p:stCondLst>
                                    <p:cond delay="2000"/>
                                  </p:stCondLst>
                                  <p:childTnLst>
                                    <p:animMotion origin="layout" path="M -0.04088 0.07407 L -2.08333E-6 3.7037E-7 " pathEditMode="relative" rAng="0" ptsTypes="AA">
                                      <p:cBhvr>
                                        <p:cTn id="24" dur="2000" fill="hold"/>
                                        <p:tgtEl>
                                          <p:spTgt spid="40"/>
                                        </p:tgtEl>
                                        <p:attrNameLst>
                                          <p:attrName>ppt_x</p:attrName>
                                          <p:attrName>ppt_y</p:attrName>
                                        </p:attrNameLst>
                                      </p:cBhvr>
                                      <p:rCtr x="2044" y="-3704"/>
                                    </p:animMotion>
                                  </p:childTnLst>
                                </p:cTn>
                              </p:par>
                              <p:par>
                                <p:cTn id="25" presetID="10" presetClass="entr" presetSubtype="0" fill="hold" grpId="0" nodeType="withEffect">
                                  <p:stCondLst>
                                    <p:cond delay="200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63" presetClass="path" presetSubtype="0" accel="50000" decel="50000" fill="hold" grpId="1" nodeType="withEffect">
                                  <p:stCondLst>
                                    <p:cond delay="2000"/>
                                  </p:stCondLst>
                                  <p:childTnLst>
                                    <p:animMotion origin="layout" path="M -0.04088 0.07407 L -2.08333E-6 3.7037E-7 " pathEditMode="relative" rAng="0" ptsTypes="AA">
                                      <p:cBhvr>
                                        <p:cTn id="29" dur="2000" fill="hold"/>
                                        <p:tgtEl>
                                          <p:spTgt spid="42"/>
                                        </p:tgtEl>
                                        <p:attrNameLst>
                                          <p:attrName>ppt_x</p:attrName>
                                          <p:attrName>ppt_y</p:attrName>
                                        </p:attrNameLst>
                                      </p:cBhvr>
                                      <p:rCtr x="2044" y="-3704"/>
                                    </p:animMotion>
                                  </p:childTnLst>
                                </p:cTn>
                              </p:par>
                              <p:par>
                                <p:cTn id="30" presetID="10" presetClass="entr" presetSubtype="0" fill="hold" nodeType="withEffect">
                                  <p:stCondLst>
                                    <p:cond delay="200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63" presetClass="path" presetSubtype="0" accel="50000" decel="50000" fill="hold" nodeType="withEffect">
                                  <p:stCondLst>
                                    <p:cond delay="2000"/>
                                  </p:stCondLst>
                                  <p:childTnLst>
                                    <p:animMotion origin="layout" path="M -0.04088 0.07407 L -2.08333E-6 3.7037E-7 " pathEditMode="relative" rAng="0" ptsTypes="AA">
                                      <p:cBhvr>
                                        <p:cTn id="34" dur="2000" fill="hold"/>
                                        <p:tgtEl>
                                          <p:spTgt spid="2"/>
                                        </p:tgtEl>
                                        <p:attrNameLst>
                                          <p:attrName>ppt_x</p:attrName>
                                          <p:attrName>ppt_y</p:attrName>
                                        </p:attrNameLst>
                                      </p:cBhvr>
                                      <p:rCtr x="2044" y="-3704"/>
                                    </p:animMotion>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diamond(in)">
                                      <p:cBhvr>
                                        <p:cTn id="39" dur="20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17">
                                            <p:txEl>
                                              <p:pRg st="0" end="0"/>
                                            </p:txEl>
                                          </p:spTgt>
                                        </p:tgtEl>
                                        <p:attrNameLst>
                                          <p:attrName>style.visibility</p:attrName>
                                        </p:attrNameLst>
                                      </p:cBhvr>
                                      <p:to>
                                        <p:strVal val="visible"/>
                                      </p:to>
                                    </p:set>
                                    <p:animEffect transition="in" filter="box(in)">
                                      <p:cBhvr>
                                        <p:cTn id="44" dur="2000"/>
                                        <p:tgtEl>
                                          <p:spTgt spid="17">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checkerboard(across)">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nodeType="clickEffect">
                                  <p:stCondLst>
                                    <p:cond delay="0"/>
                                  </p:stCondLst>
                                  <p:childTnLst>
                                    <p:set>
                                      <p:cBhvr>
                                        <p:cTn id="53" dur="1" fill="hold">
                                          <p:stCondLst>
                                            <p:cond delay="0"/>
                                          </p:stCondLst>
                                        </p:cTn>
                                        <p:tgtEl>
                                          <p:spTgt spid="19">
                                            <p:txEl>
                                              <p:pRg st="0" end="0"/>
                                            </p:txEl>
                                          </p:spTgt>
                                        </p:tgtEl>
                                        <p:attrNameLst>
                                          <p:attrName>style.visibility</p:attrName>
                                        </p:attrNameLst>
                                      </p:cBhvr>
                                      <p:to>
                                        <p:strVal val="visible"/>
                                      </p:to>
                                    </p:set>
                                    <p:animEffect transition="in" filter="checkerboard(across)">
                                      <p:cBhvr>
                                        <p:cTn id="54" dur="500"/>
                                        <p:tgtEl>
                                          <p:spTgt spid="19">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0" presetClass="entr" presetSubtype="0"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animEffect transition="in" filter="wedge">
                                      <p:cBhvr>
                                        <p:cTn id="5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bldLvl="0" animBg="1"/>
      <p:bldP spid="39" grpId="0" bldLvl="0" animBg="1"/>
      <p:bldP spid="39" grpId="1" bldLvl="0" animBg="1"/>
      <p:bldP spid="40" grpId="0" bldLvl="0" animBg="1"/>
      <p:bldP spid="40" grpId="1" bldLvl="0" animBg="1"/>
      <p:bldP spid="41" grpId="0" bldLvl="0" animBg="1"/>
      <p:bldP spid="41" grpId="1" bldLvl="0" animBg="1"/>
      <p:bldP spid="42" grpId="0" bldLvl="0" animBg="1"/>
      <p:bldP spid="42" grpId="1"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28625" y="162560"/>
            <a:ext cx="4767580"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Machine learning</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7" name="图片 6" descr="20170608204107"/>
          <p:cNvPicPr>
            <a:picLocks noChangeAspect="1"/>
          </p:cNvPicPr>
          <p:nvPr/>
        </p:nvPicPr>
        <p:blipFill>
          <a:blip r:embed="rId2"/>
          <a:stretch>
            <a:fillRect/>
          </a:stretch>
        </p:blipFill>
        <p:spPr>
          <a:xfrm>
            <a:off x="2217420" y="4299585"/>
            <a:ext cx="6516370" cy="1463675"/>
          </a:xfrm>
          <a:prstGeom prst="rect">
            <a:avLst/>
          </a:prstGeom>
        </p:spPr>
      </p:pic>
      <p:grpSp>
        <p:nvGrpSpPr>
          <p:cNvPr id="8" name="组合 7"/>
          <p:cNvGrpSpPr/>
          <p:nvPr/>
        </p:nvGrpSpPr>
        <p:grpSpPr>
          <a:xfrm>
            <a:off x="2217420" y="1076325"/>
            <a:ext cx="6804660" cy="2980690"/>
            <a:chOff x="3492" y="1695"/>
            <a:chExt cx="10716" cy="4694"/>
          </a:xfrm>
        </p:grpSpPr>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10146" y="5684"/>
              <a:ext cx="1314" cy="9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12906" y="5050"/>
              <a:ext cx="2420" cy="18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5" name="图片 4" descr="20170608203751"/>
            <p:cNvPicPr>
              <a:picLocks noChangeAspect="1"/>
            </p:cNvPicPr>
            <p:nvPr/>
          </p:nvPicPr>
          <p:blipFill>
            <a:blip r:embed="rId3"/>
            <a:stretch>
              <a:fillRect/>
            </a:stretch>
          </p:blipFill>
          <p:spPr>
            <a:xfrm>
              <a:off x="3492" y="1695"/>
              <a:ext cx="10260" cy="4410"/>
            </a:xfrm>
            <a:prstGeom prst="rect">
              <a:avLst/>
            </a:prstGeom>
          </p:spPr>
        </p:pic>
        <p:sp>
          <p:nvSpPr>
            <p:cNvPr id="3" name="文本框 2"/>
            <p:cNvSpPr txBox="1"/>
            <p:nvPr/>
          </p:nvSpPr>
          <p:spPr>
            <a:xfrm>
              <a:off x="8465" y="5038"/>
              <a:ext cx="5083" cy="580"/>
            </a:xfrm>
            <a:prstGeom prst="rect">
              <a:avLst/>
            </a:prstGeom>
            <a:solidFill>
              <a:schemeClr val="bg1"/>
            </a:solidFill>
          </p:spPr>
          <p:txBody>
            <a:bodyPr wrap="square" rtlCol="0">
              <a:spAutoFit/>
            </a:bodyPr>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39"/>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63" presetClass="path" presetSubtype="0" accel="50000" decel="50000" fill="hold" grpId="1" nodeType="withEffect">
                                  <p:stCondLst>
                                    <p:cond delay="2000"/>
                                  </p:stCondLst>
                                  <p:childTnLst>
                                    <p:animMotion origin="layout" path="M -0.04088 0.07407 L -2.08333E-6 3.7037E-7 " pathEditMode="relative" rAng="0" ptsTypes="AA">
                                      <p:cBhvr>
                                        <p:cTn id="24" dur="2000" fill="hold"/>
                                        <p:tgtEl>
                                          <p:spTgt spid="40"/>
                                        </p:tgtEl>
                                        <p:attrNameLst>
                                          <p:attrName>ppt_x</p:attrName>
                                          <p:attrName>ppt_y</p:attrName>
                                        </p:attrNameLst>
                                      </p:cBhvr>
                                      <p:rCtr x="2044" y="-3704"/>
                                    </p:animMotion>
                                  </p:childTnLst>
                                </p:cTn>
                              </p:par>
                              <p:par>
                                <p:cTn id="25" presetID="10" presetClass="entr" presetSubtype="0" fill="hold" nodeType="withEffect">
                                  <p:stCondLst>
                                    <p:cond delay="200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par>
                                <p:cTn id="28" presetID="63" presetClass="path" presetSubtype="0" accel="50000" decel="50000" fill="hold" nodeType="withEffect">
                                  <p:stCondLst>
                                    <p:cond delay="2000"/>
                                  </p:stCondLst>
                                  <p:childTnLst>
                                    <p:animMotion origin="layout" path="M -0.04088 0.07407 L -2.08333E-6 3.7037E-7 " pathEditMode="relative" rAng="0" ptsTypes="AA">
                                      <p:cBhvr>
                                        <p:cTn id="29" dur="2000" fill="hold"/>
                                        <p:tgtEl>
                                          <p:spTgt spid="2"/>
                                        </p:tgtEl>
                                        <p:attrNameLst>
                                          <p:attrName>ppt_x</p:attrName>
                                          <p:attrName>ppt_y</p:attrName>
                                        </p:attrNameLst>
                                      </p:cBhvr>
                                      <p:rCtr x="2044" y="-370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28625" y="162560"/>
            <a:ext cx="6748145"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 Evaluate the accuracy of KNN</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7" name="图片 6" descr="20170608205816"/>
          <p:cNvPicPr>
            <a:picLocks noChangeAspect="1"/>
          </p:cNvPicPr>
          <p:nvPr/>
        </p:nvPicPr>
        <p:blipFill>
          <a:blip r:embed="rId2"/>
          <a:stretch>
            <a:fillRect/>
          </a:stretch>
        </p:blipFill>
        <p:spPr>
          <a:xfrm>
            <a:off x="784225" y="1640205"/>
            <a:ext cx="10459085" cy="3634740"/>
          </a:xfrm>
          <a:prstGeom prst="rect">
            <a:avLst/>
          </a:prstGeom>
        </p:spPr>
      </p:pic>
      <p:sp>
        <p:nvSpPr>
          <p:cNvPr id="8" name="矩形 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409190" y="5626735"/>
            <a:ext cx="7621905" cy="95313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 </a:t>
            </a:r>
            <a:r>
              <a:rPr lang="en-US" sz="24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Mean Square Error (KNN): 9.92373352601, Root Mean Square Error (KNN): 3.15019579169</a:t>
            </a:r>
            <a:endParaRPr lang="en-US" sz="24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39"/>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par>
                                <p:cTn id="23" presetID="63" presetClass="path" presetSubtype="0" accel="50000" decel="50000" fill="hold" grpId="1" nodeType="withEffect">
                                  <p:stCondLst>
                                    <p:cond delay="2000"/>
                                  </p:stCondLst>
                                  <p:childTnLst>
                                    <p:animMotion origin="layout" path="M -0.03177 -0.05556 L 8.33333E-7 1.48148E-6 " pathEditMode="relative" rAng="0" ptsTypes="AA">
                                      <p:cBhvr>
                                        <p:cTn id="24" dur="2000" fill="hold"/>
                                        <p:tgtEl>
                                          <p:spTgt spid="41"/>
                                        </p:tgtEl>
                                        <p:attrNameLst>
                                          <p:attrName>ppt_x</p:attrName>
                                          <p:attrName>ppt_y</p:attrName>
                                        </p:attrNameLst>
                                      </p:cBhvr>
                                      <p:rCtr x="1589" y="2778"/>
                                    </p:animMotion>
                                  </p:childTnLst>
                                </p:cTn>
                              </p:par>
                              <p:par>
                                <p:cTn id="25" presetID="10" presetClass="entr" presetSubtype="0" fill="hold" grpId="0" nodeType="withEffect">
                                  <p:stCondLst>
                                    <p:cond delay="2000"/>
                                  </p:stCondLst>
                                  <p:childTnLst>
                                    <p:set>
                                      <p:cBhvr>
                                        <p:cTn id="26" dur="1" fill="hold">
                                          <p:stCondLst>
                                            <p:cond delay="0"/>
                                          </p:stCondLst>
                                        </p:cTn>
                                        <p:tgtEl>
                                          <p:spTgt spid="40"/>
                                        </p:tgtEl>
                                        <p:attrNameLst>
                                          <p:attrName>style.visibility</p:attrName>
                                        </p:attrNameLst>
                                      </p:cBhvr>
                                      <p:to>
                                        <p:strVal val="visible"/>
                                      </p:to>
                                    </p:set>
                                    <p:animEffect transition="in" filter="fade">
                                      <p:cBhvr>
                                        <p:cTn id="27" dur="500"/>
                                        <p:tgtEl>
                                          <p:spTgt spid="40"/>
                                        </p:tgtEl>
                                      </p:cBhvr>
                                    </p:animEffect>
                                  </p:childTnLst>
                                </p:cTn>
                              </p:par>
                              <p:par>
                                <p:cTn id="28" presetID="63" presetClass="path" presetSubtype="0" accel="50000" decel="50000" fill="hold" grpId="1" nodeType="withEffect">
                                  <p:stCondLst>
                                    <p:cond delay="2000"/>
                                  </p:stCondLst>
                                  <p:childTnLst>
                                    <p:animMotion origin="layout" path="M -0.04088 0.07407 L -2.08333E-6 3.7037E-7 " pathEditMode="relative" rAng="0" ptsTypes="AA">
                                      <p:cBhvr>
                                        <p:cTn id="29" dur="2000" fill="hold"/>
                                        <p:tgtEl>
                                          <p:spTgt spid="40"/>
                                        </p:tgtEl>
                                        <p:attrNameLst>
                                          <p:attrName>ppt_x</p:attrName>
                                          <p:attrName>ppt_y</p:attrName>
                                        </p:attrNameLst>
                                      </p:cBhvr>
                                      <p:rCtr x="2044" y="-3704"/>
                                    </p:animMotion>
                                  </p:childTnLst>
                                </p:cTn>
                              </p:par>
                              <p:par>
                                <p:cTn id="30" presetID="10" presetClass="entr" presetSubtype="0" fill="hold" grpId="0" nodeType="withEffect">
                                  <p:stCondLst>
                                    <p:cond delay="200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par>
                                <p:cTn id="33" presetID="63" presetClass="path" presetSubtype="0" accel="50000" decel="50000" fill="hold" grpId="1" nodeType="withEffect">
                                  <p:stCondLst>
                                    <p:cond delay="2000"/>
                                  </p:stCondLst>
                                  <p:childTnLst>
                                    <p:animMotion origin="layout" path="M -0.04088 0.07407 L -2.08333E-6 3.7037E-7 " pathEditMode="relative" rAng="0" ptsTypes="AA">
                                      <p:cBhvr>
                                        <p:cTn id="34" dur="2000" fill="hold"/>
                                        <p:tgtEl>
                                          <p:spTgt spid="42"/>
                                        </p:tgtEl>
                                        <p:attrNameLst>
                                          <p:attrName>ppt_x</p:attrName>
                                          <p:attrName>ppt_y</p:attrName>
                                        </p:attrNameLst>
                                      </p:cBhvr>
                                      <p:rCtr x="2044" y="-3704"/>
                                    </p:animMotion>
                                  </p:childTnLst>
                                </p:cTn>
                              </p:par>
                              <p:par>
                                <p:cTn id="35" presetID="10" presetClass="entr" presetSubtype="0" fill="hold" nodeType="withEffect">
                                  <p:stCondLst>
                                    <p:cond delay="200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500"/>
                                        <p:tgtEl>
                                          <p:spTgt spid="2"/>
                                        </p:tgtEl>
                                      </p:cBhvr>
                                    </p:animEffect>
                                  </p:childTnLst>
                                </p:cTn>
                              </p:par>
                              <p:par>
                                <p:cTn id="38" presetID="63" presetClass="path" presetSubtype="0" accel="50000" decel="50000" fill="hold" nodeType="withEffect">
                                  <p:stCondLst>
                                    <p:cond delay="2000"/>
                                  </p:stCondLst>
                                  <p:childTnLst>
                                    <p:animMotion origin="layout" path="M -0.04088 0.07407 L -2.08333E-6 3.7037E-7 " pathEditMode="relative" rAng="0" ptsTypes="AA">
                                      <p:cBhvr>
                                        <p:cTn id="39" dur="2000" fill="hold"/>
                                        <p:tgtEl>
                                          <p:spTgt spid="2"/>
                                        </p:tgtEl>
                                        <p:attrNameLst>
                                          <p:attrName>ppt_x</p:attrName>
                                          <p:attrName>ppt_y</p:attrName>
                                        </p:attrNameLst>
                                      </p:cBhvr>
                                      <p:rCtr x="2044" y="-3704"/>
                                    </p:animMotion>
                                  </p:childTnLst>
                                </p:cTn>
                              </p:par>
                              <p:par>
                                <p:cTn id="40" presetID="10"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63" presetClass="path" presetSubtype="0" accel="50000" decel="50000" fill="hold" grpId="1" nodeType="withEffect">
                                  <p:stCondLst>
                                    <p:cond delay="0"/>
                                  </p:stCondLst>
                                  <p:childTnLst>
                                    <p:animMotion origin="layout" path="M -0.0608 3.7037E-7 L -2.70833E-6 3.7037E-7 " pathEditMode="relative" rAng="0" ptsTypes="AA">
                                      <p:cBhvr>
                                        <p:cTn id="44" dur="2000" fill="hold"/>
                                        <p:tgtEl>
                                          <p:spTgt spid="8"/>
                                        </p:tgtEl>
                                        <p:attrNameLst>
                                          <p:attrName>ppt_x</p:attrName>
                                          <p:attrName>ppt_y</p:attrName>
                                        </p:attrNameLst>
                                      </p:cBhvr>
                                      <p:rCtr x="303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P spid="41" grpId="0" bldLvl="0" animBg="1"/>
      <p:bldP spid="41" grpId="1" bldLvl="0" animBg="1"/>
      <p:bldP spid="42" grpId="0" bldLvl="0" animBg="1"/>
      <p:bldP spid="42" grpId="1" bldLvl="0" animBg="1"/>
      <p:bldP spid="8" grpId="0"/>
      <p:bldP spid="8" grpId="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28625" y="162560"/>
            <a:ext cx="3604895"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Accuracy</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6268355" y="245561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5080523" y="4274401"/>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pic>
        <p:nvPicPr>
          <p:cNvPr id="3" name="图片 2" descr="微信图片_20170608200707"/>
          <p:cNvPicPr>
            <a:picLocks noChangeAspect="1"/>
          </p:cNvPicPr>
          <p:nvPr/>
        </p:nvPicPr>
        <p:blipFill>
          <a:blip r:embed="rId2"/>
          <a:stretch>
            <a:fillRect/>
          </a:stretch>
        </p:blipFill>
        <p:spPr>
          <a:xfrm>
            <a:off x="7562215" y="162560"/>
            <a:ext cx="4020185" cy="2534285"/>
          </a:xfrm>
          <a:prstGeom prst="rect">
            <a:avLst/>
          </a:prstGeom>
        </p:spPr>
      </p:pic>
      <p:pic>
        <p:nvPicPr>
          <p:cNvPr id="5" name="图片 4" descr="微信图片_20170608200658"/>
          <p:cNvPicPr>
            <a:picLocks noChangeAspect="1"/>
          </p:cNvPicPr>
          <p:nvPr/>
        </p:nvPicPr>
        <p:blipFill>
          <a:blip r:embed="rId3"/>
          <a:stretch>
            <a:fillRect/>
          </a:stretch>
        </p:blipFill>
        <p:spPr>
          <a:xfrm>
            <a:off x="7552690" y="3110230"/>
            <a:ext cx="4039235" cy="2496185"/>
          </a:xfrm>
          <a:prstGeom prst="rect">
            <a:avLst/>
          </a:prstGeom>
        </p:spPr>
      </p:pic>
      <p:sp>
        <p:nvSpPr>
          <p:cNvPr id="8" name="矩形 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7778115" y="5842635"/>
            <a:ext cx="3604895" cy="583565"/>
          </a:xfrm>
          <a:prstGeom prst="rect">
            <a:avLst/>
          </a:prstGeom>
          <a:noFill/>
        </p:spPr>
        <p:txBody>
          <a:bodyPr wrap="square" rtlCol="0">
            <a:spAutoFit/>
            <a:scene3d>
              <a:camera prst="orthographicFront">
                <a:rot lat="0" lon="0" rev="0"/>
              </a:camera>
              <a:lightRig rig="threePt" dir="t"/>
            </a:scene3d>
          </a:bodyPr>
          <a:lstStyle/>
          <a:p>
            <a:pPr algn="ctr"/>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k=3 !</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矩形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07060" y="1654810"/>
            <a:ext cx="5552440" cy="953135"/>
          </a:xfrm>
          <a:prstGeom prst="rect">
            <a:avLst/>
          </a:prstGeom>
          <a:noFill/>
        </p:spPr>
        <p:txBody>
          <a:bodyPr wrap="square" rtlCol="0">
            <a:spAutoFit/>
            <a:scene3d>
              <a:camera prst="orthographicFront">
                <a:rot lat="0" lon="0" rev="0"/>
              </a:camera>
              <a:lightRig rig="threePt" dir="t"/>
            </a:scene3d>
          </a:bodyPr>
          <a:lstStyle/>
          <a:p>
            <a:pPr algn="ctr"/>
            <a:r>
              <a:rPr lang="en-US" sz="2800" spc="-150" dirty="0">
                <a:solidFill>
                  <a:schemeClr val="bg1"/>
                </a:solidFill>
                <a:latin typeface="Open Sans" panose="020B0606030504020204" pitchFamily="34" charset="0"/>
                <a:ea typeface="Open Sans" panose="020B0606030504020204" pitchFamily="34" charset="0"/>
                <a:cs typeface="Open Sans" panose="020B0606030504020204" pitchFamily="34" charset="0"/>
              </a:rPr>
              <a:t> look for the highest degree of accuracy</a:t>
            </a:r>
            <a:endParaRPr lang="en-US" sz="2800" spc="-15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7" name="图片 6"/>
          <p:cNvPicPr>
            <a:picLocks noChangeAspect="1"/>
          </p:cNvPicPr>
          <p:nvPr/>
        </p:nvPicPr>
        <p:blipFill>
          <a:blip r:embed="rId4"/>
          <a:stretch>
            <a:fillRect/>
          </a:stretch>
        </p:blipFill>
        <p:spPr>
          <a:xfrm>
            <a:off x="1318895" y="2745740"/>
            <a:ext cx="5294630" cy="3224530"/>
          </a:xfrm>
          <a:prstGeom prst="rect">
            <a:avLst/>
          </a:prstGeom>
        </p:spPr>
      </p:pic>
      <p:sp>
        <p:nvSpPr>
          <p:cNvPr id="18" name="矩形 17"/>
          <p:cNvSpPr/>
          <p:nvPr/>
        </p:nvSpPr>
        <p:spPr>
          <a:xfrm>
            <a:off x="2753995" y="2607945"/>
            <a:ext cx="1474470" cy="706755"/>
          </a:xfrm>
          <a:prstGeom prst="rect">
            <a:avLst/>
          </a:prstGeom>
          <a:noFill/>
          <a:ln>
            <a:noFill/>
          </a:ln>
        </p:spPr>
        <p:txBody>
          <a:bodyPr wrap="square" rtlCol="0" anchor="t">
            <a:spAutoFit/>
          </a:bodyPr>
          <a:lstStyle/>
          <a:p>
            <a:pPr algn="ctr"/>
            <a:r>
              <a:rPr lang="en-US" altLang="zh-CN" sz="4000" b="1">
                <a:ln w="22225">
                  <a:solidFill>
                    <a:schemeClr val="accent2"/>
                  </a:solidFill>
                  <a:prstDash val="solid"/>
                </a:ln>
                <a:solidFill>
                  <a:schemeClr val="accent2">
                    <a:lumMod val="40000"/>
                    <a:lumOff val="60000"/>
                  </a:schemeClr>
                </a:solidFill>
                <a:effectLst/>
              </a:rPr>
              <a:t>→5</a:t>
            </a:r>
            <a:endParaRPr lang="en-US" altLang="zh-CN" sz="4000" b="1">
              <a:ln w="22225">
                <a:solidFill>
                  <a:schemeClr val="accent2"/>
                </a:solidFill>
                <a:prstDash val="solid"/>
              </a:ln>
              <a:solidFill>
                <a:schemeClr val="accent2">
                  <a:lumMod val="40000"/>
                  <a:lumOff val="60000"/>
                </a:schemeClr>
              </a:solidFill>
              <a:effectLst/>
            </a:endParaRPr>
          </a:p>
        </p:txBody>
      </p:sp>
      <p:sp>
        <p:nvSpPr>
          <p:cNvPr id="19" name="矩形 18"/>
          <p:cNvSpPr/>
          <p:nvPr/>
        </p:nvSpPr>
        <p:spPr>
          <a:xfrm>
            <a:off x="6303645" y="3876675"/>
            <a:ext cx="1474470" cy="706755"/>
          </a:xfrm>
          <a:prstGeom prst="rect">
            <a:avLst/>
          </a:prstGeom>
          <a:noFill/>
          <a:ln>
            <a:noFill/>
          </a:ln>
        </p:spPr>
        <p:txBody>
          <a:bodyPr wrap="square" rtlCol="0" anchor="t">
            <a:spAutoFit/>
          </a:bodyPr>
          <a:lstStyle/>
          <a:p>
            <a:pPr algn="ctr"/>
            <a:r>
              <a:rPr lang="en-US" altLang="zh-CN" sz="4000" b="1">
                <a:ln w="22225">
                  <a:solidFill>
                    <a:schemeClr val="accent2"/>
                  </a:solidFill>
                  <a:prstDash val="solid"/>
                </a:ln>
                <a:solidFill>
                  <a:schemeClr val="accent2">
                    <a:lumMod val="40000"/>
                    <a:lumOff val="60000"/>
                  </a:schemeClr>
                </a:solidFill>
                <a:effectLst/>
              </a:rPr>
              <a:t>→</a:t>
            </a:r>
            <a:endParaRPr lang="en-US" altLang="zh-CN" sz="4000" b="1">
              <a:ln w="22225">
                <a:solidFill>
                  <a:schemeClr val="accent2"/>
                </a:solidFill>
                <a:prstDash val="solid"/>
              </a:ln>
              <a:solidFill>
                <a:schemeClr val="accent2">
                  <a:lumMod val="40000"/>
                  <a:lumOff val="60000"/>
                </a:schemeClr>
              </a:solidFill>
              <a:effectLst/>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2000"/>
                                  </p:stCondLst>
                                  <p:childTnLst>
                                    <p:set>
                                      <p:cBhvr>
                                        <p:cTn id="16" dur="1" fill="hold">
                                          <p:stCondLst>
                                            <p:cond delay="0"/>
                                          </p:stCondLst>
                                        </p:cTn>
                                        <p:tgtEl>
                                          <p:spTgt spid="39"/>
                                        </p:tgtEl>
                                        <p:attrNameLst>
                                          <p:attrName>style.visibility</p:attrName>
                                        </p:attrNameLst>
                                      </p:cBhvr>
                                      <p:to>
                                        <p:strVal val="visible"/>
                                      </p:to>
                                    </p:set>
                                    <p:animEffect transition="in" filter="fade">
                                      <p:cBhvr>
                                        <p:cTn id="17" dur="500"/>
                                        <p:tgtEl>
                                          <p:spTgt spid="39"/>
                                        </p:tgtEl>
                                      </p:cBhvr>
                                    </p:animEffect>
                                  </p:childTnLst>
                                </p:cTn>
                              </p:par>
                              <p:par>
                                <p:cTn id="18" presetID="63" presetClass="path" presetSubtype="0" accel="50000" decel="50000" fill="hold" grpId="1" nodeType="withEffect">
                                  <p:stCondLst>
                                    <p:cond delay="2000"/>
                                  </p:stCondLst>
                                  <p:childTnLst>
                                    <p:animMotion origin="layout" path="M -0.03177 -0.05556 L 8.33333E-7 1.48148E-6 " pathEditMode="relative" rAng="0" ptsTypes="AA">
                                      <p:cBhvr>
                                        <p:cTn id="19" dur="2000" fill="hold"/>
                                        <p:tgtEl>
                                          <p:spTgt spid="39"/>
                                        </p:tgtEl>
                                        <p:attrNameLst>
                                          <p:attrName>ppt_x</p:attrName>
                                          <p:attrName>ppt_y</p:attrName>
                                        </p:attrNameLst>
                                      </p:cBhvr>
                                      <p:rCtr x="1589" y="2778"/>
                                    </p:animMotion>
                                  </p:childTnLst>
                                </p:cTn>
                              </p:par>
                              <p:par>
                                <p:cTn id="20" presetID="10" presetClass="entr" presetSubtype="0" fill="hold" grpId="0" nodeType="withEffect">
                                  <p:stCondLst>
                                    <p:cond delay="200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63" presetClass="path" presetSubtype="0" accel="50000" decel="50000" fill="hold" grpId="1" nodeType="withEffect">
                                  <p:stCondLst>
                                    <p:cond delay="2000"/>
                                  </p:stCondLst>
                                  <p:childTnLst>
                                    <p:animMotion origin="layout" path="M -0.04088 0.07407 L -2.08333E-6 3.7037E-7 " pathEditMode="relative" rAng="0" ptsTypes="AA">
                                      <p:cBhvr>
                                        <p:cTn id="24" dur="2000" fill="hold"/>
                                        <p:tgtEl>
                                          <p:spTgt spid="40"/>
                                        </p:tgtEl>
                                        <p:attrNameLst>
                                          <p:attrName>ppt_x</p:attrName>
                                          <p:attrName>ppt_y</p:attrName>
                                        </p:attrNameLst>
                                      </p:cBhvr>
                                      <p:rCtr x="2044" y="-3704"/>
                                    </p:animMotion>
                                  </p:childTnLst>
                                </p:cTn>
                              </p:par>
                              <p:par>
                                <p:cTn id="25" presetID="10" presetClass="entr" presetSubtype="0" fill="hold" grpId="0" nodeType="withEffect">
                                  <p:stCondLst>
                                    <p:cond delay="200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63" presetClass="path" presetSubtype="0" accel="50000" decel="50000" fill="hold" grpId="1" nodeType="withEffect">
                                  <p:stCondLst>
                                    <p:cond delay="2000"/>
                                  </p:stCondLst>
                                  <p:childTnLst>
                                    <p:animMotion origin="layout" path="M -0.04088 0.07407 L -2.08333E-6 3.7037E-7 " pathEditMode="relative" rAng="0" ptsTypes="AA">
                                      <p:cBhvr>
                                        <p:cTn id="29" dur="2000" fill="hold"/>
                                        <p:tgtEl>
                                          <p:spTgt spid="42"/>
                                        </p:tgtEl>
                                        <p:attrNameLst>
                                          <p:attrName>ppt_x</p:attrName>
                                          <p:attrName>ppt_y</p:attrName>
                                        </p:attrNameLst>
                                      </p:cBhvr>
                                      <p:rCtr x="2044" y="-3704"/>
                                    </p:animMotion>
                                  </p:childTnLst>
                                </p:cTn>
                              </p:par>
                              <p:par>
                                <p:cTn id="30" presetID="10" presetClass="entr" presetSubtype="0" fill="hold" nodeType="withEffect">
                                  <p:stCondLst>
                                    <p:cond delay="2000"/>
                                  </p:stCondLst>
                                  <p:childTnLst>
                                    <p:set>
                                      <p:cBhvr>
                                        <p:cTn id="31" dur="1" fill="hold">
                                          <p:stCondLst>
                                            <p:cond delay="0"/>
                                          </p:stCondLst>
                                        </p:cTn>
                                        <p:tgtEl>
                                          <p:spTgt spid="2"/>
                                        </p:tgtEl>
                                        <p:attrNameLst>
                                          <p:attrName>style.visibility</p:attrName>
                                        </p:attrNameLst>
                                      </p:cBhvr>
                                      <p:to>
                                        <p:strVal val="visible"/>
                                      </p:to>
                                    </p:set>
                                    <p:animEffect transition="in" filter="fade">
                                      <p:cBhvr>
                                        <p:cTn id="32" dur="500"/>
                                        <p:tgtEl>
                                          <p:spTgt spid="2"/>
                                        </p:tgtEl>
                                      </p:cBhvr>
                                    </p:animEffect>
                                  </p:childTnLst>
                                </p:cTn>
                              </p:par>
                              <p:par>
                                <p:cTn id="33" presetID="63" presetClass="path" presetSubtype="0" accel="50000" decel="50000" fill="hold" nodeType="withEffect">
                                  <p:stCondLst>
                                    <p:cond delay="2000"/>
                                  </p:stCondLst>
                                  <p:childTnLst>
                                    <p:animMotion origin="layout" path="M -0.04088 0.07407 L -2.08333E-6 3.7037E-7 " pathEditMode="relative" rAng="0" ptsTypes="AA">
                                      <p:cBhvr>
                                        <p:cTn id="34" dur="2000" fill="hold"/>
                                        <p:tgtEl>
                                          <p:spTgt spid="2"/>
                                        </p:tgtEl>
                                        <p:attrNameLst>
                                          <p:attrName>ppt_x</p:attrName>
                                          <p:attrName>ppt_y</p:attrName>
                                        </p:attrNameLst>
                                      </p:cBhvr>
                                      <p:rCtr x="2044" y="-3704"/>
                                    </p:animMotion>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63" presetClass="path" presetSubtype="0" accel="50000" decel="50000" fill="hold" grpId="1" nodeType="withEffect">
                                  <p:stCondLst>
                                    <p:cond delay="0"/>
                                  </p:stCondLst>
                                  <p:childTnLst>
                                    <p:animMotion origin="layout" path="M -0.0608 3.7037E-7 L -2.70833E-6 3.7037E-7 " pathEditMode="relative" rAng="0" ptsTypes="AA">
                                      <p:cBhvr>
                                        <p:cTn id="39" dur="2000" fill="hold"/>
                                        <p:tgtEl>
                                          <p:spTgt spid="14"/>
                                        </p:tgtEl>
                                        <p:attrNameLst>
                                          <p:attrName>ppt_x</p:attrName>
                                          <p:attrName>ppt_y</p:attrName>
                                        </p:attrNameLst>
                                      </p:cBhvr>
                                      <p:rCtr x="3034" y="0"/>
                                    </p:animMotion>
                                  </p:childTnLst>
                                </p:cTn>
                              </p:par>
                            </p:childTnLst>
                          </p:cTn>
                        </p:par>
                      </p:childTnLst>
                    </p:cTn>
                  </p:par>
                  <p:par>
                    <p:cTn id="40" fill="hold">
                      <p:stCondLst>
                        <p:cond delay="indefinite"/>
                      </p:stCondLst>
                      <p:childTnLst>
                        <p:par>
                          <p:cTn id="41" fill="hold">
                            <p:stCondLst>
                              <p:cond delay="0"/>
                            </p:stCondLst>
                            <p:childTnLst>
                              <p:par>
                                <p:cTn id="42" presetID="13" presetClass="entr" presetSubtype="16"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plus(in)">
                                      <p:cBhvr>
                                        <p:cTn id="44" dur="20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20" presetClass="entr" presetSubtype="0" fill="hold" grpId="2"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edge">
                                      <p:cBhvr>
                                        <p:cTn id="49" dur="2000"/>
                                        <p:tgtEl>
                                          <p:spTgt spid="19"/>
                                        </p:tgtEl>
                                      </p:cBhvr>
                                    </p:animEffect>
                                  </p:childTnLst>
                                </p:cTn>
                              </p:par>
                            </p:childTnLst>
                          </p:cTn>
                        </p:par>
                      </p:childTnLst>
                    </p:cTn>
                  </p:par>
                  <p:par>
                    <p:cTn id="50" fill="hold">
                      <p:stCondLst>
                        <p:cond delay="indefinite"/>
                      </p:stCondLst>
                      <p:childTnLst>
                        <p:par>
                          <p:cTn id="51" fill="hold">
                            <p:stCondLst>
                              <p:cond delay="0"/>
                            </p:stCondLst>
                            <p:childTnLst>
                              <p:par>
                                <p:cTn id="52" presetID="8" presetClass="entr" presetSubtype="16"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diamond(in)">
                                      <p:cBhvr>
                                        <p:cTn id="54" dur="2000"/>
                                        <p:tgtEl>
                                          <p:spTgt spid="5"/>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8">
                                            <p:txEl>
                                              <p:pRg st="0" end="0"/>
                                            </p:txEl>
                                          </p:spTgt>
                                        </p:tgtEl>
                                        <p:attrNameLst>
                                          <p:attrName>style.visibility</p:attrName>
                                        </p:attrNameLst>
                                      </p:cBhvr>
                                      <p:to>
                                        <p:strVal val="visible"/>
                                      </p:to>
                                    </p:set>
                                    <p:animEffect transition="in" filter="blinds(horizontal)">
                                      <p:cBhvr>
                                        <p:cTn id="59" dur="500"/>
                                        <p:tgtEl>
                                          <p:spTgt spid="8">
                                            <p:txEl>
                                              <p:pRg st="0" end="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mph" presetSubtype="2" fill="hold" grpId="10" nodeType="clickEffect">
                                  <p:stCondLst>
                                    <p:cond delay="0"/>
                                  </p:stCondLst>
                                  <p:childTnLst>
                                    <p:anim to="1.5" calcmode="lin" valueType="num">
                                      <p:cBhvr override="childStyle">
                                        <p:cTn id="63" dur="2000" fill="hold"/>
                                        <p:tgtEl>
                                          <p:spTgt spid="8">
                                            <p:txEl>
                                              <p:pRg st="0" end="0"/>
                                            </p:txEl>
                                          </p:spTgt>
                                        </p:tgtEl>
                                        <p:attrNameLst>
                                          <p:attrName>style.fontSize</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P spid="42" grpId="0" bldLvl="0" animBg="1"/>
      <p:bldP spid="42" grpId="1" bldLvl="0" animBg="1"/>
      <p:bldP spid="8" grpId="2"/>
      <p:bldP spid="8" grpId="3"/>
      <p:bldP spid="8" grpId="4"/>
      <p:bldP spid="8" grpId="5"/>
      <p:bldP spid="8" grpId="6"/>
      <p:bldP spid="8" grpId="7"/>
      <p:bldP spid="8" grpId="8"/>
      <p:bldP spid="8" grpId="10" bldLvl="0" build="allAtOnce"/>
      <p:bldP spid="14" grpId="0"/>
      <p:bldP spid="14" grpId="1"/>
      <p:bldP spid="18" grpId="0"/>
      <p:bldP spid="19" grpId="1"/>
      <p:bldP spid="19" grpId="2"/>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58775" y="346710"/>
            <a:ext cx="3161030" cy="645160"/>
          </a:xfrm>
          <a:prstGeom prst="rect">
            <a:avLst/>
          </a:prstGeom>
          <a:noFill/>
        </p:spPr>
        <p:txBody>
          <a:bodyPr wrap="square" rtlCol="0">
            <a:spAutoFit/>
            <a:scene3d>
              <a:camera prst="orthographicFront">
                <a:rot lat="0" lon="0" rev="0"/>
              </a:camera>
              <a:lightRig rig="threePt" dir="t"/>
            </a:scene3d>
          </a:bodyPr>
          <a:lstStyle/>
          <a:p>
            <a:pPr algn="ctr"/>
            <a:r>
              <a:rPr 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OUTCOME</a:t>
            </a:r>
            <a:endParaRPr 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802815"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矩形 11"/>
          <p:cNvSpPr/>
          <p:nvPr/>
        </p:nvSpPr>
        <p:spPr>
          <a:xfrm>
            <a:off x="1178621" y="4421116"/>
            <a:ext cx="2221415" cy="261610"/>
          </a:xfrm>
          <a:prstGeom prst="rect">
            <a:avLst/>
          </a:prstGeom>
        </p:spPr>
        <p:txBody>
          <a:bodyPr wrap="square">
            <a:spAutoFit/>
          </a:bodyPr>
          <a:lstStyle/>
          <a:p>
            <a:pPr algn="ctr"/>
            <a:r>
              <a:rPr lang="en-US" altLang="zh-CN" sz="1100" dirty="0">
                <a:solidFill>
                  <a:prstClr val="white"/>
                </a:solidFill>
                <a:latin typeface="Open Sans" panose="020B0606030504020204" pitchFamily="34" charset="0"/>
                <a:ea typeface="Open Sans" panose="020B0606030504020204" pitchFamily="34" charset="0"/>
                <a:cs typeface="Open Sans" panose="020B0606030504020204" pitchFamily="34" charset="0"/>
              </a:rPr>
              <a:t>. </a:t>
            </a:r>
            <a:endParaRPr lang="zh-CN" altLang="en-US" sz="1100" dirty="0">
              <a:solidFill>
                <a:prstClr val="white"/>
              </a:solidFill>
              <a:latin typeface="Open Sans" panose="020B0606030504020204" pitchFamily="34" charset="0"/>
              <a:cs typeface="Open Sans" panose="020B0606030504020204" pitchFamily="34" charset="0"/>
            </a:endParaRPr>
          </a:p>
        </p:txBody>
      </p:sp>
      <p:sp>
        <p:nvSpPr>
          <p:cNvPr id="14" name="矩形 13"/>
          <p:cNvSpPr/>
          <p:nvPr/>
        </p:nvSpPr>
        <p:spPr>
          <a:xfrm>
            <a:off x="4601924" y="4068714"/>
            <a:ext cx="184731"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grpSp>
        <p:nvGrpSpPr>
          <p:cNvPr id="19" name="组合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363402" y="4068714"/>
            <a:ext cx="2221415" cy="614012"/>
            <a:chOff x="2317117" y="2062784"/>
            <a:chExt cx="3997789" cy="614012"/>
          </a:xfrm>
        </p:grpSpPr>
        <p:sp>
          <p:nvSpPr>
            <p:cNvPr id="20" name="矩形 19"/>
            <p:cNvSpPr/>
            <p:nvPr/>
          </p:nvSpPr>
          <p:spPr>
            <a:xfrm>
              <a:off x="4149785" y="2062784"/>
              <a:ext cx="332453"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sp>
          <p:nvSpPr>
            <p:cNvPr id="21" name="矩形 20"/>
            <p:cNvSpPr/>
            <p:nvPr/>
          </p:nvSpPr>
          <p:spPr>
            <a:xfrm>
              <a:off x="2317117" y="2415186"/>
              <a:ext cx="3997789" cy="261610"/>
            </a:xfrm>
            <a:prstGeom prst="rect">
              <a:avLst/>
            </a:prstGeom>
          </p:spPr>
          <p:txBody>
            <a:bodyPr wrap="square">
              <a:spAutoFit/>
            </a:bodyPr>
            <a:lstStyle/>
            <a:p>
              <a:pPr algn="ctr"/>
              <a:endParaRPr lang="zh-CN" altLang="en-US" sz="1100" dirty="0">
                <a:solidFill>
                  <a:prstClr val="white"/>
                </a:solidFill>
                <a:latin typeface="Open Sans" panose="020B0606030504020204" pitchFamily="34" charset="0"/>
                <a:cs typeface="Open Sans" panose="020B0606030504020204" pitchFamily="34" charset="0"/>
              </a:endParaRPr>
            </a:p>
          </p:txBody>
        </p:sp>
      </p:grpSp>
      <p:sp>
        <p:nvSpPr>
          <p:cNvPr id="26" name="任意多边形 2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1690684" y="1930682"/>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任意多边形 2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5304356" y="3909463"/>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任意多边形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8702254" y="1939135"/>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solidFill>
                  <a:prstClr val="black"/>
                </a:solidFill>
              </a:rPr>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solidFill>
                <a:prstClr val="black"/>
              </a:solidFill>
            </a:endParaRPr>
          </a:p>
        </p:txBody>
      </p:sp>
      <p:sp>
        <p:nvSpPr>
          <p:cNvPr id="2" name="文本框 1"/>
          <p:cNvSpPr txBox="1"/>
          <p:nvPr/>
        </p:nvSpPr>
        <p:spPr>
          <a:xfrm>
            <a:off x="3519805" y="3955415"/>
            <a:ext cx="3862705" cy="953135"/>
          </a:xfrm>
          <a:prstGeom prst="rect">
            <a:avLst/>
          </a:prstGeom>
          <a:noFill/>
        </p:spPr>
        <p:txBody>
          <a:bodyPr wrap="square" rtlCol="0">
            <a:spAutoFit/>
          </a:bodyPr>
          <a:lstStyle/>
          <a:p>
            <a:pPr algn="ctr"/>
            <a:r>
              <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sym typeface="+mn-ea"/>
              </a:rPr>
              <a:t>Companies ranking </a:t>
            </a:r>
            <a:endPar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endParaRPr>
          </a:p>
          <a:p>
            <a:pPr algn="ctr"/>
            <a:r>
              <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sym typeface="+mn-ea"/>
              </a:rPr>
              <a:t>among the top ten</a:t>
            </a:r>
            <a:endPar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endParaRPr>
          </a:p>
        </p:txBody>
      </p:sp>
      <p:sp>
        <p:nvSpPr>
          <p:cNvPr id="3" name="文本框 2"/>
          <p:cNvSpPr txBox="1"/>
          <p:nvPr/>
        </p:nvSpPr>
        <p:spPr>
          <a:xfrm>
            <a:off x="3519805" y="1068705"/>
            <a:ext cx="4535805" cy="2886710"/>
          </a:xfrm>
          <a:prstGeom prst="rect">
            <a:avLst/>
          </a:prstGeom>
          <a:noFill/>
        </p:spPr>
        <p:txBody>
          <a:bodyPr wrap="square" rtlCol="0">
            <a:spAutoFit/>
          </a:bodyPr>
          <a:lstStyle/>
          <a:p>
            <a:r>
              <a:rPr lang="zh-CN" altLang="en-US" sz="2800" baseline="30000">
                <a:solidFill>
                  <a:prstClr val="white"/>
                </a:solidFill>
              </a:rPr>
              <a:t>790.9032840708696	0000042136</a:t>
            </a:r>
            <a:endParaRPr lang="zh-CN" altLang="en-US" sz="2800" baseline="30000">
              <a:solidFill>
                <a:prstClr val="white"/>
              </a:solidFill>
            </a:endParaRPr>
          </a:p>
          <a:p>
            <a:r>
              <a:rPr lang="zh-CN" altLang="en-US" sz="2800" baseline="30000">
                <a:solidFill>
                  <a:prstClr val="white"/>
                </a:solidFill>
              </a:rPr>
              <a:t>527.2005619089598	0001380706</a:t>
            </a:r>
            <a:endParaRPr lang="zh-CN" altLang="en-US" sz="2800" baseline="30000">
              <a:solidFill>
                <a:prstClr val="white"/>
              </a:solidFill>
            </a:endParaRPr>
          </a:p>
          <a:p>
            <a:r>
              <a:rPr lang="zh-CN" altLang="en-US" sz="2800" baseline="30000">
                <a:solidFill>
                  <a:prstClr val="white"/>
                </a:solidFill>
              </a:rPr>
              <a:t>332.1362294007186	0001527675</a:t>
            </a:r>
            <a:endParaRPr lang="zh-CN" altLang="en-US" sz="2800" baseline="30000">
              <a:solidFill>
                <a:prstClr val="white"/>
              </a:solidFill>
            </a:endParaRPr>
          </a:p>
          <a:p>
            <a:r>
              <a:rPr lang="zh-CN" altLang="en-US" sz="2800" baseline="30000">
                <a:solidFill>
                  <a:prstClr val="white"/>
                </a:solidFill>
              </a:rPr>
              <a:t>291.9217215654966	0001104904</a:t>
            </a:r>
            <a:endParaRPr lang="zh-CN" altLang="en-US" sz="2800" baseline="30000">
              <a:solidFill>
                <a:prstClr val="white"/>
              </a:solidFill>
            </a:endParaRPr>
          </a:p>
          <a:p>
            <a:r>
              <a:rPr lang="zh-CN" altLang="en-US" sz="2800" baseline="30000">
                <a:solidFill>
                  <a:prstClr val="white"/>
                </a:solidFill>
              </a:rPr>
              <a:t>132.56385340352097	0000029952</a:t>
            </a:r>
            <a:endParaRPr lang="zh-CN" altLang="en-US" sz="2800" baseline="30000">
              <a:solidFill>
                <a:prstClr val="white"/>
              </a:solidFill>
            </a:endParaRPr>
          </a:p>
          <a:p>
            <a:r>
              <a:rPr lang="zh-CN" altLang="en-US" sz="2800" baseline="30000">
                <a:solidFill>
                  <a:prstClr val="white"/>
                </a:solidFill>
              </a:rPr>
              <a:t>44.25995652844528	0001346352</a:t>
            </a:r>
            <a:endParaRPr lang="zh-CN" altLang="en-US" sz="2800" baseline="30000">
              <a:solidFill>
                <a:prstClr val="white"/>
              </a:solidFill>
            </a:endParaRPr>
          </a:p>
          <a:p>
            <a:r>
              <a:rPr lang="zh-CN" altLang="en-US" sz="2800" baseline="30000">
                <a:solidFill>
                  <a:prstClr val="white"/>
                </a:solidFill>
              </a:rPr>
              <a:t>43.87003891991425	0001445196</a:t>
            </a:r>
            <a:endParaRPr lang="zh-CN" altLang="en-US" sz="2800" baseline="30000">
              <a:solidFill>
                <a:prstClr val="white"/>
              </a:solidFill>
            </a:endParaRPr>
          </a:p>
          <a:p>
            <a:r>
              <a:rPr lang="zh-CN" altLang="en-US" sz="2800" baseline="30000">
                <a:solidFill>
                  <a:prstClr val="white"/>
                </a:solidFill>
              </a:rPr>
              <a:t>39.813375206461075	0001451264</a:t>
            </a:r>
            <a:endParaRPr lang="zh-CN" altLang="en-US" sz="2800" baseline="30000">
              <a:solidFill>
                <a:prstClr val="white"/>
              </a:solidFill>
            </a:endParaRPr>
          </a:p>
          <a:p>
            <a:r>
              <a:rPr lang="zh-CN" altLang="en-US" sz="2800" baseline="30000">
                <a:solidFill>
                  <a:prstClr val="white"/>
                </a:solidFill>
              </a:rPr>
              <a:t>33.10389048404004	0001650101</a:t>
            </a:r>
            <a:endParaRPr lang="zh-CN" altLang="en-US" sz="2800" baseline="30000">
              <a:solidFill>
                <a:prstClr val="white"/>
              </a:solidFill>
            </a:endParaRPr>
          </a:p>
          <a:p>
            <a:r>
              <a:rPr lang="zh-CN" altLang="en-US" sz="2800" baseline="30000">
                <a:solidFill>
                  <a:prstClr val="white"/>
                </a:solidFill>
              </a:rPr>
              <a:t>32.18423921312216	0001378270</a:t>
            </a:r>
            <a:endParaRPr lang="zh-CN" altLang="en-US" sz="2800" baseline="30000">
              <a:solidFill>
                <a:prstClr val="white"/>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1" fill="hold" nodeType="withEffect">
                                  <p:stCondLst>
                                    <p:cond delay="300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1000"/>
                                        <p:tgtEl>
                                          <p:spTgt spid="19"/>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63" presetClass="path" presetSubtype="0" accel="50000" decel="50000" fill="hold" grpId="1" nodeType="withEffect">
                                  <p:stCondLst>
                                    <p:cond delay="1000"/>
                                  </p:stCondLst>
                                  <p:childTnLst>
                                    <p:animMotion origin="layout" path="M -0.08334 0.00047 L 4.58333E-6 -2.22222E-6 " pathEditMode="relative" rAng="0" ptsTypes="AA">
                                      <p:cBhvr>
                                        <p:cTn id="22" dur="2000" fill="hold"/>
                                        <p:tgtEl>
                                          <p:spTgt spid="26"/>
                                        </p:tgtEl>
                                        <p:attrNameLst>
                                          <p:attrName>ppt_x</p:attrName>
                                          <p:attrName>ppt_y</p:attrName>
                                        </p:attrNameLst>
                                      </p:cBhvr>
                                      <p:rCtr x="4167" y="-23"/>
                                    </p:animMotion>
                                  </p:childTnLst>
                                </p:cTn>
                              </p:par>
                              <p:par>
                                <p:cTn id="23" presetID="10" presetClass="entr" presetSubtype="0" fill="hold" grpId="0" nodeType="withEffect">
                                  <p:stCondLst>
                                    <p:cond delay="10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63" presetClass="path" presetSubtype="0" accel="50000" decel="50000" fill="hold" grpId="1" nodeType="withEffect">
                                  <p:stCondLst>
                                    <p:cond delay="1000"/>
                                  </p:stCondLst>
                                  <p:childTnLst>
                                    <p:animMotion origin="layout" path="M -0.08334 0.00047 L 4.58333E-6 -2.22222E-6 " pathEditMode="relative" rAng="0" ptsTypes="AA">
                                      <p:cBhvr>
                                        <p:cTn id="27" dur="2000" fill="hold"/>
                                        <p:tgtEl>
                                          <p:spTgt spid="27"/>
                                        </p:tgtEl>
                                        <p:attrNameLst>
                                          <p:attrName>ppt_x</p:attrName>
                                          <p:attrName>ppt_y</p:attrName>
                                        </p:attrNameLst>
                                      </p:cBhvr>
                                      <p:rCtr x="4167" y="-23"/>
                                    </p:animMotion>
                                  </p:childTnLst>
                                </p:cTn>
                              </p:par>
                              <p:par>
                                <p:cTn id="28" presetID="10" presetClass="entr" presetSubtype="0" fill="hold" grpId="0" nodeType="withEffect">
                                  <p:stCondLst>
                                    <p:cond delay="10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63" presetClass="path" presetSubtype="0" accel="50000" decel="50000" fill="hold" grpId="1" nodeType="withEffect">
                                  <p:stCondLst>
                                    <p:cond delay="1000"/>
                                  </p:stCondLst>
                                  <p:childTnLst>
                                    <p:animMotion origin="layout" path="M -0.08334 0.00047 L 4.58333E-6 -2.22222E-6 " pathEditMode="relative" rAng="0" ptsTypes="AA">
                                      <p:cBhvr>
                                        <p:cTn id="32" dur="2000" fill="hold"/>
                                        <p:tgtEl>
                                          <p:spTgt spid="28"/>
                                        </p:tgtEl>
                                        <p:attrNameLst>
                                          <p:attrName>ppt_x</p:attrName>
                                          <p:attrName>ppt_y</p:attrName>
                                        </p:attrNameLst>
                                      </p:cBhvr>
                                      <p:rCtr x="4167"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bldLvl="0" animBg="1"/>
      <p:bldP spid="7" grpId="1" bldLvl="0" animBg="1"/>
      <p:bldP spid="26" grpId="0" bldLvl="0" animBg="1"/>
      <p:bldP spid="26" grpId="1" bldLvl="0" animBg="1"/>
      <p:bldP spid="27" grpId="0" bldLvl="0" animBg="1"/>
      <p:bldP spid="27" grpId="1" bldLvl="0" animBg="1"/>
      <p:bldP spid="28" grpId="0" bldLvl="0" animBg="1"/>
      <p:bldP spid="28" grpId="1"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14" name="图片 1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1406024" y="2008855"/>
            <a:ext cx="2778700" cy="2760176"/>
          </a:xfrm>
          <a:prstGeom prst="rect">
            <a:avLst/>
          </a:prstGeom>
        </p:spPr>
      </p:pic>
      <p:sp>
        <p:nvSpPr>
          <p:cNvPr id="16" name="矩形 1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2124424" y="2804202"/>
            <a:ext cx="1197764" cy="1107996"/>
          </a:xfrm>
          <a:prstGeom prst="rect">
            <a:avLst/>
          </a:prstGeom>
        </p:spPr>
        <p:txBody>
          <a:bodyPr wrap="none">
            <a:spAutoFit/>
          </a:bodyPr>
          <a:lstStyle/>
          <a:p>
            <a:r>
              <a:rPr lang="en-US" altLang="zh-CN" sz="6600" spc="-150" dirty="0">
                <a:solidFill>
                  <a:srgbClr val="C99115"/>
                </a:solidFill>
                <a:latin typeface="Meiryo" panose="020B0604030504040204" pitchFamily="34" charset="-128"/>
                <a:ea typeface="Meiryo" panose="020B0604030504040204" pitchFamily="34" charset="-128"/>
                <a:cs typeface="Meiryo UI" panose="020B0604030504040204" pitchFamily="34" charset="-128"/>
              </a:rPr>
              <a:t>04</a:t>
            </a:r>
            <a:endParaRPr lang="zh-CN" altLang="en-US" sz="6600" dirty="0">
              <a:solidFill>
                <a:srgbClr val="C99115"/>
              </a:solidFill>
              <a:latin typeface="Meiryo" panose="020B0604030504040204" pitchFamily="34" charset="-128"/>
              <a:ea typeface="Meiryo" panose="020B0604030504040204" pitchFamily="34" charset="-128"/>
            </a:endParaRPr>
          </a:p>
        </p:txBody>
      </p:sp>
      <p:sp>
        <p:nvSpPr>
          <p:cNvPr id="17" name="矩形 1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066236" y="2804202"/>
            <a:ext cx="6129604" cy="922020"/>
          </a:xfrm>
          <a:prstGeom prst="rect">
            <a:avLst/>
          </a:prstGeom>
          <a:noFill/>
        </p:spPr>
        <p:txBody>
          <a:bodyPr wrap="square" rtlCol="0">
            <a:spAutoFit/>
            <a:scene3d>
              <a:camera prst="orthographicFront">
                <a:rot lat="0" lon="0" rev="0"/>
              </a:camera>
              <a:lightRig rig="threePt" dir="t"/>
            </a:scene3d>
          </a:bodyPr>
          <a:lstStyle/>
          <a:p>
            <a:pPr algn="ctr"/>
            <a:r>
              <a:rPr lang="en-US" altLang="zh-CN" sz="5400" b="1"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Optimization</a:t>
            </a:r>
            <a:r>
              <a:rPr lang="en-US" altLang="zh-CN"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 </a:t>
            </a:r>
            <a:endParaRPr lang="zh-CN" altLang="en-US" sz="44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3199947" y="1660488"/>
            <a:ext cx="1969554"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2312378" y="5575224"/>
            <a:ext cx="1085482"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6200000">
            <a:off x="2189449" y="1210245"/>
            <a:ext cx="708505" cy="9336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456189" y="3937942"/>
            <a:ext cx="1375336" cy="569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a:off x="4638687" y="4892932"/>
            <a:ext cx="594218" cy="116477"/>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150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Effect transition="in" filter="fade">
                                      <p:cBhvr>
                                        <p:cTn id="9" dur="1000"/>
                                        <p:tgtEl>
                                          <p:spTgt spid="16"/>
                                        </p:tgtEl>
                                      </p:cBhvr>
                                    </p:animEffect>
                                  </p:childTnLst>
                                </p:cTn>
                              </p:par>
                              <p:par>
                                <p:cTn id="10" presetID="10" presetClass="entr" presetSubtype="0" fill="hold" grpId="0" nodeType="with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childTnLst>
                                </p:cTn>
                              </p:par>
                              <p:par>
                                <p:cTn id="13" presetID="64" presetClass="path" presetSubtype="0" accel="50000" decel="50000" fill="hold" grpId="1" nodeType="withEffect">
                                  <p:stCondLst>
                                    <p:cond delay="2000"/>
                                  </p:stCondLst>
                                  <p:childTnLst>
                                    <p:animMotion origin="layout" path="M 1.04167E-6 -3.7037E-6 L 1.04167E-6 -0.01736 " pathEditMode="relative" rAng="0" ptsTypes="AA">
                                      <p:cBhvr>
                                        <p:cTn id="14" dur="1000" fill="hold"/>
                                        <p:tgtEl>
                                          <p:spTgt spid="17"/>
                                        </p:tgtEl>
                                        <p:attrNameLst>
                                          <p:attrName>ppt_x</p:attrName>
                                          <p:attrName>ppt_y</p:attrName>
                                        </p:attrNameLst>
                                      </p:cBhvr>
                                      <p:rCtr x="0" y="-880"/>
                                    </p:animMotion>
                                  </p:childTnLst>
                                </p:cTn>
                              </p:par>
                              <p:par>
                                <p:cTn id="15" presetID="53"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2000" fill="hold"/>
                                        <p:tgtEl>
                                          <p:spTgt spid="14"/>
                                        </p:tgtEl>
                                        <p:attrNameLst>
                                          <p:attrName>ppt_w</p:attrName>
                                        </p:attrNameLst>
                                      </p:cBhvr>
                                      <p:tavLst>
                                        <p:tav tm="0">
                                          <p:val>
                                            <p:fltVal val="0"/>
                                          </p:val>
                                        </p:tav>
                                        <p:tav tm="100000">
                                          <p:val>
                                            <p:strVal val="#ppt_w"/>
                                          </p:val>
                                        </p:tav>
                                      </p:tavLst>
                                    </p:anim>
                                    <p:anim calcmode="lin" valueType="num">
                                      <p:cBhvr>
                                        <p:cTn id="18" dur="2000" fill="hold"/>
                                        <p:tgtEl>
                                          <p:spTgt spid="14"/>
                                        </p:tgtEl>
                                        <p:attrNameLst>
                                          <p:attrName>ppt_h</p:attrName>
                                        </p:attrNameLst>
                                      </p:cBhvr>
                                      <p:tavLst>
                                        <p:tav tm="0">
                                          <p:val>
                                            <p:fltVal val="0"/>
                                          </p:val>
                                        </p:tav>
                                        <p:tav tm="100000">
                                          <p:val>
                                            <p:strVal val="#ppt_h"/>
                                          </p:val>
                                        </p:tav>
                                      </p:tavLst>
                                    </p:anim>
                                    <p:animEffect transition="in" filter="fade">
                                      <p:cBhvr>
                                        <p:cTn id="19" dur="2000"/>
                                        <p:tgtEl>
                                          <p:spTgt spid="14"/>
                                        </p:tgtEl>
                                      </p:cBhvr>
                                    </p:animEffect>
                                  </p:childTnLst>
                                </p:cTn>
                              </p:par>
                              <p:par>
                                <p:cTn id="20" presetID="42" presetClass="path" presetSubtype="0" accel="50000" decel="50000" fill="hold" nodeType="withEffect">
                                  <p:stCondLst>
                                    <p:cond delay="0"/>
                                  </p:stCondLst>
                                  <p:childTnLst>
                                    <p:animMotion origin="layout" path="M -0.1086 0.00023 L 3.125E-6 -1.48148E-6 " pathEditMode="relative" rAng="0" ptsTypes="AA">
                                      <p:cBhvr>
                                        <p:cTn id="21" dur="2000" fill="hold"/>
                                        <p:tgtEl>
                                          <p:spTgt spid="14"/>
                                        </p:tgtEl>
                                        <p:attrNameLst>
                                          <p:attrName>ppt_x</p:attrName>
                                          <p:attrName>ppt_y</p:attrName>
                                        </p:attrNameLst>
                                      </p:cBhvr>
                                      <p:rCtr x="5430" y="-23"/>
                                    </p:animMotion>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63" presetClass="path" presetSubtype="0" accel="50000" decel="50000" fill="hold" grpId="1" nodeType="withEffect">
                                  <p:stCondLst>
                                    <p:cond delay="0"/>
                                  </p:stCondLst>
                                  <p:childTnLst>
                                    <p:animMotion origin="layout" path="M -3.75E-6 -1.85185E-6 L 0.00092 0.10093 " pathEditMode="relative" rAng="0" ptsTypes="AA">
                                      <p:cBhvr>
                                        <p:cTn id="26" dur="2000" fill="hold"/>
                                        <p:tgtEl>
                                          <p:spTgt spid="21"/>
                                        </p:tgtEl>
                                        <p:attrNameLst>
                                          <p:attrName>ppt_x</p:attrName>
                                          <p:attrName>ppt_y</p:attrName>
                                        </p:attrNameLst>
                                      </p:cBhvr>
                                      <p:rCtr x="39" y="5046"/>
                                    </p:animMotion>
                                  </p:childTnLst>
                                </p:cTn>
                              </p:par>
                              <p:par>
                                <p:cTn id="27" presetID="10" presetClass="exit" presetSubtype="0" fill="hold" grpId="2" nodeType="withEffect">
                                  <p:stCondLst>
                                    <p:cond delay="1500"/>
                                  </p:stCondLst>
                                  <p:childTnLst>
                                    <p:animEffect transition="out" filter="fade">
                                      <p:cBhvr>
                                        <p:cTn id="28" dur="500"/>
                                        <p:tgtEl>
                                          <p:spTgt spid="21"/>
                                        </p:tgtEl>
                                      </p:cBhvr>
                                    </p:animEffect>
                                    <p:set>
                                      <p:cBhvr>
                                        <p:cTn id="29" dur="1" fill="hold">
                                          <p:stCondLst>
                                            <p:cond delay="499"/>
                                          </p:stCondLst>
                                        </p:cTn>
                                        <p:tgtEl>
                                          <p:spTgt spid="21"/>
                                        </p:tgtEl>
                                        <p:attrNameLst>
                                          <p:attrName>style.visibility</p:attrName>
                                        </p:attrNameLst>
                                      </p:cBhvr>
                                      <p:to>
                                        <p:strVal val="hidden"/>
                                      </p:to>
                                    </p:set>
                                  </p:childTnLst>
                                </p:cTn>
                              </p:par>
                              <p:par>
                                <p:cTn id="30" presetID="10" presetClass="entr" presetSubtype="0" fill="hold" grpId="0" nodeType="withEffect">
                                  <p:stCondLst>
                                    <p:cond delay="50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63" presetClass="path" presetSubtype="0" accel="50000" decel="50000" fill="hold" grpId="1" nodeType="withEffect">
                                  <p:stCondLst>
                                    <p:cond delay="500"/>
                                  </p:stCondLst>
                                  <p:childTnLst>
                                    <p:animMotion origin="layout" path="M -4.58333E-6 -3.7037E-6 L -0.00013 -0.13495 " pathEditMode="relative" rAng="0" ptsTypes="AA">
                                      <p:cBhvr>
                                        <p:cTn id="34" dur="2000" fill="hold"/>
                                        <p:tgtEl>
                                          <p:spTgt spid="20"/>
                                        </p:tgtEl>
                                        <p:attrNameLst>
                                          <p:attrName>ppt_x</p:attrName>
                                          <p:attrName>ppt_y</p:attrName>
                                        </p:attrNameLst>
                                      </p:cBhvr>
                                      <p:rCtr x="-13" y="-6759"/>
                                    </p:animMotion>
                                  </p:childTnLst>
                                </p:cTn>
                              </p:par>
                              <p:par>
                                <p:cTn id="35" presetID="10" presetClass="exit" presetSubtype="0" fill="hold" grpId="2" nodeType="withEffect">
                                  <p:stCondLst>
                                    <p:cond delay="2000"/>
                                  </p:stCondLst>
                                  <p:childTnLst>
                                    <p:animEffect transition="out" filter="fade">
                                      <p:cBhvr>
                                        <p:cTn id="36" dur="500"/>
                                        <p:tgtEl>
                                          <p:spTgt spid="20"/>
                                        </p:tgtEl>
                                      </p:cBhvr>
                                    </p:animEffect>
                                    <p:set>
                                      <p:cBhvr>
                                        <p:cTn id="37" dur="1" fill="hold">
                                          <p:stCondLst>
                                            <p:cond delay="499"/>
                                          </p:stCondLst>
                                        </p:cTn>
                                        <p:tgtEl>
                                          <p:spTgt spid="20"/>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par>
                                <p:cTn id="41" presetID="63" presetClass="path" presetSubtype="0" accel="50000" decel="50000" fill="hold" grpId="1" nodeType="withEffect">
                                  <p:stCondLst>
                                    <p:cond delay="0"/>
                                  </p:stCondLst>
                                  <p:childTnLst>
                                    <p:animMotion origin="layout" path="M 2.29167E-6 -7.40741E-7 L -0.00026 -0.07755 " pathEditMode="relative" rAng="0" ptsTypes="AA">
                                      <p:cBhvr>
                                        <p:cTn id="42" dur="2000" fill="hold"/>
                                        <p:tgtEl>
                                          <p:spTgt spid="23"/>
                                        </p:tgtEl>
                                        <p:attrNameLst>
                                          <p:attrName>ppt_x</p:attrName>
                                          <p:attrName>ppt_y</p:attrName>
                                        </p:attrNameLst>
                                      </p:cBhvr>
                                      <p:rCtr x="-13" y="-3889"/>
                                    </p:animMotion>
                                  </p:childTnLst>
                                </p:cTn>
                              </p:par>
                              <p:par>
                                <p:cTn id="43" presetID="10" presetClass="exit" presetSubtype="0" fill="hold" grpId="2" nodeType="withEffect">
                                  <p:stCondLst>
                                    <p:cond delay="1500"/>
                                  </p:stCondLst>
                                  <p:childTnLst>
                                    <p:animEffect transition="out" filter="fade">
                                      <p:cBhvr>
                                        <p:cTn id="44" dur="500"/>
                                        <p:tgtEl>
                                          <p:spTgt spid="23"/>
                                        </p:tgtEl>
                                      </p:cBhvr>
                                    </p:animEffect>
                                    <p:set>
                                      <p:cBhvr>
                                        <p:cTn id="45" dur="1" fill="hold">
                                          <p:stCondLst>
                                            <p:cond delay="499"/>
                                          </p:stCondLst>
                                        </p:cTn>
                                        <p:tgtEl>
                                          <p:spTgt spid="23"/>
                                        </p:tgtEl>
                                        <p:attrNameLst>
                                          <p:attrName>style.visibility</p:attrName>
                                        </p:attrNameLst>
                                      </p:cBhvr>
                                      <p:to>
                                        <p:strVal val="hidden"/>
                                      </p:to>
                                    </p:set>
                                  </p:childTnLst>
                                </p:cTn>
                              </p:par>
                              <p:par>
                                <p:cTn id="46" presetID="10" presetClass="entr" presetSubtype="0" fill="hold" grpId="0" nodeType="with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63" presetClass="path" presetSubtype="0" accel="50000" decel="50000" fill="hold" grpId="1" nodeType="withEffect">
                                  <p:stCondLst>
                                    <p:cond delay="500"/>
                                  </p:stCondLst>
                                  <p:childTnLst>
                                    <p:animMotion origin="layout" path="M 2.77556E-17 -7.40741E-7 L 0.00065 -0.10787 " pathEditMode="relative" rAng="0" ptsTypes="AA">
                                      <p:cBhvr>
                                        <p:cTn id="50" dur="2000" fill="hold"/>
                                        <p:tgtEl>
                                          <p:spTgt spid="22"/>
                                        </p:tgtEl>
                                        <p:attrNameLst>
                                          <p:attrName>ppt_x</p:attrName>
                                          <p:attrName>ppt_y</p:attrName>
                                        </p:attrNameLst>
                                      </p:cBhvr>
                                      <p:rCtr x="26" y="-5394"/>
                                    </p:animMotion>
                                  </p:childTnLst>
                                </p:cTn>
                              </p:par>
                              <p:par>
                                <p:cTn id="51" presetID="10" presetClass="exit" presetSubtype="0" fill="hold" grpId="2" nodeType="withEffect">
                                  <p:stCondLst>
                                    <p:cond delay="2000"/>
                                  </p:stCondLst>
                                  <p:childTnLst>
                                    <p:animEffect transition="out" filter="fade">
                                      <p:cBhvr>
                                        <p:cTn id="52" dur="500"/>
                                        <p:tgtEl>
                                          <p:spTgt spid="22"/>
                                        </p:tgtEl>
                                      </p:cBhvr>
                                    </p:animEffect>
                                    <p:set>
                                      <p:cBhvr>
                                        <p:cTn id="53" dur="1" fill="hold">
                                          <p:stCondLst>
                                            <p:cond delay="499"/>
                                          </p:stCondLst>
                                        </p:cTn>
                                        <p:tgtEl>
                                          <p:spTgt spid="22"/>
                                        </p:tgtEl>
                                        <p:attrNameLst>
                                          <p:attrName>style.visibility</p:attrName>
                                        </p:attrNameLst>
                                      </p:cBhvr>
                                      <p:to>
                                        <p:strVal val="hidden"/>
                                      </p:to>
                                    </p:set>
                                  </p:childTnLst>
                                </p:cTn>
                              </p:par>
                              <p:par>
                                <p:cTn id="54" presetID="10" presetClass="entr" presetSubtype="0" fill="hold" grpId="0" nodeType="withEffect">
                                  <p:stCondLst>
                                    <p:cond delay="75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63" presetClass="path" presetSubtype="0" accel="50000" decel="50000" fill="hold" grpId="1" nodeType="withEffect">
                                  <p:stCondLst>
                                    <p:cond delay="750"/>
                                  </p:stCondLst>
                                  <p:childTnLst>
                                    <p:animMotion origin="layout" path="M 8.33333E-7 3.7037E-7 L 8.33333E-7 0.15579 " pathEditMode="relative" rAng="0" ptsTypes="AA">
                                      <p:cBhvr>
                                        <p:cTn id="58" dur="2000" fill="hold"/>
                                        <p:tgtEl>
                                          <p:spTgt spid="19"/>
                                        </p:tgtEl>
                                        <p:attrNameLst>
                                          <p:attrName>ppt_x</p:attrName>
                                          <p:attrName>ppt_y</p:attrName>
                                        </p:attrNameLst>
                                      </p:cBhvr>
                                      <p:rCtr x="0" y="7778"/>
                                    </p:animMotion>
                                  </p:childTnLst>
                                </p:cTn>
                              </p:par>
                              <p:par>
                                <p:cTn id="59" presetID="10" presetClass="exit" presetSubtype="0" fill="hold" grpId="2" nodeType="withEffect">
                                  <p:stCondLst>
                                    <p:cond delay="2250"/>
                                  </p:stCondLst>
                                  <p:childTnLst>
                                    <p:animEffect transition="out" filter="fade">
                                      <p:cBhvr>
                                        <p:cTn id="60" dur="500"/>
                                        <p:tgtEl>
                                          <p:spTgt spid="19"/>
                                        </p:tgtEl>
                                      </p:cBhvr>
                                    </p:animEffect>
                                    <p:set>
                                      <p:cBhvr>
                                        <p:cTn id="61"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7" grpId="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3"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07060" y="208280"/>
            <a:ext cx="6906895" cy="583565"/>
          </a:xfrm>
          <a:prstGeom prst="rect">
            <a:avLst/>
          </a:prstGeom>
          <a:noFill/>
        </p:spPr>
        <p:txBody>
          <a:bodyPr wrap="square" rtlCol="0">
            <a:spAutoFit/>
            <a:scene3d>
              <a:camera prst="orthographicFront">
                <a:rot lat="0" lon="0" rev="0"/>
              </a:camera>
              <a:lightRig rig="threePt" dir="t"/>
            </a:scene3d>
          </a:bodyPr>
          <a:lstStyle/>
          <a:p>
            <a:pPr algn="l"/>
            <a:r>
              <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1.Efficiency optimization</a:t>
            </a:r>
            <a:endParaRPr lang="en-US" sz="32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614805" y="1575506"/>
            <a:ext cx="1029944" cy="1029944"/>
            <a:chOff x="9614805" y="1575506"/>
            <a:chExt cx="1029944" cy="1029944"/>
          </a:xfrm>
        </p:grpSpPr>
        <p:sp>
          <p:nvSpPr>
            <p:cNvPr id="9" name="Freeform 22"/>
            <p:cNvSpPr>
              <a:spLocks noEditPoints="1"/>
            </p:cNvSpPr>
            <p:nvPr/>
          </p:nvSpPr>
          <p:spPr bwMode="auto">
            <a:xfrm>
              <a:off x="9889929" y="1575506"/>
              <a:ext cx="754820" cy="754820"/>
            </a:xfrm>
            <a:custGeom>
              <a:avLst/>
              <a:gdLst>
                <a:gd name="T0" fmla="*/ 44 w 63"/>
                <a:gd name="T1" fmla="*/ 7 h 63"/>
                <a:gd name="T2" fmla="*/ 26 w 63"/>
                <a:gd name="T3" fmla="*/ 18 h 63"/>
                <a:gd name="T4" fmla="*/ 2 w 63"/>
                <a:gd name="T5" fmla="*/ 41 h 63"/>
                <a:gd name="T6" fmla="*/ 2 w 63"/>
                <a:gd name="T7" fmla="*/ 49 h 63"/>
                <a:gd name="T8" fmla="*/ 14 w 63"/>
                <a:gd name="T9" fmla="*/ 61 h 63"/>
                <a:gd name="T10" fmla="*/ 22 w 63"/>
                <a:gd name="T11" fmla="*/ 61 h 63"/>
                <a:gd name="T12" fmla="*/ 45 w 63"/>
                <a:gd name="T13" fmla="*/ 37 h 63"/>
                <a:gd name="T14" fmla="*/ 56 w 63"/>
                <a:gd name="T15" fmla="*/ 19 h 63"/>
                <a:gd name="T16" fmla="*/ 63 w 63"/>
                <a:gd name="T17" fmla="*/ 0 h 63"/>
                <a:gd name="T18" fmla="*/ 44 w 63"/>
                <a:gd name="T19" fmla="*/ 7 h 63"/>
                <a:gd name="T20" fmla="*/ 43 w 63"/>
                <a:gd name="T21" fmla="*/ 31 h 63"/>
                <a:gd name="T22" fmla="*/ 32 w 63"/>
                <a:gd name="T23" fmla="*/ 31 h 63"/>
                <a:gd name="T24" fmla="*/ 32 w 63"/>
                <a:gd name="T25" fmla="*/ 20 h 63"/>
                <a:gd name="T26" fmla="*/ 43 w 63"/>
                <a:gd name="T27" fmla="*/ 20 h 63"/>
                <a:gd name="T28" fmla="*/ 43 w 63"/>
                <a:gd name="T29" fmla="*/ 3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 h="63">
                  <a:moveTo>
                    <a:pt x="44" y="7"/>
                  </a:moveTo>
                  <a:cubicBezTo>
                    <a:pt x="38" y="9"/>
                    <a:pt x="30" y="14"/>
                    <a:pt x="26" y="18"/>
                  </a:cubicBezTo>
                  <a:cubicBezTo>
                    <a:pt x="2" y="41"/>
                    <a:pt x="2" y="41"/>
                    <a:pt x="2" y="41"/>
                  </a:cubicBezTo>
                  <a:cubicBezTo>
                    <a:pt x="0" y="43"/>
                    <a:pt x="0" y="47"/>
                    <a:pt x="2" y="49"/>
                  </a:cubicBezTo>
                  <a:cubicBezTo>
                    <a:pt x="14" y="61"/>
                    <a:pt x="14" y="61"/>
                    <a:pt x="14" y="61"/>
                  </a:cubicBezTo>
                  <a:cubicBezTo>
                    <a:pt x="16" y="63"/>
                    <a:pt x="20" y="63"/>
                    <a:pt x="22" y="61"/>
                  </a:cubicBezTo>
                  <a:cubicBezTo>
                    <a:pt x="45" y="37"/>
                    <a:pt x="45" y="37"/>
                    <a:pt x="45" y="37"/>
                  </a:cubicBezTo>
                  <a:cubicBezTo>
                    <a:pt x="49" y="33"/>
                    <a:pt x="55" y="25"/>
                    <a:pt x="56" y="19"/>
                  </a:cubicBezTo>
                  <a:cubicBezTo>
                    <a:pt x="63" y="0"/>
                    <a:pt x="63" y="0"/>
                    <a:pt x="63" y="0"/>
                  </a:cubicBezTo>
                  <a:lnTo>
                    <a:pt x="44" y="7"/>
                  </a:lnTo>
                  <a:close/>
                  <a:moveTo>
                    <a:pt x="43" y="31"/>
                  </a:moveTo>
                  <a:cubicBezTo>
                    <a:pt x="40" y="35"/>
                    <a:pt x="35" y="35"/>
                    <a:pt x="32" y="31"/>
                  </a:cubicBezTo>
                  <a:cubicBezTo>
                    <a:pt x="28" y="28"/>
                    <a:pt x="28" y="23"/>
                    <a:pt x="32" y="20"/>
                  </a:cubicBezTo>
                  <a:cubicBezTo>
                    <a:pt x="35" y="17"/>
                    <a:pt x="40" y="17"/>
                    <a:pt x="43" y="20"/>
                  </a:cubicBezTo>
                  <a:cubicBezTo>
                    <a:pt x="47" y="23"/>
                    <a:pt x="47" y="28"/>
                    <a:pt x="43" y="31"/>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0" name="Freeform 23"/>
            <p:cNvSpPr/>
            <p:nvPr/>
          </p:nvSpPr>
          <p:spPr bwMode="auto">
            <a:xfrm>
              <a:off x="9614805" y="1871791"/>
              <a:ext cx="345664" cy="310394"/>
            </a:xfrm>
            <a:custGeom>
              <a:avLst/>
              <a:gdLst>
                <a:gd name="T0" fmla="*/ 10 w 29"/>
                <a:gd name="T1" fmla="*/ 24 h 26"/>
                <a:gd name="T2" fmla="*/ 29 w 29"/>
                <a:gd name="T3" fmla="*/ 5 h 26"/>
                <a:gd name="T4" fmla="*/ 14 w 29"/>
                <a:gd name="T5" fmla="*/ 5 h 26"/>
                <a:gd name="T6" fmla="*/ 2 w 29"/>
                <a:gd name="T7" fmla="*/ 16 h 26"/>
                <a:gd name="T8" fmla="*/ 2 w 29"/>
                <a:gd name="T9" fmla="*/ 24 h 26"/>
                <a:gd name="T10" fmla="*/ 10 w 29"/>
                <a:gd name="T11" fmla="*/ 24 h 26"/>
              </a:gdLst>
              <a:ahLst/>
              <a:cxnLst>
                <a:cxn ang="0">
                  <a:pos x="T0" y="T1"/>
                </a:cxn>
                <a:cxn ang="0">
                  <a:pos x="T2" y="T3"/>
                </a:cxn>
                <a:cxn ang="0">
                  <a:pos x="T4" y="T5"/>
                </a:cxn>
                <a:cxn ang="0">
                  <a:pos x="T6" y="T7"/>
                </a:cxn>
                <a:cxn ang="0">
                  <a:pos x="T8" y="T9"/>
                </a:cxn>
                <a:cxn ang="0">
                  <a:pos x="T10" y="T11"/>
                </a:cxn>
              </a:cxnLst>
              <a:rect l="0" t="0" r="r" b="b"/>
              <a:pathLst>
                <a:path w="29" h="26">
                  <a:moveTo>
                    <a:pt x="10" y="24"/>
                  </a:moveTo>
                  <a:cubicBezTo>
                    <a:pt x="29" y="5"/>
                    <a:pt x="29" y="5"/>
                    <a:pt x="29" y="5"/>
                  </a:cubicBezTo>
                  <a:cubicBezTo>
                    <a:pt x="25" y="0"/>
                    <a:pt x="18" y="0"/>
                    <a:pt x="14" y="5"/>
                  </a:cubicBezTo>
                  <a:cubicBezTo>
                    <a:pt x="2" y="16"/>
                    <a:pt x="2" y="16"/>
                    <a:pt x="2" y="16"/>
                  </a:cubicBezTo>
                  <a:cubicBezTo>
                    <a:pt x="0" y="18"/>
                    <a:pt x="0" y="22"/>
                    <a:pt x="2" y="24"/>
                  </a:cubicBezTo>
                  <a:cubicBezTo>
                    <a:pt x="4" y="26"/>
                    <a:pt x="8" y="26"/>
                    <a:pt x="10" y="24"/>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1" name="Freeform 24"/>
            <p:cNvSpPr/>
            <p:nvPr/>
          </p:nvSpPr>
          <p:spPr bwMode="auto">
            <a:xfrm>
              <a:off x="10031017" y="2259786"/>
              <a:ext cx="317446" cy="345664"/>
            </a:xfrm>
            <a:custGeom>
              <a:avLst/>
              <a:gdLst>
                <a:gd name="T0" fmla="*/ 2 w 26"/>
                <a:gd name="T1" fmla="*/ 19 h 29"/>
                <a:gd name="T2" fmla="*/ 2 w 26"/>
                <a:gd name="T3" fmla="*/ 27 h 29"/>
                <a:gd name="T4" fmla="*/ 10 w 26"/>
                <a:gd name="T5" fmla="*/ 27 h 29"/>
                <a:gd name="T6" fmla="*/ 22 w 26"/>
                <a:gd name="T7" fmla="*/ 15 h 29"/>
                <a:gd name="T8" fmla="*/ 22 w 26"/>
                <a:gd name="T9" fmla="*/ 0 h 29"/>
                <a:gd name="T10" fmla="*/ 2 w 26"/>
                <a:gd name="T11" fmla="*/ 19 h 29"/>
              </a:gdLst>
              <a:ahLst/>
              <a:cxnLst>
                <a:cxn ang="0">
                  <a:pos x="T0" y="T1"/>
                </a:cxn>
                <a:cxn ang="0">
                  <a:pos x="T2" y="T3"/>
                </a:cxn>
                <a:cxn ang="0">
                  <a:pos x="T4" y="T5"/>
                </a:cxn>
                <a:cxn ang="0">
                  <a:pos x="T6" y="T7"/>
                </a:cxn>
                <a:cxn ang="0">
                  <a:pos x="T8" y="T9"/>
                </a:cxn>
                <a:cxn ang="0">
                  <a:pos x="T10" y="T11"/>
                </a:cxn>
              </a:cxnLst>
              <a:rect l="0" t="0" r="r" b="b"/>
              <a:pathLst>
                <a:path w="26" h="29">
                  <a:moveTo>
                    <a:pt x="2" y="19"/>
                  </a:moveTo>
                  <a:cubicBezTo>
                    <a:pt x="0" y="21"/>
                    <a:pt x="0" y="25"/>
                    <a:pt x="2" y="27"/>
                  </a:cubicBezTo>
                  <a:cubicBezTo>
                    <a:pt x="4" y="29"/>
                    <a:pt x="8" y="29"/>
                    <a:pt x="10" y="27"/>
                  </a:cubicBezTo>
                  <a:cubicBezTo>
                    <a:pt x="22" y="15"/>
                    <a:pt x="22" y="15"/>
                    <a:pt x="22" y="15"/>
                  </a:cubicBezTo>
                  <a:cubicBezTo>
                    <a:pt x="26" y="11"/>
                    <a:pt x="26" y="4"/>
                    <a:pt x="22" y="0"/>
                  </a:cubicBezTo>
                  <a:lnTo>
                    <a:pt x="2" y="19"/>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2" name="Freeform 25"/>
            <p:cNvSpPr/>
            <p:nvPr/>
          </p:nvSpPr>
          <p:spPr bwMode="auto">
            <a:xfrm>
              <a:off x="9889929" y="2161024"/>
              <a:ext cx="169306" cy="169306"/>
            </a:xfrm>
            <a:custGeom>
              <a:avLst/>
              <a:gdLst>
                <a:gd name="T0" fmla="*/ 1 w 14"/>
                <a:gd name="T1" fmla="*/ 2 h 14"/>
                <a:gd name="T2" fmla="*/ 1 w 14"/>
                <a:gd name="T3" fmla="*/ 6 h 14"/>
                <a:gd name="T4" fmla="*/ 9 w 14"/>
                <a:gd name="T5" fmla="*/ 13 h 14"/>
                <a:gd name="T6" fmla="*/ 12 w 14"/>
                <a:gd name="T7" fmla="*/ 13 h 14"/>
                <a:gd name="T8" fmla="*/ 14 w 14"/>
                <a:gd name="T9" fmla="*/ 11 h 14"/>
                <a:gd name="T10" fmla="*/ 3 w 14"/>
                <a:gd name="T11" fmla="*/ 0 h 14"/>
                <a:gd name="T12" fmla="*/ 1 w 14"/>
                <a:gd name="T13" fmla="*/ 2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 y="2"/>
                  </a:moveTo>
                  <a:cubicBezTo>
                    <a:pt x="0" y="3"/>
                    <a:pt x="0" y="4"/>
                    <a:pt x="1" y="6"/>
                  </a:cubicBezTo>
                  <a:cubicBezTo>
                    <a:pt x="9" y="13"/>
                    <a:pt x="9" y="13"/>
                    <a:pt x="9" y="13"/>
                  </a:cubicBezTo>
                  <a:cubicBezTo>
                    <a:pt x="10" y="14"/>
                    <a:pt x="11" y="14"/>
                    <a:pt x="12" y="13"/>
                  </a:cubicBezTo>
                  <a:cubicBezTo>
                    <a:pt x="14" y="11"/>
                    <a:pt x="14" y="11"/>
                    <a:pt x="14" y="11"/>
                  </a:cubicBezTo>
                  <a:cubicBezTo>
                    <a:pt x="3" y="0"/>
                    <a:pt x="3" y="0"/>
                    <a:pt x="3" y="0"/>
                  </a:cubicBezTo>
                  <a:lnTo>
                    <a:pt x="1" y="2"/>
                  </a:ln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sp>
          <p:nvSpPr>
            <p:cNvPr id="13" name="Freeform 26"/>
            <p:cNvSpPr/>
            <p:nvPr/>
          </p:nvSpPr>
          <p:spPr bwMode="auto">
            <a:xfrm>
              <a:off x="9650079" y="2259786"/>
              <a:ext cx="338612" cy="331555"/>
            </a:xfrm>
            <a:custGeom>
              <a:avLst/>
              <a:gdLst>
                <a:gd name="T0" fmla="*/ 0 w 28"/>
                <a:gd name="T1" fmla="*/ 28 h 28"/>
                <a:gd name="T2" fmla="*/ 22 w 28"/>
                <a:gd name="T3" fmla="*/ 6 h 28"/>
                <a:gd name="T4" fmla="*/ 0 w 28"/>
                <a:gd name="T5" fmla="*/ 28 h 28"/>
              </a:gdLst>
              <a:ahLst/>
              <a:cxnLst>
                <a:cxn ang="0">
                  <a:pos x="T0" y="T1"/>
                </a:cxn>
                <a:cxn ang="0">
                  <a:pos x="T2" y="T3"/>
                </a:cxn>
                <a:cxn ang="0">
                  <a:pos x="T4" y="T5"/>
                </a:cxn>
              </a:cxnLst>
              <a:rect l="0" t="0" r="r" b="b"/>
              <a:pathLst>
                <a:path w="28" h="28">
                  <a:moveTo>
                    <a:pt x="0" y="28"/>
                  </a:moveTo>
                  <a:cubicBezTo>
                    <a:pt x="11" y="22"/>
                    <a:pt x="28" y="11"/>
                    <a:pt x="22" y="6"/>
                  </a:cubicBezTo>
                  <a:cubicBezTo>
                    <a:pt x="17" y="0"/>
                    <a:pt x="6" y="17"/>
                    <a:pt x="0" y="28"/>
                  </a:cubicBezTo>
                  <a:close/>
                </a:path>
              </a:pathLst>
            </a:custGeom>
            <a:gradFill>
              <a:gsLst>
                <a:gs pos="0">
                  <a:srgbClr val="F0C76A"/>
                </a:gs>
                <a:gs pos="100000">
                  <a:srgbClr val="CC6F62"/>
                </a:gs>
              </a:gsLst>
              <a:lin ang="7800000" scaled="0"/>
            </a:gradFill>
            <a:ln>
              <a:noFill/>
            </a:ln>
            <a:effectLst>
              <a:outerShdw blurRad="127000" dist="254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solidFill>
                  <a:prstClr val="white"/>
                </a:solidFill>
                <a:latin typeface="Open Sans" panose="020B0606030504020204" pitchFamily="34" charset="0"/>
                <a:cs typeface="Open Sans" panose="020B0606030504020204" pitchFamily="34" charset="0"/>
              </a:endParaRPr>
            </a:p>
          </p:txBody>
        </p:sp>
      </p:grpSp>
      <p:sp>
        <p:nvSpPr>
          <p:cNvPr id="39" name="任意多边形 3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2548100" y="4382705"/>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任意多边形 3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8100000" flipV="1">
            <a:off x="4220098" y="4234396"/>
            <a:ext cx="1194883" cy="167846"/>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任意多边形 4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3500000" flipV="1">
            <a:off x="6442848" y="3609608"/>
            <a:ext cx="834605" cy="6078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2" name="任意多边形 4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913339">
            <a:off x="8195034" y="3206788"/>
            <a:ext cx="1536809" cy="11744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3"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824865" y="1184275"/>
            <a:ext cx="10793095" cy="4524315"/>
          </a:xfrm>
          <a:prstGeom prst="rect">
            <a:avLst/>
          </a:prstGeom>
        </p:spPr>
        <p:txBody>
          <a:bodyPr wrap="square">
            <a:spAutoFit/>
          </a:bodyPr>
          <a:lstStyle/>
          <a:p>
            <a:pPr>
              <a:lnSpc>
                <a:spcPct val="200000"/>
              </a:lnSpc>
            </a:pPr>
            <a:r>
              <a:rPr lang="en-US" sz="2400" b="1" dirty="0">
                <a:solidFill>
                  <a:prstClr val="white"/>
                </a:solidFill>
                <a:ea typeface="Open Sans Light" panose="020B0306030504020204" pitchFamily="34" charset="0"/>
                <a:cs typeface="Open Sans Light" panose="020B0306030504020204" pitchFamily="34" charset="0"/>
              </a:rPr>
              <a:t> In the first step and the third step, first go through all &lt;a&gt; or &lt;font&gt;, to find out what we need. On average, each page needs to loop for 8000-25000 times. Later changing the object to the &lt;TR&gt;, it is reduced to 400-800 times, greatly improving operation efficiency. By going through strings, searching and skipping the inevitable failure of the cycle</a:t>
            </a:r>
            <a:r>
              <a:rPr lang="en-US" altLang="zh-CN" sz="2400" b="1" dirty="0">
                <a:solidFill>
                  <a:prstClr val="white"/>
                </a:solidFill>
                <a:ea typeface="Open Sans Light" panose="020B0306030504020204" pitchFamily="34" charset="0"/>
                <a:cs typeface="Open Sans Light" panose="020B0306030504020204" pitchFamily="34" charset="0"/>
              </a:rPr>
              <a:t> in time</a:t>
            </a:r>
            <a:r>
              <a:rPr lang="en-US" sz="2400" b="1" dirty="0">
                <a:solidFill>
                  <a:prstClr val="white"/>
                </a:solidFill>
                <a:ea typeface="Open Sans Light" panose="020B0306030504020204" pitchFamily="34" charset="0"/>
                <a:cs typeface="Open Sans Light" panose="020B0306030504020204" pitchFamily="34" charset="0"/>
              </a:rPr>
              <a:t>, we reduce the times of looping. By using linear search instead of the regular expression,the program improves the efficiency of operation.</a:t>
            </a:r>
            <a:endParaRPr lang="en-US" sz="2400" b="1" dirty="0">
              <a:solidFill>
                <a:prstClr val="white"/>
              </a:solidFill>
              <a:ea typeface="Open Sans Light" panose="020B0306030504020204" pitchFamily="34" charset="0"/>
              <a:cs typeface="Open Sans Light" panose="020B0306030504020204" pitchFamily="34" charset="0"/>
            </a:endParaRPr>
          </a:p>
        </p:txBody>
      </p:sp>
      <p:sp>
        <p:nvSpPr>
          <p:cNvPr id="47"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22" presetClass="entr" presetSubtype="8" fill="hold" grpId="0" nodeType="withEffect">
                                  <p:stCondLst>
                                    <p:cond delay="3500"/>
                                  </p:stCondLst>
                                  <p:childTnLst>
                                    <p:set>
                                      <p:cBhvr>
                                        <p:cTn id="16" dur="1" fill="hold">
                                          <p:stCondLst>
                                            <p:cond delay="0"/>
                                          </p:stCondLst>
                                        </p:cTn>
                                        <p:tgtEl>
                                          <p:spTgt spid="43"/>
                                        </p:tgtEl>
                                        <p:attrNameLst>
                                          <p:attrName>style.visibility</p:attrName>
                                        </p:attrNameLst>
                                      </p:cBhvr>
                                      <p:to>
                                        <p:strVal val="visible"/>
                                      </p:to>
                                    </p:set>
                                    <p:animEffect transition="in" filter="wipe(left)">
                                      <p:cBhvr>
                                        <p:cTn id="17" dur="500"/>
                                        <p:tgtEl>
                                          <p:spTgt spid="43"/>
                                        </p:tgtEl>
                                      </p:cBhvr>
                                    </p:animEffect>
                                  </p:childTnLst>
                                </p:cTn>
                              </p:par>
                              <p:par>
                                <p:cTn id="18" presetID="10" presetClass="entr" presetSubtype="0" fill="hold" grpId="0" nodeType="withEffect">
                                  <p:stCondLst>
                                    <p:cond delay="200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par>
                                <p:cTn id="21" presetID="63" presetClass="path" presetSubtype="0" accel="50000" decel="50000" fill="hold" grpId="1" nodeType="withEffect">
                                  <p:stCondLst>
                                    <p:cond delay="2000"/>
                                  </p:stCondLst>
                                  <p:childTnLst>
                                    <p:animMotion origin="layout" path="M -0.03177 -0.05556 L 8.33333E-7 1.48148E-6 " pathEditMode="relative" rAng="0" ptsTypes="AA">
                                      <p:cBhvr>
                                        <p:cTn id="22" dur="2000" fill="hold"/>
                                        <p:tgtEl>
                                          <p:spTgt spid="39"/>
                                        </p:tgtEl>
                                        <p:attrNameLst>
                                          <p:attrName>ppt_x</p:attrName>
                                          <p:attrName>ppt_y</p:attrName>
                                        </p:attrNameLst>
                                      </p:cBhvr>
                                      <p:rCtr x="1589" y="2778"/>
                                    </p:animMotion>
                                  </p:childTnLst>
                                </p:cTn>
                              </p:par>
                              <p:par>
                                <p:cTn id="23" presetID="10" presetClass="entr" presetSubtype="0" fill="hold" grpId="0" nodeType="withEffect">
                                  <p:stCondLst>
                                    <p:cond delay="200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par>
                                <p:cTn id="26" presetID="63" presetClass="path" presetSubtype="0" accel="50000" decel="50000" fill="hold" grpId="1" nodeType="withEffect">
                                  <p:stCondLst>
                                    <p:cond delay="2000"/>
                                  </p:stCondLst>
                                  <p:childTnLst>
                                    <p:animMotion origin="layout" path="M -0.03177 -0.05556 L 8.33333E-7 1.48148E-6 " pathEditMode="relative" rAng="0" ptsTypes="AA">
                                      <p:cBhvr>
                                        <p:cTn id="27" dur="2000" fill="hold"/>
                                        <p:tgtEl>
                                          <p:spTgt spid="41"/>
                                        </p:tgtEl>
                                        <p:attrNameLst>
                                          <p:attrName>ppt_x</p:attrName>
                                          <p:attrName>ppt_y</p:attrName>
                                        </p:attrNameLst>
                                      </p:cBhvr>
                                      <p:rCtr x="1589" y="2778"/>
                                    </p:animMotion>
                                  </p:childTnLst>
                                </p:cTn>
                              </p:par>
                              <p:par>
                                <p:cTn id="28" presetID="10" presetClass="entr" presetSubtype="0" fill="hold" grpId="0" nodeType="withEffect">
                                  <p:stCondLst>
                                    <p:cond delay="2000"/>
                                  </p:stCondLst>
                                  <p:childTnLst>
                                    <p:set>
                                      <p:cBhvr>
                                        <p:cTn id="29" dur="1" fill="hold">
                                          <p:stCondLst>
                                            <p:cond delay="0"/>
                                          </p:stCondLst>
                                        </p:cTn>
                                        <p:tgtEl>
                                          <p:spTgt spid="40"/>
                                        </p:tgtEl>
                                        <p:attrNameLst>
                                          <p:attrName>style.visibility</p:attrName>
                                        </p:attrNameLst>
                                      </p:cBhvr>
                                      <p:to>
                                        <p:strVal val="visible"/>
                                      </p:to>
                                    </p:set>
                                    <p:animEffect transition="in" filter="fade">
                                      <p:cBhvr>
                                        <p:cTn id="30" dur="500"/>
                                        <p:tgtEl>
                                          <p:spTgt spid="40"/>
                                        </p:tgtEl>
                                      </p:cBhvr>
                                    </p:animEffect>
                                  </p:childTnLst>
                                </p:cTn>
                              </p:par>
                              <p:par>
                                <p:cTn id="31" presetID="63" presetClass="path" presetSubtype="0" accel="50000" decel="50000" fill="hold" grpId="1" nodeType="withEffect">
                                  <p:stCondLst>
                                    <p:cond delay="2000"/>
                                  </p:stCondLst>
                                  <p:childTnLst>
                                    <p:animMotion origin="layout" path="M -0.04088 0.07407 L -2.08333E-6 3.7037E-7 " pathEditMode="relative" rAng="0" ptsTypes="AA">
                                      <p:cBhvr>
                                        <p:cTn id="32" dur="2000" fill="hold"/>
                                        <p:tgtEl>
                                          <p:spTgt spid="40"/>
                                        </p:tgtEl>
                                        <p:attrNameLst>
                                          <p:attrName>ppt_x</p:attrName>
                                          <p:attrName>ppt_y</p:attrName>
                                        </p:attrNameLst>
                                      </p:cBhvr>
                                      <p:rCtr x="2044" y="-3704"/>
                                    </p:animMotion>
                                  </p:childTnLst>
                                </p:cTn>
                              </p:par>
                              <p:par>
                                <p:cTn id="33" presetID="10" presetClass="entr" presetSubtype="0" fill="hold" grpId="0" nodeType="withEffect">
                                  <p:stCondLst>
                                    <p:cond delay="200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par>
                                <p:cTn id="36" presetID="63" presetClass="path" presetSubtype="0" accel="50000" decel="50000" fill="hold" grpId="1" nodeType="withEffect">
                                  <p:stCondLst>
                                    <p:cond delay="2000"/>
                                  </p:stCondLst>
                                  <p:childTnLst>
                                    <p:animMotion origin="layout" path="M -0.04088 0.07407 L -2.08333E-6 3.7037E-7 " pathEditMode="relative" rAng="0" ptsTypes="AA">
                                      <p:cBhvr>
                                        <p:cTn id="37" dur="2000" fill="hold"/>
                                        <p:tgtEl>
                                          <p:spTgt spid="42"/>
                                        </p:tgtEl>
                                        <p:attrNameLst>
                                          <p:attrName>ppt_x</p:attrName>
                                          <p:attrName>ppt_y</p:attrName>
                                        </p:attrNameLst>
                                      </p:cBhvr>
                                      <p:rCtr x="2044" y="-3704"/>
                                    </p:animMotion>
                                  </p:childTnLst>
                                </p:cTn>
                              </p:par>
                              <p:par>
                                <p:cTn id="38" presetID="10" presetClass="entr" presetSubtype="0" fill="hold" nodeType="withEffect">
                                  <p:stCondLst>
                                    <p:cond delay="200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500"/>
                                        <p:tgtEl>
                                          <p:spTgt spid="2"/>
                                        </p:tgtEl>
                                      </p:cBhvr>
                                    </p:animEffect>
                                  </p:childTnLst>
                                </p:cTn>
                              </p:par>
                              <p:par>
                                <p:cTn id="41" presetID="63" presetClass="path" presetSubtype="0" accel="50000" decel="50000" fill="hold" nodeType="withEffect">
                                  <p:stCondLst>
                                    <p:cond delay="2000"/>
                                  </p:stCondLst>
                                  <p:childTnLst>
                                    <p:animMotion origin="layout" path="M -0.04088 0.07407 L -2.08333E-6 3.7037E-7 " pathEditMode="relative" rAng="0" ptsTypes="AA">
                                      <p:cBhvr>
                                        <p:cTn id="42" dur="2000" fill="hold"/>
                                        <p:tgtEl>
                                          <p:spTgt spid="2"/>
                                        </p:tgtEl>
                                        <p:attrNameLst>
                                          <p:attrName>ppt_x</p:attrName>
                                          <p:attrName>ppt_y</p:attrName>
                                        </p:attrNameLst>
                                      </p:cBhvr>
                                      <p:rCtr x="2044" y="-370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bldLvl="0" animBg="1"/>
      <p:bldP spid="6" grpId="1" bldLvl="0" animBg="1"/>
      <p:bldP spid="39" grpId="0" bldLvl="0" animBg="1"/>
      <p:bldP spid="39" grpId="1" bldLvl="0" animBg="1"/>
      <p:bldP spid="40" grpId="0" bldLvl="0" animBg="1"/>
      <p:bldP spid="40" grpId="1" bldLvl="0" animBg="1"/>
      <p:bldP spid="41" grpId="0" bldLvl="0" animBg="1"/>
      <p:bldP spid="41" grpId="1" bldLvl="0" animBg="1"/>
      <p:bldP spid="42" grpId="0" bldLvl="0" animBg="1"/>
      <p:bldP spid="42" grpId="1" bldLvl="0" animBg="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39420" y="264160"/>
            <a:ext cx="5933440" cy="521970"/>
          </a:xfrm>
          <a:prstGeom prst="rect">
            <a:avLst/>
          </a:prstGeom>
          <a:noFill/>
        </p:spPr>
        <p:txBody>
          <a:bodyPr wrap="square" rtlCol="0">
            <a:spAutoFit/>
            <a:scene3d>
              <a:camera prst="orthographicFront">
                <a:rot lat="0" lon="0" rev="0"/>
              </a:camera>
              <a:lightRig rig="threePt" dir="t"/>
            </a:scene3d>
          </a:bodyPr>
          <a:lstStyle/>
          <a:p>
            <a:pPr algn="ctr"/>
            <a:r>
              <a:rPr lang="en-US" altLang="zh-CN" sz="2800" b="1"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2. Debugging process optimization</a:t>
            </a:r>
            <a:endParaRPr lang="en-US" altLang="zh-CN" sz="2800" b="1"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4" name="矩形 43"/>
          <p:cNvSpPr/>
          <p:nvPr/>
        </p:nvSpPr>
        <p:spPr>
          <a:xfrm>
            <a:off x="793115" y="1155700"/>
            <a:ext cx="10124440" cy="3539430"/>
          </a:xfrm>
          <a:prstGeom prst="rect">
            <a:avLst/>
          </a:prstGeom>
        </p:spPr>
        <p:txBody>
          <a:bodyPr wrap="square">
            <a:spAutoFit/>
          </a:bodyPr>
          <a:lstStyle/>
          <a:p>
            <a:pPr algn="ctr"/>
            <a:r>
              <a:rPr lang="en-US" altLang="zh-CN" sz="2800" b="1" dirty="0">
                <a:solidFill>
                  <a:prstClr val="white"/>
                </a:solidFill>
                <a:latin typeface="Open Sans" panose="020B0606030504020204" pitchFamily="34" charset="0"/>
                <a:ea typeface="Open Sans" panose="020B0606030504020204" pitchFamily="34" charset="0"/>
                <a:cs typeface="Open Sans" panose="020B0606030504020204" pitchFamily="34" charset="0"/>
              </a:rPr>
              <a:t>In the third step, there are some failures. In the following improvements, the failed URL is saved in "</a:t>
            </a:r>
            <a:r>
              <a:rPr lang="en-US" altLang="zh-CN" sz="2800" b="1" dirty="0" err="1">
                <a:solidFill>
                  <a:prstClr val="white"/>
                </a:solidFill>
                <a:latin typeface="Open Sans" panose="020B0606030504020204" pitchFamily="34" charset="0"/>
                <a:ea typeface="Open Sans" panose="020B0606030504020204" pitchFamily="34" charset="0"/>
                <a:cs typeface="Open Sans" panose="020B0606030504020204" pitchFamily="34" charset="0"/>
              </a:rPr>
              <a:t>errlog.txt"for</a:t>
            </a:r>
            <a:r>
              <a:rPr lang="en-US" altLang="zh-CN" sz="2800" b="1" dirty="0">
                <a:solidFill>
                  <a:prstClr val="white"/>
                </a:solidFill>
                <a:latin typeface="Open Sans" panose="020B0606030504020204" pitchFamily="34" charset="0"/>
                <a:ea typeface="Open Sans" panose="020B0606030504020204" pitchFamily="34" charset="0"/>
                <a:cs typeface="Open Sans" panose="020B0606030504020204" pitchFamily="34" charset="0"/>
              </a:rPr>
              <a:t> following processing, which is to use multiple-nested "try-except-block" to judge the documents, use if-else block to choose corresponding processing method and meanwhile add similarities when finding &lt;TR&gt;.It improves the rate of success of matching. The success rate increases from 12/150 to 123/376.</a:t>
            </a:r>
            <a:endParaRPr lang="en-US" altLang="zh-CN" sz="2800" b="1" dirty="0">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1" name="任意多边形 5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2600000" flipV="1">
            <a:off x="2024456" y="1975402"/>
            <a:ext cx="1131510" cy="14370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52" name="任意多边形 5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200000" flipV="1">
            <a:off x="3285220" y="3984312"/>
            <a:ext cx="1131510" cy="14370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53" name="任意多边形 5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2600000" flipV="1">
            <a:off x="7318688" y="1975078"/>
            <a:ext cx="1131510" cy="14370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54" name="任意多边形 5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7200000" flipV="1">
            <a:off x="8579452" y="3983988"/>
            <a:ext cx="1131510" cy="143705"/>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en Sans" panose="020B0606030504020204" pitchFamily="34" charset="0"/>
              <a:cs typeface="Open Sans" panose="020B0606030504020204" pitchFamily="34" charset="0"/>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grpId="0" nodeType="withEffect">
                                  <p:stCondLst>
                                    <p:cond delay="100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par>
                                <p:cTn id="18" presetID="63" presetClass="path" presetSubtype="0" accel="50000" decel="50000" fill="hold" grpId="1" nodeType="withEffect">
                                  <p:stCondLst>
                                    <p:cond delay="1000"/>
                                  </p:stCondLst>
                                  <p:childTnLst>
                                    <p:animMotion origin="layout" path="M -0.04063 -0.04144 L 2.08333E-7 3.7037E-7 " pathEditMode="relative" rAng="0" ptsTypes="AA">
                                      <p:cBhvr>
                                        <p:cTn id="19" dur="2000" fill="hold"/>
                                        <p:tgtEl>
                                          <p:spTgt spid="51"/>
                                        </p:tgtEl>
                                        <p:attrNameLst>
                                          <p:attrName>ppt_x</p:attrName>
                                          <p:attrName>ppt_y</p:attrName>
                                        </p:attrNameLst>
                                      </p:cBhvr>
                                      <p:rCtr x="2031" y="2060"/>
                                    </p:animMotion>
                                  </p:childTnLst>
                                </p:cTn>
                              </p:par>
                              <p:par>
                                <p:cTn id="20" presetID="10" presetClass="entr" presetSubtype="0" fill="hold" grpId="0" nodeType="withEffect">
                                  <p:stCondLst>
                                    <p:cond delay="100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par>
                                <p:cTn id="23" presetID="63" presetClass="path" presetSubtype="0" accel="50000" decel="50000" fill="hold" grpId="1" nodeType="withEffect">
                                  <p:stCondLst>
                                    <p:cond delay="1000"/>
                                  </p:stCondLst>
                                  <p:childTnLst>
                                    <p:animMotion origin="layout" path="M -0.02305 0.07199 L 4.79167E-6 4.81481E-6 " pathEditMode="relative" rAng="0" ptsTypes="AA">
                                      <p:cBhvr>
                                        <p:cTn id="24" dur="2000" fill="hold"/>
                                        <p:tgtEl>
                                          <p:spTgt spid="52"/>
                                        </p:tgtEl>
                                        <p:attrNameLst>
                                          <p:attrName>ppt_x</p:attrName>
                                          <p:attrName>ppt_y</p:attrName>
                                        </p:attrNameLst>
                                      </p:cBhvr>
                                      <p:rCtr x="1146" y="-3611"/>
                                    </p:animMotion>
                                  </p:childTnLst>
                                </p:cTn>
                              </p:par>
                              <p:par>
                                <p:cTn id="25" presetID="10" presetClass="entr" presetSubtype="0" fill="hold" grpId="0" nodeType="withEffect">
                                  <p:stCondLst>
                                    <p:cond delay="100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par>
                                <p:cTn id="28" presetID="63" presetClass="path" presetSubtype="0" accel="50000" decel="50000" fill="hold" grpId="1" nodeType="withEffect">
                                  <p:stCondLst>
                                    <p:cond delay="1000"/>
                                  </p:stCondLst>
                                  <p:childTnLst>
                                    <p:animMotion origin="layout" path="M -0.04063 -0.04144 L 2.08333E-7 3.7037E-7 " pathEditMode="relative" rAng="0" ptsTypes="AA">
                                      <p:cBhvr>
                                        <p:cTn id="29" dur="2000" fill="hold"/>
                                        <p:tgtEl>
                                          <p:spTgt spid="53"/>
                                        </p:tgtEl>
                                        <p:attrNameLst>
                                          <p:attrName>ppt_x</p:attrName>
                                          <p:attrName>ppt_y</p:attrName>
                                        </p:attrNameLst>
                                      </p:cBhvr>
                                      <p:rCtr x="2031" y="2060"/>
                                    </p:animMotion>
                                  </p:childTnLst>
                                </p:cTn>
                              </p:par>
                              <p:par>
                                <p:cTn id="30" presetID="10" presetClass="entr" presetSubtype="0" fill="hold" grpId="0" nodeType="withEffect">
                                  <p:stCondLst>
                                    <p:cond delay="1000"/>
                                  </p:stCondLst>
                                  <p:childTnLst>
                                    <p:set>
                                      <p:cBhvr>
                                        <p:cTn id="31" dur="1" fill="hold">
                                          <p:stCondLst>
                                            <p:cond delay="0"/>
                                          </p:stCondLst>
                                        </p:cTn>
                                        <p:tgtEl>
                                          <p:spTgt spid="54"/>
                                        </p:tgtEl>
                                        <p:attrNameLst>
                                          <p:attrName>style.visibility</p:attrName>
                                        </p:attrNameLst>
                                      </p:cBhvr>
                                      <p:to>
                                        <p:strVal val="visible"/>
                                      </p:to>
                                    </p:set>
                                    <p:animEffect transition="in" filter="fade">
                                      <p:cBhvr>
                                        <p:cTn id="32" dur="500"/>
                                        <p:tgtEl>
                                          <p:spTgt spid="54"/>
                                        </p:tgtEl>
                                      </p:cBhvr>
                                    </p:animEffect>
                                  </p:childTnLst>
                                </p:cTn>
                              </p:par>
                              <p:par>
                                <p:cTn id="33" presetID="63" presetClass="path" presetSubtype="0" accel="50000" decel="50000" fill="hold" grpId="1" nodeType="withEffect">
                                  <p:stCondLst>
                                    <p:cond delay="1000"/>
                                  </p:stCondLst>
                                  <p:childTnLst>
                                    <p:animMotion origin="layout" path="M -0.02305 0.07199 L 4.79167E-6 4.81481E-6 " pathEditMode="relative" rAng="0" ptsTypes="AA">
                                      <p:cBhvr>
                                        <p:cTn id="34" dur="2000" fill="hold"/>
                                        <p:tgtEl>
                                          <p:spTgt spid="54"/>
                                        </p:tgtEl>
                                        <p:attrNameLst>
                                          <p:attrName>ppt_x</p:attrName>
                                          <p:attrName>ppt_y</p:attrName>
                                        </p:attrNameLst>
                                      </p:cBhvr>
                                      <p:rCtr x="1146" y="-36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51" grpId="0" animBg="1"/>
      <p:bldP spid="51" grpId="1" animBg="1"/>
      <p:bldP spid="52" grpId="0" animBg="1"/>
      <p:bldP spid="52" grpId="1" animBg="1"/>
      <p:bldP spid="53" grpId="0" animBg="1"/>
      <p:bldP spid="53" grpId="1" animBg="1"/>
      <p:bldP spid="54" grpId="0" animBg="1"/>
      <p:bldP spid="54"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矩形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446405" y="269875"/>
            <a:ext cx="4566920" cy="521970"/>
          </a:xfrm>
          <a:prstGeom prst="rect">
            <a:avLst/>
          </a:prstGeom>
          <a:noFill/>
        </p:spPr>
        <p:txBody>
          <a:bodyPr wrap="square" rtlCol="0">
            <a:spAutoFit/>
            <a:scene3d>
              <a:camera prst="orthographicFront">
                <a:rot lat="0" lon="0" rev="0"/>
              </a:camera>
              <a:lightRig rig="threePt" dir="t"/>
            </a:scene3d>
          </a:bodyPr>
          <a:lstStyle/>
          <a:p>
            <a:pPr algn="ctr"/>
            <a:r>
              <a:rPr lang="en-US" altLang="zh-CN" sz="2800" b="1"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3. Output  optimization</a:t>
            </a:r>
            <a:endParaRPr lang="en-US" altLang="zh-CN" sz="2800" b="1"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任意多边形 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606872" y="745853"/>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 name="组合 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1261241" y="1592754"/>
            <a:ext cx="3846788" cy="4119218"/>
            <a:chOff x="1261241" y="1592754"/>
            <a:chExt cx="3846788" cy="4119218"/>
          </a:xfrm>
        </p:grpSpPr>
        <p:sp>
          <p:nvSpPr>
            <p:cNvPr id="7" name="任意多边形 6"/>
            <p:cNvSpPr/>
            <p:nvPr/>
          </p:nvSpPr>
          <p:spPr bwMode="auto">
            <a:xfrm>
              <a:off x="1261241" y="1592754"/>
              <a:ext cx="3846788" cy="4119218"/>
            </a:xfrm>
            <a:custGeom>
              <a:avLst/>
              <a:gdLst>
                <a:gd name="connsiteX0" fmla="*/ 1785261 w 4179143"/>
                <a:gd name="connsiteY0" fmla="*/ 0 h 4475112"/>
                <a:gd name="connsiteX1" fmla="*/ 833603 w 4179143"/>
                <a:gd name="connsiteY1" fmla="*/ 225635 h 4475112"/>
                <a:gd name="connsiteX2" fmla="*/ 108082 w 4179143"/>
                <a:gd name="connsiteY2" fmla="*/ 996554 h 4475112"/>
                <a:gd name="connsiteX3" fmla="*/ 136349 w 4179143"/>
                <a:gd name="connsiteY3" fmla="*/ 2378568 h 4475112"/>
                <a:gd name="connsiteX4" fmla="*/ 164616 w 4179143"/>
                <a:gd name="connsiteY4" fmla="*/ 2453780 h 4475112"/>
                <a:gd name="connsiteX5" fmla="*/ 569777 w 4179143"/>
                <a:gd name="connsiteY5" fmla="*/ 3055473 h 4475112"/>
                <a:gd name="connsiteX6" fmla="*/ 682845 w 4179143"/>
                <a:gd name="connsiteY6" fmla="*/ 3215298 h 4475112"/>
                <a:gd name="connsiteX7" fmla="*/ 843025 w 4179143"/>
                <a:gd name="connsiteY7" fmla="*/ 3544348 h 4475112"/>
                <a:gd name="connsiteX8" fmla="*/ 852448 w 4179143"/>
                <a:gd name="connsiteY8" fmla="*/ 3591356 h 4475112"/>
                <a:gd name="connsiteX9" fmla="*/ 805336 w 4179143"/>
                <a:gd name="connsiteY9" fmla="*/ 4042626 h 4475112"/>
                <a:gd name="connsiteX10" fmla="*/ 781695 w 4179143"/>
                <a:gd name="connsiteY10" fmla="*/ 4142588 h 4475112"/>
                <a:gd name="connsiteX11" fmla="*/ 769490 w 4179143"/>
                <a:gd name="connsiteY11" fmla="*/ 4182352 h 4475112"/>
                <a:gd name="connsiteX12" fmla="*/ 850746 w 4179143"/>
                <a:gd name="connsiteY12" fmla="*/ 4171248 h 4475112"/>
                <a:gd name="connsiteX13" fmla="*/ 2569776 w 4179143"/>
                <a:gd name="connsiteY13" fmla="*/ 4442146 h 4475112"/>
                <a:gd name="connsiteX14" fmla="*/ 2631898 w 4179143"/>
                <a:gd name="connsiteY14" fmla="*/ 4475112 h 4475112"/>
                <a:gd name="connsiteX15" fmla="*/ 2642695 w 4179143"/>
                <a:gd name="connsiteY15" fmla="*/ 4418684 h 4475112"/>
                <a:gd name="connsiteX16" fmla="*/ 2802875 w 4179143"/>
                <a:gd name="connsiteY16" fmla="*/ 4136640 h 4475112"/>
                <a:gd name="connsiteX17" fmla="*/ 2887676 w 4179143"/>
                <a:gd name="connsiteY17" fmla="*/ 4117837 h 4475112"/>
                <a:gd name="connsiteX18" fmla="*/ 2897099 w 4179143"/>
                <a:gd name="connsiteY18" fmla="*/ 4117837 h 4475112"/>
                <a:gd name="connsiteX19" fmla="*/ 3085546 w 4179143"/>
                <a:gd name="connsiteY19" fmla="*/ 4108436 h 4475112"/>
                <a:gd name="connsiteX20" fmla="*/ 3424751 w 4179143"/>
                <a:gd name="connsiteY20" fmla="*/ 4117837 h 4475112"/>
                <a:gd name="connsiteX21" fmla="*/ 3434173 w 4179143"/>
                <a:gd name="connsiteY21" fmla="*/ 4117837 h 4475112"/>
                <a:gd name="connsiteX22" fmla="*/ 3754533 w 4179143"/>
                <a:gd name="connsiteY22" fmla="*/ 3929808 h 4475112"/>
                <a:gd name="connsiteX23" fmla="*/ 3745111 w 4179143"/>
                <a:gd name="connsiteY23" fmla="*/ 3751180 h 4475112"/>
                <a:gd name="connsiteX24" fmla="*/ 3735688 w 4179143"/>
                <a:gd name="connsiteY24" fmla="*/ 3694772 h 4475112"/>
                <a:gd name="connsiteX25" fmla="*/ 3735688 w 4179143"/>
                <a:gd name="connsiteY25" fmla="*/ 3685370 h 4475112"/>
                <a:gd name="connsiteX26" fmla="*/ 3801645 w 4179143"/>
                <a:gd name="connsiteY26" fmla="*/ 3534947 h 4475112"/>
                <a:gd name="connsiteX27" fmla="*/ 3858179 w 4179143"/>
                <a:gd name="connsiteY27" fmla="*/ 3422130 h 4475112"/>
                <a:gd name="connsiteX28" fmla="*/ 3820490 w 4179143"/>
                <a:gd name="connsiteY28" fmla="*/ 3346918 h 4475112"/>
                <a:gd name="connsiteX29" fmla="*/ 3858179 w 4179143"/>
                <a:gd name="connsiteY29" fmla="*/ 3318714 h 4475112"/>
                <a:gd name="connsiteX30" fmla="*/ 3924136 w 4179143"/>
                <a:gd name="connsiteY30" fmla="*/ 3205896 h 4475112"/>
                <a:gd name="connsiteX31" fmla="*/ 3867601 w 4179143"/>
                <a:gd name="connsiteY31" fmla="*/ 3074276 h 4475112"/>
                <a:gd name="connsiteX32" fmla="*/ 3839334 w 4179143"/>
                <a:gd name="connsiteY32" fmla="*/ 3017867 h 4475112"/>
                <a:gd name="connsiteX33" fmla="*/ 3877024 w 4179143"/>
                <a:gd name="connsiteY33" fmla="*/ 2970860 h 4475112"/>
                <a:gd name="connsiteX34" fmla="*/ 3980670 w 4179143"/>
                <a:gd name="connsiteY34" fmla="*/ 2923852 h 4475112"/>
                <a:gd name="connsiteX35" fmla="*/ 4103160 w 4179143"/>
                <a:gd name="connsiteY35" fmla="*/ 2876845 h 4475112"/>
                <a:gd name="connsiteX36" fmla="*/ 4159694 w 4179143"/>
                <a:gd name="connsiteY36" fmla="*/ 2688816 h 4475112"/>
                <a:gd name="connsiteX37" fmla="*/ 4159694 w 4179143"/>
                <a:gd name="connsiteY37" fmla="*/ 2679415 h 4475112"/>
                <a:gd name="connsiteX38" fmla="*/ 3745111 w 4179143"/>
                <a:gd name="connsiteY38" fmla="*/ 2152933 h 4475112"/>
                <a:gd name="connsiteX39" fmla="*/ 3688577 w 4179143"/>
                <a:gd name="connsiteY39" fmla="*/ 2011911 h 4475112"/>
                <a:gd name="connsiteX40" fmla="*/ 3763956 w 4179143"/>
                <a:gd name="connsiteY40" fmla="*/ 1870890 h 4475112"/>
                <a:gd name="connsiteX41" fmla="*/ 3773378 w 4179143"/>
                <a:gd name="connsiteY41" fmla="*/ 1861488 h 4475112"/>
                <a:gd name="connsiteX42" fmla="*/ 3773378 w 4179143"/>
                <a:gd name="connsiteY42" fmla="*/ 1852087 h 4475112"/>
                <a:gd name="connsiteX43" fmla="*/ 3575508 w 4179143"/>
                <a:gd name="connsiteY43" fmla="*/ 1081167 h 4475112"/>
                <a:gd name="connsiteX44" fmla="*/ 2736919 w 4179143"/>
                <a:gd name="connsiteY44" fmla="*/ 206832 h 4475112"/>
                <a:gd name="connsiteX45" fmla="*/ 1785261 w 4179143"/>
                <a:gd name="connsiteY45" fmla="*/ 0 h 4475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4179143" h="4475112">
                  <a:moveTo>
                    <a:pt x="1785261" y="0"/>
                  </a:moveTo>
                  <a:cubicBezTo>
                    <a:pt x="1464901" y="0"/>
                    <a:pt x="1116273" y="84613"/>
                    <a:pt x="833603" y="225635"/>
                  </a:cubicBezTo>
                  <a:cubicBezTo>
                    <a:pt x="475554" y="404263"/>
                    <a:pt x="230572" y="676905"/>
                    <a:pt x="108082" y="996554"/>
                  </a:cubicBezTo>
                  <a:cubicBezTo>
                    <a:pt x="-146322" y="1701663"/>
                    <a:pt x="126926" y="2369167"/>
                    <a:pt x="136349" y="2378568"/>
                  </a:cubicBezTo>
                  <a:cubicBezTo>
                    <a:pt x="136349" y="2378568"/>
                    <a:pt x="164616" y="2434977"/>
                    <a:pt x="164616" y="2453780"/>
                  </a:cubicBezTo>
                  <a:cubicBezTo>
                    <a:pt x="202305" y="2547794"/>
                    <a:pt x="400175" y="2820436"/>
                    <a:pt x="569777" y="3055473"/>
                  </a:cubicBezTo>
                  <a:cubicBezTo>
                    <a:pt x="607466" y="3111882"/>
                    <a:pt x="645156" y="3168290"/>
                    <a:pt x="682845" y="3215298"/>
                  </a:cubicBezTo>
                  <a:cubicBezTo>
                    <a:pt x="824181" y="3412728"/>
                    <a:pt x="833603" y="3450334"/>
                    <a:pt x="843025" y="3544348"/>
                  </a:cubicBezTo>
                  <a:cubicBezTo>
                    <a:pt x="852448" y="3563151"/>
                    <a:pt x="852448" y="3572553"/>
                    <a:pt x="852448" y="3591356"/>
                  </a:cubicBezTo>
                  <a:cubicBezTo>
                    <a:pt x="880715" y="3713575"/>
                    <a:pt x="805336" y="4042626"/>
                    <a:pt x="805336" y="4042626"/>
                  </a:cubicBezTo>
                  <a:cubicBezTo>
                    <a:pt x="798858" y="4075531"/>
                    <a:pt x="790908" y="4108914"/>
                    <a:pt x="781695" y="4142588"/>
                  </a:cubicBezTo>
                  <a:lnTo>
                    <a:pt x="769490" y="4182352"/>
                  </a:lnTo>
                  <a:lnTo>
                    <a:pt x="850746" y="4171248"/>
                  </a:lnTo>
                  <a:cubicBezTo>
                    <a:pt x="1269502" y="4102317"/>
                    <a:pt x="1600112" y="3942398"/>
                    <a:pt x="2569776" y="4442146"/>
                  </a:cubicBezTo>
                  <a:lnTo>
                    <a:pt x="2631898" y="4475112"/>
                  </a:lnTo>
                  <a:lnTo>
                    <a:pt x="2642695" y="4418684"/>
                  </a:lnTo>
                  <a:cubicBezTo>
                    <a:pt x="2670962" y="4221253"/>
                    <a:pt x="2784031" y="4146042"/>
                    <a:pt x="2802875" y="4136640"/>
                  </a:cubicBezTo>
                  <a:cubicBezTo>
                    <a:pt x="2802875" y="4136640"/>
                    <a:pt x="2821720" y="4127239"/>
                    <a:pt x="2887676" y="4117837"/>
                  </a:cubicBezTo>
                  <a:cubicBezTo>
                    <a:pt x="2897099" y="4117837"/>
                    <a:pt x="2897099" y="4117837"/>
                    <a:pt x="2897099" y="4117837"/>
                  </a:cubicBezTo>
                  <a:cubicBezTo>
                    <a:pt x="2915943" y="4117837"/>
                    <a:pt x="2963055" y="4108436"/>
                    <a:pt x="3085546" y="4108436"/>
                  </a:cubicBezTo>
                  <a:cubicBezTo>
                    <a:pt x="3245726" y="4108436"/>
                    <a:pt x="3424751" y="4117837"/>
                    <a:pt x="3424751" y="4117837"/>
                  </a:cubicBezTo>
                  <a:cubicBezTo>
                    <a:pt x="3434173" y="4117837"/>
                    <a:pt x="3434173" y="4117837"/>
                    <a:pt x="3434173" y="4117837"/>
                  </a:cubicBezTo>
                  <a:cubicBezTo>
                    <a:pt x="3603775" y="4089633"/>
                    <a:pt x="3707421" y="4033224"/>
                    <a:pt x="3754533" y="3929808"/>
                  </a:cubicBezTo>
                  <a:cubicBezTo>
                    <a:pt x="3782800" y="3863998"/>
                    <a:pt x="3763956" y="3798188"/>
                    <a:pt x="3745111" y="3751180"/>
                  </a:cubicBezTo>
                  <a:cubicBezTo>
                    <a:pt x="3745111" y="3732378"/>
                    <a:pt x="3735688" y="3713575"/>
                    <a:pt x="3735688" y="3694772"/>
                  </a:cubicBezTo>
                  <a:cubicBezTo>
                    <a:pt x="3735688" y="3694772"/>
                    <a:pt x="3735688" y="3685370"/>
                    <a:pt x="3735688" y="3685370"/>
                  </a:cubicBezTo>
                  <a:cubicBezTo>
                    <a:pt x="3726266" y="3638363"/>
                    <a:pt x="3716844" y="3600757"/>
                    <a:pt x="3801645" y="3534947"/>
                  </a:cubicBezTo>
                  <a:cubicBezTo>
                    <a:pt x="3839334" y="3497341"/>
                    <a:pt x="3858179" y="3469137"/>
                    <a:pt x="3858179" y="3422130"/>
                  </a:cubicBezTo>
                  <a:cubicBezTo>
                    <a:pt x="3858179" y="3393925"/>
                    <a:pt x="3839334" y="3365721"/>
                    <a:pt x="3820490" y="3346918"/>
                  </a:cubicBezTo>
                  <a:cubicBezTo>
                    <a:pt x="3829912" y="3337516"/>
                    <a:pt x="3848757" y="3328115"/>
                    <a:pt x="3858179" y="3318714"/>
                  </a:cubicBezTo>
                  <a:cubicBezTo>
                    <a:pt x="3895868" y="3290509"/>
                    <a:pt x="3924136" y="3252903"/>
                    <a:pt x="3924136" y="3205896"/>
                  </a:cubicBezTo>
                  <a:cubicBezTo>
                    <a:pt x="3933558" y="3158889"/>
                    <a:pt x="3914713" y="3111882"/>
                    <a:pt x="3867601" y="3074276"/>
                  </a:cubicBezTo>
                  <a:cubicBezTo>
                    <a:pt x="3848757" y="3055473"/>
                    <a:pt x="3829912" y="3036670"/>
                    <a:pt x="3839334" y="3017867"/>
                  </a:cubicBezTo>
                  <a:cubicBezTo>
                    <a:pt x="3839334" y="3008466"/>
                    <a:pt x="3848757" y="2989663"/>
                    <a:pt x="3877024" y="2970860"/>
                  </a:cubicBezTo>
                  <a:cubicBezTo>
                    <a:pt x="3905291" y="2952057"/>
                    <a:pt x="3933558" y="2942655"/>
                    <a:pt x="3980670" y="2923852"/>
                  </a:cubicBezTo>
                  <a:cubicBezTo>
                    <a:pt x="4018359" y="2914451"/>
                    <a:pt x="4056048" y="2905050"/>
                    <a:pt x="4103160" y="2876845"/>
                  </a:cubicBezTo>
                  <a:cubicBezTo>
                    <a:pt x="4197384" y="2829838"/>
                    <a:pt x="4187961" y="2735823"/>
                    <a:pt x="4159694" y="2688816"/>
                  </a:cubicBezTo>
                  <a:cubicBezTo>
                    <a:pt x="4159694" y="2679415"/>
                    <a:pt x="4159694" y="2679415"/>
                    <a:pt x="4159694" y="2679415"/>
                  </a:cubicBezTo>
                  <a:cubicBezTo>
                    <a:pt x="4150272" y="2670013"/>
                    <a:pt x="3895868" y="2322159"/>
                    <a:pt x="3745111" y="2152933"/>
                  </a:cubicBezTo>
                  <a:cubicBezTo>
                    <a:pt x="3707421" y="2105926"/>
                    <a:pt x="3688577" y="2058919"/>
                    <a:pt x="3688577" y="2011911"/>
                  </a:cubicBezTo>
                  <a:cubicBezTo>
                    <a:pt x="3688577" y="1927298"/>
                    <a:pt x="3763956" y="1870890"/>
                    <a:pt x="3763956" y="1870890"/>
                  </a:cubicBezTo>
                  <a:cubicBezTo>
                    <a:pt x="3773378" y="1861488"/>
                    <a:pt x="3773378" y="1861488"/>
                    <a:pt x="3773378" y="1861488"/>
                  </a:cubicBezTo>
                  <a:cubicBezTo>
                    <a:pt x="3773378" y="1852087"/>
                    <a:pt x="3773378" y="1852087"/>
                    <a:pt x="3773378" y="1852087"/>
                  </a:cubicBezTo>
                  <a:cubicBezTo>
                    <a:pt x="3792223" y="1579445"/>
                    <a:pt x="3584931" y="1099970"/>
                    <a:pt x="3575508" y="1081167"/>
                  </a:cubicBezTo>
                  <a:cubicBezTo>
                    <a:pt x="3387061" y="686306"/>
                    <a:pt x="3104391" y="385460"/>
                    <a:pt x="2736919" y="206832"/>
                  </a:cubicBezTo>
                  <a:cubicBezTo>
                    <a:pt x="2463670" y="65810"/>
                    <a:pt x="2143310" y="0"/>
                    <a:pt x="1785261" y="0"/>
                  </a:cubicBezTo>
                  <a:close/>
                </a:path>
              </a:pathLst>
            </a:custGeom>
            <a:gradFill>
              <a:gsLst>
                <a:gs pos="100000">
                  <a:schemeClr val="bg1"/>
                </a:gs>
                <a:gs pos="0">
                  <a:schemeClr val="bg1">
                    <a:lumMod val="95000"/>
                  </a:schemeClr>
                </a:gs>
              </a:gsLst>
              <a:lin ang="2700000" scaled="1"/>
            </a:gradFill>
            <a:ln w="2540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softEdge rad="0"/>
            </a:effectLst>
          </p:spPr>
          <p:txBody>
            <a:bodyPr vert="horz" wrap="square" lIns="91440" tIns="45720" rIns="91440" bIns="45720" numCol="1" anchor="t" anchorCtr="0" compatLnSpc="1">
              <a:noAutofit/>
            </a:bodyPr>
            <a:lstStyle/>
            <a:p>
              <a:endParaRPr lang="zh-CN" altLang="en-US">
                <a:solidFill>
                  <a:prstClr val="black"/>
                </a:solidFill>
                <a:latin typeface="Arial" panose="020B0604020202020204" pitchFamily="34" charset="0"/>
                <a:ea typeface="微软雅黑" panose="020B0503020204020204" charset="-122"/>
              </a:endParaRPr>
            </a:p>
          </p:txBody>
        </p:sp>
        <p:sp>
          <p:nvSpPr>
            <p:cNvPr id="8" name="Freeform 6"/>
            <p:cNvSpPr/>
            <p:nvPr/>
          </p:nvSpPr>
          <p:spPr bwMode="auto">
            <a:xfrm>
              <a:off x="1436123" y="1950494"/>
              <a:ext cx="730574" cy="2148745"/>
            </a:xfrm>
            <a:custGeom>
              <a:avLst/>
              <a:gdLst>
                <a:gd name="T0" fmla="*/ 83 w 86"/>
                <a:gd name="T1" fmla="*/ 103 h 253"/>
                <a:gd name="T2" fmla="*/ 83 w 86"/>
                <a:gd name="T3" fmla="*/ 118 h 253"/>
                <a:gd name="T4" fmla="*/ 83 w 86"/>
                <a:gd name="T5" fmla="*/ 128 h 253"/>
                <a:gd name="T6" fmla="*/ 84 w 86"/>
                <a:gd name="T7" fmla="*/ 145 h 253"/>
                <a:gd name="T8" fmla="*/ 82 w 86"/>
                <a:gd name="T9" fmla="*/ 152 h 253"/>
                <a:gd name="T10" fmla="*/ 82 w 86"/>
                <a:gd name="T11" fmla="*/ 160 h 253"/>
                <a:gd name="T12" fmla="*/ 82 w 86"/>
                <a:gd name="T13" fmla="*/ 168 h 253"/>
                <a:gd name="T14" fmla="*/ 83 w 86"/>
                <a:gd name="T15" fmla="*/ 172 h 253"/>
                <a:gd name="T16" fmla="*/ 83 w 86"/>
                <a:gd name="T17" fmla="*/ 174 h 253"/>
                <a:gd name="T18" fmla="*/ 83 w 86"/>
                <a:gd name="T19" fmla="*/ 186 h 253"/>
                <a:gd name="T20" fmla="*/ 83 w 86"/>
                <a:gd name="T21" fmla="*/ 199 h 253"/>
                <a:gd name="T22" fmla="*/ 83 w 86"/>
                <a:gd name="T23" fmla="*/ 218 h 253"/>
                <a:gd name="T24" fmla="*/ 83 w 86"/>
                <a:gd name="T25" fmla="*/ 228 h 253"/>
                <a:gd name="T26" fmla="*/ 83 w 86"/>
                <a:gd name="T27" fmla="*/ 237 h 253"/>
                <a:gd name="T28" fmla="*/ 83 w 86"/>
                <a:gd name="T29" fmla="*/ 246 h 253"/>
                <a:gd name="T30" fmla="*/ 83 w 86"/>
                <a:gd name="T31" fmla="*/ 251 h 253"/>
                <a:gd name="T32" fmla="*/ 83 w 86"/>
                <a:gd name="T33" fmla="*/ 251 h 253"/>
                <a:gd name="T34" fmla="*/ 73 w 86"/>
                <a:gd name="T35" fmla="*/ 246 h 253"/>
                <a:gd name="T36" fmla="*/ 59 w 86"/>
                <a:gd name="T37" fmla="*/ 220 h 253"/>
                <a:gd name="T38" fmla="*/ 57 w 86"/>
                <a:gd name="T39" fmla="*/ 207 h 253"/>
                <a:gd name="T40" fmla="*/ 51 w 86"/>
                <a:gd name="T41" fmla="*/ 205 h 253"/>
                <a:gd name="T42" fmla="*/ 28 w 86"/>
                <a:gd name="T43" fmla="*/ 196 h 253"/>
                <a:gd name="T44" fmla="*/ 16 w 86"/>
                <a:gd name="T45" fmla="*/ 186 h 253"/>
                <a:gd name="T46" fmla="*/ 11 w 86"/>
                <a:gd name="T47" fmla="*/ 180 h 253"/>
                <a:gd name="T48" fmla="*/ 7 w 86"/>
                <a:gd name="T49" fmla="*/ 169 h 253"/>
                <a:gd name="T50" fmla="*/ 4 w 86"/>
                <a:gd name="T51" fmla="*/ 154 h 253"/>
                <a:gd name="T52" fmla="*/ 3 w 86"/>
                <a:gd name="T53" fmla="*/ 146 h 253"/>
                <a:gd name="T54" fmla="*/ 3 w 86"/>
                <a:gd name="T55" fmla="*/ 132 h 253"/>
                <a:gd name="T56" fmla="*/ 3 w 86"/>
                <a:gd name="T57" fmla="*/ 123 h 253"/>
                <a:gd name="T58" fmla="*/ 5 w 86"/>
                <a:gd name="T59" fmla="*/ 108 h 253"/>
                <a:gd name="T60" fmla="*/ 8 w 86"/>
                <a:gd name="T61" fmla="*/ 92 h 253"/>
                <a:gd name="T62" fmla="*/ 14 w 86"/>
                <a:gd name="T63" fmla="*/ 75 h 253"/>
                <a:gd name="T64" fmla="*/ 19 w 86"/>
                <a:gd name="T65" fmla="*/ 63 h 253"/>
                <a:gd name="T66" fmla="*/ 25 w 86"/>
                <a:gd name="T67" fmla="*/ 52 h 253"/>
                <a:gd name="T68" fmla="*/ 29 w 86"/>
                <a:gd name="T69" fmla="*/ 46 h 253"/>
                <a:gd name="T70" fmla="*/ 36 w 86"/>
                <a:gd name="T71" fmla="*/ 37 h 253"/>
                <a:gd name="T72" fmla="*/ 40 w 86"/>
                <a:gd name="T73" fmla="*/ 33 h 253"/>
                <a:gd name="T74" fmla="*/ 50 w 86"/>
                <a:gd name="T75" fmla="*/ 22 h 253"/>
                <a:gd name="T76" fmla="*/ 63 w 86"/>
                <a:gd name="T77" fmla="*/ 12 h 253"/>
                <a:gd name="T78" fmla="*/ 76 w 86"/>
                <a:gd name="T79" fmla="*/ 5 h 253"/>
                <a:gd name="T80" fmla="*/ 83 w 86"/>
                <a:gd name="T81" fmla="*/ 1 h 253"/>
                <a:gd name="T82" fmla="*/ 83 w 86"/>
                <a:gd name="T83" fmla="*/ 3 h 253"/>
                <a:gd name="T84" fmla="*/ 83 w 86"/>
                <a:gd name="T85" fmla="*/ 7 h 253"/>
                <a:gd name="T86" fmla="*/ 82 w 86"/>
                <a:gd name="T87" fmla="*/ 14 h 253"/>
                <a:gd name="T88" fmla="*/ 83 w 86"/>
                <a:gd name="T89" fmla="*/ 19 h 253"/>
                <a:gd name="T90" fmla="*/ 83 w 86"/>
                <a:gd name="T91" fmla="*/ 34 h 253"/>
                <a:gd name="T92" fmla="*/ 83 w 86"/>
                <a:gd name="T93" fmla="*/ 52 h 253"/>
                <a:gd name="T94" fmla="*/ 83 w 86"/>
                <a:gd name="T95" fmla="*/ 72 h 253"/>
                <a:gd name="T96" fmla="*/ 83 w 86"/>
                <a:gd name="T97" fmla="*/ 87 h 253"/>
                <a:gd name="T98" fmla="*/ 83 w 86"/>
                <a:gd name="T99" fmla="*/ 99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6" h="253">
                  <a:moveTo>
                    <a:pt x="83" y="99"/>
                  </a:moveTo>
                  <a:cubicBezTo>
                    <a:pt x="80" y="96"/>
                    <a:pt x="86" y="102"/>
                    <a:pt x="83" y="102"/>
                  </a:cubicBezTo>
                  <a:cubicBezTo>
                    <a:pt x="82" y="99"/>
                    <a:pt x="83" y="104"/>
                    <a:pt x="83" y="103"/>
                  </a:cubicBezTo>
                  <a:cubicBezTo>
                    <a:pt x="82" y="106"/>
                    <a:pt x="82" y="109"/>
                    <a:pt x="83" y="110"/>
                  </a:cubicBezTo>
                  <a:cubicBezTo>
                    <a:pt x="84" y="112"/>
                    <a:pt x="84" y="113"/>
                    <a:pt x="83" y="115"/>
                  </a:cubicBezTo>
                  <a:cubicBezTo>
                    <a:pt x="84" y="116"/>
                    <a:pt x="85" y="117"/>
                    <a:pt x="83" y="118"/>
                  </a:cubicBezTo>
                  <a:cubicBezTo>
                    <a:pt x="82" y="122"/>
                    <a:pt x="84" y="123"/>
                    <a:pt x="83" y="124"/>
                  </a:cubicBezTo>
                  <a:cubicBezTo>
                    <a:pt x="83" y="125"/>
                    <a:pt x="82" y="125"/>
                    <a:pt x="83" y="125"/>
                  </a:cubicBezTo>
                  <a:cubicBezTo>
                    <a:pt x="83" y="124"/>
                    <a:pt x="85" y="126"/>
                    <a:pt x="83" y="128"/>
                  </a:cubicBezTo>
                  <a:cubicBezTo>
                    <a:pt x="83" y="130"/>
                    <a:pt x="83" y="132"/>
                    <a:pt x="83" y="133"/>
                  </a:cubicBezTo>
                  <a:cubicBezTo>
                    <a:pt x="85" y="135"/>
                    <a:pt x="84" y="136"/>
                    <a:pt x="83" y="141"/>
                  </a:cubicBezTo>
                  <a:cubicBezTo>
                    <a:pt x="83" y="144"/>
                    <a:pt x="84" y="144"/>
                    <a:pt x="84" y="145"/>
                  </a:cubicBezTo>
                  <a:cubicBezTo>
                    <a:pt x="84" y="146"/>
                    <a:pt x="83" y="146"/>
                    <a:pt x="83" y="149"/>
                  </a:cubicBezTo>
                  <a:cubicBezTo>
                    <a:pt x="81" y="149"/>
                    <a:pt x="81" y="153"/>
                    <a:pt x="82" y="152"/>
                  </a:cubicBezTo>
                  <a:cubicBezTo>
                    <a:pt x="82" y="152"/>
                    <a:pt x="82" y="152"/>
                    <a:pt x="82" y="152"/>
                  </a:cubicBezTo>
                  <a:cubicBezTo>
                    <a:pt x="82" y="152"/>
                    <a:pt x="82" y="152"/>
                    <a:pt x="82" y="152"/>
                  </a:cubicBezTo>
                  <a:cubicBezTo>
                    <a:pt x="80" y="154"/>
                    <a:pt x="80" y="157"/>
                    <a:pt x="83" y="157"/>
                  </a:cubicBezTo>
                  <a:cubicBezTo>
                    <a:pt x="81" y="157"/>
                    <a:pt x="83" y="160"/>
                    <a:pt x="82" y="160"/>
                  </a:cubicBezTo>
                  <a:cubicBezTo>
                    <a:pt x="81" y="162"/>
                    <a:pt x="81" y="164"/>
                    <a:pt x="83" y="164"/>
                  </a:cubicBezTo>
                  <a:cubicBezTo>
                    <a:pt x="82" y="165"/>
                    <a:pt x="82" y="165"/>
                    <a:pt x="82" y="166"/>
                  </a:cubicBezTo>
                  <a:cubicBezTo>
                    <a:pt x="83" y="166"/>
                    <a:pt x="82" y="168"/>
                    <a:pt x="82" y="168"/>
                  </a:cubicBezTo>
                  <a:cubicBezTo>
                    <a:pt x="82" y="168"/>
                    <a:pt x="82" y="168"/>
                    <a:pt x="82" y="168"/>
                  </a:cubicBezTo>
                  <a:cubicBezTo>
                    <a:pt x="83" y="168"/>
                    <a:pt x="83" y="168"/>
                    <a:pt x="83" y="170"/>
                  </a:cubicBezTo>
                  <a:cubicBezTo>
                    <a:pt x="83" y="171"/>
                    <a:pt x="80" y="172"/>
                    <a:pt x="83" y="172"/>
                  </a:cubicBezTo>
                  <a:cubicBezTo>
                    <a:pt x="83" y="172"/>
                    <a:pt x="83" y="172"/>
                    <a:pt x="83" y="172"/>
                  </a:cubicBezTo>
                  <a:cubicBezTo>
                    <a:pt x="83" y="172"/>
                    <a:pt x="83" y="172"/>
                    <a:pt x="83" y="172"/>
                  </a:cubicBezTo>
                  <a:cubicBezTo>
                    <a:pt x="82" y="172"/>
                    <a:pt x="83" y="173"/>
                    <a:pt x="83" y="174"/>
                  </a:cubicBezTo>
                  <a:cubicBezTo>
                    <a:pt x="82" y="176"/>
                    <a:pt x="83" y="177"/>
                    <a:pt x="83" y="179"/>
                  </a:cubicBezTo>
                  <a:cubicBezTo>
                    <a:pt x="82" y="177"/>
                    <a:pt x="83" y="181"/>
                    <a:pt x="83" y="181"/>
                  </a:cubicBezTo>
                  <a:cubicBezTo>
                    <a:pt x="79" y="183"/>
                    <a:pt x="84" y="186"/>
                    <a:pt x="83" y="186"/>
                  </a:cubicBezTo>
                  <a:cubicBezTo>
                    <a:pt x="82" y="187"/>
                    <a:pt x="83" y="186"/>
                    <a:pt x="82" y="189"/>
                  </a:cubicBezTo>
                  <a:cubicBezTo>
                    <a:pt x="81" y="189"/>
                    <a:pt x="82" y="191"/>
                    <a:pt x="83" y="193"/>
                  </a:cubicBezTo>
                  <a:cubicBezTo>
                    <a:pt x="84" y="194"/>
                    <a:pt x="83" y="197"/>
                    <a:pt x="83" y="199"/>
                  </a:cubicBezTo>
                  <a:cubicBezTo>
                    <a:pt x="83" y="204"/>
                    <a:pt x="81" y="202"/>
                    <a:pt x="83" y="206"/>
                  </a:cubicBezTo>
                  <a:cubicBezTo>
                    <a:pt x="84" y="209"/>
                    <a:pt x="81" y="212"/>
                    <a:pt x="83" y="212"/>
                  </a:cubicBezTo>
                  <a:cubicBezTo>
                    <a:pt x="80" y="215"/>
                    <a:pt x="84" y="215"/>
                    <a:pt x="83" y="218"/>
                  </a:cubicBezTo>
                  <a:cubicBezTo>
                    <a:pt x="81" y="222"/>
                    <a:pt x="79" y="224"/>
                    <a:pt x="83" y="223"/>
                  </a:cubicBezTo>
                  <a:cubicBezTo>
                    <a:pt x="79" y="224"/>
                    <a:pt x="80" y="228"/>
                    <a:pt x="82" y="228"/>
                  </a:cubicBezTo>
                  <a:cubicBezTo>
                    <a:pt x="82" y="228"/>
                    <a:pt x="83" y="228"/>
                    <a:pt x="83" y="228"/>
                  </a:cubicBezTo>
                  <a:cubicBezTo>
                    <a:pt x="83" y="228"/>
                    <a:pt x="82" y="228"/>
                    <a:pt x="82" y="228"/>
                  </a:cubicBezTo>
                  <a:cubicBezTo>
                    <a:pt x="79" y="229"/>
                    <a:pt x="82" y="228"/>
                    <a:pt x="83" y="233"/>
                  </a:cubicBezTo>
                  <a:cubicBezTo>
                    <a:pt x="84" y="234"/>
                    <a:pt x="85" y="231"/>
                    <a:pt x="83" y="237"/>
                  </a:cubicBezTo>
                  <a:cubicBezTo>
                    <a:pt x="84" y="241"/>
                    <a:pt x="86" y="242"/>
                    <a:pt x="83" y="240"/>
                  </a:cubicBezTo>
                  <a:cubicBezTo>
                    <a:pt x="80" y="242"/>
                    <a:pt x="82" y="241"/>
                    <a:pt x="83" y="244"/>
                  </a:cubicBezTo>
                  <a:cubicBezTo>
                    <a:pt x="81" y="244"/>
                    <a:pt x="83" y="247"/>
                    <a:pt x="83" y="246"/>
                  </a:cubicBezTo>
                  <a:cubicBezTo>
                    <a:pt x="81" y="246"/>
                    <a:pt x="83" y="247"/>
                    <a:pt x="83" y="249"/>
                  </a:cubicBezTo>
                  <a:cubicBezTo>
                    <a:pt x="83" y="250"/>
                    <a:pt x="80" y="250"/>
                    <a:pt x="83" y="250"/>
                  </a:cubicBezTo>
                  <a:cubicBezTo>
                    <a:pt x="85" y="250"/>
                    <a:pt x="84" y="250"/>
                    <a:pt x="83" y="251"/>
                  </a:cubicBezTo>
                  <a:cubicBezTo>
                    <a:pt x="83" y="251"/>
                    <a:pt x="83" y="252"/>
                    <a:pt x="83" y="251"/>
                  </a:cubicBezTo>
                  <a:cubicBezTo>
                    <a:pt x="83" y="251"/>
                    <a:pt x="83" y="251"/>
                    <a:pt x="83" y="251"/>
                  </a:cubicBezTo>
                  <a:cubicBezTo>
                    <a:pt x="83" y="251"/>
                    <a:pt x="83" y="251"/>
                    <a:pt x="83" y="251"/>
                  </a:cubicBezTo>
                  <a:cubicBezTo>
                    <a:pt x="83" y="253"/>
                    <a:pt x="82" y="250"/>
                    <a:pt x="81" y="251"/>
                  </a:cubicBezTo>
                  <a:cubicBezTo>
                    <a:pt x="79" y="250"/>
                    <a:pt x="77" y="250"/>
                    <a:pt x="77" y="249"/>
                  </a:cubicBezTo>
                  <a:cubicBezTo>
                    <a:pt x="76" y="249"/>
                    <a:pt x="74" y="247"/>
                    <a:pt x="73" y="246"/>
                  </a:cubicBezTo>
                  <a:cubicBezTo>
                    <a:pt x="70" y="244"/>
                    <a:pt x="70" y="245"/>
                    <a:pt x="69" y="242"/>
                  </a:cubicBezTo>
                  <a:cubicBezTo>
                    <a:pt x="68" y="241"/>
                    <a:pt x="67" y="239"/>
                    <a:pt x="66" y="238"/>
                  </a:cubicBezTo>
                  <a:cubicBezTo>
                    <a:pt x="63" y="233"/>
                    <a:pt x="61" y="226"/>
                    <a:pt x="59" y="220"/>
                  </a:cubicBezTo>
                  <a:cubicBezTo>
                    <a:pt x="59" y="218"/>
                    <a:pt x="59" y="217"/>
                    <a:pt x="58" y="215"/>
                  </a:cubicBezTo>
                  <a:cubicBezTo>
                    <a:pt x="58" y="215"/>
                    <a:pt x="57" y="212"/>
                    <a:pt x="58" y="211"/>
                  </a:cubicBezTo>
                  <a:cubicBezTo>
                    <a:pt x="59" y="209"/>
                    <a:pt x="58" y="208"/>
                    <a:pt x="57" y="207"/>
                  </a:cubicBezTo>
                  <a:cubicBezTo>
                    <a:pt x="57" y="208"/>
                    <a:pt x="57" y="206"/>
                    <a:pt x="57" y="207"/>
                  </a:cubicBezTo>
                  <a:cubicBezTo>
                    <a:pt x="57" y="206"/>
                    <a:pt x="54" y="205"/>
                    <a:pt x="54" y="206"/>
                  </a:cubicBezTo>
                  <a:cubicBezTo>
                    <a:pt x="53" y="206"/>
                    <a:pt x="51" y="205"/>
                    <a:pt x="51" y="205"/>
                  </a:cubicBezTo>
                  <a:cubicBezTo>
                    <a:pt x="47" y="204"/>
                    <a:pt x="46" y="204"/>
                    <a:pt x="42" y="202"/>
                  </a:cubicBezTo>
                  <a:cubicBezTo>
                    <a:pt x="37" y="203"/>
                    <a:pt x="36" y="201"/>
                    <a:pt x="35" y="199"/>
                  </a:cubicBezTo>
                  <a:cubicBezTo>
                    <a:pt x="32" y="199"/>
                    <a:pt x="30" y="197"/>
                    <a:pt x="28" y="196"/>
                  </a:cubicBezTo>
                  <a:cubicBezTo>
                    <a:pt x="25" y="198"/>
                    <a:pt x="23" y="193"/>
                    <a:pt x="23" y="192"/>
                  </a:cubicBezTo>
                  <a:cubicBezTo>
                    <a:pt x="19" y="193"/>
                    <a:pt x="21" y="190"/>
                    <a:pt x="19" y="189"/>
                  </a:cubicBezTo>
                  <a:cubicBezTo>
                    <a:pt x="19" y="186"/>
                    <a:pt x="18" y="186"/>
                    <a:pt x="16" y="186"/>
                  </a:cubicBezTo>
                  <a:cubicBezTo>
                    <a:pt x="15" y="185"/>
                    <a:pt x="12" y="183"/>
                    <a:pt x="13" y="183"/>
                  </a:cubicBezTo>
                  <a:cubicBezTo>
                    <a:pt x="13" y="181"/>
                    <a:pt x="13" y="183"/>
                    <a:pt x="12" y="181"/>
                  </a:cubicBezTo>
                  <a:cubicBezTo>
                    <a:pt x="13" y="178"/>
                    <a:pt x="10" y="183"/>
                    <a:pt x="11" y="180"/>
                  </a:cubicBezTo>
                  <a:cubicBezTo>
                    <a:pt x="7" y="179"/>
                    <a:pt x="8" y="177"/>
                    <a:pt x="9" y="177"/>
                  </a:cubicBezTo>
                  <a:cubicBezTo>
                    <a:pt x="9" y="176"/>
                    <a:pt x="8" y="175"/>
                    <a:pt x="8" y="173"/>
                  </a:cubicBezTo>
                  <a:cubicBezTo>
                    <a:pt x="4" y="170"/>
                    <a:pt x="9" y="167"/>
                    <a:pt x="7" y="169"/>
                  </a:cubicBezTo>
                  <a:cubicBezTo>
                    <a:pt x="4" y="169"/>
                    <a:pt x="6" y="165"/>
                    <a:pt x="6" y="164"/>
                  </a:cubicBezTo>
                  <a:cubicBezTo>
                    <a:pt x="2" y="165"/>
                    <a:pt x="5" y="161"/>
                    <a:pt x="5" y="159"/>
                  </a:cubicBezTo>
                  <a:cubicBezTo>
                    <a:pt x="6" y="154"/>
                    <a:pt x="6" y="154"/>
                    <a:pt x="4" y="154"/>
                  </a:cubicBezTo>
                  <a:cubicBezTo>
                    <a:pt x="1" y="150"/>
                    <a:pt x="3" y="150"/>
                    <a:pt x="3" y="148"/>
                  </a:cubicBezTo>
                  <a:cubicBezTo>
                    <a:pt x="4" y="146"/>
                    <a:pt x="4" y="146"/>
                    <a:pt x="3" y="145"/>
                  </a:cubicBezTo>
                  <a:cubicBezTo>
                    <a:pt x="3" y="145"/>
                    <a:pt x="3" y="146"/>
                    <a:pt x="3" y="146"/>
                  </a:cubicBezTo>
                  <a:cubicBezTo>
                    <a:pt x="3" y="145"/>
                    <a:pt x="3" y="145"/>
                    <a:pt x="3" y="145"/>
                  </a:cubicBezTo>
                  <a:cubicBezTo>
                    <a:pt x="5" y="145"/>
                    <a:pt x="2" y="140"/>
                    <a:pt x="3" y="139"/>
                  </a:cubicBezTo>
                  <a:cubicBezTo>
                    <a:pt x="5" y="134"/>
                    <a:pt x="3" y="132"/>
                    <a:pt x="3" y="132"/>
                  </a:cubicBezTo>
                  <a:cubicBezTo>
                    <a:pt x="4" y="131"/>
                    <a:pt x="3" y="127"/>
                    <a:pt x="3" y="126"/>
                  </a:cubicBezTo>
                  <a:cubicBezTo>
                    <a:pt x="3" y="124"/>
                    <a:pt x="3" y="124"/>
                    <a:pt x="4" y="123"/>
                  </a:cubicBezTo>
                  <a:cubicBezTo>
                    <a:pt x="3" y="123"/>
                    <a:pt x="3" y="123"/>
                    <a:pt x="3" y="123"/>
                  </a:cubicBezTo>
                  <a:cubicBezTo>
                    <a:pt x="0" y="123"/>
                    <a:pt x="4" y="120"/>
                    <a:pt x="4" y="118"/>
                  </a:cubicBezTo>
                  <a:cubicBezTo>
                    <a:pt x="3" y="117"/>
                    <a:pt x="5" y="113"/>
                    <a:pt x="4" y="113"/>
                  </a:cubicBezTo>
                  <a:cubicBezTo>
                    <a:pt x="6" y="112"/>
                    <a:pt x="7" y="113"/>
                    <a:pt x="5" y="108"/>
                  </a:cubicBezTo>
                  <a:cubicBezTo>
                    <a:pt x="5" y="104"/>
                    <a:pt x="7" y="105"/>
                    <a:pt x="6" y="103"/>
                  </a:cubicBezTo>
                  <a:cubicBezTo>
                    <a:pt x="8" y="105"/>
                    <a:pt x="8" y="102"/>
                    <a:pt x="7" y="98"/>
                  </a:cubicBezTo>
                  <a:cubicBezTo>
                    <a:pt x="8" y="96"/>
                    <a:pt x="12" y="95"/>
                    <a:pt x="8" y="92"/>
                  </a:cubicBezTo>
                  <a:cubicBezTo>
                    <a:pt x="11" y="88"/>
                    <a:pt x="12" y="88"/>
                    <a:pt x="10" y="86"/>
                  </a:cubicBezTo>
                  <a:cubicBezTo>
                    <a:pt x="11" y="84"/>
                    <a:pt x="14" y="82"/>
                    <a:pt x="12" y="81"/>
                  </a:cubicBezTo>
                  <a:cubicBezTo>
                    <a:pt x="14" y="79"/>
                    <a:pt x="17" y="77"/>
                    <a:pt x="14" y="75"/>
                  </a:cubicBezTo>
                  <a:cubicBezTo>
                    <a:pt x="13" y="74"/>
                    <a:pt x="15" y="70"/>
                    <a:pt x="16" y="69"/>
                  </a:cubicBezTo>
                  <a:cubicBezTo>
                    <a:pt x="21" y="68"/>
                    <a:pt x="14" y="66"/>
                    <a:pt x="18" y="66"/>
                  </a:cubicBezTo>
                  <a:cubicBezTo>
                    <a:pt x="19" y="62"/>
                    <a:pt x="22" y="64"/>
                    <a:pt x="19" y="63"/>
                  </a:cubicBezTo>
                  <a:cubicBezTo>
                    <a:pt x="19" y="64"/>
                    <a:pt x="20" y="61"/>
                    <a:pt x="21" y="59"/>
                  </a:cubicBezTo>
                  <a:cubicBezTo>
                    <a:pt x="21" y="57"/>
                    <a:pt x="22" y="61"/>
                    <a:pt x="23" y="56"/>
                  </a:cubicBezTo>
                  <a:cubicBezTo>
                    <a:pt x="25" y="56"/>
                    <a:pt x="23" y="53"/>
                    <a:pt x="25" y="52"/>
                  </a:cubicBezTo>
                  <a:cubicBezTo>
                    <a:pt x="24" y="51"/>
                    <a:pt x="26" y="46"/>
                    <a:pt x="27" y="49"/>
                  </a:cubicBezTo>
                  <a:cubicBezTo>
                    <a:pt x="29" y="48"/>
                    <a:pt x="30" y="47"/>
                    <a:pt x="31" y="46"/>
                  </a:cubicBezTo>
                  <a:cubicBezTo>
                    <a:pt x="30" y="46"/>
                    <a:pt x="30" y="46"/>
                    <a:pt x="29" y="46"/>
                  </a:cubicBezTo>
                  <a:cubicBezTo>
                    <a:pt x="31" y="45"/>
                    <a:pt x="32" y="45"/>
                    <a:pt x="31" y="46"/>
                  </a:cubicBezTo>
                  <a:cubicBezTo>
                    <a:pt x="34" y="47"/>
                    <a:pt x="34" y="44"/>
                    <a:pt x="32" y="41"/>
                  </a:cubicBezTo>
                  <a:cubicBezTo>
                    <a:pt x="32" y="37"/>
                    <a:pt x="34" y="40"/>
                    <a:pt x="36" y="37"/>
                  </a:cubicBezTo>
                  <a:cubicBezTo>
                    <a:pt x="38" y="38"/>
                    <a:pt x="39" y="34"/>
                    <a:pt x="40" y="33"/>
                  </a:cubicBezTo>
                  <a:cubicBezTo>
                    <a:pt x="39" y="33"/>
                    <a:pt x="39" y="33"/>
                    <a:pt x="39" y="33"/>
                  </a:cubicBezTo>
                  <a:cubicBezTo>
                    <a:pt x="40" y="32"/>
                    <a:pt x="40" y="33"/>
                    <a:pt x="40" y="33"/>
                  </a:cubicBezTo>
                  <a:cubicBezTo>
                    <a:pt x="41" y="33"/>
                    <a:pt x="41" y="31"/>
                    <a:pt x="43" y="29"/>
                  </a:cubicBezTo>
                  <a:cubicBezTo>
                    <a:pt x="43" y="28"/>
                    <a:pt x="47" y="27"/>
                    <a:pt x="47" y="26"/>
                  </a:cubicBezTo>
                  <a:cubicBezTo>
                    <a:pt x="50" y="22"/>
                    <a:pt x="50" y="25"/>
                    <a:pt x="50" y="22"/>
                  </a:cubicBezTo>
                  <a:cubicBezTo>
                    <a:pt x="52" y="17"/>
                    <a:pt x="55" y="20"/>
                    <a:pt x="55" y="19"/>
                  </a:cubicBezTo>
                  <a:cubicBezTo>
                    <a:pt x="54" y="17"/>
                    <a:pt x="55" y="15"/>
                    <a:pt x="59" y="15"/>
                  </a:cubicBezTo>
                  <a:cubicBezTo>
                    <a:pt x="61" y="13"/>
                    <a:pt x="62" y="12"/>
                    <a:pt x="63" y="12"/>
                  </a:cubicBezTo>
                  <a:cubicBezTo>
                    <a:pt x="61" y="9"/>
                    <a:pt x="65" y="9"/>
                    <a:pt x="68" y="9"/>
                  </a:cubicBezTo>
                  <a:cubicBezTo>
                    <a:pt x="70" y="9"/>
                    <a:pt x="71" y="8"/>
                    <a:pt x="72" y="6"/>
                  </a:cubicBezTo>
                  <a:cubicBezTo>
                    <a:pt x="75" y="9"/>
                    <a:pt x="72" y="3"/>
                    <a:pt x="76" y="5"/>
                  </a:cubicBezTo>
                  <a:cubicBezTo>
                    <a:pt x="78" y="4"/>
                    <a:pt x="79" y="0"/>
                    <a:pt x="79" y="3"/>
                  </a:cubicBezTo>
                  <a:cubicBezTo>
                    <a:pt x="82" y="3"/>
                    <a:pt x="81" y="2"/>
                    <a:pt x="83" y="1"/>
                  </a:cubicBezTo>
                  <a:cubicBezTo>
                    <a:pt x="83" y="1"/>
                    <a:pt x="83" y="1"/>
                    <a:pt x="83" y="1"/>
                  </a:cubicBezTo>
                  <a:cubicBezTo>
                    <a:pt x="83" y="2"/>
                    <a:pt x="83" y="2"/>
                    <a:pt x="83" y="1"/>
                  </a:cubicBezTo>
                  <a:cubicBezTo>
                    <a:pt x="83" y="1"/>
                    <a:pt x="82" y="1"/>
                    <a:pt x="83" y="2"/>
                  </a:cubicBezTo>
                  <a:cubicBezTo>
                    <a:pt x="83" y="2"/>
                    <a:pt x="83" y="4"/>
                    <a:pt x="83" y="3"/>
                  </a:cubicBezTo>
                  <a:cubicBezTo>
                    <a:pt x="82" y="4"/>
                    <a:pt x="85" y="5"/>
                    <a:pt x="83" y="5"/>
                  </a:cubicBezTo>
                  <a:cubicBezTo>
                    <a:pt x="82" y="4"/>
                    <a:pt x="82" y="4"/>
                    <a:pt x="82" y="5"/>
                  </a:cubicBezTo>
                  <a:cubicBezTo>
                    <a:pt x="82" y="6"/>
                    <a:pt x="83" y="7"/>
                    <a:pt x="83" y="7"/>
                  </a:cubicBezTo>
                  <a:cubicBezTo>
                    <a:pt x="82" y="7"/>
                    <a:pt x="80" y="8"/>
                    <a:pt x="82" y="9"/>
                  </a:cubicBezTo>
                  <a:cubicBezTo>
                    <a:pt x="82" y="8"/>
                    <a:pt x="84" y="13"/>
                    <a:pt x="83" y="10"/>
                  </a:cubicBezTo>
                  <a:cubicBezTo>
                    <a:pt x="82" y="13"/>
                    <a:pt x="79" y="13"/>
                    <a:pt x="82" y="14"/>
                  </a:cubicBezTo>
                  <a:cubicBezTo>
                    <a:pt x="83" y="13"/>
                    <a:pt x="83" y="14"/>
                    <a:pt x="83" y="15"/>
                  </a:cubicBezTo>
                  <a:cubicBezTo>
                    <a:pt x="83" y="15"/>
                    <a:pt x="83" y="16"/>
                    <a:pt x="83" y="17"/>
                  </a:cubicBezTo>
                  <a:cubicBezTo>
                    <a:pt x="82" y="18"/>
                    <a:pt x="82" y="19"/>
                    <a:pt x="83" y="19"/>
                  </a:cubicBezTo>
                  <a:cubicBezTo>
                    <a:pt x="81" y="19"/>
                    <a:pt x="82" y="22"/>
                    <a:pt x="83" y="23"/>
                  </a:cubicBezTo>
                  <a:cubicBezTo>
                    <a:pt x="82" y="25"/>
                    <a:pt x="85" y="29"/>
                    <a:pt x="83" y="28"/>
                  </a:cubicBezTo>
                  <a:cubicBezTo>
                    <a:pt x="82" y="31"/>
                    <a:pt x="85" y="34"/>
                    <a:pt x="83" y="34"/>
                  </a:cubicBezTo>
                  <a:cubicBezTo>
                    <a:pt x="83" y="38"/>
                    <a:pt x="80" y="37"/>
                    <a:pt x="83" y="39"/>
                  </a:cubicBezTo>
                  <a:cubicBezTo>
                    <a:pt x="81" y="40"/>
                    <a:pt x="80" y="41"/>
                    <a:pt x="83" y="45"/>
                  </a:cubicBezTo>
                  <a:cubicBezTo>
                    <a:pt x="85" y="47"/>
                    <a:pt x="82" y="49"/>
                    <a:pt x="83" y="52"/>
                  </a:cubicBezTo>
                  <a:cubicBezTo>
                    <a:pt x="80" y="57"/>
                    <a:pt x="80" y="56"/>
                    <a:pt x="83" y="58"/>
                  </a:cubicBezTo>
                  <a:cubicBezTo>
                    <a:pt x="86" y="62"/>
                    <a:pt x="83" y="63"/>
                    <a:pt x="83" y="65"/>
                  </a:cubicBezTo>
                  <a:cubicBezTo>
                    <a:pt x="82" y="69"/>
                    <a:pt x="85" y="73"/>
                    <a:pt x="83" y="72"/>
                  </a:cubicBezTo>
                  <a:cubicBezTo>
                    <a:pt x="86" y="74"/>
                    <a:pt x="85" y="78"/>
                    <a:pt x="83" y="79"/>
                  </a:cubicBezTo>
                  <a:cubicBezTo>
                    <a:pt x="83" y="80"/>
                    <a:pt x="83" y="81"/>
                    <a:pt x="83" y="82"/>
                  </a:cubicBezTo>
                  <a:cubicBezTo>
                    <a:pt x="83" y="83"/>
                    <a:pt x="83" y="87"/>
                    <a:pt x="83" y="87"/>
                  </a:cubicBezTo>
                  <a:cubicBezTo>
                    <a:pt x="84" y="87"/>
                    <a:pt x="84" y="89"/>
                    <a:pt x="84" y="91"/>
                  </a:cubicBezTo>
                  <a:cubicBezTo>
                    <a:pt x="85" y="95"/>
                    <a:pt x="85" y="95"/>
                    <a:pt x="83" y="94"/>
                  </a:cubicBezTo>
                  <a:cubicBezTo>
                    <a:pt x="81" y="96"/>
                    <a:pt x="81" y="94"/>
                    <a:pt x="83" y="99"/>
                  </a:cubicBezTo>
                  <a:close/>
                </a:path>
              </a:pathLst>
            </a:cu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8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Freeform 7"/>
            <p:cNvSpPr/>
            <p:nvPr/>
          </p:nvSpPr>
          <p:spPr bwMode="auto">
            <a:xfrm>
              <a:off x="2195346" y="1796500"/>
              <a:ext cx="748480" cy="2438826"/>
            </a:xfrm>
            <a:custGeom>
              <a:avLst/>
              <a:gdLst>
                <a:gd name="T0" fmla="*/ 84 w 88"/>
                <a:gd name="T1" fmla="*/ 284 h 287"/>
                <a:gd name="T2" fmla="*/ 79 w 88"/>
                <a:gd name="T3" fmla="*/ 284 h 287"/>
                <a:gd name="T4" fmla="*/ 24 w 88"/>
                <a:gd name="T5" fmla="*/ 282 h 287"/>
                <a:gd name="T6" fmla="*/ 7 w 88"/>
                <a:gd name="T7" fmla="*/ 274 h 287"/>
                <a:gd name="T8" fmla="*/ 5 w 88"/>
                <a:gd name="T9" fmla="*/ 272 h 287"/>
                <a:gd name="T10" fmla="*/ 5 w 88"/>
                <a:gd name="T11" fmla="*/ 264 h 287"/>
                <a:gd name="T12" fmla="*/ 5 w 88"/>
                <a:gd name="T13" fmla="*/ 246 h 287"/>
                <a:gd name="T14" fmla="*/ 5 w 88"/>
                <a:gd name="T15" fmla="*/ 221 h 287"/>
                <a:gd name="T16" fmla="*/ 5 w 88"/>
                <a:gd name="T17" fmla="*/ 190 h 287"/>
                <a:gd name="T18" fmla="*/ 5 w 88"/>
                <a:gd name="T19" fmla="*/ 165 h 287"/>
                <a:gd name="T20" fmla="*/ 5 w 88"/>
                <a:gd name="T21" fmla="*/ 154 h 287"/>
                <a:gd name="T22" fmla="*/ 5 w 88"/>
                <a:gd name="T23" fmla="*/ 135 h 287"/>
                <a:gd name="T24" fmla="*/ 3 w 88"/>
                <a:gd name="T25" fmla="*/ 120 h 287"/>
                <a:gd name="T26" fmla="*/ 6 w 88"/>
                <a:gd name="T27" fmla="*/ 109 h 287"/>
                <a:gd name="T28" fmla="*/ 6 w 88"/>
                <a:gd name="T29" fmla="*/ 98 h 287"/>
                <a:gd name="T30" fmla="*/ 5 w 88"/>
                <a:gd name="T31" fmla="*/ 85 h 287"/>
                <a:gd name="T32" fmla="*/ 5 w 88"/>
                <a:gd name="T33" fmla="*/ 74 h 287"/>
                <a:gd name="T34" fmla="*/ 5 w 88"/>
                <a:gd name="T35" fmla="*/ 60 h 287"/>
                <a:gd name="T36" fmla="*/ 5 w 88"/>
                <a:gd name="T37" fmla="*/ 50 h 287"/>
                <a:gd name="T38" fmla="*/ 6 w 88"/>
                <a:gd name="T39" fmla="*/ 39 h 287"/>
                <a:gd name="T40" fmla="*/ 4 w 88"/>
                <a:gd name="T41" fmla="*/ 29 h 287"/>
                <a:gd name="T42" fmla="*/ 5 w 88"/>
                <a:gd name="T43" fmla="*/ 18 h 287"/>
                <a:gd name="T44" fmla="*/ 8 w 88"/>
                <a:gd name="T45" fmla="*/ 14 h 287"/>
                <a:gd name="T46" fmla="*/ 19 w 88"/>
                <a:gd name="T47" fmla="*/ 10 h 287"/>
                <a:gd name="T48" fmla="*/ 40 w 88"/>
                <a:gd name="T49" fmla="*/ 5 h 287"/>
                <a:gd name="T50" fmla="*/ 51 w 88"/>
                <a:gd name="T51" fmla="*/ 4 h 287"/>
                <a:gd name="T52" fmla="*/ 74 w 88"/>
                <a:gd name="T53" fmla="*/ 2 h 287"/>
                <a:gd name="T54" fmla="*/ 84 w 88"/>
                <a:gd name="T55" fmla="*/ 2 h 287"/>
                <a:gd name="T56" fmla="*/ 84 w 88"/>
                <a:gd name="T57" fmla="*/ 8 h 287"/>
                <a:gd name="T58" fmla="*/ 84 w 88"/>
                <a:gd name="T59" fmla="*/ 22 h 287"/>
                <a:gd name="T60" fmla="*/ 84 w 88"/>
                <a:gd name="T61" fmla="*/ 45 h 287"/>
                <a:gd name="T62" fmla="*/ 84 w 88"/>
                <a:gd name="T63" fmla="*/ 73 h 287"/>
                <a:gd name="T64" fmla="*/ 84 w 88"/>
                <a:gd name="T65" fmla="*/ 88 h 287"/>
                <a:gd name="T66" fmla="*/ 84 w 88"/>
                <a:gd name="T67" fmla="*/ 105 h 287"/>
                <a:gd name="T68" fmla="*/ 85 w 88"/>
                <a:gd name="T69" fmla="*/ 119 h 287"/>
                <a:gd name="T70" fmla="*/ 83 w 88"/>
                <a:gd name="T71" fmla="*/ 127 h 287"/>
                <a:gd name="T72" fmla="*/ 84 w 88"/>
                <a:gd name="T73" fmla="*/ 143 h 287"/>
                <a:gd name="T74" fmla="*/ 84 w 88"/>
                <a:gd name="T75" fmla="*/ 151 h 287"/>
                <a:gd name="T76" fmla="*/ 84 w 88"/>
                <a:gd name="T77" fmla="*/ 156 h 287"/>
                <a:gd name="T78" fmla="*/ 85 w 88"/>
                <a:gd name="T79" fmla="*/ 163 h 287"/>
                <a:gd name="T80" fmla="*/ 85 w 88"/>
                <a:gd name="T81" fmla="*/ 163 h 287"/>
                <a:gd name="T82" fmla="*/ 85 w 88"/>
                <a:gd name="T83" fmla="*/ 163 h 287"/>
                <a:gd name="T84" fmla="*/ 84 w 88"/>
                <a:gd name="T85" fmla="*/ 168 h 287"/>
                <a:gd name="T86" fmla="*/ 85 w 88"/>
                <a:gd name="T87" fmla="*/ 174 h 287"/>
                <a:gd name="T88" fmla="*/ 84 w 88"/>
                <a:gd name="T89" fmla="*/ 176 h 287"/>
                <a:gd name="T90" fmla="*/ 84 w 88"/>
                <a:gd name="T91" fmla="*/ 177 h 287"/>
                <a:gd name="T92" fmla="*/ 84 w 88"/>
                <a:gd name="T93" fmla="*/ 178 h 287"/>
                <a:gd name="T94" fmla="*/ 84 w 88"/>
                <a:gd name="T95" fmla="*/ 182 h 287"/>
                <a:gd name="T96" fmla="*/ 85 w 88"/>
                <a:gd name="T97" fmla="*/ 185 h 287"/>
                <a:gd name="T98" fmla="*/ 85 w 88"/>
                <a:gd name="T99" fmla="*/ 192 h 287"/>
                <a:gd name="T100" fmla="*/ 84 w 88"/>
                <a:gd name="T101" fmla="*/ 214 h 287"/>
                <a:gd name="T102" fmla="*/ 84 w 88"/>
                <a:gd name="T103" fmla="*/ 242 h 287"/>
                <a:gd name="T104" fmla="*/ 84 w 88"/>
                <a:gd name="T105" fmla="*/ 264 h 287"/>
                <a:gd name="T106" fmla="*/ 84 w 88"/>
                <a:gd name="T107" fmla="*/ 273 h 287"/>
                <a:gd name="T108" fmla="*/ 84 w 88"/>
                <a:gd name="T109" fmla="*/ 283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8" h="287">
                  <a:moveTo>
                    <a:pt x="84" y="284"/>
                  </a:moveTo>
                  <a:cubicBezTo>
                    <a:pt x="84" y="284"/>
                    <a:pt x="84" y="285"/>
                    <a:pt x="84" y="285"/>
                  </a:cubicBezTo>
                  <a:cubicBezTo>
                    <a:pt x="84" y="285"/>
                    <a:pt x="84" y="285"/>
                    <a:pt x="84" y="284"/>
                  </a:cubicBezTo>
                  <a:cubicBezTo>
                    <a:pt x="84" y="284"/>
                    <a:pt x="84" y="284"/>
                    <a:pt x="84" y="284"/>
                  </a:cubicBezTo>
                  <a:cubicBezTo>
                    <a:pt x="84" y="284"/>
                    <a:pt x="84" y="284"/>
                    <a:pt x="84" y="284"/>
                  </a:cubicBezTo>
                  <a:cubicBezTo>
                    <a:pt x="84" y="287"/>
                    <a:pt x="83" y="286"/>
                    <a:pt x="84" y="285"/>
                  </a:cubicBezTo>
                  <a:cubicBezTo>
                    <a:pt x="84" y="285"/>
                    <a:pt x="83" y="285"/>
                    <a:pt x="83" y="284"/>
                  </a:cubicBezTo>
                  <a:cubicBezTo>
                    <a:pt x="83" y="285"/>
                    <a:pt x="82" y="282"/>
                    <a:pt x="79" y="284"/>
                  </a:cubicBezTo>
                  <a:cubicBezTo>
                    <a:pt x="80" y="285"/>
                    <a:pt x="74" y="285"/>
                    <a:pt x="73" y="284"/>
                  </a:cubicBezTo>
                  <a:cubicBezTo>
                    <a:pt x="71" y="284"/>
                    <a:pt x="69" y="284"/>
                    <a:pt x="66" y="284"/>
                  </a:cubicBezTo>
                  <a:cubicBezTo>
                    <a:pt x="48" y="284"/>
                    <a:pt x="24" y="284"/>
                    <a:pt x="24" y="284"/>
                  </a:cubicBezTo>
                  <a:cubicBezTo>
                    <a:pt x="24" y="282"/>
                    <a:pt x="24" y="282"/>
                    <a:pt x="24" y="282"/>
                  </a:cubicBezTo>
                  <a:cubicBezTo>
                    <a:pt x="22" y="280"/>
                    <a:pt x="21" y="278"/>
                    <a:pt x="18" y="277"/>
                  </a:cubicBezTo>
                  <a:cubicBezTo>
                    <a:pt x="17" y="276"/>
                    <a:pt x="16" y="276"/>
                    <a:pt x="14" y="275"/>
                  </a:cubicBezTo>
                  <a:cubicBezTo>
                    <a:pt x="12" y="274"/>
                    <a:pt x="11" y="275"/>
                    <a:pt x="9" y="274"/>
                  </a:cubicBezTo>
                  <a:cubicBezTo>
                    <a:pt x="9" y="273"/>
                    <a:pt x="8" y="276"/>
                    <a:pt x="7" y="274"/>
                  </a:cubicBezTo>
                  <a:cubicBezTo>
                    <a:pt x="7" y="274"/>
                    <a:pt x="6" y="274"/>
                    <a:pt x="5" y="273"/>
                  </a:cubicBezTo>
                  <a:cubicBezTo>
                    <a:pt x="5" y="273"/>
                    <a:pt x="5" y="273"/>
                    <a:pt x="5" y="273"/>
                  </a:cubicBezTo>
                  <a:cubicBezTo>
                    <a:pt x="5" y="275"/>
                    <a:pt x="2" y="273"/>
                    <a:pt x="5" y="273"/>
                  </a:cubicBezTo>
                  <a:cubicBezTo>
                    <a:pt x="5" y="273"/>
                    <a:pt x="5" y="273"/>
                    <a:pt x="5" y="272"/>
                  </a:cubicBezTo>
                  <a:cubicBezTo>
                    <a:pt x="4" y="271"/>
                    <a:pt x="6" y="271"/>
                    <a:pt x="5" y="271"/>
                  </a:cubicBezTo>
                  <a:cubicBezTo>
                    <a:pt x="7" y="272"/>
                    <a:pt x="6" y="270"/>
                    <a:pt x="5" y="270"/>
                  </a:cubicBezTo>
                  <a:cubicBezTo>
                    <a:pt x="5" y="269"/>
                    <a:pt x="4" y="270"/>
                    <a:pt x="5" y="267"/>
                  </a:cubicBezTo>
                  <a:cubicBezTo>
                    <a:pt x="6" y="264"/>
                    <a:pt x="6" y="266"/>
                    <a:pt x="5" y="264"/>
                  </a:cubicBezTo>
                  <a:cubicBezTo>
                    <a:pt x="2" y="261"/>
                    <a:pt x="4" y="260"/>
                    <a:pt x="5" y="260"/>
                  </a:cubicBezTo>
                  <a:cubicBezTo>
                    <a:pt x="0" y="259"/>
                    <a:pt x="5" y="258"/>
                    <a:pt x="5" y="256"/>
                  </a:cubicBezTo>
                  <a:cubicBezTo>
                    <a:pt x="6" y="256"/>
                    <a:pt x="4" y="253"/>
                    <a:pt x="5" y="251"/>
                  </a:cubicBezTo>
                  <a:cubicBezTo>
                    <a:pt x="4" y="252"/>
                    <a:pt x="5" y="245"/>
                    <a:pt x="5" y="246"/>
                  </a:cubicBezTo>
                  <a:cubicBezTo>
                    <a:pt x="5" y="242"/>
                    <a:pt x="8" y="243"/>
                    <a:pt x="5" y="240"/>
                  </a:cubicBezTo>
                  <a:cubicBezTo>
                    <a:pt x="11" y="244"/>
                    <a:pt x="3" y="236"/>
                    <a:pt x="5" y="234"/>
                  </a:cubicBezTo>
                  <a:cubicBezTo>
                    <a:pt x="4" y="229"/>
                    <a:pt x="5" y="231"/>
                    <a:pt x="5" y="228"/>
                  </a:cubicBezTo>
                  <a:cubicBezTo>
                    <a:pt x="5" y="227"/>
                    <a:pt x="7" y="221"/>
                    <a:pt x="5" y="221"/>
                  </a:cubicBezTo>
                  <a:cubicBezTo>
                    <a:pt x="6" y="216"/>
                    <a:pt x="3" y="219"/>
                    <a:pt x="5" y="213"/>
                  </a:cubicBezTo>
                  <a:cubicBezTo>
                    <a:pt x="2" y="212"/>
                    <a:pt x="2" y="211"/>
                    <a:pt x="5" y="206"/>
                  </a:cubicBezTo>
                  <a:cubicBezTo>
                    <a:pt x="6" y="206"/>
                    <a:pt x="2" y="201"/>
                    <a:pt x="5" y="198"/>
                  </a:cubicBezTo>
                  <a:cubicBezTo>
                    <a:pt x="6" y="195"/>
                    <a:pt x="6" y="191"/>
                    <a:pt x="5" y="190"/>
                  </a:cubicBezTo>
                  <a:cubicBezTo>
                    <a:pt x="3" y="190"/>
                    <a:pt x="4" y="183"/>
                    <a:pt x="5" y="182"/>
                  </a:cubicBezTo>
                  <a:cubicBezTo>
                    <a:pt x="6" y="180"/>
                    <a:pt x="5" y="177"/>
                    <a:pt x="5" y="174"/>
                  </a:cubicBezTo>
                  <a:cubicBezTo>
                    <a:pt x="5" y="171"/>
                    <a:pt x="3" y="169"/>
                    <a:pt x="3" y="167"/>
                  </a:cubicBezTo>
                  <a:cubicBezTo>
                    <a:pt x="3" y="167"/>
                    <a:pt x="3" y="166"/>
                    <a:pt x="5" y="165"/>
                  </a:cubicBezTo>
                  <a:cubicBezTo>
                    <a:pt x="6" y="164"/>
                    <a:pt x="6" y="164"/>
                    <a:pt x="5" y="161"/>
                  </a:cubicBezTo>
                  <a:cubicBezTo>
                    <a:pt x="4" y="158"/>
                    <a:pt x="2" y="157"/>
                    <a:pt x="5" y="157"/>
                  </a:cubicBezTo>
                  <a:cubicBezTo>
                    <a:pt x="5" y="156"/>
                    <a:pt x="6" y="156"/>
                    <a:pt x="6" y="156"/>
                  </a:cubicBezTo>
                  <a:cubicBezTo>
                    <a:pt x="6" y="156"/>
                    <a:pt x="5" y="155"/>
                    <a:pt x="5" y="154"/>
                  </a:cubicBezTo>
                  <a:cubicBezTo>
                    <a:pt x="8" y="151"/>
                    <a:pt x="4" y="150"/>
                    <a:pt x="5" y="148"/>
                  </a:cubicBezTo>
                  <a:cubicBezTo>
                    <a:pt x="3" y="150"/>
                    <a:pt x="6" y="142"/>
                    <a:pt x="5" y="143"/>
                  </a:cubicBezTo>
                  <a:cubicBezTo>
                    <a:pt x="5" y="141"/>
                    <a:pt x="5" y="140"/>
                    <a:pt x="5" y="139"/>
                  </a:cubicBezTo>
                  <a:cubicBezTo>
                    <a:pt x="4" y="136"/>
                    <a:pt x="2" y="136"/>
                    <a:pt x="5" y="135"/>
                  </a:cubicBezTo>
                  <a:cubicBezTo>
                    <a:pt x="6" y="131"/>
                    <a:pt x="9" y="134"/>
                    <a:pt x="5" y="131"/>
                  </a:cubicBezTo>
                  <a:cubicBezTo>
                    <a:pt x="5" y="129"/>
                    <a:pt x="5" y="129"/>
                    <a:pt x="5" y="128"/>
                  </a:cubicBezTo>
                  <a:cubicBezTo>
                    <a:pt x="5" y="127"/>
                    <a:pt x="4" y="126"/>
                    <a:pt x="5" y="122"/>
                  </a:cubicBezTo>
                  <a:cubicBezTo>
                    <a:pt x="3" y="120"/>
                    <a:pt x="2" y="121"/>
                    <a:pt x="3" y="120"/>
                  </a:cubicBezTo>
                  <a:cubicBezTo>
                    <a:pt x="3" y="119"/>
                    <a:pt x="2" y="119"/>
                    <a:pt x="4" y="117"/>
                  </a:cubicBezTo>
                  <a:cubicBezTo>
                    <a:pt x="4" y="116"/>
                    <a:pt x="5" y="114"/>
                    <a:pt x="5" y="114"/>
                  </a:cubicBezTo>
                  <a:cubicBezTo>
                    <a:pt x="5" y="113"/>
                    <a:pt x="5" y="114"/>
                    <a:pt x="6" y="113"/>
                  </a:cubicBezTo>
                  <a:cubicBezTo>
                    <a:pt x="8" y="111"/>
                    <a:pt x="5" y="109"/>
                    <a:pt x="6" y="109"/>
                  </a:cubicBezTo>
                  <a:cubicBezTo>
                    <a:pt x="6" y="108"/>
                    <a:pt x="7" y="106"/>
                    <a:pt x="5" y="105"/>
                  </a:cubicBezTo>
                  <a:cubicBezTo>
                    <a:pt x="5" y="105"/>
                    <a:pt x="4" y="104"/>
                    <a:pt x="5" y="103"/>
                  </a:cubicBezTo>
                  <a:cubicBezTo>
                    <a:pt x="7" y="102"/>
                    <a:pt x="6" y="103"/>
                    <a:pt x="6" y="101"/>
                  </a:cubicBezTo>
                  <a:cubicBezTo>
                    <a:pt x="6" y="101"/>
                    <a:pt x="5" y="99"/>
                    <a:pt x="6" y="98"/>
                  </a:cubicBezTo>
                  <a:cubicBezTo>
                    <a:pt x="5" y="98"/>
                    <a:pt x="6" y="97"/>
                    <a:pt x="5" y="97"/>
                  </a:cubicBezTo>
                  <a:cubicBezTo>
                    <a:pt x="5" y="95"/>
                    <a:pt x="5" y="93"/>
                    <a:pt x="4" y="93"/>
                  </a:cubicBezTo>
                  <a:cubicBezTo>
                    <a:pt x="3" y="92"/>
                    <a:pt x="4" y="92"/>
                    <a:pt x="5" y="89"/>
                  </a:cubicBezTo>
                  <a:cubicBezTo>
                    <a:pt x="6" y="86"/>
                    <a:pt x="4" y="84"/>
                    <a:pt x="5" y="85"/>
                  </a:cubicBezTo>
                  <a:cubicBezTo>
                    <a:pt x="5" y="83"/>
                    <a:pt x="6" y="83"/>
                    <a:pt x="5" y="81"/>
                  </a:cubicBezTo>
                  <a:cubicBezTo>
                    <a:pt x="4" y="79"/>
                    <a:pt x="4" y="79"/>
                    <a:pt x="5" y="79"/>
                  </a:cubicBezTo>
                  <a:cubicBezTo>
                    <a:pt x="5" y="79"/>
                    <a:pt x="5" y="78"/>
                    <a:pt x="5" y="77"/>
                  </a:cubicBezTo>
                  <a:cubicBezTo>
                    <a:pt x="6" y="77"/>
                    <a:pt x="5" y="76"/>
                    <a:pt x="5" y="74"/>
                  </a:cubicBezTo>
                  <a:cubicBezTo>
                    <a:pt x="7" y="71"/>
                    <a:pt x="7" y="69"/>
                    <a:pt x="7" y="69"/>
                  </a:cubicBezTo>
                  <a:cubicBezTo>
                    <a:pt x="8" y="69"/>
                    <a:pt x="6" y="67"/>
                    <a:pt x="5" y="67"/>
                  </a:cubicBezTo>
                  <a:cubicBezTo>
                    <a:pt x="5" y="65"/>
                    <a:pt x="4" y="64"/>
                    <a:pt x="5" y="63"/>
                  </a:cubicBezTo>
                  <a:cubicBezTo>
                    <a:pt x="6" y="61"/>
                    <a:pt x="6" y="59"/>
                    <a:pt x="5" y="60"/>
                  </a:cubicBezTo>
                  <a:cubicBezTo>
                    <a:pt x="4" y="58"/>
                    <a:pt x="5" y="57"/>
                    <a:pt x="4" y="56"/>
                  </a:cubicBezTo>
                  <a:cubicBezTo>
                    <a:pt x="3" y="55"/>
                    <a:pt x="4" y="53"/>
                    <a:pt x="5" y="53"/>
                  </a:cubicBezTo>
                  <a:cubicBezTo>
                    <a:pt x="5" y="53"/>
                    <a:pt x="5" y="53"/>
                    <a:pt x="5" y="52"/>
                  </a:cubicBezTo>
                  <a:cubicBezTo>
                    <a:pt x="4" y="52"/>
                    <a:pt x="4" y="52"/>
                    <a:pt x="5" y="50"/>
                  </a:cubicBezTo>
                  <a:cubicBezTo>
                    <a:pt x="5" y="49"/>
                    <a:pt x="6" y="49"/>
                    <a:pt x="5" y="47"/>
                  </a:cubicBezTo>
                  <a:cubicBezTo>
                    <a:pt x="3" y="46"/>
                    <a:pt x="2" y="46"/>
                    <a:pt x="3" y="45"/>
                  </a:cubicBezTo>
                  <a:cubicBezTo>
                    <a:pt x="3" y="44"/>
                    <a:pt x="5" y="44"/>
                    <a:pt x="5" y="41"/>
                  </a:cubicBezTo>
                  <a:cubicBezTo>
                    <a:pt x="4" y="42"/>
                    <a:pt x="6" y="39"/>
                    <a:pt x="6" y="39"/>
                  </a:cubicBezTo>
                  <a:cubicBezTo>
                    <a:pt x="5" y="38"/>
                    <a:pt x="6" y="36"/>
                    <a:pt x="5" y="36"/>
                  </a:cubicBezTo>
                  <a:cubicBezTo>
                    <a:pt x="5" y="34"/>
                    <a:pt x="6" y="34"/>
                    <a:pt x="5" y="33"/>
                  </a:cubicBezTo>
                  <a:cubicBezTo>
                    <a:pt x="5" y="32"/>
                    <a:pt x="5" y="32"/>
                    <a:pt x="5" y="31"/>
                  </a:cubicBezTo>
                  <a:cubicBezTo>
                    <a:pt x="4" y="31"/>
                    <a:pt x="4" y="30"/>
                    <a:pt x="4" y="29"/>
                  </a:cubicBezTo>
                  <a:cubicBezTo>
                    <a:pt x="4" y="28"/>
                    <a:pt x="5" y="27"/>
                    <a:pt x="5" y="27"/>
                  </a:cubicBezTo>
                  <a:cubicBezTo>
                    <a:pt x="5" y="27"/>
                    <a:pt x="5" y="24"/>
                    <a:pt x="5" y="23"/>
                  </a:cubicBezTo>
                  <a:cubicBezTo>
                    <a:pt x="5" y="23"/>
                    <a:pt x="3" y="21"/>
                    <a:pt x="5" y="20"/>
                  </a:cubicBezTo>
                  <a:cubicBezTo>
                    <a:pt x="6" y="20"/>
                    <a:pt x="4" y="19"/>
                    <a:pt x="5" y="18"/>
                  </a:cubicBezTo>
                  <a:cubicBezTo>
                    <a:pt x="5" y="16"/>
                    <a:pt x="5" y="17"/>
                    <a:pt x="5" y="16"/>
                  </a:cubicBezTo>
                  <a:cubicBezTo>
                    <a:pt x="7" y="13"/>
                    <a:pt x="4" y="16"/>
                    <a:pt x="5" y="15"/>
                  </a:cubicBezTo>
                  <a:cubicBezTo>
                    <a:pt x="5" y="13"/>
                    <a:pt x="6" y="14"/>
                    <a:pt x="5" y="14"/>
                  </a:cubicBezTo>
                  <a:cubicBezTo>
                    <a:pt x="6" y="14"/>
                    <a:pt x="7" y="14"/>
                    <a:pt x="8" y="14"/>
                  </a:cubicBezTo>
                  <a:cubicBezTo>
                    <a:pt x="9" y="15"/>
                    <a:pt x="9" y="12"/>
                    <a:pt x="10" y="13"/>
                  </a:cubicBezTo>
                  <a:cubicBezTo>
                    <a:pt x="9" y="12"/>
                    <a:pt x="10" y="12"/>
                    <a:pt x="12" y="12"/>
                  </a:cubicBezTo>
                  <a:cubicBezTo>
                    <a:pt x="13" y="11"/>
                    <a:pt x="14" y="13"/>
                    <a:pt x="15" y="11"/>
                  </a:cubicBezTo>
                  <a:cubicBezTo>
                    <a:pt x="15" y="9"/>
                    <a:pt x="20" y="6"/>
                    <a:pt x="19" y="10"/>
                  </a:cubicBezTo>
                  <a:cubicBezTo>
                    <a:pt x="20" y="9"/>
                    <a:pt x="24" y="11"/>
                    <a:pt x="24" y="8"/>
                  </a:cubicBezTo>
                  <a:cubicBezTo>
                    <a:pt x="28" y="9"/>
                    <a:pt x="31" y="9"/>
                    <a:pt x="30" y="7"/>
                  </a:cubicBezTo>
                  <a:cubicBezTo>
                    <a:pt x="36" y="8"/>
                    <a:pt x="32" y="7"/>
                    <a:pt x="35" y="6"/>
                  </a:cubicBezTo>
                  <a:cubicBezTo>
                    <a:pt x="34" y="3"/>
                    <a:pt x="36" y="8"/>
                    <a:pt x="40" y="5"/>
                  </a:cubicBezTo>
                  <a:cubicBezTo>
                    <a:pt x="44" y="8"/>
                    <a:pt x="46" y="7"/>
                    <a:pt x="46" y="4"/>
                  </a:cubicBezTo>
                  <a:cubicBezTo>
                    <a:pt x="49" y="4"/>
                    <a:pt x="52" y="7"/>
                    <a:pt x="51" y="4"/>
                  </a:cubicBezTo>
                  <a:cubicBezTo>
                    <a:pt x="51" y="4"/>
                    <a:pt x="51" y="4"/>
                    <a:pt x="51" y="4"/>
                  </a:cubicBezTo>
                  <a:cubicBezTo>
                    <a:pt x="51" y="4"/>
                    <a:pt x="51" y="4"/>
                    <a:pt x="51" y="4"/>
                  </a:cubicBezTo>
                  <a:cubicBezTo>
                    <a:pt x="52" y="5"/>
                    <a:pt x="55" y="2"/>
                    <a:pt x="57" y="3"/>
                  </a:cubicBezTo>
                  <a:cubicBezTo>
                    <a:pt x="58" y="3"/>
                    <a:pt x="61" y="1"/>
                    <a:pt x="63" y="3"/>
                  </a:cubicBezTo>
                  <a:cubicBezTo>
                    <a:pt x="64" y="6"/>
                    <a:pt x="66" y="3"/>
                    <a:pt x="68" y="2"/>
                  </a:cubicBezTo>
                  <a:cubicBezTo>
                    <a:pt x="70" y="2"/>
                    <a:pt x="74" y="4"/>
                    <a:pt x="74" y="2"/>
                  </a:cubicBezTo>
                  <a:cubicBezTo>
                    <a:pt x="74" y="2"/>
                    <a:pt x="77" y="4"/>
                    <a:pt x="77" y="2"/>
                  </a:cubicBezTo>
                  <a:cubicBezTo>
                    <a:pt x="78" y="0"/>
                    <a:pt x="81" y="2"/>
                    <a:pt x="80" y="2"/>
                  </a:cubicBezTo>
                  <a:cubicBezTo>
                    <a:pt x="82" y="3"/>
                    <a:pt x="83" y="3"/>
                    <a:pt x="82" y="2"/>
                  </a:cubicBezTo>
                  <a:cubicBezTo>
                    <a:pt x="83" y="3"/>
                    <a:pt x="84" y="2"/>
                    <a:pt x="84" y="2"/>
                  </a:cubicBezTo>
                  <a:cubicBezTo>
                    <a:pt x="85" y="2"/>
                    <a:pt x="86" y="2"/>
                    <a:pt x="84" y="3"/>
                  </a:cubicBezTo>
                  <a:cubicBezTo>
                    <a:pt x="84" y="4"/>
                    <a:pt x="84" y="3"/>
                    <a:pt x="84" y="4"/>
                  </a:cubicBezTo>
                  <a:cubicBezTo>
                    <a:pt x="84" y="4"/>
                    <a:pt x="83" y="4"/>
                    <a:pt x="84" y="5"/>
                  </a:cubicBezTo>
                  <a:cubicBezTo>
                    <a:pt x="86" y="4"/>
                    <a:pt x="83" y="7"/>
                    <a:pt x="84" y="8"/>
                  </a:cubicBezTo>
                  <a:cubicBezTo>
                    <a:pt x="85" y="7"/>
                    <a:pt x="84" y="11"/>
                    <a:pt x="84" y="10"/>
                  </a:cubicBezTo>
                  <a:cubicBezTo>
                    <a:pt x="87" y="10"/>
                    <a:pt x="83" y="15"/>
                    <a:pt x="84" y="14"/>
                  </a:cubicBezTo>
                  <a:cubicBezTo>
                    <a:pt x="84" y="14"/>
                    <a:pt x="85" y="14"/>
                    <a:pt x="84" y="18"/>
                  </a:cubicBezTo>
                  <a:cubicBezTo>
                    <a:pt x="84" y="20"/>
                    <a:pt x="85" y="21"/>
                    <a:pt x="84" y="22"/>
                  </a:cubicBezTo>
                  <a:cubicBezTo>
                    <a:pt x="84" y="28"/>
                    <a:pt x="84" y="23"/>
                    <a:pt x="84" y="27"/>
                  </a:cubicBezTo>
                  <a:cubicBezTo>
                    <a:pt x="85" y="29"/>
                    <a:pt x="83" y="31"/>
                    <a:pt x="84" y="33"/>
                  </a:cubicBezTo>
                  <a:cubicBezTo>
                    <a:pt x="83" y="37"/>
                    <a:pt x="84" y="35"/>
                    <a:pt x="84" y="38"/>
                  </a:cubicBezTo>
                  <a:cubicBezTo>
                    <a:pt x="81" y="40"/>
                    <a:pt x="84" y="39"/>
                    <a:pt x="84" y="45"/>
                  </a:cubicBezTo>
                  <a:cubicBezTo>
                    <a:pt x="82" y="46"/>
                    <a:pt x="86" y="47"/>
                    <a:pt x="84" y="51"/>
                  </a:cubicBezTo>
                  <a:cubicBezTo>
                    <a:pt x="83" y="53"/>
                    <a:pt x="84" y="53"/>
                    <a:pt x="84" y="58"/>
                  </a:cubicBezTo>
                  <a:cubicBezTo>
                    <a:pt x="85" y="58"/>
                    <a:pt x="85" y="60"/>
                    <a:pt x="84" y="65"/>
                  </a:cubicBezTo>
                  <a:cubicBezTo>
                    <a:pt x="84" y="67"/>
                    <a:pt x="86" y="70"/>
                    <a:pt x="84" y="73"/>
                  </a:cubicBezTo>
                  <a:cubicBezTo>
                    <a:pt x="86" y="73"/>
                    <a:pt x="84" y="74"/>
                    <a:pt x="84" y="80"/>
                  </a:cubicBezTo>
                  <a:cubicBezTo>
                    <a:pt x="84" y="80"/>
                    <a:pt x="85" y="80"/>
                    <a:pt x="84" y="81"/>
                  </a:cubicBezTo>
                  <a:cubicBezTo>
                    <a:pt x="84" y="80"/>
                    <a:pt x="84" y="80"/>
                    <a:pt x="84" y="80"/>
                  </a:cubicBezTo>
                  <a:cubicBezTo>
                    <a:pt x="84" y="81"/>
                    <a:pt x="81" y="84"/>
                    <a:pt x="84" y="88"/>
                  </a:cubicBezTo>
                  <a:cubicBezTo>
                    <a:pt x="81" y="88"/>
                    <a:pt x="84" y="95"/>
                    <a:pt x="84" y="97"/>
                  </a:cubicBezTo>
                  <a:cubicBezTo>
                    <a:pt x="84" y="97"/>
                    <a:pt x="83" y="97"/>
                    <a:pt x="83" y="98"/>
                  </a:cubicBezTo>
                  <a:cubicBezTo>
                    <a:pt x="83" y="98"/>
                    <a:pt x="83" y="100"/>
                    <a:pt x="83" y="101"/>
                  </a:cubicBezTo>
                  <a:cubicBezTo>
                    <a:pt x="84" y="102"/>
                    <a:pt x="85" y="101"/>
                    <a:pt x="84" y="105"/>
                  </a:cubicBezTo>
                  <a:cubicBezTo>
                    <a:pt x="84" y="105"/>
                    <a:pt x="84" y="106"/>
                    <a:pt x="84" y="108"/>
                  </a:cubicBezTo>
                  <a:cubicBezTo>
                    <a:pt x="85" y="109"/>
                    <a:pt x="85" y="113"/>
                    <a:pt x="84" y="113"/>
                  </a:cubicBezTo>
                  <a:cubicBezTo>
                    <a:pt x="83" y="114"/>
                    <a:pt x="83" y="119"/>
                    <a:pt x="84" y="119"/>
                  </a:cubicBezTo>
                  <a:cubicBezTo>
                    <a:pt x="84" y="119"/>
                    <a:pt x="84" y="119"/>
                    <a:pt x="85" y="119"/>
                  </a:cubicBezTo>
                  <a:cubicBezTo>
                    <a:pt x="85" y="119"/>
                    <a:pt x="85" y="119"/>
                    <a:pt x="84" y="119"/>
                  </a:cubicBezTo>
                  <a:cubicBezTo>
                    <a:pt x="85" y="119"/>
                    <a:pt x="88" y="121"/>
                    <a:pt x="84" y="122"/>
                  </a:cubicBezTo>
                  <a:cubicBezTo>
                    <a:pt x="84" y="124"/>
                    <a:pt x="85" y="121"/>
                    <a:pt x="84" y="124"/>
                  </a:cubicBezTo>
                  <a:cubicBezTo>
                    <a:pt x="86" y="123"/>
                    <a:pt x="81" y="125"/>
                    <a:pt x="83" y="127"/>
                  </a:cubicBezTo>
                  <a:cubicBezTo>
                    <a:pt x="85" y="126"/>
                    <a:pt x="86" y="129"/>
                    <a:pt x="84" y="130"/>
                  </a:cubicBezTo>
                  <a:cubicBezTo>
                    <a:pt x="86" y="133"/>
                    <a:pt x="83" y="134"/>
                    <a:pt x="84" y="135"/>
                  </a:cubicBezTo>
                  <a:cubicBezTo>
                    <a:pt x="81" y="138"/>
                    <a:pt x="81" y="136"/>
                    <a:pt x="84" y="139"/>
                  </a:cubicBezTo>
                  <a:cubicBezTo>
                    <a:pt x="86" y="138"/>
                    <a:pt x="86" y="142"/>
                    <a:pt x="84" y="143"/>
                  </a:cubicBezTo>
                  <a:cubicBezTo>
                    <a:pt x="83" y="144"/>
                    <a:pt x="84" y="147"/>
                    <a:pt x="84" y="148"/>
                  </a:cubicBezTo>
                  <a:cubicBezTo>
                    <a:pt x="85" y="148"/>
                    <a:pt x="86" y="149"/>
                    <a:pt x="85" y="151"/>
                  </a:cubicBezTo>
                  <a:cubicBezTo>
                    <a:pt x="83" y="151"/>
                    <a:pt x="83" y="151"/>
                    <a:pt x="84" y="151"/>
                  </a:cubicBezTo>
                  <a:cubicBezTo>
                    <a:pt x="84" y="151"/>
                    <a:pt x="84" y="151"/>
                    <a:pt x="84" y="151"/>
                  </a:cubicBezTo>
                  <a:cubicBezTo>
                    <a:pt x="85" y="152"/>
                    <a:pt x="85" y="152"/>
                    <a:pt x="84" y="153"/>
                  </a:cubicBezTo>
                  <a:cubicBezTo>
                    <a:pt x="84" y="152"/>
                    <a:pt x="84" y="152"/>
                    <a:pt x="84" y="151"/>
                  </a:cubicBezTo>
                  <a:cubicBezTo>
                    <a:pt x="84" y="151"/>
                    <a:pt x="84" y="151"/>
                    <a:pt x="84" y="151"/>
                  </a:cubicBezTo>
                  <a:cubicBezTo>
                    <a:pt x="83" y="151"/>
                    <a:pt x="83" y="153"/>
                    <a:pt x="84" y="156"/>
                  </a:cubicBezTo>
                  <a:cubicBezTo>
                    <a:pt x="84" y="159"/>
                    <a:pt x="86" y="160"/>
                    <a:pt x="83" y="161"/>
                  </a:cubicBezTo>
                  <a:cubicBezTo>
                    <a:pt x="85" y="161"/>
                    <a:pt x="85" y="161"/>
                    <a:pt x="85" y="162"/>
                  </a:cubicBezTo>
                  <a:cubicBezTo>
                    <a:pt x="85" y="162"/>
                    <a:pt x="85" y="162"/>
                    <a:pt x="85" y="162"/>
                  </a:cubicBezTo>
                  <a:cubicBezTo>
                    <a:pt x="85" y="162"/>
                    <a:pt x="85" y="162"/>
                    <a:pt x="85" y="163"/>
                  </a:cubicBezTo>
                  <a:cubicBezTo>
                    <a:pt x="85" y="162"/>
                    <a:pt x="85" y="162"/>
                    <a:pt x="85" y="162"/>
                  </a:cubicBezTo>
                  <a:cubicBezTo>
                    <a:pt x="85" y="162"/>
                    <a:pt x="85" y="163"/>
                    <a:pt x="85" y="163"/>
                  </a:cubicBezTo>
                  <a:cubicBezTo>
                    <a:pt x="85" y="163"/>
                    <a:pt x="85" y="163"/>
                    <a:pt x="85" y="163"/>
                  </a:cubicBezTo>
                  <a:cubicBezTo>
                    <a:pt x="86" y="163"/>
                    <a:pt x="86" y="163"/>
                    <a:pt x="85" y="163"/>
                  </a:cubicBezTo>
                  <a:cubicBezTo>
                    <a:pt x="85" y="163"/>
                    <a:pt x="85" y="163"/>
                    <a:pt x="85" y="164"/>
                  </a:cubicBezTo>
                  <a:cubicBezTo>
                    <a:pt x="85" y="164"/>
                    <a:pt x="85" y="163"/>
                    <a:pt x="85" y="163"/>
                  </a:cubicBezTo>
                  <a:cubicBezTo>
                    <a:pt x="85" y="163"/>
                    <a:pt x="85" y="163"/>
                    <a:pt x="85" y="163"/>
                  </a:cubicBezTo>
                  <a:cubicBezTo>
                    <a:pt x="85" y="163"/>
                    <a:pt x="85" y="163"/>
                    <a:pt x="85" y="163"/>
                  </a:cubicBezTo>
                  <a:cubicBezTo>
                    <a:pt x="85" y="163"/>
                    <a:pt x="85" y="164"/>
                    <a:pt x="84" y="165"/>
                  </a:cubicBezTo>
                  <a:cubicBezTo>
                    <a:pt x="83" y="167"/>
                    <a:pt x="84" y="163"/>
                    <a:pt x="83" y="166"/>
                  </a:cubicBezTo>
                  <a:cubicBezTo>
                    <a:pt x="84" y="166"/>
                    <a:pt x="85" y="167"/>
                    <a:pt x="84" y="167"/>
                  </a:cubicBezTo>
                  <a:cubicBezTo>
                    <a:pt x="83" y="167"/>
                    <a:pt x="84" y="168"/>
                    <a:pt x="84" y="168"/>
                  </a:cubicBezTo>
                  <a:cubicBezTo>
                    <a:pt x="81" y="170"/>
                    <a:pt x="87" y="171"/>
                    <a:pt x="84" y="170"/>
                  </a:cubicBezTo>
                  <a:cubicBezTo>
                    <a:pt x="84" y="170"/>
                    <a:pt x="85" y="172"/>
                    <a:pt x="84" y="172"/>
                  </a:cubicBezTo>
                  <a:cubicBezTo>
                    <a:pt x="84" y="173"/>
                    <a:pt x="85" y="174"/>
                    <a:pt x="85" y="174"/>
                  </a:cubicBezTo>
                  <a:cubicBezTo>
                    <a:pt x="86" y="174"/>
                    <a:pt x="86" y="174"/>
                    <a:pt x="85" y="174"/>
                  </a:cubicBezTo>
                  <a:cubicBezTo>
                    <a:pt x="85" y="174"/>
                    <a:pt x="85" y="174"/>
                    <a:pt x="84" y="173"/>
                  </a:cubicBezTo>
                  <a:cubicBezTo>
                    <a:pt x="85" y="174"/>
                    <a:pt x="85" y="175"/>
                    <a:pt x="84" y="176"/>
                  </a:cubicBezTo>
                  <a:cubicBezTo>
                    <a:pt x="85" y="176"/>
                    <a:pt x="85" y="176"/>
                    <a:pt x="84" y="176"/>
                  </a:cubicBezTo>
                  <a:cubicBezTo>
                    <a:pt x="84" y="176"/>
                    <a:pt x="84" y="176"/>
                    <a:pt x="84" y="176"/>
                  </a:cubicBezTo>
                  <a:cubicBezTo>
                    <a:pt x="84" y="176"/>
                    <a:pt x="84" y="176"/>
                    <a:pt x="84" y="176"/>
                  </a:cubicBezTo>
                  <a:cubicBezTo>
                    <a:pt x="84" y="176"/>
                    <a:pt x="84" y="176"/>
                    <a:pt x="84" y="176"/>
                  </a:cubicBezTo>
                  <a:cubicBezTo>
                    <a:pt x="84" y="175"/>
                    <a:pt x="84" y="175"/>
                    <a:pt x="84" y="175"/>
                  </a:cubicBezTo>
                  <a:cubicBezTo>
                    <a:pt x="84" y="176"/>
                    <a:pt x="84" y="176"/>
                    <a:pt x="84" y="177"/>
                  </a:cubicBezTo>
                  <a:cubicBezTo>
                    <a:pt x="84" y="177"/>
                    <a:pt x="85" y="178"/>
                    <a:pt x="84" y="178"/>
                  </a:cubicBezTo>
                  <a:cubicBezTo>
                    <a:pt x="84" y="178"/>
                    <a:pt x="84" y="178"/>
                    <a:pt x="84" y="178"/>
                  </a:cubicBezTo>
                  <a:cubicBezTo>
                    <a:pt x="84" y="178"/>
                    <a:pt x="84" y="178"/>
                    <a:pt x="84" y="178"/>
                  </a:cubicBezTo>
                  <a:cubicBezTo>
                    <a:pt x="84" y="178"/>
                    <a:pt x="84" y="178"/>
                    <a:pt x="84" y="178"/>
                  </a:cubicBezTo>
                  <a:cubicBezTo>
                    <a:pt x="84" y="178"/>
                    <a:pt x="84" y="179"/>
                    <a:pt x="84" y="179"/>
                  </a:cubicBezTo>
                  <a:cubicBezTo>
                    <a:pt x="85" y="180"/>
                    <a:pt x="84" y="181"/>
                    <a:pt x="84" y="181"/>
                  </a:cubicBezTo>
                  <a:cubicBezTo>
                    <a:pt x="84" y="181"/>
                    <a:pt x="84" y="181"/>
                    <a:pt x="84" y="182"/>
                  </a:cubicBezTo>
                  <a:cubicBezTo>
                    <a:pt x="84" y="182"/>
                    <a:pt x="84" y="182"/>
                    <a:pt x="84" y="182"/>
                  </a:cubicBezTo>
                  <a:cubicBezTo>
                    <a:pt x="84" y="182"/>
                    <a:pt x="84" y="182"/>
                    <a:pt x="84" y="182"/>
                  </a:cubicBezTo>
                  <a:cubicBezTo>
                    <a:pt x="85" y="182"/>
                    <a:pt x="84" y="182"/>
                    <a:pt x="84" y="182"/>
                  </a:cubicBezTo>
                  <a:cubicBezTo>
                    <a:pt x="83" y="183"/>
                    <a:pt x="87" y="184"/>
                    <a:pt x="85" y="184"/>
                  </a:cubicBezTo>
                  <a:cubicBezTo>
                    <a:pt x="85" y="183"/>
                    <a:pt x="85" y="185"/>
                    <a:pt x="85" y="185"/>
                  </a:cubicBezTo>
                  <a:cubicBezTo>
                    <a:pt x="84" y="185"/>
                    <a:pt x="84" y="186"/>
                    <a:pt x="84" y="187"/>
                  </a:cubicBezTo>
                  <a:cubicBezTo>
                    <a:pt x="84" y="187"/>
                    <a:pt x="84" y="187"/>
                    <a:pt x="83" y="188"/>
                  </a:cubicBezTo>
                  <a:cubicBezTo>
                    <a:pt x="83" y="190"/>
                    <a:pt x="81" y="190"/>
                    <a:pt x="84" y="190"/>
                  </a:cubicBezTo>
                  <a:cubicBezTo>
                    <a:pt x="85" y="191"/>
                    <a:pt x="86" y="191"/>
                    <a:pt x="85" y="192"/>
                  </a:cubicBezTo>
                  <a:cubicBezTo>
                    <a:pt x="85" y="193"/>
                    <a:pt x="85" y="194"/>
                    <a:pt x="85" y="194"/>
                  </a:cubicBezTo>
                  <a:cubicBezTo>
                    <a:pt x="84" y="195"/>
                    <a:pt x="84" y="195"/>
                    <a:pt x="84" y="198"/>
                  </a:cubicBezTo>
                  <a:cubicBezTo>
                    <a:pt x="86" y="200"/>
                    <a:pt x="87" y="202"/>
                    <a:pt x="84" y="206"/>
                  </a:cubicBezTo>
                  <a:cubicBezTo>
                    <a:pt x="85" y="209"/>
                    <a:pt x="87" y="211"/>
                    <a:pt x="84" y="214"/>
                  </a:cubicBezTo>
                  <a:cubicBezTo>
                    <a:pt x="82" y="215"/>
                    <a:pt x="86" y="216"/>
                    <a:pt x="84" y="221"/>
                  </a:cubicBezTo>
                  <a:cubicBezTo>
                    <a:pt x="86" y="224"/>
                    <a:pt x="87" y="224"/>
                    <a:pt x="84" y="228"/>
                  </a:cubicBezTo>
                  <a:cubicBezTo>
                    <a:pt x="81" y="230"/>
                    <a:pt x="86" y="234"/>
                    <a:pt x="84" y="235"/>
                  </a:cubicBezTo>
                  <a:cubicBezTo>
                    <a:pt x="84" y="235"/>
                    <a:pt x="84" y="240"/>
                    <a:pt x="84" y="242"/>
                  </a:cubicBezTo>
                  <a:cubicBezTo>
                    <a:pt x="87" y="249"/>
                    <a:pt x="84" y="245"/>
                    <a:pt x="84" y="248"/>
                  </a:cubicBezTo>
                  <a:cubicBezTo>
                    <a:pt x="81" y="253"/>
                    <a:pt x="86" y="252"/>
                    <a:pt x="84" y="254"/>
                  </a:cubicBezTo>
                  <a:cubicBezTo>
                    <a:pt x="85" y="256"/>
                    <a:pt x="85" y="258"/>
                    <a:pt x="84" y="259"/>
                  </a:cubicBezTo>
                  <a:cubicBezTo>
                    <a:pt x="83" y="262"/>
                    <a:pt x="88" y="266"/>
                    <a:pt x="84" y="264"/>
                  </a:cubicBezTo>
                  <a:cubicBezTo>
                    <a:pt x="85" y="265"/>
                    <a:pt x="85" y="267"/>
                    <a:pt x="84" y="269"/>
                  </a:cubicBezTo>
                  <a:cubicBezTo>
                    <a:pt x="85" y="269"/>
                    <a:pt x="83" y="270"/>
                    <a:pt x="84" y="273"/>
                  </a:cubicBezTo>
                  <a:cubicBezTo>
                    <a:pt x="84" y="272"/>
                    <a:pt x="84" y="272"/>
                    <a:pt x="84" y="273"/>
                  </a:cubicBezTo>
                  <a:cubicBezTo>
                    <a:pt x="84" y="273"/>
                    <a:pt x="84" y="273"/>
                    <a:pt x="84" y="273"/>
                  </a:cubicBezTo>
                  <a:cubicBezTo>
                    <a:pt x="84" y="273"/>
                    <a:pt x="84" y="276"/>
                    <a:pt x="84" y="276"/>
                  </a:cubicBezTo>
                  <a:cubicBezTo>
                    <a:pt x="86" y="274"/>
                    <a:pt x="84" y="277"/>
                    <a:pt x="84" y="279"/>
                  </a:cubicBezTo>
                  <a:cubicBezTo>
                    <a:pt x="83" y="281"/>
                    <a:pt x="84" y="282"/>
                    <a:pt x="84" y="281"/>
                  </a:cubicBezTo>
                  <a:cubicBezTo>
                    <a:pt x="84" y="281"/>
                    <a:pt x="86" y="280"/>
                    <a:pt x="84" y="283"/>
                  </a:cubicBezTo>
                  <a:cubicBezTo>
                    <a:pt x="87" y="283"/>
                    <a:pt x="87" y="283"/>
                    <a:pt x="84" y="284"/>
                  </a:cubicBezTo>
                  <a:close/>
                </a:path>
              </a:pathLst>
            </a:cu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8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Freeform 8"/>
            <p:cNvSpPr/>
            <p:nvPr/>
          </p:nvSpPr>
          <p:spPr bwMode="auto">
            <a:xfrm>
              <a:off x="2976057" y="1796500"/>
              <a:ext cx="734155" cy="2270507"/>
            </a:xfrm>
            <a:custGeom>
              <a:avLst/>
              <a:gdLst>
                <a:gd name="T0" fmla="*/ 83 w 86"/>
                <a:gd name="T1" fmla="*/ 218 h 267"/>
                <a:gd name="T2" fmla="*/ 83 w 86"/>
                <a:gd name="T3" fmla="*/ 232 h 267"/>
                <a:gd name="T4" fmla="*/ 83 w 86"/>
                <a:gd name="T5" fmla="*/ 241 h 267"/>
                <a:gd name="T6" fmla="*/ 38 w 86"/>
                <a:gd name="T7" fmla="*/ 254 h 267"/>
                <a:gd name="T8" fmla="*/ 14 w 86"/>
                <a:gd name="T9" fmla="*/ 252 h 267"/>
                <a:gd name="T10" fmla="*/ 6 w 86"/>
                <a:gd name="T11" fmla="*/ 260 h 267"/>
                <a:gd name="T12" fmla="*/ 4 w 86"/>
                <a:gd name="T13" fmla="*/ 264 h 267"/>
                <a:gd name="T14" fmla="*/ 4 w 86"/>
                <a:gd name="T15" fmla="*/ 264 h 267"/>
                <a:gd name="T16" fmla="*/ 4 w 86"/>
                <a:gd name="T17" fmla="*/ 259 h 267"/>
                <a:gd name="T18" fmla="*/ 4 w 86"/>
                <a:gd name="T19" fmla="*/ 250 h 267"/>
                <a:gd name="T20" fmla="*/ 4 w 86"/>
                <a:gd name="T21" fmla="*/ 237 h 267"/>
                <a:gd name="T22" fmla="*/ 4 w 86"/>
                <a:gd name="T23" fmla="*/ 220 h 267"/>
                <a:gd name="T24" fmla="*/ 4 w 86"/>
                <a:gd name="T25" fmla="*/ 200 h 267"/>
                <a:gd name="T26" fmla="*/ 4 w 86"/>
                <a:gd name="T27" fmla="*/ 193 h 267"/>
                <a:gd name="T28" fmla="*/ 3 w 86"/>
                <a:gd name="T29" fmla="*/ 184 h 267"/>
                <a:gd name="T30" fmla="*/ 4 w 86"/>
                <a:gd name="T31" fmla="*/ 177 h 267"/>
                <a:gd name="T32" fmla="*/ 4 w 86"/>
                <a:gd name="T33" fmla="*/ 172 h 267"/>
                <a:gd name="T34" fmla="*/ 4 w 86"/>
                <a:gd name="T35" fmla="*/ 171 h 267"/>
                <a:gd name="T36" fmla="*/ 4 w 86"/>
                <a:gd name="T37" fmla="*/ 163 h 267"/>
                <a:gd name="T38" fmla="*/ 4 w 86"/>
                <a:gd name="T39" fmla="*/ 148 h 267"/>
                <a:gd name="T40" fmla="*/ 4 w 86"/>
                <a:gd name="T41" fmla="*/ 124 h 267"/>
                <a:gd name="T42" fmla="*/ 4 w 86"/>
                <a:gd name="T43" fmla="*/ 101 h 267"/>
                <a:gd name="T44" fmla="*/ 4 w 86"/>
                <a:gd name="T45" fmla="*/ 78 h 267"/>
                <a:gd name="T46" fmla="*/ 4 w 86"/>
                <a:gd name="T47" fmla="*/ 58 h 267"/>
                <a:gd name="T48" fmla="*/ 4 w 86"/>
                <a:gd name="T49" fmla="*/ 39 h 267"/>
                <a:gd name="T50" fmla="*/ 4 w 86"/>
                <a:gd name="T51" fmla="*/ 34 h 267"/>
                <a:gd name="T52" fmla="*/ 4 w 86"/>
                <a:gd name="T53" fmla="*/ 19 h 267"/>
                <a:gd name="T54" fmla="*/ 4 w 86"/>
                <a:gd name="T55" fmla="*/ 17 h 267"/>
                <a:gd name="T56" fmla="*/ 3 w 86"/>
                <a:gd name="T57" fmla="*/ 11 h 267"/>
                <a:gd name="T58" fmla="*/ 3 w 86"/>
                <a:gd name="T59" fmla="*/ 9 h 267"/>
                <a:gd name="T60" fmla="*/ 3 w 86"/>
                <a:gd name="T61" fmla="*/ 6 h 267"/>
                <a:gd name="T62" fmla="*/ 4 w 86"/>
                <a:gd name="T63" fmla="*/ 4 h 267"/>
                <a:gd name="T64" fmla="*/ 4 w 86"/>
                <a:gd name="T65" fmla="*/ 3 h 267"/>
                <a:gd name="T66" fmla="*/ 10 w 86"/>
                <a:gd name="T67" fmla="*/ 3 h 267"/>
                <a:gd name="T68" fmla="*/ 27 w 86"/>
                <a:gd name="T69" fmla="*/ 4 h 267"/>
                <a:gd name="T70" fmla="*/ 43 w 86"/>
                <a:gd name="T71" fmla="*/ 7 h 267"/>
                <a:gd name="T72" fmla="*/ 59 w 86"/>
                <a:gd name="T73" fmla="*/ 10 h 267"/>
                <a:gd name="T74" fmla="*/ 74 w 86"/>
                <a:gd name="T75" fmla="*/ 15 h 267"/>
                <a:gd name="T76" fmla="*/ 83 w 86"/>
                <a:gd name="T77" fmla="*/ 19 h 267"/>
                <a:gd name="T78" fmla="*/ 83 w 86"/>
                <a:gd name="T79" fmla="*/ 21 h 267"/>
                <a:gd name="T80" fmla="*/ 83 w 86"/>
                <a:gd name="T81" fmla="*/ 25 h 267"/>
                <a:gd name="T82" fmla="*/ 83 w 86"/>
                <a:gd name="T83" fmla="*/ 27 h 267"/>
                <a:gd name="T84" fmla="*/ 83 w 86"/>
                <a:gd name="T85" fmla="*/ 37 h 267"/>
                <a:gd name="T86" fmla="*/ 83 w 86"/>
                <a:gd name="T87" fmla="*/ 53 h 267"/>
                <a:gd name="T88" fmla="*/ 83 w 86"/>
                <a:gd name="T89" fmla="*/ 69 h 267"/>
                <a:gd name="T90" fmla="*/ 83 w 86"/>
                <a:gd name="T91" fmla="*/ 79 h 267"/>
                <a:gd name="T92" fmla="*/ 83 w 86"/>
                <a:gd name="T93" fmla="*/ 91 h 267"/>
                <a:gd name="T94" fmla="*/ 83 w 86"/>
                <a:gd name="T95" fmla="*/ 102 h 267"/>
                <a:gd name="T96" fmla="*/ 82 w 86"/>
                <a:gd name="T97" fmla="*/ 113 h 267"/>
                <a:gd name="T98" fmla="*/ 83 w 86"/>
                <a:gd name="T99" fmla="*/ 125 h 267"/>
                <a:gd name="T100" fmla="*/ 82 w 86"/>
                <a:gd name="T101" fmla="*/ 139 h 267"/>
                <a:gd name="T102" fmla="*/ 83 w 86"/>
                <a:gd name="T103" fmla="*/ 141 h 267"/>
                <a:gd name="T104" fmla="*/ 84 w 86"/>
                <a:gd name="T105" fmla="*/ 153 h 267"/>
                <a:gd name="T106" fmla="*/ 83 w 86"/>
                <a:gd name="T107" fmla="*/ 165 h 267"/>
                <a:gd name="T108" fmla="*/ 83 w 86"/>
                <a:gd name="T109" fmla="*/ 187 h 267"/>
                <a:gd name="T110" fmla="*/ 83 w 86"/>
                <a:gd name="T111" fmla="*/ 20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6" h="267">
                  <a:moveTo>
                    <a:pt x="83" y="207"/>
                  </a:moveTo>
                  <a:cubicBezTo>
                    <a:pt x="81" y="211"/>
                    <a:pt x="84" y="219"/>
                    <a:pt x="83" y="213"/>
                  </a:cubicBezTo>
                  <a:cubicBezTo>
                    <a:pt x="86" y="214"/>
                    <a:pt x="82" y="218"/>
                    <a:pt x="83" y="218"/>
                  </a:cubicBezTo>
                  <a:cubicBezTo>
                    <a:pt x="86" y="219"/>
                    <a:pt x="78" y="220"/>
                    <a:pt x="83" y="223"/>
                  </a:cubicBezTo>
                  <a:cubicBezTo>
                    <a:pt x="86" y="225"/>
                    <a:pt x="86" y="229"/>
                    <a:pt x="83" y="228"/>
                  </a:cubicBezTo>
                  <a:cubicBezTo>
                    <a:pt x="84" y="231"/>
                    <a:pt x="83" y="229"/>
                    <a:pt x="83" y="232"/>
                  </a:cubicBezTo>
                  <a:cubicBezTo>
                    <a:pt x="82" y="234"/>
                    <a:pt x="86" y="234"/>
                    <a:pt x="83" y="236"/>
                  </a:cubicBezTo>
                  <a:cubicBezTo>
                    <a:pt x="81" y="236"/>
                    <a:pt x="83" y="239"/>
                    <a:pt x="83" y="239"/>
                  </a:cubicBezTo>
                  <a:cubicBezTo>
                    <a:pt x="83" y="240"/>
                    <a:pt x="83" y="240"/>
                    <a:pt x="83" y="241"/>
                  </a:cubicBezTo>
                  <a:cubicBezTo>
                    <a:pt x="83" y="243"/>
                    <a:pt x="83" y="244"/>
                    <a:pt x="83" y="244"/>
                  </a:cubicBezTo>
                  <a:cubicBezTo>
                    <a:pt x="81" y="245"/>
                    <a:pt x="79" y="246"/>
                    <a:pt x="77" y="247"/>
                  </a:cubicBezTo>
                  <a:cubicBezTo>
                    <a:pt x="66" y="252"/>
                    <a:pt x="54" y="254"/>
                    <a:pt x="38" y="254"/>
                  </a:cubicBezTo>
                  <a:cubicBezTo>
                    <a:pt x="32" y="254"/>
                    <a:pt x="26" y="254"/>
                    <a:pt x="21" y="253"/>
                  </a:cubicBezTo>
                  <a:cubicBezTo>
                    <a:pt x="20" y="253"/>
                    <a:pt x="18" y="253"/>
                    <a:pt x="17" y="253"/>
                  </a:cubicBezTo>
                  <a:cubicBezTo>
                    <a:pt x="15" y="252"/>
                    <a:pt x="16" y="252"/>
                    <a:pt x="14" y="252"/>
                  </a:cubicBezTo>
                  <a:cubicBezTo>
                    <a:pt x="14" y="254"/>
                    <a:pt x="12" y="251"/>
                    <a:pt x="11" y="254"/>
                  </a:cubicBezTo>
                  <a:cubicBezTo>
                    <a:pt x="10" y="257"/>
                    <a:pt x="9" y="257"/>
                    <a:pt x="9" y="257"/>
                  </a:cubicBezTo>
                  <a:cubicBezTo>
                    <a:pt x="6" y="260"/>
                    <a:pt x="12" y="261"/>
                    <a:pt x="6" y="260"/>
                  </a:cubicBezTo>
                  <a:cubicBezTo>
                    <a:pt x="7" y="262"/>
                    <a:pt x="4" y="263"/>
                    <a:pt x="4" y="264"/>
                  </a:cubicBezTo>
                  <a:cubicBezTo>
                    <a:pt x="4" y="264"/>
                    <a:pt x="4" y="264"/>
                    <a:pt x="4" y="264"/>
                  </a:cubicBezTo>
                  <a:cubicBezTo>
                    <a:pt x="4" y="264"/>
                    <a:pt x="4" y="264"/>
                    <a:pt x="4" y="264"/>
                  </a:cubicBezTo>
                  <a:cubicBezTo>
                    <a:pt x="4" y="264"/>
                    <a:pt x="4" y="264"/>
                    <a:pt x="4" y="264"/>
                  </a:cubicBezTo>
                  <a:cubicBezTo>
                    <a:pt x="3" y="267"/>
                    <a:pt x="3" y="264"/>
                    <a:pt x="4" y="264"/>
                  </a:cubicBezTo>
                  <a:cubicBezTo>
                    <a:pt x="4" y="264"/>
                    <a:pt x="4" y="264"/>
                    <a:pt x="4" y="264"/>
                  </a:cubicBezTo>
                  <a:cubicBezTo>
                    <a:pt x="3" y="264"/>
                    <a:pt x="2" y="262"/>
                    <a:pt x="4" y="263"/>
                  </a:cubicBezTo>
                  <a:cubicBezTo>
                    <a:pt x="5" y="262"/>
                    <a:pt x="3" y="262"/>
                    <a:pt x="4" y="261"/>
                  </a:cubicBezTo>
                  <a:cubicBezTo>
                    <a:pt x="3" y="261"/>
                    <a:pt x="3" y="259"/>
                    <a:pt x="4" y="259"/>
                  </a:cubicBezTo>
                  <a:cubicBezTo>
                    <a:pt x="3" y="258"/>
                    <a:pt x="3" y="257"/>
                    <a:pt x="4" y="257"/>
                  </a:cubicBezTo>
                  <a:cubicBezTo>
                    <a:pt x="4" y="255"/>
                    <a:pt x="5" y="255"/>
                    <a:pt x="4" y="254"/>
                  </a:cubicBezTo>
                  <a:cubicBezTo>
                    <a:pt x="1" y="255"/>
                    <a:pt x="4" y="250"/>
                    <a:pt x="4" y="250"/>
                  </a:cubicBezTo>
                  <a:cubicBezTo>
                    <a:pt x="1" y="248"/>
                    <a:pt x="6" y="247"/>
                    <a:pt x="4" y="246"/>
                  </a:cubicBezTo>
                  <a:cubicBezTo>
                    <a:pt x="5" y="242"/>
                    <a:pt x="4" y="244"/>
                    <a:pt x="4" y="241"/>
                  </a:cubicBezTo>
                  <a:cubicBezTo>
                    <a:pt x="3" y="242"/>
                    <a:pt x="4" y="237"/>
                    <a:pt x="4" y="237"/>
                  </a:cubicBezTo>
                  <a:cubicBezTo>
                    <a:pt x="2" y="235"/>
                    <a:pt x="0" y="232"/>
                    <a:pt x="4" y="231"/>
                  </a:cubicBezTo>
                  <a:cubicBezTo>
                    <a:pt x="6" y="229"/>
                    <a:pt x="5" y="232"/>
                    <a:pt x="4" y="226"/>
                  </a:cubicBezTo>
                  <a:cubicBezTo>
                    <a:pt x="1" y="225"/>
                    <a:pt x="4" y="222"/>
                    <a:pt x="4" y="220"/>
                  </a:cubicBezTo>
                  <a:cubicBezTo>
                    <a:pt x="2" y="218"/>
                    <a:pt x="4" y="217"/>
                    <a:pt x="4" y="214"/>
                  </a:cubicBezTo>
                  <a:cubicBezTo>
                    <a:pt x="4" y="213"/>
                    <a:pt x="2" y="209"/>
                    <a:pt x="4" y="207"/>
                  </a:cubicBezTo>
                  <a:cubicBezTo>
                    <a:pt x="6" y="204"/>
                    <a:pt x="6" y="200"/>
                    <a:pt x="4" y="200"/>
                  </a:cubicBezTo>
                  <a:cubicBezTo>
                    <a:pt x="4" y="200"/>
                    <a:pt x="4" y="200"/>
                    <a:pt x="4" y="200"/>
                  </a:cubicBezTo>
                  <a:cubicBezTo>
                    <a:pt x="4" y="200"/>
                    <a:pt x="4" y="200"/>
                    <a:pt x="4" y="200"/>
                  </a:cubicBezTo>
                  <a:cubicBezTo>
                    <a:pt x="4" y="200"/>
                    <a:pt x="5" y="194"/>
                    <a:pt x="4" y="193"/>
                  </a:cubicBezTo>
                  <a:cubicBezTo>
                    <a:pt x="5" y="192"/>
                    <a:pt x="1" y="191"/>
                    <a:pt x="4" y="186"/>
                  </a:cubicBezTo>
                  <a:cubicBezTo>
                    <a:pt x="3" y="186"/>
                    <a:pt x="3" y="186"/>
                    <a:pt x="3" y="186"/>
                  </a:cubicBezTo>
                  <a:cubicBezTo>
                    <a:pt x="3" y="185"/>
                    <a:pt x="3" y="184"/>
                    <a:pt x="3" y="184"/>
                  </a:cubicBezTo>
                  <a:cubicBezTo>
                    <a:pt x="1" y="183"/>
                    <a:pt x="3" y="182"/>
                    <a:pt x="3" y="181"/>
                  </a:cubicBezTo>
                  <a:cubicBezTo>
                    <a:pt x="4" y="182"/>
                    <a:pt x="5" y="181"/>
                    <a:pt x="4" y="179"/>
                  </a:cubicBezTo>
                  <a:cubicBezTo>
                    <a:pt x="4" y="178"/>
                    <a:pt x="3" y="180"/>
                    <a:pt x="4" y="177"/>
                  </a:cubicBezTo>
                  <a:cubicBezTo>
                    <a:pt x="2" y="177"/>
                    <a:pt x="2" y="177"/>
                    <a:pt x="4" y="175"/>
                  </a:cubicBezTo>
                  <a:cubicBezTo>
                    <a:pt x="2" y="172"/>
                    <a:pt x="4" y="173"/>
                    <a:pt x="4" y="174"/>
                  </a:cubicBezTo>
                  <a:cubicBezTo>
                    <a:pt x="4" y="173"/>
                    <a:pt x="5" y="173"/>
                    <a:pt x="4" y="172"/>
                  </a:cubicBezTo>
                  <a:cubicBezTo>
                    <a:pt x="4" y="172"/>
                    <a:pt x="4" y="172"/>
                    <a:pt x="4" y="171"/>
                  </a:cubicBezTo>
                  <a:cubicBezTo>
                    <a:pt x="4" y="172"/>
                    <a:pt x="4" y="172"/>
                    <a:pt x="4" y="172"/>
                  </a:cubicBezTo>
                  <a:cubicBezTo>
                    <a:pt x="5" y="172"/>
                    <a:pt x="5" y="172"/>
                    <a:pt x="4" y="171"/>
                  </a:cubicBezTo>
                  <a:cubicBezTo>
                    <a:pt x="4" y="169"/>
                    <a:pt x="4" y="169"/>
                    <a:pt x="4" y="168"/>
                  </a:cubicBezTo>
                  <a:cubicBezTo>
                    <a:pt x="5" y="166"/>
                    <a:pt x="5" y="165"/>
                    <a:pt x="4" y="165"/>
                  </a:cubicBezTo>
                  <a:cubicBezTo>
                    <a:pt x="5" y="163"/>
                    <a:pt x="4" y="162"/>
                    <a:pt x="4" y="163"/>
                  </a:cubicBezTo>
                  <a:cubicBezTo>
                    <a:pt x="2" y="163"/>
                    <a:pt x="2" y="164"/>
                    <a:pt x="4" y="162"/>
                  </a:cubicBezTo>
                  <a:cubicBezTo>
                    <a:pt x="5" y="160"/>
                    <a:pt x="5" y="158"/>
                    <a:pt x="4" y="156"/>
                  </a:cubicBezTo>
                  <a:cubicBezTo>
                    <a:pt x="7" y="149"/>
                    <a:pt x="1" y="151"/>
                    <a:pt x="4" y="148"/>
                  </a:cubicBezTo>
                  <a:cubicBezTo>
                    <a:pt x="9" y="145"/>
                    <a:pt x="4" y="140"/>
                    <a:pt x="4" y="140"/>
                  </a:cubicBezTo>
                  <a:cubicBezTo>
                    <a:pt x="7" y="139"/>
                    <a:pt x="3" y="133"/>
                    <a:pt x="4" y="132"/>
                  </a:cubicBezTo>
                  <a:cubicBezTo>
                    <a:pt x="3" y="130"/>
                    <a:pt x="5" y="127"/>
                    <a:pt x="4" y="124"/>
                  </a:cubicBezTo>
                  <a:cubicBezTo>
                    <a:pt x="5" y="120"/>
                    <a:pt x="7" y="118"/>
                    <a:pt x="4" y="116"/>
                  </a:cubicBezTo>
                  <a:cubicBezTo>
                    <a:pt x="2" y="114"/>
                    <a:pt x="6" y="114"/>
                    <a:pt x="4" y="109"/>
                  </a:cubicBezTo>
                  <a:cubicBezTo>
                    <a:pt x="7" y="107"/>
                    <a:pt x="4" y="107"/>
                    <a:pt x="4" y="101"/>
                  </a:cubicBezTo>
                  <a:cubicBezTo>
                    <a:pt x="4" y="100"/>
                    <a:pt x="5" y="97"/>
                    <a:pt x="4" y="93"/>
                  </a:cubicBezTo>
                  <a:cubicBezTo>
                    <a:pt x="2" y="94"/>
                    <a:pt x="5" y="86"/>
                    <a:pt x="4" y="86"/>
                  </a:cubicBezTo>
                  <a:cubicBezTo>
                    <a:pt x="6" y="81"/>
                    <a:pt x="3" y="83"/>
                    <a:pt x="4" y="78"/>
                  </a:cubicBezTo>
                  <a:cubicBezTo>
                    <a:pt x="3" y="76"/>
                    <a:pt x="6" y="74"/>
                    <a:pt x="4" y="71"/>
                  </a:cubicBezTo>
                  <a:cubicBezTo>
                    <a:pt x="7" y="70"/>
                    <a:pt x="7" y="68"/>
                    <a:pt x="4" y="64"/>
                  </a:cubicBezTo>
                  <a:cubicBezTo>
                    <a:pt x="9" y="61"/>
                    <a:pt x="8" y="59"/>
                    <a:pt x="4" y="58"/>
                  </a:cubicBezTo>
                  <a:cubicBezTo>
                    <a:pt x="2" y="54"/>
                    <a:pt x="5" y="55"/>
                    <a:pt x="4" y="51"/>
                  </a:cubicBezTo>
                  <a:cubicBezTo>
                    <a:pt x="8" y="50"/>
                    <a:pt x="0" y="48"/>
                    <a:pt x="4" y="45"/>
                  </a:cubicBezTo>
                  <a:cubicBezTo>
                    <a:pt x="6" y="41"/>
                    <a:pt x="7" y="39"/>
                    <a:pt x="4" y="39"/>
                  </a:cubicBezTo>
                  <a:cubicBezTo>
                    <a:pt x="4" y="39"/>
                    <a:pt x="4" y="39"/>
                    <a:pt x="4" y="39"/>
                  </a:cubicBezTo>
                  <a:cubicBezTo>
                    <a:pt x="4" y="39"/>
                    <a:pt x="4" y="39"/>
                    <a:pt x="4" y="39"/>
                  </a:cubicBezTo>
                  <a:cubicBezTo>
                    <a:pt x="5" y="39"/>
                    <a:pt x="4" y="36"/>
                    <a:pt x="4" y="34"/>
                  </a:cubicBezTo>
                  <a:cubicBezTo>
                    <a:pt x="3" y="32"/>
                    <a:pt x="5" y="29"/>
                    <a:pt x="4" y="29"/>
                  </a:cubicBezTo>
                  <a:cubicBezTo>
                    <a:pt x="3" y="25"/>
                    <a:pt x="6" y="28"/>
                    <a:pt x="4" y="24"/>
                  </a:cubicBezTo>
                  <a:cubicBezTo>
                    <a:pt x="5" y="24"/>
                    <a:pt x="3" y="18"/>
                    <a:pt x="4" y="19"/>
                  </a:cubicBezTo>
                  <a:cubicBezTo>
                    <a:pt x="6" y="19"/>
                    <a:pt x="5" y="18"/>
                    <a:pt x="4" y="17"/>
                  </a:cubicBezTo>
                  <a:cubicBezTo>
                    <a:pt x="4" y="17"/>
                    <a:pt x="4" y="17"/>
                    <a:pt x="4" y="17"/>
                  </a:cubicBezTo>
                  <a:cubicBezTo>
                    <a:pt x="3" y="17"/>
                    <a:pt x="4" y="17"/>
                    <a:pt x="4" y="17"/>
                  </a:cubicBezTo>
                  <a:cubicBezTo>
                    <a:pt x="5" y="17"/>
                    <a:pt x="6" y="15"/>
                    <a:pt x="4" y="15"/>
                  </a:cubicBezTo>
                  <a:cubicBezTo>
                    <a:pt x="1" y="13"/>
                    <a:pt x="4" y="14"/>
                    <a:pt x="4" y="12"/>
                  </a:cubicBezTo>
                  <a:cubicBezTo>
                    <a:pt x="3" y="11"/>
                    <a:pt x="3" y="11"/>
                    <a:pt x="3" y="11"/>
                  </a:cubicBezTo>
                  <a:cubicBezTo>
                    <a:pt x="3" y="10"/>
                    <a:pt x="3" y="10"/>
                    <a:pt x="3" y="10"/>
                  </a:cubicBezTo>
                  <a:cubicBezTo>
                    <a:pt x="2" y="10"/>
                    <a:pt x="2" y="10"/>
                    <a:pt x="3" y="9"/>
                  </a:cubicBezTo>
                  <a:cubicBezTo>
                    <a:pt x="3" y="9"/>
                    <a:pt x="3" y="9"/>
                    <a:pt x="3" y="9"/>
                  </a:cubicBezTo>
                  <a:cubicBezTo>
                    <a:pt x="3" y="9"/>
                    <a:pt x="4" y="8"/>
                    <a:pt x="4" y="8"/>
                  </a:cubicBezTo>
                  <a:cubicBezTo>
                    <a:pt x="3" y="8"/>
                    <a:pt x="0" y="8"/>
                    <a:pt x="3" y="7"/>
                  </a:cubicBezTo>
                  <a:cubicBezTo>
                    <a:pt x="3" y="6"/>
                    <a:pt x="3" y="6"/>
                    <a:pt x="3" y="6"/>
                  </a:cubicBezTo>
                  <a:cubicBezTo>
                    <a:pt x="3" y="6"/>
                    <a:pt x="3" y="6"/>
                    <a:pt x="3" y="6"/>
                  </a:cubicBezTo>
                  <a:cubicBezTo>
                    <a:pt x="3" y="6"/>
                    <a:pt x="3" y="6"/>
                    <a:pt x="4" y="6"/>
                  </a:cubicBezTo>
                  <a:cubicBezTo>
                    <a:pt x="5" y="5"/>
                    <a:pt x="2" y="5"/>
                    <a:pt x="4" y="4"/>
                  </a:cubicBezTo>
                  <a:cubicBezTo>
                    <a:pt x="5" y="3"/>
                    <a:pt x="5" y="3"/>
                    <a:pt x="4" y="3"/>
                  </a:cubicBezTo>
                  <a:cubicBezTo>
                    <a:pt x="4" y="3"/>
                    <a:pt x="4" y="3"/>
                    <a:pt x="4" y="3"/>
                  </a:cubicBezTo>
                  <a:cubicBezTo>
                    <a:pt x="4" y="3"/>
                    <a:pt x="4" y="3"/>
                    <a:pt x="4" y="3"/>
                  </a:cubicBezTo>
                  <a:cubicBezTo>
                    <a:pt x="3" y="3"/>
                    <a:pt x="3" y="3"/>
                    <a:pt x="4" y="3"/>
                  </a:cubicBezTo>
                  <a:cubicBezTo>
                    <a:pt x="4" y="2"/>
                    <a:pt x="2" y="2"/>
                    <a:pt x="4" y="2"/>
                  </a:cubicBezTo>
                  <a:cubicBezTo>
                    <a:pt x="7" y="3"/>
                    <a:pt x="8" y="2"/>
                    <a:pt x="10" y="3"/>
                  </a:cubicBezTo>
                  <a:cubicBezTo>
                    <a:pt x="12" y="2"/>
                    <a:pt x="11" y="0"/>
                    <a:pt x="16" y="3"/>
                  </a:cubicBezTo>
                  <a:cubicBezTo>
                    <a:pt x="17" y="2"/>
                    <a:pt x="18" y="8"/>
                    <a:pt x="21" y="3"/>
                  </a:cubicBezTo>
                  <a:cubicBezTo>
                    <a:pt x="25" y="2"/>
                    <a:pt x="23" y="5"/>
                    <a:pt x="27" y="4"/>
                  </a:cubicBezTo>
                  <a:cubicBezTo>
                    <a:pt x="29" y="6"/>
                    <a:pt x="31" y="4"/>
                    <a:pt x="33" y="5"/>
                  </a:cubicBezTo>
                  <a:cubicBezTo>
                    <a:pt x="36" y="5"/>
                    <a:pt x="39" y="8"/>
                    <a:pt x="38" y="6"/>
                  </a:cubicBezTo>
                  <a:cubicBezTo>
                    <a:pt x="42" y="8"/>
                    <a:pt x="40" y="6"/>
                    <a:pt x="43" y="7"/>
                  </a:cubicBezTo>
                  <a:cubicBezTo>
                    <a:pt x="43" y="13"/>
                    <a:pt x="46" y="9"/>
                    <a:pt x="49" y="8"/>
                  </a:cubicBezTo>
                  <a:cubicBezTo>
                    <a:pt x="50" y="6"/>
                    <a:pt x="47" y="8"/>
                    <a:pt x="54" y="9"/>
                  </a:cubicBezTo>
                  <a:cubicBezTo>
                    <a:pt x="55" y="8"/>
                    <a:pt x="57" y="9"/>
                    <a:pt x="59" y="10"/>
                  </a:cubicBezTo>
                  <a:cubicBezTo>
                    <a:pt x="60" y="9"/>
                    <a:pt x="57" y="7"/>
                    <a:pt x="64" y="12"/>
                  </a:cubicBezTo>
                  <a:cubicBezTo>
                    <a:pt x="64" y="14"/>
                    <a:pt x="64" y="11"/>
                    <a:pt x="69" y="13"/>
                  </a:cubicBezTo>
                  <a:cubicBezTo>
                    <a:pt x="73" y="12"/>
                    <a:pt x="74" y="14"/>
                    <a:pt x="74" y="15"/>
                  </a:cubicBezTo>
                  <a:cubicBezTo>
                    <a:pt x="75" y="15"/>
                    <a:pt x="77" y="16"/>
                    <a:pt x="78" y="17"/>
                  </a:cubicBezTo>
                  <a:cubicBezTo>
                    <a:pt x="82" y="19"/>
                    <a:pt x="77" y="18"/>
                    <a:pt x="83" y="19"/>
                  </a:cubicBezTo>
                  <a:cubicBezTo>
                    <a:pt x="83" y="19"/>
                    <a:pt x="83" y="19"/>
                    <a:pt x="83" y="19"/>
                  </a:cubicBezTo>
                  <a:cubicBezTo>
                    <a:pt x="83" y="19"/>
                    <a:pt x="83" y="19"/>
                    <a:pt x="83" y="19"/>
                  </a:cubicBezTo>
                  <a:cubicBezTo>
                    <a:pt x="84" y="20"/>
                    <a:pt x="83" y="20"/>
                    <a:pt x="83" y="19"/>
                  </a:cubicBezTo>
                  <a:cubicBezTo>
                    <a:pt x="82" y="20"/>
                    <a:pt x="86" y="21"/>
                    <a:pt x="83" y="21"/>
                  </a:cubicBezTo>
                  <a:cubicBezTo>
                    <a:pt x="81" y="21"/>
                    <a:pt x="84" y="23"/>
                    <a:pt x="83" y="23"/>
                  </a:cubicBezTo>
                  <a:cubicBezTo>
                    <a:pt x="82" y="25"/>
                    <a:pt x="83" y="24"/>
                    <a:pt x="83" y="25"/>
                  </a:cubicBezTo>
                  <a:cubicBezTo>
                    <a:pt x="83" y="25"/>
                    <a:pt x="83" y="25"/>
                    <a:pt x="83" y="25"/>
                  </a:cubicBezTo>
                  <a:cubicBezTo>
                    <a:pt x="83" y="25"/>
                    <a:pt x="83" y="25"/>
                    <a:pt x="83" y="25"/>
                  </a:cubicBezTo>
                  <a:cubicBezTo>
                    <a:pt x="84" y="27"/>
                    <a:pt x="83" y="26"/>
                    <a:pt x="83" y="25"/>
                  </a:cubicBezTo>
                  <a:cubicBezTo>
                    <a:pt x="82" y="26"/>
                    <a:pt x="83" y="28"/>
                    <a:pt x="83" y="27"/>
                  </a:cubicBezTo>
                  <a:cubicBezTo>
                    <a:pt x="83" y="27"/>
                    <a:pt x="83" y="29"/>
                    <a:pt x="83" y="29"/>
                  </a:cubicBezTo>
                  <a:cubicBezTo>
                    <a:pt x="84" y="31"/>
                    <a:pt x="83" y="34"/>
                    <a:pt x="83" y="33"/>
                  </a:cubicBezTo>
                  <a:cubicBezTo>
                    <a:pt x="81" y="33"/>
                    <a:pt x="82" y="35"/>
                    <a:pt x="83" y="37"/>
                  </a:cubicBezTo>
                  <a:cubicBezTo>
                    <a:pt x="83" y="37"/>
                    <a:pt x="82" y="40"/>
                    <a:pt x="83" y="42"/>
                  </a:cubicBezTo>
                  <a:cubicBezTo>
                    <a:pt x="82" y="43"/>
                    <a:pt x="82" y="48"/>
                    <a:pt x="83" y="47"/>
                  </a:cubicBezTo>
                  <a:cubicBezTo>
                    <a:pt x="85" y="49"/>
                    <a:pt x="85" y="53"/>
                    <a:pt x="83" y="53"/>
                  </a:cubicBezTo>
                  <a:cubicBezTo>
                    <a:pt x="82" y="58"/>
                    <a:pt x="85" y="56"/>
                    <a:pt x="83" y="59"/>
                  </a:cubicBezTo>
                  <a:cubicBezTo>
                    <a:pt x="84" y="59"/>
                    <a:pt x="85" y="64"/>
                    <a:pt x="83" y="66"/>
                  </a:cubicBezTo>
                  <a:cubicBezTo>
                    <a:pt x="83" y="68"/>
                    <a:pt x="83" y="69"/>
                    <a:pt x="83" y="69"/>
                  </a:cubicBezTo>
                  <a:cubicBezTo>
                    <a:pt x="83" y="70"/>
                    <a:pt x="83" y="70"/>
                    <a:pt x="83" y="72"/>
                  </a:cubicBezTo>
                  <a:cubicBezTo>
                    <a:pt x="84" y="73"/>
                    <a:pt x="84" y="75"/>
                    <a:pt x="84" y="76"/>
                  </a:cubicBezTo>
                  <a:cubicBezTo>
                    <a:pt x="84" y="77"/>
                    <a:pt x="85" y="79"/>
                    <a:pt x="83" y="79"/>
                  </a:cubicBezTo>
                  <a:cubicBezTo>
                    <a:pt x="84" y="83"/>
                    <a:pt x="85" y="85"/>
                    <a:pt x="84" y="85"/>
                  </a:cubicBezTo>
                  <a:cubicBezTo>
                    <a:pt x="84" y="85"/>
                    <a:pt x="83" y="86"/>
                    <a:pt x="83" y="87"/>
                  </a:cubicBezTo>
                  <a:cubicBezTo>
                    <a:pt x="83" y="90"/>
                    <a:pt x="82" y="91"/>
                    <a:pt x="83" y="91"/>
                  </a:cubicBezTo>
                  <a:cubicBezTo>
                    <a:pt x="83" y="91"/>
                    <a:pt x="84" y="91"/>
                    <a:pt x="83" y="94"/>
                  </a:cubicBezTo>
                  <a:cubicBezTo>
                    <a:pt x="84" y="95"/>
                    <a:pt x="83" y="96"/>
                    <a:pt x="83" y="97"/>
                  </a:cubicBezTo>
                  <a:cubicBezTo>
                    <a:pt x="83" y="98"/>
                    <a:pt x="83" y="100"/>
                    <a:pt x="83" y="102"/>
                  </a:cubicBezTo>
                  <a:cubicBezTo>
                    <a:pt x="83" y="104"/>
                    <a:pt x="82" y="106"/>
                    <a:pt x="82" y="106"/>
                  </a:cubicBezTo>
                  <a:cubicBezTo>
                    <a:pt x="80" y="107"/>
                    <a:pt x="82" y="106"/>
                    <a:pt x="83" y="110"/>
                  </a:cubicBezTo>
                  <a:cubicBezTo>
                    <a:pt x="83" y="111"/>
                    <a:pt x="81" y="111"/>
                    <a:pt x="82" y="113"/>
                  </a:cubicBezTo>
                  <a:cubicBezTo>
                    <a:pt x="81" y="114"/>
                    <a:pt x="83" y="116"/>
                    <a:pt x="83" y="117"/>
                  </a:cubicBezTo>
                  <a:cubicBezTo>
                    <a:pt x="83" y="120"/>
                    <a:pt x="81" y="122"/>
                    <a:pt x="82" y="123"/>
                  </a:cubicBezTo>
                  <a:cubicBezTo>
                    <a:pt x="83" y="123"/>
                    <a:pt x="82" y="126"/>
                    <a:pt x="83" y="125"/>
                  </a:cubicBezTo>
                  <a:cubicBezTo>
                    <a:pt x="83" y="126"/>
                    <a:pt x="83" y="128"/>
                    <a:pt x="84" y="129"/>
                  </a:cubicBezTo>
                  <a:cubicBezTo>
                    <a:pt x="84" y="131"/>
                    <a:pt x="84" y="132"/>
                    <a:pt x="83" y="133"/>
                  </a:cubicBezTo>
                  <a:cubicBezTo>
                    <a:pt x="82" y="135"/>
                    <a:pt x="82" y="136"/>
                    <a:pt x="82" y="139"/>
                  </a:cubicBezTo>
                  <a:cubicBezTo>
                    <a:pt x="82" y="141"/>
                    <a:pt x="82" y="143"/>
                    <a:pt x="83" y="141"/>
                  </a:cubicBezTo>
                  <a:cubicBezTo>
                    <a:pt x="83" y="141"/>
                    <a:pt x="83" y="141"/>
                    <a:pt x="83" y="141"/>
                  </a:cubicBezTo>
                  <a:cubicBezTo>
                    <a:pt x="83" y="141"/>
                    <a:pt x="83" y="141"/>
                    <a:pt x="83" y="141"/>
                  </a:cubicBezTo>
                  <a:cubicBezTo>
                    <a:pt x="83" y="142"/>
                    <a:pt x="84" y="143"/>
                    <a:pt x="84" y="143"/>
                  </a:cubicBezTo>
                  <a:cubicBezTo>
                    <a:pt x="84" y="146"/>
                    <a:pt x="85" y="148"/>
                    <a:pt x="83" y="149"/>
                  </a:cubicBezTo>
                  <a:cubicBezTo>
                    <a:pt x="83" y="150"/>
                    <a:pt x="85" y="153"/>
                    <a:pt x="84" y="153"/>
                  </a:cubicBezTo>
                  <a:cubicBezTo>
                    <a:pt x="85" y="154"/>
                    <a:pt x="85" y="156"/>
                    <a:pt x="83" y="157"/>
                  </a:cubicBezTo>
                  <a:cubicBezTo>
                    <a:pt x="84" y="158"/>
                    <a:pt x="85" y="160"/>
                    <a:pt x="84" y="162"/>
                  </a:cubicBezTo>
                  <a:cubicBezTo>
                    <a:pt x="84" y="163"/>
                    <a:pt x="84" y="164"/>
                    <a:pt x="83" y="165"/>
                  </a:cubicBezTo>
                  <a:cubicBezTo>
                    <a:pt x="84" y="168"/>
                    <a:pt x="78" y="171"/>
                    <a:pt x="83" y="172"/>
                  </a:cubicBezTo>
                  <a:cubicBezTo>
                    <a:pt x="82" y="178"/>
                    <a:pt x="85" y="177"/>
                    <a:pt x="83" y="180"/>
                  </a:cubicBezTo>
                  <a:cubicBezTo>
                    <a:pt x="85" y="184"/>
                    <a:pt x="79" y="187"/>
                    <a:pt x="83" y="187"/>
                  </a:cubicBezTo>
                  <a:cubicBezTo>
                    <a:pt x="85" y="189"/>
                    <a:pt x="84" y="193"/>
                    <a:pt x="83" y="194"/>
                  </a:cubicBezTo>
                  <a:cubicBezTo>
                    <a:pt x="86" y="195"/>
                    <a:pt x="86" y="198"/>
                    <a:pt x="83" y="200"/>
                  </a:cubicBezTo>
                  <a:cubicBezTo>
                    <a:pt x="84" y="200"/>
                    <a:pt x="82" y="206"/>
                    <a:pt x="83" y="207"/>
                  </a:cubicBezTo>
                  <a:close/>
                </a:path>
              </a:pathLst>
            </a:cu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8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 name="Freeform 9"/>
            <p:cNvSpPr/>
            <p:nvPr/>
          </p:nvSpPr>
          <p:spPr bwMode="auto">
            <a:xfrm>
              <a:off x="3735281" y="2000631"/>
              <a:ext cx="748480" cy="1794202"/>
            </a:xfrm>
            <a:custGeom>
              <a:avLst/>
              <a:gdLst>
                <a:gd name="T0" fmla="*/ 85 w 88"/>
                <a:gd name="T1" fmla="*/ 134 h 211"/>
                <a:gd name="T2" fmla="*/ 82 w 88"/>
                <a:gd name="T3" fmla="*/ 145 h 211"/>
                <a:gd name="T4" fmla="*/ 78 w 88"/>
                <a:gd name="T5" fmla="*/ 154 h 211"/>
                <a:gd name="T6" fmla="*/ 72 w 88"/>
                <a:gd name="T7" fmla="*/ 162 h 211"/>
                <a:gd name="T8" fmla="*/ 64 w 88"/>
                <a:gd name="T9" fmla="*/ 168 h 211"/>
                <a:gd name="T10" fmla="*/ 55 w 88"/>
                <a:gd name="T11" fmla="*/ 173 h 211"/>
                <a:gd name="T12" fmla="*/ 44 w 88"/>
                <a:gd name="T13" fmla="*/ 177 h 211"/>
                <a:gd name="T14" fmla="*/ 32 w 88"/>
                <a:gd name="T15" fmla="*/ 179 h 211"/>
                <a:gd name="T16" fmla="*/ 26 w 88"/>
                <a:gd name="T17" fmla="*/ 179 h 211"/>
                <a:gd name="T18" fmla="*/ 20 w 88"/>
                <a:gd name="T19" fmla="*/ 179 h 211"/>
                <a:gd name="T20" fmla="*/ 16 w 88"/>
                <a:gd name="T21" fmla="*/ 186 h 211"/>
                <a:gd name="T22" fmla="*/ 14 w 88"/>
                <a:gd name="T23" fmla="*/ 197 h 211"/>
                <a:gd name="T24" fmla="*/ 13 w 88"/>
                <a:gd name="T25" fmla="*/ 199 h 211"/>
                <a:gd name="T26" fmla="*/ 13 w 88"/>
                <a:gd name="T27" fmla="*/ 199 h 211"/>
                <a:gd name="T28" fmla="*/ 11 w 88"/>
                <a:gd name="T29" fmla="*/ 204 h 211"/>
                <a:gd name="T30" fmla="*/ 5 w 88"/>
                <a:gd name="T31" fmla="*/ 205 h 211"/>
                <a:gd name="T32" fmla="*/ 5 w 88"/>
                <a:gd name="T33" fmla="*/ 199 h 211"/>
                <a:gd name="T34" fmla="*/ 5 w 88"/>
                <a:gd name="T35" fmla="*/ 190 h 211"/>
                <a:gd name="T36" fmla="*/ 5 w 88"/>
                <a:gd name="T37" fmla="*/ 179 h 211"/>
                <a:gd name="T38" fmla="*/ 5 w 88"/>
                <a:gd name="T39" fmla="*/ 179 h 211"/>
                <a:gd name="T40" fmla="*/ 5 w 88"/>
                <a:gd name="T41" fmla="*/ 167 h 211"/>
                <a:gd name="T42" fmla="*/ 5 w 88"/>
                <a:gd name="T43" fmla="*/ 153 h 211"/>
                <a:gd name="T44" fmla="*/ 5 w 88"/>
                <a:gd name="T45" fmla="*/ 139 h 211"/>
                <a:gd name="T46" fmla="*/ 5 w 88"/>
                <a:gd name="T47" fmla="*/ 124 h 211"/>
                <a:gd name="T48" fmla="*/ 5 w 88"/>
                <a:gd name="T49" fmla="*/ 108 h 211"/>
                <a:gd name="T50" fmla="*/ 5 w 88"/>
                <a:gd name="T51" fmla="*/ 101 h 211"/>
                <a:gd name="T52" fmla="*/ 5 w 88"/>
                <a:gd name="T53" fmla="*/ 93 h 211"/>
                <a:gd name="T54" fmla="*/ 5 w 88"/>
                <a:gd name="T55" fmla="*/ 85 h 211"/>
                <a:gd name="T56" fmla="*/ 5 w 88"/>
                <a:gd name="T57" fmla="*/ 78 h 211"/>
                <a:gd name="T58" fmla="*/ 5 w 88"/>
                <a:gd name="T59" fmla="*/ 63 h 211"/>
                <a:gd name="T60" fmla="*/ 5 w 88"/>
                <a:gd name="T61" fmla="*/ 49 h 211"/>
                <a:gd name="T62" fmla="*/ 5 w 88"/>
                <a:gd name="T63" fmla="*/ 36 h 211"/>
                <a:gd name="T64" fmla="*/ 5 w 88"/>
                <a:gd name="T65" fmla="*/ 25 h 211"/>
                <a:gd name="T66" fmla="*/ 5 w 88"/>
                <a:gd name="T67" fmla="*/ 18 h 211"/>
                <a:gd name="T68" fmla="*/ 6 w 88"/>
                <a:gd name="T69" fmla="*/ 12 h 211"/>
                <a:gd name="T70" fmla="*/ 5 w 88"/>
                <a:gd name="T71" fmla="*/ 7 h 211"/>
                <a:gd name="T72" fmla="*/ 5 w 88"/>
                <a:gd name="T73" fmla="*/ 4 h 211"/>
                <a:gd name="T74" fmla="*/ 5 w 88"/>
                <a:gd name="T75" fmla="*/ 2 h 211"/>
                <a:gd name="T76" fmla="*/ 5 w 88"/>
                <a:gd name="T77" fmla="*/ 0 h 211"/>
                <a:gd name="T78" fmla="*/ 8 w 88"/>
                <a:gd name="T79" fmla="*/ 2 h 211"/>
                <a:gd name="T80" fmla="*/ 18 w 88"/>
                <a:gd name="T81" fmla="*/ 8 h 211"/>
                <a:gd name="T82" fmla="*/ 26 w 88"/>
                <a:gd name="T83" fmla="*/ 14 h 211"/>
                <a:gd name="T84" fmla="*/ 35 w 88"/>
                <a:gd name="T85" fmla="*/ 21 h 211"/>
                <a:gd name="T86" fmla="*/ 42 w 88"/>
                <a:gd name="T87" fmla="*/ 29 h 211"/>
                <a:gd name="T88" fmla="*/ 49 w 88"/>
                <a:gd name="T89" fmla="*/ 37 h 211"/>
                <a:gd name="T90" fmla="*/ 56 w 88"/>
                <a:gd name="T91" fmla="*/ 46 h 211"/>
                <a:gd name="T92" fmla="*/ 62 w 88"/>
                <a:gd name="T93" fmla="*/ 55 h 211"/>
                <a:gd name="T94" fmla="*/ 64 w 88"/>
                <a:gd name="T95" fmla="*/ 59 h 211"/>
                <a:gd name="T96" fmla="*/ 68 w 88"/>
                <a:gd name="T97" fmla="*/ 64 h 211"/>
                <a:gd name="T98" fmla="*/ 69 w 88"/>
                <a:gd name="T99" fmla="*/ 67 h 211"/>
                <a:gd name="T100" fmla="*/ 72 w 88"/>
                <a:gd name="T101" fmla="*/ 76 h 211"/>
                <a:gd name="T102" fmla="*/ 72 w 88"/>
                <a:gd name="T103" fmla="*/ 76 h 211"/>
                <a:gd name="T104" fmla="*/ 77 w 88"/>
                <a:gd name="T105" fmla="*/ 89 h 211"/>
                <a:gd name="T106" fmla="*/ 81 w 88"/>
                <a:gd name="T107" fmla="*/ 101 h 211"/>
                <a:gd name="T108" fmla="*/ 83 w 88"/>
                <a:gd name="T109" fmla="*/ 111 h 211"/>
                <a:gd name="T110" fmla="*/ 84 w 88"/>
                <a:gd name="T111" fmla="*/ 120 h 211"/>
                <a:gd name="T112" fmla="*/ 85 w 88"/>
                <a:gd name="T113" fmla="*/ 126 h 211"/>
                <a:gd name="T114" fmla="*/ 84 w 88"/>
                <a:gd name="T115" fmla="*/ 13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8" h="211">
                  <a:moveTo>
                    <a:pt x="84" y="130"/>
                  </a:moveTo>
                  <a:cubicBezTo>
                    <a:pt x="84" y="130"/>
                    <a:pt x="86" y="132"/>
                    <a:pt x="85" y="134"/>
                  </a:cubicBezTo>
                  <a:cubicBezTo>
                    <a:pt x="88" y="134"/>
                    <a:pt x="81" y="140"/>
                    <a:pt x="84" y="139"/>
                  </a:cubicBezTo>
                  <a:cubicBezTo>
                    <a:pt x="82" y="141"/>
                    <a:pt x="81" y="142"/>
                    <a:pt x="82" y="145"/>
                  </a:cubicBezTo>
                  <a:cubicBezTo>
                    <a:pt x="81" y="149"/>
                    <a:pt x="81" y="145"/>
                    <a:pt x="80" y="149"/>
                  </a:cubicBezTo>
                  <a:cubicBezTo>
                    <a:pt x="80" y="153"/>
                    <a:pt x="77" y="154"/>
                    <a:pt x="78" y="154"/>
                  </a:cubicBezTo>
                  <a:cubicBezTo>
                    <a:pt x="81" y="154"/>
                    <a:pt x="76" y="154"/>
                    <a:pt x="75" y="158"/>
                  </a:cubicBezTo>
                  <a:cubicBezTo>
                    <a:pt x="74" y="160"/>
                    <a:pt x="78" y="161"/>
                    <a:pt x="72" y="162"/>
                  </a:cubicBezTo>
                  <a:cubicBezTo>
                    <a:pt x="73" y="164"/>
                    <a:pt x="64" y="160"/>
                    <a:pt x="68" y="165"/>
                  </a:cubicBezTo>
                  <a:cubicBezTo>
                    <a:pt x="68" y="170"/>
                    <a:pt x="67" y="170"/>
                    <a:pt x="64" y="168"/>
                  </a:cubicBezTo>
                  <a:cubicBezTo>
                    <a:pt x="63" y="173"/>
                    <a:pt x="60" y="168"/>
                    <a:pt x="60" y="171"/>
                  </a:cubicBezTo>
                  <a:cubicBezTo>
                    <a:pt x="61" y="171"/>
                    <a:pt x="57" y="177"/>
                    <a:pt x="55" y="173"/>
                  </a:cubicBezTo>
                  <a:cubicBezTo>
                    <a:pt x="54" y="175"/>
                    <a:pt x="55" y="176"/>
                    <a:pt x="50" y="175"/>
                  </a:cubicBezTo>
                  <a:cubicBezTo>
                    <a:pt x="46" y="178"/>
                    <a:pt x="44" y="177"/>
                    <a:pt x="44" y="177"/>
                  </a:cubicBezTo>
                  <a:cubicBezTo>
                    <a:pt x="38" y="178"/>
                    <a:pt x="43" y="176"/>
                    <a:pt x="39" y="178"/>
                  </a:cubicBezTo>
                  <a:cubicBezTo>
                    <a:pt x="39" y="179"/>
                    <a:pt x="33" y="179"/>
                    <a:pt x="32" y="179"/>
                  </a:cubicBezTo>
                  <a:cubicBezTo>
                    <a:pt x="28" y="178"/>
                    <a:pt x="29" y="175"/>
                    <a:pt x="26" y="179"/>
                  </a:cubicBezTo>
                  <a:cubicBezTo>
                    <a:pt x="26" y="180"/>
                    <a:pt x="24" y="179"/>
                    <a:pt x="26" y="179"/>
                  </a:cubicBezTo>
                  <a:cubicBezTo>
                    <a:pt x="25" y="179"/>
                    <a:pt x="24" y="177"/>
                    <a:pt x="23" y="179"/>
                  </a:cubicBezTo>
                  <a:cubicBezTo>
                    <a:pt x="22" y="178"/>
                    <a:pt x="22" y="179"/>
                    <a:pt x="20" y="179"/>
                  </a:cubicBezTo>
                  <a:cubicBezTo>
                    <a:pt x="19" y="179"/>
                    <a:pt x="18" y="178"/>
                    <a:pt x="17" y="178"/>
                  </a:cubicBezTo>
                  <a:cubicBezTo>
                    <a:pt x="18" y="180"/>
                    <a:pt x="14" y="182"/>
                    <a:pt x="16" y="186"/>
                  </a:cubicBezTo>
                  <a:cubicBezTo>
                    <a:pt x="17" y="188"/>
                    <a:pt x="15" y="190"/>
                    <a:pt x="15" y="192"/>
                  </a:cubicBezTo>
                  <a:cubicBezTo>
                    <a:pt x="15" y="194"/>
                    <a:pt x="14" y="196"/>
                    <a:pt x="14" y="197"/>
                  </a:cubicBezTo>
                  <a:cubicBezTo>
                    <a:pt x="13" y="197"/>
                    <a:pt x="12" y="197"/>
                    <a:pt x="13" y="198"/>
                  </a:cubicBezTo>
                  <a:cubicBezTo>
                    <a:pt x="14" y="198"/>
                    <a:pt x="14" y="199"/>
                    <a:pt x="13" y="199"/>
                  </a:cubicBezTo>
                  <a:cubicBezTo>
                    <a:pt x="13" y="199"/>
                    <a:pt x="13" y="200"/>
                    <a:pt x="13" y="200"/>
                  </a:cubicBezTo>
                  <a:cubicBezTo>
                    <a:pt x="13" y="200"/>
                    <a:pt x="13" y="199"/>
                    <a:pt x="13" y="199"/>
                  </a:cubicBezTo>
                  <a:cubicBezTo>
                    <a:pt x="13" y="200"/>
                    <a:pt x="13" y="200"/>
                    <a:pt x="13" y="200"/>
                  </a:cubicBezTo>
                  <a:cubicBezTo>
                    <a:pt x="12" y="201"/>
                    <a:pt x="12" y="202"/>
                    <a:pt x="11" y="204"/>
                  </a:cubicBezTo>
                  <a:cubicBezTo>
                    <a:pt x="9" y="206"/>
                    <a:pt x="8" y="209"/>
                    <a:pt x="5" y="211"/>
                  </a:cubicBezTo>
                  <a:cubicBezTo>
                    <a:pt x="5" y="211"/>
                    <a:pt x="5" y="209"/>
                    <a:pt x="5" y="205"/>
                  </a:cubicBezTo>
                  <a:cubicBezTo>
                    <a:pt x="5" y="204"/>
                    <a:pt x="6" y="203"/>
                    <a:pt x="5" y="202"/>
                  </a:cubicBezTo>
                  <a:cubicBezTo>
                    <a:pt x="4" y="201"/>
                    <a:pt x="5" y="201"/>
                    <a:pt x="5" y="199"/>
                  </a:cubicBezTo>
                  <a:cubicBezTo>
                    <a:pt x="4" y="198"/>
                    <a:pt x="5" y="198"/>
                    <a:pt x="5" y="195"/>
                  </a:cubicBezTo>
                  <a:cubicBezTo>
                    <a:pt x="5" y="194"/>
                    <a:pt x="7" y="194"/>
                    <a:pt x="5" y="190"/>
                  </a:cubicBezTo>
                  <a:cubicBezTo>
                    <a:pt x="6" y="189"/>
                    <a:pt x="10" y="187"/>
                    <a:pt x="5" y="185"/>
                  </a:cubicBezTo>
                  <a:cubicBezTo>
                    <a:pt x="9" y="184"/>
                    <a:pt x="6" y="179"/>
                    <a:pt x="5" y="179"/>
                  </a:cubicBezTo>
                  <a:cubicBezTo>
                    <a:pt x="5" y="179"/>
                    <a:pt x="5" y="179"/>
                    <a:pt x="5" y="179"/>
                  </a:cubicBezTo>
                  <a:cubicBezTo>
                    <a:pt x="5" y="179"/>
                    <a:pt x="5" y="179"/>
                    <a:pt x="5" y="179"/>
                  </a:cubicBezTo>
                  <a:cubicBezTo>
                    <a:pt x="5" y="175"/>
                    <a:pt x="2" y="173"/>
                    <a:pt x="5" y="173"/>
                  </a:cubicBezTo>
                  <a:cubicBezTo>
                    <a:pt x="7" y="170"/>
                    <a:pt x="7" y="168"/>
                    <a:pt x="5" y="167"/>
                  </a:cubicBezTo>
                  <a:cubicBezTo>
                    <a:pt x="7" y="165"/>
                    <a:pt x="6" y="162"/>
                    <a:pt x="5" y="160"/>
                  </a:cubicBezTo>
                  <a:cubicBezTo>
                    <a:pt x="3" y="162"/>
                    <a:pt x="7" y="155"/>
                    <a:pt x="5" y="153"/>
                  </a:cubicBezTo>
                  <a:cubicBezTo>
                    <a:pt x="3" y="151"/>
                    <a:pt x="1" y="153"/>
                    <a:pt x="5" y="146"/>
                  </a:cubicBezTo>
                  <a:cubicBezTo>
                    <a:pt x="6" y="146"/>
                    <a:pt x="3" y="143"/>
                    <a:pt x="5" y="139"/>
                  </a:cubicBezTo>
                  <a:cubicBezTo>
                    <a:pt x="4" y="138"/>
                    <a:pt x="3" y="140"/>
                    <a:pt x="5" y="132"/>
                  </a:cubicBezTo>
                  <a:cubicBezTo>
                    <a:pt x="8" y="129"/>
                    <a:pt x="4" y="126"/>
                    <a:pt x="5" y="124"/>
                  </a:cubicBezTo>
                  <a:cubicBezTo>
                    <a:pt x="6" y="125"/>
                    <a:pt x="4" y="118"/>
                    <a:pt x="5" y="116"/>
                  </a:cubicBezTo>
                  <a:cubicBezTo>
                    <a:pt x="5" y="117"/>
                    <a:pt x="9" y="108"/>
                    <a:pt x="5" y="108"/>
                  </a:cubicBezTo>
                  <a:cubicBezTo>
                    <a:pt x="4" y="107"/>
                    <a:pt x="4" y="106"/>
                    <a:pt x="5" y="105"/>
                  </a:cubicBezTo>
                  <a:cubicBezTo>
                    <a:pt x="5" y="104"/>
                    <a:pt x="7" y="103"/>
                    <a:pt x="5" y="101"/>
                  </a:cubicBezTo>
                  <a:cubicBezTo>
                    <a:pt x="5" y="101"/>
                    <a:pt x="7" y="98"/>
                    <a:pt x="6" y="97"/>
                  </a:cubicBezTo>
                  <a:cubicBezTo>
                    <a:pt x="5" y="96"/>
                    <a:pt x="7" y="93"/>
                    <a:pt x="5" y="93"/>
                  </a:cubicBezTo>
                  <a:cubicBezTo>
                    <a:pt x="6" y="91"/>
                    <a:pt x="6" y="88"/>
                    <a:pt x="6" y="90"/>
                  </a:cubicBezTo>
                  <a:cubicBezTo>
                    <a:pt x="6" y="88"/>
                    <a:pt x="7" y="90"/>
                    <a:pt x="5" y="85"/>
                  </a:cubicBezTo>
                  <a:cubicBezTo>
                    <a:pt x="8" y="86"/>
                    <a:pt x="7" y="85"/>
                    <a:pt x="5" y="84"/>
                  </a:cubicBezTo>
                  <a:cubicBezTo>
                    <a:pt x="6" y="82"/>
                    <a:pt x="5" y="80"/>
                    <a:pt x="5" y="78"/>
                  </a:cubicBezTo>
                  <a:cubicBezTo>
                    <a:pt x="5" y="74"/>
                    <a:pt x="0" y="70"/>
                    <a:pt x="5" y="70"/>
                  </a:cubicBezTo>
                  <a:cubicBezTo>
                    <a:pt x="3" y="66"/>
                    <a:pt x="2" y="66"/>
                    <a:pt x="5" y="63"/>
                  </a:cubicBezTo>
                  <a:cubicBezTo>
                    <a:pt x="7" y="58"/>
                    <a:pt x="10" y="56"/>
                    <a:pt x="5" y="56"/>
                  </a:cubicBezTo>
                  <a:cubicBezTo>
                    <a:pt x="6" y="52"/>
                    <a:pt x="6" y="54"/>
                    <a:pt x="5" y="49"/>
                  </a:cubicBezTo>
                  <a:cubicBezTo>
                    <a:pt x="7" y="47"/>
                    <a:pt x="7" y="43"/>
                    <a:pt x="5" y="43"/>
                  </a:cubicBezTo>
                  <a:cubicBezTo>
                    <a:pt x="3" y="41"/>
                    <a:pt x="5" y="36"/>
                    <a:pt x="5" y="36"/>
                  </a:cubicBezTo>
                  <a:cubicBezTo>
                    <a:pt x="5" y="29"/>
                    <a:pt x="5" y="32"/>
                    <a:pt x="5" y="31"/>
                  </a:cubicBezTo>
                  <a:cubicBezTo>
                    <a:pt x="9" y="32"/>
                    <a:pt x="3" y="30"/>
                    <a:pt x="5" y="25"/>
                  </a:cubicBezTo>
                  <a:cubicBezTo>
                    <a:pt x="2" y="25"/>
                    <a:pt x="5" y="20"/>
                    <a:pt x="5" y="20"/>
                  </a:cubicBezTo>
                  <a:cubicBezTo>
                    <a:pt x="5" y="19"/>
                    <a:pt x="2" y="18"/>
                    <a:pt x="5" y="18"/>
                  </a:cubicBezTo>
                  <a:cubicBezTo>
                    <a:pt x="4" y="15"/>
                    <a:pt x="3" y="16"/>
                    <a:pt x="5" y="15"/>
                  </a:cubicBezTo>
                  <a:cubicBezTo>
                    <a:pt x="7" y="16"/>
                    <a:pt x="5" y="12"/>
                    <a:pt x="6" y="12"/>
                  </a:cubicBezTo>
                  <a:cubicBezTo>
                    <a:pt x="4" y="11"/>
                    <a:pt x="5" y="10"/>
                    <a:pt x="5" y="11"/>
                  </a:cubicBezTo>
                  <a:cubicBezTo>
                    <a:pt x="6" y="7"/>
                    <a:pt x="2" y="10"/>
                    <a:pt x="5" y="7"/>
                  </a:cubicBezTo>
                  <a:cubicBezTo>
                    <a:pt x="6" y="4"/>
                    <a:pt x="8" y="2"/>
                    <a:pt x="6" y="4"/>
                  </a:cubicBezTo>
                  <a:cubicBezTo>
                    <a:pt x="6" y="5"/>
                    <a:pt x="6" y="5"/>
                    <a:pt x="5" y="4"/>
                  </a:cubicBezTo>
                  <a:cubicBezTo>
                    <a:pt x="5" y="4"/>
                    <a:pt x="6" y="4"/>
                    <a:pt x="6" y="4"/>
                  </a:cubicBezTo>
                  <a:cubicBezTo>
                    <a:pt x="6" y="3"/>
                    <a:pt x="6" y="2"/>
                    <a:pt x="5" y="2"/>
                  </a:cubicBezTo>
                  <a:cubicBezTo>
                    <a:pt x="2" y="3"/>
                    <a:pt x="5" y="0"/>
                    <a:pt x="5" y="1"/>
                  </a:cubicBezTo>
                  <a:cubicBezTo>
                    <a:pt x="3" y="2"/>
                    <a:pt x="7" y="1"/>
                    <a:pt x="5" y="0"/>
                  </a:cubicBezTo>
                  <a:cubicBezTo>
                    <a:pt x="6" y="0"/>
                    <a:pt x="7" y="1"/>
                    <a:pt x="7" y="1"/>
                  </a:cubicBezTo>
                  <a:cubicBezTo>
                    <a:pt x="6" y="0"/>
                    <a:pt x="9" y="4"/>
                    <a:pt x="8" y="2"/>
                  </a:cubicBezTo>
                  <a:cubicBezTo>
                    <a:pt x="8" y="2"/>
                    <a:pt x="10" y="3"/>
                    <a:pt x="13" y="5"/>
                  </a:cubicBezTo>
                  <a:cubicBezTo>
                    <a:pt x="13" y="6"/>
                    <a:pt x="17" y="10"/>
                    <a:pt x="18" y="8"/>
                  </a:cubicBezTo>
                  <a:cubicBezTo>
                    <a:pt x="24" y="10"/>
                    <a:pt x="20" y="10"/>
                    <a:pt x="22" y="11"/>
                  </a:cubicBezTo>
                  <a:cubicBezTo>
                    <a:pt x="24" y="14"/>
                    <a:pt x="25" y="11"/>
                    <a:pt x="26" y="14"/>
                  </a:cubicBezTo>
                  <a:cubicBezTo>
                    <a:pt x="27" y="13"/>
                    <a:pt x="28" y="18"/>
                    <a:pt x="31" y="18"/>
                  </a:cubicBezTo>
                  <a:cubicBezTo>
                    <a:pt x="33" y="21"/>
                    <a:pt x="33" y="19"/>
                    <a:pt x="35" y="21"/>
                  </a:cubicBezTo>
                  <a:cubicBezTo>
                    <a:pt x="34" y="21"/>
                    <a:pt x="34" y="25"/>
                    <a:pt x="39" y="25"/>
                  </a:cubicBezTo>
                  <a:cubicBezTo>
                    <a:pt x="41" y="27"/>
                    <a:pt x="42" y="26"/>
                    <a:pt x="42" y="29"/>
                  </a:cubicBezTo>
                  <a:cubicBezTo>
                    <a:pt x="42" y="35"/>
                    <a:pt x="44" y="34"/>
                    <a:pt x="46" y="33"/>
                  </a:cubicBezTo>
                  <a:cubicBezTo>
                    <a:pt x="50" y="36"/>
                    <a:pt x="51" y="35"/>
                    <a:pt x="49" y="37"/>
                  </a:cubicBezTo>
                  <a:cubicBezTo>
                    <a:pt x="50" y="40"/>
                    <a:pt x="55" y="37"/>
                    <a:pt x="53" y="41"/>
                  </a:cubicBezTo>
                  <a:cubicBezTo>
                    <a:pt x="52" y="42"/>
                    <a:pt x="56" y="43"/>
                    <a:pt x="56" y="46"/>
                  </a:cubicBezTo>
                  <a:cubicBezTo>
                    <a:pt x="54" y="45"/>
                    <a:pt x="56" y="54"/>
                    <a:pt x="59" y="50"/>
                  </a:cubicBezTo>
                  <a:cubicBezTo>
                    <a:pt x="63" y="54"/>
                    <a:pt x="56" y="53"/>
                    <a:pt x="62" y="55"/>
                  </a:cubicBezTo>
                  <a:cubicBezTo>
                    <a:pt x="59" y="56"/>
                    <a:pt x="60" y="55"/>
                    <a:pt x="63" y="57"/>
                  </a:cubicBezTo>
                  <a:cubicBezTo>
                    <a:pt x="61" y="56"/>
                    <a:pt x="63" y="59"/>
                    <a:pt x="64" y="59"/>
                  </a:cubicBezTo>
                  <a:cubicBezTo>
                    <a:pt x="66" y="62"/>
                    <a:pt x="67" y="63"/>
                    <a:pt x="68" y="64"/>
                  </a:cubicBezTo>
                  <a:cubicBezTo>
                    <a:pt x="68" y="64"/>
                    <a:pt x="68" y="65"/>
                    <a:pt x="68" y="64"/>
                  </a:cubicBezTo>
                  <a:cubicBezTo>
                    <a:pt x="67" y="63"/>
                    <a:pt x="67" y="63"/>
                    <a:pt x="67" y="63"/>
                  </a:cubicBezTo>
                  <a:cubicBezTo>
                    <a:pt x="67" y="65"/>
                    <a:pt x="66" y="62"/>
                    <a:pt x="69" y="67"/>
                  </a:cubicBezTo>
                  <a:cubicBezTo>
                    <a:pt x="69" y="71"/>
                    <a:pt x="73" y="69"/>
                    <a:pt x="71" y="72"/>
                  </a:cubicBezTo>
                  <a:cubicBezTo>
                    <a:pt x="71" y="74"/>
                    <a:pt x="72" y="76"/>
                    <a:pt x="72" y="76"/>
                  </a:cubicBezTo>
                  <a:cubicBezTo>
                    <a:pt x="72" y="76"/>
                    <a:pt x="72" y="76"/>
                    <a:pt x="72" y="76"/>
                  </a:cubicBezTo>
                  <a:cubicBezTo>
                    <a:pt x="72" y="76"/>
                    <a:pt x="72" y="76"/>
                    <a:pt x="72" y="76"/>
                  </a:cubicBezTo>
                  <a:cubicBezTo>
                    <a:pt x="71" y="79"/>
                    <a:pt x="73" y="82"/>
                    <a:pt x="75" y="82"/>
                  </a:cubicBezTo>
                  <a:cubicBezTo>
                    <a:pt x="75" y="86"/>
                    <a:pt x="76" y="89"/>
                    <a:pt x="77" y="89"/>
                  </a:cubicBezTo>
                  <a:cubicBezTo>
                    <a:pt x="80" y="87"/>
                    <a:pt x="78" y="97"/>
                    <a:pt x="79" y="95"/>
                  </a:cubicBezTo>
                  <a:cubicBezTo>
                    <a:pt x="78" y="99"/>
                    <a:pt x="82" y="98"/>
                    <a:pt x="81" y="101"/>
                  </a:cubicBezTo>
                  <a:cubicBezTo>
                    <a:pt x="81" y="102"/>
                    <a:pt x="83" y="100"/>
                    <a:pt x="82" y="106"/>
                  </a:cubicBezTo>
                  <a:cubicBezTo>
                    <a:pt x="88" y="108"/>
                    <a:pt x="84" y="112"/>
                    <a:pt x="83" y="111"/>
                  </a:cubicBezTo>
                  <a:cubicBezTo>
                    <a:pt x="80" y="113"/>
                    <a:pt x="84" y="114"/>
                    <a:pt x="84" y="116"/>
                  </a:cubicBezTo>
                  <a:cubicBezTo>
                    <a:pt x="86" y="121"/>
                    <a:pt x="85" y="117"/>
                    <a:pt x="84" y="120"/>
                  </a:cubicBezTo>
                  <a:cubicBezTo>
                    <a:pt x="86" y="122"/>
                    <a:pt x="86" y="119"/>
                    <a:pt x="85" y="124"/>
                  </a:cubicBezTo>
                  <a:cubicBezTo>
                    <a:pt x="83" y="121"/>
                    <a:pt x="86" y="125"/>
                    <a:pt x="85" y="126"/>
                  </a:cubicBezTo>
                  <a:cubicBezTo>
                    <a:pt x="87" y="124"/>
                    <a:pt x="84" y="131"/>
                    <a:pt x="85" y="130"/>
                  </a:cubicBezTo>
                  <a:cubicBezTo>
                    <a:pt x="84" y="130"/>
                    <a:pt x="84" y="130"/>
                    <a:pt x="84" y="130"/>
                  </a:cubicBezTo>
                  <a:close/>
                </a:path>
              </a:pathLst>
            </a:cu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28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
        <p:nvSpPr>
          <p:cNvPr id="23" name="Rectangle 8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6867525" y="507365"/>
            <a:ext cx="5088255" cy="5016758"/>
          </a:xfrm>
          <a:prstGeom prst="rect">
            <a:avLst/>
          </a:prstGeom>
        </p:spPr>
        <p:txBody>
          <a:bodyPr wrap="square">
            <a:spAutoFit/>
          </a:bodyPr>
          <a:lstStyle/>
          <a:p>
            <a:pPr>
              <a:lnSpc>
                <a:spcPct val="200000"/>
              </a:lnSpc>
            </a:pPr>
            <a:r>
              <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rPr>
              <a:t>By using formatted strings,it generates the unified format strings. By saving the document, we pass the CIK in the first step to the third step and output the txt document.Then we can reduce the following workload. We choose \t as separator so that we can use </a:t>
            </a:r>
            <a:r>
              <a:rPr lang="en-US" altLang="zh-CN" sz="2000" b="1" dirty="0" err="1">
                <a:solidFill>
                  <a:srgbClr val="F0C76A"/>
                </a:solidFill>
                <a:latin typeface="Open Sans" panose="020B0606030504020204" pitchFamily="34" charset="0"/>
                <a:ea typeface="Open Sans" panose="020B0606030504020204" pitchFamily="34" charset="0"/>
                <a:cs typeface="Open Sans" panose="020B0606030504020204" pitchFamily="34" charset="0"/>
              </a:rPr>
              <a:t>string.split</a:t>
            </a:r>
            <a:r>
              <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rPr>
              <a:t> () to make them into LIST.</a:t>
            </a:r>
            <a:endParaRPr lang="en-US" altLang="zh-CN" sz="2000" b="1" dirty="0">
              <a:solidFill>
                <a:srgbClr val="F0C76A"/>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任意多边形 2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034217" y="2073837"/>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任意多边形 2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034218" y="3221503"/>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6" name="任意多边形 3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034217" y="4369169"/>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7" name="任意多边形 3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5400000" flipV="1">
            <a:off x="6034218" y="5516834"/>
            <a:ext cx="748325" cy="113118"/>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6"/>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4"/>
                                        </p:tgtEl>
                                        <p:attrNameLst>
                                          <p:attrName>ppt_x</p:attrName>
                                          <p:attrName>ppt_y</p:attrName>
                                        </p:attrNameLst>
                                      </p:cBhvr>
                                      <p:rCtr x="3034" y="0"/>
                                    </p:animMotion>
                                  </p:childTnLst>
                                </p:cTn>
                              </p:par>
                              <p:par>
                                <p:cTn id="15" presetID="10" presetClass="entr" presetSubtype="0" fill="hold" nodeType="withEffect">
                                  <p:stCondLst>
                                    <p:cond delay="50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par>
                                <p:cTn id="18" presetID="63" presetClass="path" presetSubtype="0" accel="50000" decel="50000" fill="hold" nodeType="withEffect">
                                  <p:stCondLst>
                                    <p:cond delay="500"/>
                                  </p:stCondLst>
                                  <p:childTnLst>
                                    <p:animMotion origin="layout" path="M 3.125E-6 0.18356 L 3.125E-6 3.33333E-6 " pathEditMode="relative" rAng="0" ptsTypes="AA">
                                      <p:cBhvr>
                                        <p:cTn id="19" dur="2000" fill="hold"/>
                                        <p:tgtEl>
                                          <p:spTgt spid="2"/>
                                        </p:tgtEl>
                                        <p:attrNameLst>
                                          <p:attrName>ppt_x</p:attrName>
                                          <p:attrName>ppt_y</p:attrName>
                                        </p:attrNameLst>
                                      </p:cBhvr>
                                      <p:rCtr x="0" y="-9190"/>
                                    </p:animMotion>
                                  </p:childTnLst>
                                </p:cTn>
                              </p:par>
                              <p:par>
                                <p:cTn id="20" presetID="22" presetClass="entr" presetSubtype="8" fill="hold" grpId="0" nodeType="withEffect">
                                  <p:stCondLst>
                                    <p:cond delay="225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1000"/>
                                        <p:tgtEl>
                                          <p:spTgt spid="23"/>
                                        </p:tgtEl>
                                      </p:cBhvr>
                                    </p:animEffect>
                                  </p:childTnLst>
                                </p:cTn>
                              </p:par>
                              <p:par>
                                <p:cTn id="23" presetID="10" presetClass="entr" presetSubtype="0" fill="hold" grpId="0" nodeType="withEffect">
                                  <p:stCondLst>
                                    <p:cond delay="10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par>
                                <p:cTn id="26" presetID="63" presetClass="path" presetSubtype="0" accel="50000" decel="50000" fill="hold" grpId="1" nodeType="withEffect">
                                  <p:stCondLst>
                                    <p:cond delay="1000"/>
                                  </p:stCondLst>
                                  <p:childTnLst>
                                    <p:animMotion origin="layout" path="M -0.00013 0.19004 L -8.33333E-7 1.85185E-6 " pathEditMode="relative" rAng="0" ptsTypes="AA">
                                      <p:cBhvr>
                                        <p:cTn id="27" dur="2000" fill="hold"/>
                                        <p:tgtEl>
                                          <p:spTgt spid="26"/>
                                        </p:tgtEl>
                                        <p:attrNameLst>
                                          <p:attrName>ppt_x</p:attrName>
                                          <p:attrName>ppt_y</p:attrName>
                                        </p:attrNameLst>
                                      </p:cBhvr>
                                      <p:rCtr x="0" y="-9514"/>
                                    </p:animMotion>
                                  </p:childTnLst>
                                </p:cTn>
                              </p:par>
                              <p:par>
                                <p:cTn id="28" presetID="10" presetClass="entr" presetSubtype="0" fill="hold" grpId="0" nodeType="withEffect">
                                  <p:stCondLst>
                                    <p:cond delay="1250"/>
                                  </p:stCondLst>
                                  <p:childTnLst>
                                    <p:set>
                                      <p:cBhvr>
                                        <p:cTn id="29" dur="1" fill="hold">
                                          <p:stCondLst>
                                            <p:cond delay="0"/>
                                          </p:stCondLst>
                                        </p:cTn>
                                        <p:tgtEl>
                                          <p:spTgt spid="27"/>
                                        </p:tgtEl>
                                        <p:attrNameLst>
                                          <p:attrName>style.visibility</p:attrName>
                                        </p:attrNameLst>
                                      </p:cBhvr>
                                      <p:to>
                                        <p:strVal val="visible"/>
                                      </p:to>
                                    </p:set>
                                    <p:animEffect transition="in" filter="fade">
                                      <p:cBhvr>
                                        <p:cTn id="30" dur="500"/>
                                        <p:tgtEl>
                                          <p:spTgt spid="27"/>
                                        </p:tgtEl>
                                      </p:cBhvr>
                                    </p:animEffect>
                                  </p:childTnLst>
                                </p:cTn>
                              </p:par>
                              <p:par>
                                <p:cTn id="31" presetID="63" presetClass="path" presetSubtype="0" accel="50000" decel="50000" fill="hold" grpId="1" nodeType="withEffect">
                                  <p:stCondLst>
                                    <p:cond delay="1250"/>
                                  </p:stCondLst>
                                  <p:childTnLst>
                                    <p:animMotion origin="layout" path="M -0.00013 0.19005 L -8.33333E-7 7.40741E-7 " pathEditMode="relative" rAng="0" ptsTypes="AA">
                                      <p:cBhvr>
                                        <p:cTn id="32" dur="2000" fill="hold"/>
                                        <p:tgtEl>
                                          <p:spTgt spid="27"/>
                                        </p:tgtEl>
                                        <p:attrNameLst>
                                          <p:attrName>ppt_x</p:attrName>
                                          <p:attrName>ppt_y</p:attrName>
                                        </p:attrNameLst>
                                      </p:cBhvr>
                                      <p:rCtr x="0" y="-9514"/>
                                    </p:animMotion>
                                  </p:childTnLst>
                                </p:cTn>
                              </p:par>
                              <p:par>
                                <p:cTn id="33" presetID="10" presetClass="entr" presetSubtype="0" fill="hold" grpId="0" nodeType="withEffect">
                                  <p:stCondLst>
                                    <p:cond delay="150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par>
                                <p:cTn id="36" presetID="63" presetClass="path" presetSubtype="0" accel="50000" decel="50000" fill="hold" grpId="1" nodeType="withEffect">
                                  <p:stCondLst>
                                    <p:cond delay="1500"/>
                                  </p:stCondLst>
                                  <p:childTnLst>
                                    <p:animMotion origin="layout" path="M -0.00013 0.19005 L -8.33333E-7 1.11111E-6 " pathEditMode="relative" rAng="0" ptsTypes="AA">
                                      <p:cBhvr>
                                        <p:cTn id="37" dur="2000" fill="hold"/>
                                        <p:tgtEl>
                                          <p:spTgt spid="36"/>
                                        </p:tgtEl>
                                        <p:attrNameLst>
                                          <p:attrName>ppt_x</p:attrName>
                                          <p:attrName>ppt_y</p:attrName>
                                        </p:attrNameLst>
                                      </p:cBhvr>
                                      <p:rCtr x="0" y="-9514"/>
                                    </p:animMotion>
                                  </p:childTnLst>
                                </p:cTn>
                              </p:par>
                              <p:par>
                                <p:cTn id="38" presetID="10" presetClass="entr" presetSubtype="0" fill="hold" grpId="0" nodeType="withEffect">
                                  <p:stCondLst>
                                    <p:cond delay="175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par>
                                <p:cTn id="41" presetID="63" presetClass="path" presetSubtype="0" accel="50000" decel="50000" fill="hold" grpId="1" nodeType="withEffect">
                                  <p:stCondLst>
                                    <p:cond delay="1750"/>
                                  </p:stCondLst>
                                  <p:childTnLst>
                                    <p:animMotion origin="layout" path="M -0.00013 0.19005 L -8.33333E-7 0 " pathEditMode="relative" rAng="0" ptsTypes="AA">
                                      <p:cBhvr>
                                        <p:cTn id="42" dur="2000" fill="hold"/>
                                        <p:tgtEl>
                                          <p:spTgt spid="37"/>
                                        </p:tgtEl>
                                        <p:attrNameLst>
                                          <p:attrName>ppt_x</p:attrName>
                                          <p:attrName>ppt_y</p:attrName>
                                        </p:attrNameLst>
                                      </p:cBhvr>
                                      <p:rCtr x="0" y="-951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animBg="1"/>
      <p:bldP spid="6" grpId="1" animBg="1"/>
      <p:bldP spid="23" grpId="0"/>
      <p:bldP spid="26" grpId="0" animBg="1"/>
      <p:bldP spid="26" grpId="1" animBg="1"/>
      <p:bldP spid="27" grpId="0" animBg="1"/>
      <p:bldP spid="27" grpId="1" animBg="1"/>
      <p:bldP spid="36" grpId="0" animBg="1"/>
      <p:bldP spid="36" grpId="1" animBg="1"/>
      <p:bldP spid="37" grpId="0" animBg="1"/>
      <p:bldP spid="37"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58775" y="346710"/>
            <a:ext cx="3161030" cy="645160"/>
          </a:xfrm>
          <a:prstGeom prst="rect">
            <a:avLst/>
          </a:prstGeom>
          <a:noFill/>
        </p:spPr>
        <p:txBody>
          <a:bodyPr wrap="square" rtlCol="0">
            <a:spAutoFit/>
            <a:scene3d>
              <a:camera prst="orthographicFront">
                <a:rot lat="0" lon="0" rev="0"/>
              </a:camera>
              <a:lightRig rig="threePt" dir="t"/>
            </a:scene3d>
          </a:bodyPr>
          <a:lstStyle/>
          <a:p>
            <a:pPr algn="ctr"/>
            <a:r>
              <a:rPr 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OUTCOME</a:t>
            </a:r>
            <a:endParaRPr 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802815"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矩形 11"/>
          <p:cNvSpPr/>
          <p:nvPr/>
        </p:nvSpPr>
        <p:spPr>
          <a:xfrm>
            <a:off x="1178621" y="4421116"/>
            <a:ext cx="2221415" cy="261610"/>
          </a:xfrm>
          <a:prstGeom prst="rect">
            <a:avLst/>
          </a:prstGeom>
        </p:spPr>
        <p:txBody>
          <a:bodyPr wrap="square">
            <a:spAutoFit/>
          </a:bodyPr>
          <a:lstStyle/>
          <a:p>
            <a:pPr algn="ctr"/>
            <a:r>
              <a:rPr lang="en-US" altLang="zh-CN" sz="1100" dirty="0">
                <a:solidFill>
                  <a:prstClr val="white"/>
                </a:solidFill>
                <a:latin typeface="Open Sans" panose="020B0606030504020204" pitchFamily="34" charset="0"/>
                <a:ea typeface="Open Sans" panose="020B0606030504020204" pitchFamily="34" charset="0"/>
                <a:cs typeface="Open Sans" panose="020B0606030504020204" pitchFamily="34" charset="0"/>
              </a:rPr>
              <a:t>. </a:t>
            </a:r>
            <a:endParaRPr lang="zh-CN" altLang="en-US" sz="1100" dirty="0">
              <a:solidFill>
                <a:prstClr val="white"/>
              </a:solidFill>
              <a:latin typeface="Open Sans" panose="020B0606030504020204" pitchFamily="34" charset="0"/>
              <a:cs typeface="Open Sans" panose="020B0606030504020204" pitchFamily="34" charset="0"/>
            </a:endParaRPr>
          </a:p>
        </p:txBody>
      </p:sp>
      <p:sp>
        <p:nvSpPr>
          <p:cNvPr id="14" name="矩形 13"/>
          <p:cNvSpPr/>
          <p:nvPr/>
        </p:nvSpPr>
        <p:spPr>
          <a:xfrm>
            <a:off x="4601924" y="4068714"/>
            <a:ext cx="184731"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grpSp>
        <p:nvGrpSpPr>
          <p:cNvPr id="19" name="组合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363402" y="4068714"/>
            <a:ext cx="2221415" cy="614012"/>
            <a:chOff x="2317117" y="2062784"/>
            <a:chExt cx="3997789" cy="614012"/>
          </a:xfrm>
        </p:grpSpPr>
        <p:sp>
          <p:nvSpPr>
            <p:cNvPr id="20" name="矩形 19"/>
            <p:cNvSpPr/>
            <p:nvPr/>
          </p:nvSpPr>
          <p:spPr>
            <a:xfrm>
              <a:off x="4149785" y="2062784"/>
              <a:ext cx="332453"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sp>
          <p:nvSpPr>
            <p:cNvPr id="21" name="矩形 20"/>
            <p:cNvSpPr/>
            <p:nvPr/>
          </p:nvSpPr>
          <p:spPr>
            <a:xfrm>
              <a:off x="2317117" y="2415186"/>
              <a:ext cx="3997789" cy="261610"/>
            </a:xfrm>
            <a:prstGeom prst="rect">
              <a:avLst/>
            </a:prstGeom>
          </p:spPr>
          <p:txBody>
            <a:bodyPr wrap="square">
              <a:spAutoFit/>
            </a:bodyPr>
            <a:lstStyle/>
            <a:p>
              <a:pPr algn="ctr"/>
              <a:endParaRPr lang="zh-CN" altLang="en-US" sz="1100" dirty="0">
                <a:solidFill>
                  <a:prstClr val="white"/>
                </a:solidFill>
                <a:latin typeface="Open Sans" panose="020B0606030504020204" pitchFamily="34" charset="0"/>
                <a:cs typeface="Open Sans" panose="020B0606030504020204" pitchFamily="34" charset="0"/>
              </a:endParaRPr>
            </a:p>
          </p:txBody>
        </p:sp>
      </p:grpSp>
      <p:sp>
        <p:nvSpPr>
          <p:cNvPr id="26" name="任意多边形 2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1690684" y="1930682"/>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任意多边形 2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5304356" y="3909463"/>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任意多边形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8702254" y="1939135"/>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solidFill>
                  <a:prstClr val="black"/>
                </a:solidFill>
              </a:rPr>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solidFill>
                <a:prstClr val="black"/>
              </a:solidFill>
            </a:endParaRPr>
          </a:p>
        </p:txBody>
      </p:sp>
      <p:sp>
        <p:nvSpPr>
          <p:cNvPr id="2" name="文本框 1"/>
          <p:cNvSpPr txBox="1"/>
          <p:nvPr/>
        </p:nvSpPr>
        <p:spPr>
          <a:xfrm>
            <a:off x="3519805" y="3955415"/>
            <a:ext cx="3862705" cy="953135"/>
          </a:xfrm>
          <a:prstGeom prst="rect">
            <a:avLst/>
          </a:prstGeom>
          <a:noFill/>
        </p:spPr>
        <p:txBody>
          <a:bodyPr wrap="square" rtlCol="0">
            <a:spAutoFit/>
          </a:bodyPr>
          <a:lstStyle/>
          <a:p>
            <a:pPr algn="ctr"/>
            <a:r>
              <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sym typeface="+mn-ea"/>
              </a:rPr>
              <a:t>Companies ranking </a:t>
            </a:r>
            <a:endPar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endParaRPr>
          </a:p>
          <a:p>
            <a:pPr algn="ctr"/>
            <a:r>
              <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sym typeface="+mn-ea"/>
              </a:rPr>
              <a:t>among the top ten</a:t>
            </a:r>
            <a:endParaRPr lang="en-US" altLang="zh-CN" sz="2800" b="1">
              <a:ln w="12700" cmpd="sng">
                <a:solidFill>
                  <a:srgbClr val="FFC000"/>
                </a:solidFill>
                <a:prstDash val="solid"/>
              </a:ln>
              <a:gradFill>
                <a:gsLst>
                  <a:gs pos="0">
                    <a:srgbClr val="FFC000"/>
                  </a:gs>
                  <a:gs pos="4000">
                    <a:srgbClr val="FFC000">
                      <a:lumMod val="60000"/>
                      <a:lumOff val="40000"/>
                    </a:srgbClr>
                  </a:gs>
                  <a:gs pos="87000">
                    <a:srgbClr val="FFC000">
                      <a:lumMod val="20000"/>
                      <a:lumOff val="80000"/>
                    </a:srgbClr>
                  </a:gs>
                </a:gsLst>
                <a:lin ang="5400000"/>
              </a:gradFill>
              <a:latin typeface="Comic Sans MS" panose="030F0702030302020204" charset="0"/>
            </a:endParaRPr>
          </a:p>
        </p:txBody>
      </p:sp>
      <p:sp>
        <p:nvSpPr>
          <p:cNvPr id="3" name="文本框 2"/>
          <p:cNvSpPr txBox="1"/>
          <p:nvPr/>
        </p:nvSpPr>
        <p:spPr>
          <a:xfrm>
            <a:off x="3519805" y="1068705"/>
            <a:ext cx="4535805" cy="2886710"/>
          </a:xfrm>
          <a:prstGeom prst="rect">
            <a:avLst/>
          </a:prstGeom>
          <a:noFill/>
        </p:spPr>
        <p:txBody>
          <a:bodyPr wrap="square" rtlCol="0">
            <a:spAutoFit/>
          </a:bodyPr>
          <a:lstStyle/>
          <a:p>
            <a:r>
              <a:rPr lang="zh-CN" altLang="en-US" sz="2800" baseline="30000">
                <a:solidFill>
                  <a:prstClr val="white"/>
                </a:solidFill>
              </a:rPr>
              <a:t>790.9032840708696	0000042136</a:t>
            </a:r>
            <a:endParaRPr lang="zh-CN" altLang="en-US" sz="2800" baseline="30000">
              <a:solidFill>
                <a:prstClr val="white"/>
              </a:solidFill>
            </a:endParaRPr>
          </a:p>
          <a:p>
            <a:r>
              <a:rPr lang="zh-CN" altLang="en-US" sz="2800" baseline="30000">
                <a:solidFill>
                  <a:prstClr val="white"/>
                </a:solidFill>
              </a:rPr>
              <a:t>527.2005619089598	0001380706</a:t>
            </a:r>
            <a:endParaRPr lang="zh-CN" altLang="en-US" sz="2800" baseline="30000">
              <a:solidFill>
                <a:prstClr val="white"/>
              </a:solidFill>
            </a:endParaRPr>
          </a:p>
          <a:p>
            <a:r>
              <a:rPr lang="zh-CN" altLang="en-US" sz="2800" baseline="30000">
                <a:solidFill>
                  <a:prstClr val="white"/>
                </a:solidFill>
              </a:rPr>
              <a:t>332.1362294007186	0001527675</a:t>
            </a:r>
            <a:endParaRPr lang="zh-CN" altLang="en-US" sz="2800" baseline="30000">
              <a:solidFill>
                <a:prstClr val="white"/>
              </a:solidFill>
            </a:endParaRPr>
          </a:p>
          <a:p>
            <a:r>
              <a:rPr lang="zh-CN" altLang="en-US" sz="2800" baseline="30000">
                <a:solidFill>
                  <a:prstClr val="white"/>
                </a:solidFill>
              </a:rPr>
              <a:t>291.9217215654966	0001104904</a:t>
            </a:r>
            <a:endParaRPr lang="zh-CN" altLang="en-US" sz="2800" baseline="30000">
              <a:solidFill>
                <a:prstClr val="white"/>
              </a:solidFill>
            </a:endParaRPr>
          </a:p>
          <a:p>
            <a:r>
              <a:rPr lang="zh-CN" altLang="en-US" sz="2800" baseline="30000">
                <a:solidFill>
                  <a:prstClr val="white"/>
                </a:solidFill>
              </a:rPr>
              <a:t>132.56385340352097	0000029952</a:t>
            </a:r>
            <a:endParaRPr lang="zh-CN" altLang="en-US" sz="2800" baseline="30000">
              <a:solidFill>
                <a:prstClr val="white"/>
              </a:solidFill>
            </a:endParaRPr>
          </a:p>
          <a:p>
            <a:r>
              <a:rPr lang="zh-CN" altLang="en-US" sz="2800" baseline="30000">
                <a:solidFill>
                  <a:prstClr val="white"/>
                </a:solidFill>
              </a:rPr>
              <a:t>44.25995652844528	0001346352</a:t>
            </a:r>
            <a:endParaRPr lang="zh-CN" altLang="en-US" sz="2800" baseline="30000">
              <a:solidFill>
                <a:prstClr val="white"/>
              </a:solidFill>
            </a:endParaRPr>
          </a:p>
          <a:p>
            <a:r>
              <a:rPr lang="zh-CN" altLang="en-US" sz="2800" baseline="30000">
                <a:solidFill>
                  <a:prstClr val="white"/>
                </a:solidFill>
              </a:rPr>
              <a:t>43.87003891991425	0001445196</a:t>
            </a:r>
            <a:endParaRPr lang="zh-CN" altLang="en-US" sz="2800" baseline="30000">
              <a:solidFill>
                <a:prstClr val="white"/>
              </a:solidFill>
            </a:endParaRPr>
          </a:p>
          <a:p>
            <a:r>
              <a:rPr lang="zh-CN" altLang="en-US" sz="2800" baseline="30000">
                <a:solidFill>
                  <a:prstClr val="white"/>
                </a:solidFill>
              </a:rPr>
              <a:t>39.813375206461075	0001451264</a:t>
            </a:r>
            <a:endParaRPr lang="zh-CN" altLang="en-US" sz="2800" baseline="30000">
              <a:solidFill>
                <a:prstClr val="white"/>
              </a:solidFill>
            </a:endParaRPr>
          </a:p>
          <a:p>
            <a:r>
              <a:rPr lang="zh-CN" altLang="en-US" sz="2800" baseline="30000">
                <a:solidFill>
                  <a:prstClr val="white"/>
                </a:solidFill>
              </a:rPr>
              <a:t>33.10389048404004	0001650101</a:t>
            </a:r>
            <a:endParaRPr lang="zh-CN" altLang="en-US" sz="2800" baseline="30000">
              <a:solidFill>
                <a:prstClr val="white"/>
              </a:solidFill>
            </a:endParaRPr>
          </a:p>
          <a:p>
            <a:r>
              <a:rPr lang="zh-CN" altLang="en-US" sz="2800" baseline="30000">
                <a:solidFill>
                  <a:prstClr val="white"/>
                </a:solidFill>
              </a:rPr>
              <a:t>32.18423921312216	0001378270</a:t>
            </a:r>
            <a:endParaRPr lang="zh-CN" altLang="en-US" sz="2800" baseline="30000">
              <a:solidFill>
                <a:prstClr val="white"/>
              </a:solidFill>
            </a:endParaRPr>
          </a:p>
        </p:txBody>
      </p:sp>
      <p:sp>
        <p:nvSpPr>
          <p:cNvPr id="4" name="文本框 3"/>
          <p:cNvSpPr txBox="1"/>
          <p:nvPr/>
        </p:nvSpPr>
        <p:spPr>
          <a:xfrm>
            <a:off x="1477010" y="4908550"/>
            <a:ext cx="8440420" cy="368300"/>
          </a:xfrm>
          <a:prstGeom prst="rect">
            <a:avLst/>
          </a:prstGeom>
          <a:noFill/>
        </p:spPr>
        <p:txBody>
          <a:bodyPr wrap="square" rtlCol="0" anchor="t">
            <a:spAutoFit/>
          </a:bodyPr>
          <a:lstStyle/>
          <a:p>
            <a:r>
              <a:rPr lang="en-US" altLang="zh-CN">
                <a:solidFill>
                  <a:prstClr val="white"/>
                </a:solidFill>
                <a:latin typeface="Comic Sans MS" panose="030F0702030302020204" charset="0"/>
              </a:rPr>
              <a:t>THE “WINNER”:</a:t>
            </a:r>
            <a:r>
              <a:rPr lang="zh-CN" altLang="en-US">
                <a:solidFill>
                  <a:prstClr val="white"/>
                </a:solidFill>
                <a:latin typeface="Comic Sans MS" panose="030F0702030302020204" charset="0"/>
              </a:rPr>
              <a:t>0000042136	742,455</a:t>
            </a:r>
            <a:r>
              <a:rPr lang="en-US" altLang="zh-CN">
                <a:solidFill>
                  <a:prstClr val="white"/>
                </a:solidFill>
                <a:latin typeface="Comic Sans MS" panose="030F0702030302020204" charset="0"/>
              </a:rPr>
              <a:t>	    </a:t>
            </a:r>
            <a:r>
              <a:rPr lang="zh-CN" altLang="en-US">
                <a:solidFill>
                  <a:prstClr val="white"/>
                </a:solidFill>
                <a:latin typeface="Comic Sans MS" panose="030F0702030302020204" charset="0"/>
              </a:rPr>
              <a:t>1,041     553,00     16,030</a:t>
            </a:r>
            <a:endParaRPr lang="zh-CN" altLang="en-US">
              <a:solidFill>
                <a:prstClr val="white"/>
              </a:solidFill>
              <a:latin typeface="Comic Sans MS" panose="030F0702030302020204" charset="0"/>
            </a:endParaRPr>
          </a:p>
        </p:txBody>
      </p:sp>
      <p:sp>
        <p:nvSpPr>
          <p:cNvPr id="6" name="矩形 5"/>
          <p:cNvSpPr/>
          <p:nvPr/>
        </p:nvSpPr>
        <p:spPr>
          <a:xfrm>
            <a:off x="5377180" y="5149215"/>
            <a:ext cx="640080" cy="1198880"/>
          </a:xfrm>
          <a:prstGeom prst="rect">
            <a:avLst/>
          </a:prstGeom>
          <a:noFill/>
          <a:ln>
            <a:noFill/>
          </a:ln>
        </p:spPr>
        <p:txBody>
          <a:bodyPr wrap="square" rtlCol="0" anchor="t">
            <a:spAutoFit/>
          </a:bodyPr>
          <a:lstStyle/>
          <a:p>
            <a:pPr algn="ctr"/>
            <a:r>
              <a:rPr lang="en-US" altLang="zh-CN" sz="3600" b="1">
                <a:ln w="22225">
                  <a:solidFill>
                    <a:srgbClr val="ED7D31"/>
                  </a:solidFill>
                  <a:prstDash val="solid"/>
                </a:ln>
                <a:solidFill>
                  <a:srgbClr val="ED7D31">
                    <a:lumMod val="40000"/>
                    <a:lumOff val="60000"/>
                  </a:srgbClr>
                </a:solidFill>
                <a:latin typeface="Arial" panose="020B0604020202020204" pitchFamily="34" charset="0"/>
              </a:rPr>
              <a:t>↑</a:t>
            </a:r>
            <a:endParaRPr lang="en-US" altLang="zh-CN" sz="3600" b="1">
              <a:ln w="22225">
                <a:solidFill>
                  <a:srgbClr val="ED7D31"/>
                </a:solidFill>
                <a:prstDash val="solid"/>
              </a:ln>
              <a:solidFill>
                <a:srgbClr val="ED7D31">
                  <a:lumMod val="40000"/>
                  <a:lumOff val="60000"/>
                </a:srgbClr>
              </a:solidFill>
              <a:latin typeface="Arial" panose="020B0604020202020204" pitchFamily="34" charset="0"/>
            </a:endParaRPr>
          </a:p>
          <a:p>
            <a:pPr algn="ctr"/>
            <a:endParaRPr lang="en-US" altLang="zh-CN" sz="3600" b="1">
              <a:ln w="22225">
                <a:solidFill>
                  <a:srgbClr val="ED7D31"/>
                </a:solidFill>
                <a:prstDash val="solid"/>
              </a:ln>
              <a:solidFill>
                <a:srgbClr val="ED7D31">
                  <a:lumMod val="40000"/>
                  <a:lumOff val="60000"/>
                </a:srgbClr>
              </a:solidFill>
              <a:latin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1" fill="hold" nodeType="withEffect">
                                  <p:stCondLst>
                                    <p:cond delay="300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1000"/>
                                        <p:tgtEl>
                                          <p:spTgt spid="19"/>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63" presetClass="path" presetSubtype="0" accel="50000" decel="50000" fill="hold" grpId="1" nodeType="withEffect">
                                  <p:stCondLst>
                                    <p:cond delay="1000"/>
                                  </p:stCondLst>
                                  <p:childTnLst>
                                    <p:animMotion origin="layout" path="M -0.08334 0.00047 L 4.58333E-6 -2.22222E-6 " pathEditMode="relative" rAng="0" ptsTypes="AA">
                                      <p:cBhvr>
                                        <p:cTn id="22" dur="2000" fill="hold"/>
                                        <p:tgtEl>
                                          <p:spTgt spid="26"/>
                                        </p:tgtEl>
                                        <p:attrNameLst>
                                          <p:attrName>ppt_x</p:attrName>
                                          <p:attrName>ppt_y</p:attrName>
                                        </p:attrNameLst>
                                      </p:cBhvr>
                                      <p:rCtr x="4167" y="-23"/>
                                    </p:animMotion>
                                  </p:childTnLst>
                                </p:cTn>
                              </p:par>
                              <p:par>
                                <p:cTn id="23" presetID="10" presetClass="entr" presetSubtype="0" fill="hold" grpId="0" nodeType="withEffect">
                                  <p:stCondLst>
                                    <p:cond delay="10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63" presetClass="path" presetSubtype="0" accel="50000" decel="50000" fill="hold" grpId="1" nodeType="withEffect">
                                  <p:stCondLst>
                                    <p:cond delay="1000"/>
                                  </p:stCondLst>
                                  <p:childTnLst>
                                    <p:animMotion origin="layout" path="M -0.08334 0.00047 L 4.58333E-6 -2.22222E-6 " pathEditMode="relative" rAng="0" ptsTypes="AA">
                                      <p:cBhvr>
                                        <p:cTn id="27" dur="2000" fill="hold"/>
                                        <p:tgtEl>
                                          <p:spTgt spid="27"/>
                                        </p:tgtEl>
                                        <p:attrNameLst>
                                          <p:attrName>ppt_x</p:attrName>
                                          <p:attrName>ppt_y</p:attrName>
                                        </p:attrNameLst>
                                      </p:cBhvr>
                                      <p:rCtr x="4167" y="-23"/>
                                    </p:animMotion>
                                  </p:childTnLst>
                                </p:cTn>
                              </p:par>
                              <p:par>
                                <p:cTn id="28" presetID="10" presetClass="entr" presetSubtype="0" fill="hold" grpId="0" nodeType="withEffect">
                                  <p:stCondLst>
                                    <p:cond delay="10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63" presetClass="path" presetSubtype="0" accel="50000" decel="50000" fill="hold" grpId="1" nodeType="withEffect">
                                  <p:stCondLst>
                                    <p:cond delay="1000"/>
                                  </p:stCondLst>
                                  <p:childTnLst>
                                    <p:animMotion origin="layout" path="M -0.08334 0.00047 L 4.58333E-6 -2.22222E-6 " pathEditMode="relative" rAng="0" ptsTypes="AA">
                                      <p:cBhvr>
                                        <p:cTn id="32" dur="2000" fill="hold"/>
                                        <p:tgtEl>
                                          <p:spTgt spid="28"/>
                                        </p:tgtEl>
                                        <p:attrNameLst>
                                          <p:attrName>ppt_x</p:attrName>
                                          <p:attrName>ppt_y</p:attrName>
                                        </p:attrNameLst>
                                      </p:cBhvr>
                                      <p:rCtr x="4167" y="-23"/>
                                    </p:animMotion>
                                  </p:childTnLst>
                                </p:cTn>
                              </p:par>
                            </p:childTnLst>
                          </p:cTn>
                        </p:par>
                      </p:childTnLst>
                    </p:cTn>
                  </p:par>
                  <p:par>
                    <p:cTn id="33" fill="hold">
                      <p:stCondLst>
                        <p:cond delay="indefinite"/>
                      </p:stCondLst>
                      <p:childTnLst>
                        <p:par>
                          <p:cTn id="34" fill="hold">
                            <p:stCondLst>
                              <p:cond delay="0"/>
                            </p:stCondLst>
                            <p:childTnLst>
                              <p:par>
                                <p:cTn id="35" presetID="20" presetClass="entr" presetSubtype="0" fill="hold"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edge">
                                      <p:cBhvr>
                                        <p:cTn id="37" dur="20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 calcmode="lin" valueType="num">
                                      <p:cBhvr additive="base">
                                        <p:cTn id="4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bldLvl="0" animBg="1"/>
      <p:bldP spid="7" grpId="1" bldLvl="0" animBg="1"/>
      <p:bldP spid="26" grpId="0" bldLvl="0" animBg="1"/>
      <p:bldP spid="26" grpId="1" bldLvl="0" animBg="1"/>
      <p:bldP spid="27" grpId="0" bldLvl="0" animBg="1"/>
      <p:bldP spid="27" grpId="1" bldLvl="0" animBg="1"/>
      <p:bldP spid="28" grpId="0" bldLvl="0" animBg="1"/>
      <p:bldP spid="28" grpId="1"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5" name="矩形 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358775" y="346710"/>
            <a:ext cx="3161030" cy="645160"/>
          </a:xfrm>
          <a:prstGeom prst="rect">
            <a:avLst/>
          </a:prstGeom>
          <a:noFill/>
        </p:spPr>
        <p:txBody>
          <a:bodyPr wrap="square" rtlCol="0">
            <a:spAutoFit/>
            <a:scene3d>
              <a:camera prst="orthographicFront">
                <a:rot lat="0" lon="0" rev="0"/>
              </a:camera>
              <a:lightRig rig="threePt" dir="t"/>
            </a:scene3d>
          </a:bodyPr>
          <a:lstStyle/>
          <a:p>
            <a:pPr algn="ctr"/>
            <a:r>
              <a:rPr 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rPr>
              <a:t>Deficiency</a:t>
            </a:r>
            <a:endParaRPr lang="en-US" sz="3600" spc="-150" dirty="0">
              <a:solidFill>
                <a:srgbClr val="DFA117"/>
              </a:solidFill>
              <a:latin typeface="Open Sans" panose="020B0606030504020204" pitchFamily="34" charset="0"/>
              <a:ea typeface="Open Sans" panose="020B0606030504020204" pitchFamily="34" charset="0"/>
              <a:cs typeface="Open Sans" panose="020B0606030504020204" pitchFamily="34" charset="0"/>
            </a:endParaRPr>
          </a:p>
        </p:txBody>
      </p:sp>
      <p:sp>
        <p:nvSpPr>
          <p:cNvPr id="7" name="任意多边形 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flipV="1">
            <a:off x="802815" y="992074"/>
            <a:ext cx="2272806"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矩形 11"/>
          <p:cNvSpPr/>
          <p:nvPr/>
        </p:nvSpPr>
        <p:spPr>
          <a:xfrm>
            <a:off x="1178621" y="4421116"/>
            <a:ext cx="2221415" cy="261610"/>
          </a:xfrm>
          <a:prstGeom prst="rect">
            <a:avLst/>
          </a:prstGeom>
        </p:spPr>
        <p:txBody>
          <a:bodyPr wrap="square">
            <a:spAutoFit/>
          </a:bodyPr>
          <a:lstStyle/>
          <a:p>
            <a:pPr algn="ctr"/>
            <a:r>
              <a:rPr lang="en-US" altLang="zh-CN" sz="1100" dirty="0">
                <a:solidFill>
                  <a:prstClr val="white"/>
                </a:solidFill>
                <a:latin typeface="Open Sans" panose="020B0606030504020204" pitchFamily="34" charset="0"/>
                <a:ea typeface="Open Sans" panose="020B0606030504020204" pitchFamily="34" charset="0"/>
                <a:cs typeface="Open Sans" panose="020B0606030504020204" pitchFamily="34" charset="0"/>
              </a:rPr>
              <a:t>. </a:t>
            </a:r>
            <a:endParaRPr lang="zh-CN" altLang="en-US" sz="1100" dirty="0">
              <a:solidFill>
                <a:prstClr val="white"/>
              </a:solidFill>
              <a:latin typeface="Open Sans" panose="020B0606030504020204" pitchFamily="34" charset="0"/>
              <a:cs typeface="Open Sans" panose="020B0606030504020204" pitchFamily="34" charset="0"/>
            </a:endParaRPr>
          </a:p>
        </p:txBody>
      </p:sp>
      <p:sp>
        <p:nvSpPr>
          <p:cNvPr id="14" name="矩形 13"/>
          <p:cNvSpPr/>
          <p:nvPr/>
        </p:nvSpPr>
        <p:spPr>
          <a:xfrm>
            <a:off x="4601924" y="4068714"/>
            <a:ext cx="184731"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grpSp>
        <p:nvGrpSpPr>
          <p:cNvPr id="19" name="组合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8363402" y="4068714"/>
            <a:ext cx="2221415" cy="614012"/>
            <a:chOff x="2317117" y="2062784"/>
            <a:chExt cx="3997789" cy="614012"/>
          </a:xfrm>
        </p:grpSpPr>
        <p:sp>
          <p:nvSpPr>
            <p:cNvPr id="20" name="矩形 19"/>
            <p:cNvSpPr/>
            <p:nvPr/>
          </p:nvSpPr>
          <p:spPr>
            <a:xfrm>
              <a:off x="4149785" y="2062784"/>
              <a:ext cx="332453" cy="307777"/>
            </a:xfrm>
            <a:prstGeom prst="rect">
              <a:avLst/>
            </a:prstGeom>
          </p:spPr>
          <p:txBody>
            <a:bodyPr wrap="none">
              <a:spAutoFit/>
            </a:bodyPr>
            <a:lstStyle/>
            <a:p>
              <a:pPr algn="ctr">
                <a:defRPr/>
              </a:pPr>
              <a:endParaRPr lang="zh-CN" altLang="en-US" sz="1400" b="1" dirty="0">
                <a:solidFill>
                  <a:srgbClr val="EAB236"/>
                </a:solidFill>
                <a:latin typeface="Open Sans" panose="020B0606030504020204" pitchFamily="34" charset="0"/>
                <a:cs typeface="Open Sans" panose="020B0606030504020204" pitchFamily="34" charset="0"/>
              </a:endParaRPr>
            </a:p>
          </p:txBody>
        </p:sp>
        <p:sp>
          <p:nvSpPr>
            <p:cNvPr id="21" name="矩形 20"/>
            <p:cNvSpPr/>
            <p:nvPr/>
          </p:nvSpPr>
          <p:spPr>
            <a:xfrm>
              <a:off x="2317117" y="2415186"/>
              <a:ext cx="3997789" cy="261610"/>
            </a:xfrm>
            <a:prstGeom prst="rect">
              <a:avLst/>
            </a:prstGeom>
          </p:spPr>
          <p:txBody>
            <a:bodyPr wrap="square">
              <a:spAutoFit/>
            </a:bodyPr>
            <a:lstStyle/>
            <a:p>
              <a:pPr algn="ctr"/>
              <a:endParaRPr lang="zh-CN" altLang="en-US" sz="1100" dirty="0">
                <a:solidFill>
                  <a:prstClr val="white"/>
                </a:solidFill>
                <a:latin typeface="Open Sans" panose="020B0606030504020204" pitchFamily="34" charset="0"/>
                <a:cs typeface="Open Sans" panose="020B0606030504020204" pitchFamily="34" charset="0"/>
              </a:endParaRPr>
            </a:p>
          </p:txBody>
        </p:sp>
      </p:grpSp>
      <p:grpSp>
        <p:nvGrpSpPr>
          <p:cNvPr id="30" name="组合 2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72558" y="4921781"/>
            <a:ext cx="1246909" cy="1246909"/>
            <a:chOff x="6481529" y="2175162"/>
            <a:chExt cx="1246909" cy="1246909"/>
          </a:xfrm>
        </p:grpSpPr>
        <p:sp>
          <p:nvSpPr>
            <p:cNvPr id="8" name="椭圆 7"/>
            <p:cNvSpPr/>
            <p:nvPr/>
          </p:nvSpPr>
          <p:spPr>
            <a:xfrm>
              <a:off x="6481529" y="2175162"/>
              <a:ext cx="1246909" cy="1246909"/>
            </a:xfrm>
            <a:prstGeom prst="ellipse">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solidFill>
                  <a:prstClr val="white"/>
                </a:solidFill>
                <a:cs typeface="Helvetica" panose="020B0604020202020204" pitchFamily="34" charset="0"/>
              </a:endParaRPr>
            </a:p>
          </p:txBody>
        </p:sp>
        <p:sp>
          <p:nvSpPr>
            <p:cNvPr id="22" name="Freeform 44"/>
            <p:cNvSpPr/>
            <p:nvPr/>
          </p:nvSpPr>
          <p:spPr>
            <a:xfrm>
              <a:off x="6897613" y="2639752"/>
              <a:ext cx="360607" cy="357485"/>
            </a:xfrm>
            <a:custGeom>
              <a:avLst/>
              <a:gdLst/>
              <a:ahLst/>
              <a:cxnLst/>
              <a:rect l="l" t="t" r="r" b="b"/>
              <a:pathLst>
                <a:path w="206276" h="204490">
                  <a:moveTo>
                    <a:pt x="97334" y="133052"/>
                  </a:moveTo>
                  <a:lnTo>
                    <a:pt x="119212" y="133052"/>
                  </a:lnTo>
                  <a:cubicBezTo>
                    <a:pt x="121593" y="133052"/>
                    <a:pt x="122783" y="134094"/>
                    <a:pt x="122783" y="136178"/>
                  </a:cubicBezTo>
                  <a:cubicBezTo>
                    <a:pt x="122783" y="138559"/>
                    <a:pt x="121593" y="139750"/>
                    <a:pt x="119212" y="139750"/>
                  </a:cubicBezTo>
                  <a:lnTo>
                    <a:pt x="97334" y="139750"/>
                  </a:lnTo>
                  <a:cubicBezTo>
                    <a:pt x="95250" y="139750"/>
                    <a:pt x="94208" y="138559"/>
                    <a:pt x="94208" y="136178"/>
                  </a:cubicBezTo>
                  <a:cubicBezTo>
                    <a:pt x="94208" y="134094"/>
                    <a:pt x="95250" y="133052"/>
                    <a:pt x="97334" y="133052"/>
                  </a:cubicBezTo>
                  <a:close/>
                  <a:moveTo>
                    <a:pt x="71884" y="133052"/>
                  </a:moveTo>
                  <a:lnTo>
                    <a:pt x="84386" y="133052"/>
                  </a:lnTo>
                  <a:cubicBezTo>
                    <a:pt x="86469" y="133052"/>
                    <a:pt x="87511" y="134094"/>
                    <a:pt x="87511" y="136178"/>
                  </a:cubicBezTo>
                  <a:cubicBezTo>
                    <a:pt x="87511" y="138559"/>
                    <a:pt x="86469" y="139750"/>
                    <a:pt x="84386" y="139750"/>
                  </a:cubicBezTo>
                  <a:lnTo>
                    <a:pt x="71884" y="139750"/>
                  </a:lnTo>
                  <a:cubicBezTo>
                    <a:pt x="69801" y="139750"/>
                    <a:pt x="68759" y="138559"/>
                    <a:pt x="68759" y="136178"/>
                  </a:cubicBezTo>
                  <a:cubicBezTo>
                    <a:pt x="68759" y="134094"/>
                    <a:pt x="69801" y="133052"/>
                    <a:pt x="71884" y="133052"/>
                  </a:cubicBezTo>
                  <a:close/>
                  <a:moveTo>
                    <a:pt x="160735" y="117426"/>
                  </a:moveTo>
                  <a:lnTo>
                    <a:pt x="166985" y="117426"/>
                  </a:lnTo>
                  <a:cubicBezTo>
                    <a:pt x="169069" y="117426"/>
                    <a:pt x="170111" y="118467"/>
                    <a:pt x="170111" y="120551"/>
                  </a:cubicBezTo>
                  <a:cubicBezTo>
                    <a:pt x="170111" y="122634"/>
                    <a:pt x="169069" y="123676"/>
                    <a:pt x="166985" y="123676"/>
                  </a:cubicBezTo>
                  <a:lnTo>
                    <a:pt x="160735" y="123676"/>
                  </a:lnTo>
                  <a:cubicBezTo>
                    <a:pt x="158651" y="123676"/>
                    <a:pt x="157609" y="122634"/>
                    <a:pt x="157609" y="120551"/>
                  </a:cubicBezTo>
                  <a:cubicBezTo>
                    <a:pt x="157609" y="118467"/>
                    <a:pt x="158651" y="117426"/>
                    <a:pt x="160735" y="117426"/>
                  </a:cubicBezTo>
                  <a:close/>
                  <a:moveTo>
                    <a:pt x="116086" y="117426"/>
                  </a:moveTo>
                  <a:lnTo>
                    <a:pt x="147787" y="117426"/>
                  </a:lnTo>
                  <a:cubicBezTo>
                    <a:pt x="150168" y="117426"/>
                    <a:pt x="151358" y="118467"/>
                    <a:pt x="151358" y="120551"/>
                  </a:cubicBezTo>
                  <a:cubicBezTo>
                    <a:pt x="151358" y="122634"/>
                    <a:pt x="150168" y="123676"/>
                    <a:pt x="147787" y="123676"/>
                  </a:cubicBezTo>
                  <a:lnTo>
                    <a:pt x="116086" y="123676"/>
                  </a:lnTo>
                  <a:cubicBezTo>
                    <a:pt x="114003" y="123676"/>
                    <a:pt x="112961" y="122634"/>
                    <a:pt x="112961" y="120551"/>
                  </a:cubicBezTo>
                  <a:cubicBezTo>
                    <a:pt x="112961" y="118467"/>
                    <a:pt x="114003" y="117426"/>
                    <a:pt x="116086" y="117426"/>
                  </a:cubicBezTo>
                  <a:close/>
                  <a:moveTo>
                    <a:pt x="71884" y="117426"/>
                  </a:moveTo>
                  <a:lnTo>
                    <a:pt x="103585" y="117426"/>
                  </a:lnTo>
                  <a:cubicBezTo>
                    <a:pt x="105668" y="117426"/>
                    <a:pt x="106710" y="118467"/>
                    <a:pt x="106710" y="120551"/>
                  </a:cubicBezTo>
                  <a:cubicBezTo>
                    <a:pt x="106710" y="122634"/>
                    <a:pt x="105668" y="123676"/>
                    <a:pt x="103585" y="123676"/>
                  </a:cubicBezTo>
                  <a:lnTo>
                    <a:pt x="71884" y="123676"/>
                  </a:lnTo>
                  <a:cubicBezTo>
                    <a:pt x="69801" y="123676"/>
                    <a:pt x="68759" y="122634"/>
                    <a:pt x="68759" y="120551"/>
                  </a:cubicBezTo>
                  <a:cubicBezTo>
                    <a:pt x="68759" y="118467"/>
                    <a:pt x="69801" y="117426"/>
                    <a:pt x="71884" y="117426"/>
                  </a:cubicBezTo>
                  <a:close/>
                  <a:moveTo>
                    <a:pt x="135285" y="98227"/>
                  </a:moveTo>
                  <a:lnTo>
                    <a:pt x="166985" y="98227"/>
                  </a:lnTo>
                  <a:cubicBezTo>
                    <a:pt x="169069" y="98227"/>
                    <a:pt x="170111" y="99268"/>
                    <a:pt x="170111" y="101352"/>
                  </a:cubicBezTo>
                  <a:cubicBezTo>
                    <a:pt x="170111" y="103436"/>
                    <a:pt x="169069" y="104477"/>
                    <a:pt x="166985" y="104477"/>
                  </a:cubicBezTo>
                  <a:lnTo>
                    <a:pt x="135285" y="104477"/>
                  </a:lnTo>
                  <a:cubicBezTo>
                    <a:pt x="133201" y="104477"/>
                    <a:pt x="132160" y="103436"/>
                    <a:pt x="132160" y="101352"/>
                  </a:cubicBezTo>
                  <a:cubicBezTo>
                    <a:pt x="132160" y="99268"/>
                    <a:pt x="133201" y="98227"/>
                    <a:pt x="135285" y="98227"/>
                  </a:cubicBezTo>
                  <a:close/>
                  <a:moveTo>
                    <a:pt x="97334" y="98227"/>
                  </a:moveTo>
                  <a:lnTo>
                    <a:pt x="122783" y="98227"/>
                  </a:lnTo>
                  <a:cubicBezTo>
                    <a:pt x="124867" y="98227"/>
                    <a:pt x="125909" y="99268"/>
                    <a:pt x="125909" y="101352"/>
                  </a:cubicBezTo>
                  <a:cubicBezTo>
                    <a:pt x="125909" y="103436"/>
                    <a:pt x="124867" y="104477"/>
                    <a:pt x="122783" y="104477"/>
                  </a:cubicBezTo>
                  <a:lnTo>
                    <a:pt x="97334" y="104477"/>
                  </a:lnTo>
                  <a:cubicBezTo>
                    <a:pt x="95250" y="104477"/>
                    <a:pt x="94208" y="103436"/>
                    <a:pt x="94208" y="101352"/>
                  </a:cubicBezTo>
                  <a:cubicBezTo>
                    <a:pt x="94208" y="99268"/>
                    <a:pt x="95250" y="98227"/>
                    <a:pt x="97334" y="98227"/>
                  </a:cubicBezTo>
                  <a:close/>
                  <a:moveTo>
                    <a:pt x="71884" y="98227"/>
                  </a:moveTo>
                  <a:lnTo>
                    <a:pt x="84386" y="98227"/>
                  </a:lnTo>
                  <a:cubicBezTo>
                    <a:pt x="86469" y="98227"/>
                    <a:pt x="87511" y="99268"/>
                    <a:pt x="87511" y="101352"/>
                  </a:cubicBezTo>
                  <a:cubicBezTo>
                    <a:pt x="87511" y="103436"/>
                    <a:pt x="86469" y="104477"/>
                    <a:pt x="84386" y="104477"/>
                  </a:cubicBezTo>
                  <a:lnTo>
                    <a:pt x="71884" y="104477"/>
                  </a:lnTo>
                  <a:cubicBezTo>
                    <a:pt x="69801" y="104477"/>
                    <a:pt x="68759" y="103436"/>
                    <a:pt x="68759" y="101352"/>
                  </a:cubicBezTo>
                  <a:cubicBezTo>
                    <a:pt x="68759" y="99268"/>
                    <a:pt x="69801" y="98227"/>
                    <a:pt x="71884" y="98227"/>
                  </a:cubicBezTo>
                  <a:close/>
                  <a:moveTo>
                    <a:pt x="154484" y="82600"/>
                  </a:moveTo>
                  <a:lnTo>
                    <a:pt x="166985" y="82600"/>
                  </a:lnTo>
                  <a:cubicBezTo>
                    <a:pt x="169069" y="82600"/>
                    <a:pt x="170111" y="83642"/>
                    <a:pt x="170111" y="85725"/>
                  </a:cubicBezTo>
                  <a:cubicBezTo>
                    <a:pt x="170111" y="87809"/>
                    <a:pt x="169069" y="88851"/>
                    <a:pt x="166985" y="88851"/>
                  </a:cubicBezTo>
                  <a:lnTo>
                    <a:pt x="154484" y="88851"/>
                  </a:lnTo>
                  <a:cubicBezTo>
                    <a:pt x="152400" y="88851"/>
                    <a:pt x="151358" y="87809"/>
                    <a:pt x="151358" y="85725"/>
                  </a:cubicBezTo>
                  <a:cubicBezTo>
                    <a:pt x="151358" y="83642"/>
                    <a:pt x="152400" y="82600"/>
                    <a:pt x="154484" y="82600"/>
                  </a:cubicBezTo>
                  <a:close/>
                  <a:moveTo>
                    <a:pt x="109835" y="82600"/>
                  </a:moveTo>
                  <a:lnTo>
                    <a:pt x="141536" y="82600"/>
                  </a:lnTo>
                  <a:cubicBezTo>
                    <a:pt x="143619" y="82600"/>
                    <a:pt x="144661" y="83642"/>
                    <a:pt x="144661" y="85725"/>
                  </a:cubicBezTo>
                  <a:cubicBezTo>
                    <a:pt x="144661" y="87809"/>
                    <a:pt x="143619" y="88851"/>
                    <a:pt x="141536" y="88851"/>
                  </a:cubicBezTo>
                  <a:lnTo>
                    <a:pt x="109835" y="88851"/>
                  </a:lnTo>
                  <a:cubicBezTo>
                    <a:pt x="107752" y="88851"/>
                    <a:pt x="106710" y="87809"/>
                    <a:pt x="106710" y="85725"/>
                  </a:cubicBezTo>
                  <a:cubicBezTo>
                    <a:pt x="106710" y="83642"/>
                    <a:pt x="107752" y="82600"/>
                    <a:pt x="109835" y="82600"/>
                  </a:cubicBezTo>
                  <a:close/>
                  <a:moveTo>
                    <a:pt x="71884" y="82600"/>
                  </a:moveTo>
                  <a:lnTo>
                    <a:pt x="97334" y="82600"/>
                  </a:lnTo>
                  <a:cubicBezTo>
                    <a:pt x="99417" y="82600"/>
                    <a:pt x="100459" y="83642"/>
                    <a:pt x="100459" y="85725"/>
                  </a:cubicBezTo>
                  <a:cubicBezTo>
                    <a:pt x="100459" y="87809"/>
                    <a:pt x="99417" y="88851"/>
                    <a:pt x="97334" y="88851"/>
                  </a:cubicBezTo>
                  <a:lnTo>
                    <a:pt x="71884" y="88851"/>
                  </a:lnTo>
                  <a:cubicBezTo>
                    <a:pt x="69801" y="88851"/>
                    <a:pt x="68759" y="87809"/>
                    <a:pt x="68759" y="85725"/>
                  </a:cubicBezTo>
                  <a:cubicBezTo>
                    <a:pt x="68759" y="83642"/>
                    <a:pt x="69801" y="82600"/>
                    <a:pt x="71884" y="82600"/>
                  </a:cubicBezTo>
                  <a:close/>
                  <a:moveTo>
                    <a:pt x="55811" y="60276"/>
                  </a:moveTo>
                  <a:cubicBezTo>
                    <a:pt x="50453" y="60276"/>
                    <a:pt x="47774" y="63252"/>
                    <a:pt x="47774" y="69205"/>
                  </a:cubicBezTo>
                  <a:lnTo>
                    <a:pt x="47774" y="152251"/>
                  </a:lnTo>
                  <a:cubicBezTo>
                    <a:pt x="47774" y="158502"/>
                    <a:pt x="50453" y="161627"/>
                    <a:pt x="55811" y="161627"/>
                  </a:cubicBezTo>
                  <a:lnTo>
                    <a:pt x="78135" y="161627"/>
                  </a:lnTo>
                  <a:cubicBezTo>
                    <a:pt x="79623" y="161627"/>
                    <a:pt x="81112" y="162372"/>
                    <a:pt x="82600" y="163860"/>
                  </a:cubicBezTo>
                  <a:cubicBezTo>
                    <a:pt x="83790" y="164753"/>
                    <a:pt x="84386" y="166241"/>
                    <a:pt x="84386" y="168325"/>
                  </a:cubicBezTo>
                  <a:lnTo>
                    <a:pt x="83939" y="185738"/>
                  </a:lnTo>
                  <a:lnTo>
                    <a:pt x="115640" y="162967"/>
                  </a:lnTo>
                  <a:cubicBezTo>
                    <a:pt x="116830" y="162074"/>
                    <a:pt x="118021" y="161627"/>
                    <a:pt x="119212" y="161627"/>
                  </a:cubicBezTo>
                  <a:lnTo>
                    <a:pt x="183059" y="161627"/>
                  </a:lnTo>
                  <a:cubicBezTo>
                    <a:pt x="185738" y="161627"/>
                    <a:pt x="188193" y="160734"/>
                    <a:pt x="190426" y="158949"/>
                  </a:cubicBezTo>
                  <a:cubicBezTo>
                    <a:pt x="192658" y="157163"/>
                    <a:pt x="193774" y="154930"/>
                    <a:pt x="193774" y="152251"/>
                  </a:cubicBezTo>
                  <a:lnTo>
                    <a:pt x="193774" y="69205"/>
                  </a:lnTo>
                  <a:cubicBezTo>
                    <a:pt x="193774" y="66824"/>
                    <a:pt x="192658" y="64740"/>
                    <a:pt x="190426" y="62954"/>
                  </a:cubicBezTo>
                  <a:cubicBezTo>
                    <a:pt x="188193" y="61168"/>
                    <a:pt x="185738" y="60276"/>
                    <a:pt x="183059" y="60276"/>
                  </a:cubicBezTo>
                  <a:close/>
                  <a:moveTo>
                    <a:pt x="55811" y="47327"/>
                  </a:moveTo>
                  <a:lnTo>
                    <a:pt x="183059" y="47327"/>
                  </a:lnTo>
                  <a:cubicBezTo>
                    <a:pt x="189310" y="47327"/>
                    <a:pt x="194742" y="49485"/>
                    <a:pt x="199355" y="53801"/>
                  </a:cubicBezTo>
                  <a:cubicBezTo>
                    <a:pt x="203969" y="58117"/>
                    <a:pt x="206276" y="63252"/>
                    <a:pt x="206276" y="69205"/>
                  </a:cubicBezTo>
                  <a:lnTo>
                    <a:pt x="206276" y="152251"/>
                  </a:lnTo>
                  <a:cubicBezTo>
                    <a:pt x="206276" y="158204"/>
                    <a:pt x="203895" y="163413"/>
                    <a:pt x="199132" y="167878"/>
                  </a:cubicBezTo>
                  <a:cubicBezTo>
                    <a:pt x="194370" y="172343"/>
                    <a:pt x="189012" y="174576"/>
                    <a:pt x="183059" y="174576"/>
                  </a:cubicBezTo>
                  <a:lnTo>
                    <a:pt x="121444" y="174576"/>
                  </a:lnTo>
                  <a:lnTo>
                    <a:pt x="80814" y="203597"/>
                  </a:lnTo>
                  <a:cubicBezTo>
                    <a:pt x="79623" y="204192"/>
                    <a:pt x="78433" y="204490"/>
                    <a:pt x="77242" y="204490"/>
                  </a:cubicBezTo>
                  <a:cubicBezTo>
                    <a:pt x="76051" y="204490"/>
                    <a:pt x="75158" y="204341"/>
                    <a:pt x="74563" y="204044"/>
                  </a:cubicBezTo>
                  <a:cubicBezTo>
                    <a:pt x="72182" y="202555"/>
                    <a:pt x="70991" y="200620"/>
                    <a:pt x="70991" y="198239"/>
                  </a:cubicBezTo>
                  <a:lnTo>
                    <a:pt x="71438" y="174576"/>
                  </a:lnTo>
                  <a:lnTo>
                    <a:pt x="55811" y="174576"/>
                  </a:lnTo>
                  <a:cubicBezTo>
                    <a:pt x="49858" y="174576"/>
                    <a:pt x="44872" y="172418"/>
                    <a:pt x="40854" y="168102"/>
                  </a:cubicBezTo>
                  <a:cubicBezTo>
                    <a:pt x="36835" y="163785"/>
                    <a:pt x="34826" y="158502"/>
                    <a:pt x="34826" y="152251"/>
                  </a:cubicBezTo>
                  <a:lnTo>
                    <a:pt x="34826" y="69205"/>
                  </a:lnTo>
                  <a:cubicBezTo>
                    <a:pt x="34826" y="63252"/>
                    <a:pt x="36835" y="58117"/>
                    <a:pt x="40854" y="53801"/>
                  </a:cubicBezTo>
                  <a:cubicBezTo>
                    <a:pt x="44872" y="49485"/>
                    <a:pt x="49858" y="47327"/>
                    <a:pt x="55811" y="47327"/>
                  </a:cubicBezTo>
                  <a:close/>
                  <a:moveTo>
                    <a:pt x="20538" y="0"/>
                  </a:moveTo>
                  <a:lnTo>
                    <a:pt x="148233" y="0"/>
                  </a:lnTo>
                  <a:cubicBezTo>
                    <a:pt x="154484" y="0"/>
                    <a:pt x="159916" y="2084"/>
                    <a:pt x="164530" y="6251"/>
                  </a:cubicBezTo>
                  <a:cubicBezTo>
                    <a:pt x="169143" y="10418"/>
                    <a:pt x="171450" y="15478"/>
                    <a:pt x="171450" y="21431"/>
                  </a:cubicBezTo>
                  <a:lnTo>
                    <a:pt x="171450" y="25450"/>
                  </a:lnTo>
                  <a:cubicBezTo>
                    <a:pt x="171450" y="26938"/>
                    <a:pt x="170855" y="28352"/>
                    <a:pt x="169664" y="29691"/>
                  </a:cubicBezTo>
                  <a:cubicBezTo>
                    <a:pt x="168474" y="31031"/>
                    <a:pt x="166985" y="31701"/>
                    <a:pt x="165199" y="31701"/>
                  </a:cubicBezTo>
                  <a:cubicBezTo>
                    <a:pt x="163413" y="31701"/>
                    <a:pt x="161851" y="31031"/>
                    <a:pt x="160511" y="29691"/>
                  </a:cubicBezTo>
                  <a:cubicBezTo>
                    <a:pt x="159172" y="28352"/>
                    <a:pt x="158502" y="26938"/>
                    <a:pt x="158502" y="25450"/>
                  </a:cubicBezTo>
                  <a:lnTo>
                    <a:pt x="158502" y="21431"/>
                  </a:lnTo>
                  <a:cubicBezTo>
                    <a:pt x="158502" y="19050"/>
                    <a:pt x="157460" y="16967"/>
                    <a:pt x="155377" y="15181"/>
                  </a:cubicBezTo>
                  <a:cubicBezTo>
                    <a:pt x="153293" y="13395"/>
                    <a:pt x="150912" y="12502"/>
                    <a:pt x="148233" y="12502"/>
                  </a:cubicBezTo>
                  <a:lnTo>
                    <a:pt x="20538" y="12502"/>
                  </a:lnTo>
                  <a:cubicBezTo>
                    <a:pt x="15181" y="12502"/>
                    <a:pt x="12502" y="15478"/>
                    <a:pt x="12502" y="21431"/>
                  </a:cubicBezTo>
                  <a:lnTo>
                    <a:pt x="12502" y="104477"/>
                  </a:lnTo>
                  <a:cubicBezTo>
                    <a:pt x="12502" y="107156"/>
                    <a:pt x="13246" y="109240"/>
                    <a:pt x="14734" y="110728"/>
                  </a:cubicBezTo>
                  <a:cubicBezTo>
                    <a:pt x="17711" y="113407"/>
                    <a:pt x="17860" y="116384"/>
                    <a:pt x="15181" y="119658"/>
                  </a:cubicBezTo>
                  <a:cubicBezTo>
                    <a:pt x="13692" y="121146"/>
                    <a:pt x="12055" y="121890"/>
                    <a:pt x="10269" y="121890"/>
                  </a:cubicBezTo>
                  <a:cubicBezTo>
                    <a:pt x="8781" y="121890"/>
                    <a:pt x="7442" y="121295"/>
                    <a:pt x="6251" y="120104"/>
                  </a:cubicBezTo>
                  <a:cubicBezTo>
                    <a:pt x="2084" y="116235"/>
                    <a:pt x="0" y="111026"/>
                    <a:pt x="0" y="104477"/>
                  </a:cubicBezTo>
                  <a:lnTo>
                    <a:pt x="0" y="21431"/>
                  </a:lnTo>
                  <a:cubicBezTo>
                    <a:pt x="0" y="15478"/>
                    <a:pt x="1935" y="10418"/>
                    <a:pt x="5804" y="6251"/>
                  </a:cubicBezTo>
                  <a:cubicBezTo>
                    <a:pt x="9674" y="2084"/>
                    <a:pt x="14585" y="0"/>
                    <a:pt x="20538"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prstClr val="black"/>
                </a:solidFill>
              </a:endParaRPr>
            </a:p>
          </p:txBody>
        </p:sp>
      </p:grpSp>
      <p:grpSp>
        <p:nvGrpSpPr>
          <p:cNvPr id="3" name="组合 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49582" y="1448722"/>
            <a:ext cx="1246909" cy="1246909"/>
            <a:chOff x="1660147" y="2175162"/>
            <a:chExt cx="1246909" cy="1246909"/>
          </a:xfrm>
        </p:grpSpPr>
        <p:sp>
          <p:nvSpPr>
            <p:cNvPr id="2" name="椭圆 1"/>
            <p:cNvSpPr/>
            <p:nvPr/>
          </p:nvSpPr>
          <p:spPr>
            <a:xfrm>
              <a:off x="1660147" y="2175162"/>
              <a:ext cx="1246909" cy="1246909"/>
            </a:xfrm>
            <a:prstGeom prst="ellipse">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solidFill>
                  <a:prstClr val="white"/>
                </a:solidFill>
                <a:cs typeface="Helvetica" panose="020B0604020202020204" pitchFamily="34" charset="0"/>
              </a:endParaRPr>
            </a:p>
          </p:txBody>
        </p:sp>
        <p:sp>
          <p:nvSpPr>
            <p:cNvPr id="24" name="Freeform 48"/>
            <p:cNvSpPr/>
            <p:nvPr/>
          </p:nvSpPr>
          <p:spPr>
            <a:xfrm>
              <a:off x="2102902" y="2612410"/>
              <a:ext cx="357144" cy="358495"/>
            </a:xfrm>
            <a:custGeom>
              <a:avLst/>
              <a:gdLst/>
              <a:ahLst/>
              <a:cxnLst/>
              <a:rect l="l" t="t" r="r" b="b"/>
              <a:pathLst>
                <a:path w="204608" h="205382">
                  <a:moveTo>
                    <a:pt x="46881" y="32147"/>
                  </a:moveTo>
                  <a:cubicBezTo>
                    <a:pt x="48667" y="31254"/>
                    <a:pt x="50155" y="31551"/>
                    <a:pt x="51346" y="33039"/>
                  </a:cubicBezTo>
                  <a:cubicBezTo>
                    <a:pt x="52536" y="34825"/>
                    <a:pt x="52239" y="36314"/>
                    <a:pt x="50453" y="37504"/>
                  </a:cubicBezTo>
                  <a:cubicBezTo>
                    <a:pt x="37356" y="45541"/>
                    <a:pt x="30807" y="57298"/>
                    <a:pt x="30807" y="72777"/>
                  </a:cubicBezTo>
                  <a:cubicBezTo>
                    <a:pt x="30807" y="74860"/>
                    <a:pt x="29766" y="75902"/>
                    <a:pt x="27682" y="75902"/>
                  </a:cubicBezTo>
                  <a:cubicBezTo>
                    <a:pt x="25599" y="75902"/>
                    <a:pt x="24557" y="74860"/>
                    <a:pt x="24557" y="72777"/>
                  </a:cubicBezTo>
                  <a:cubicBezTo>
                    <a:pt x="24557" y="54917"/>
                    <a:pt x="31998" y="41374"/>
                    <a:pt x="46881" y="32147"/>
                  </a:cubicBezTo>
                  <a:close/>
                  <a:moveTo>
                    <a:pt x="61168" y="25896"/>
                  </a:moveTo>
                  <a:cubicBezTo>
                    <a:pt x="63252" y="25300"/>
                    <a:pt x="64591" y="26045"/>
                    <a:pt x="65187" y="28128"/>
                  </a:cubicBezTo>
                  <a:cubicBezTo>
                    <a:pt x="65782" y="30212"/>
                    <a:pt x="65038" y="31551"/>
                    <a:pt x="62954" y="32147"/>
                  </a:cubicBezTo>
                  <a:cubicBezTo>
                    <a:pt x="62657" y="32147"/>
                    <a:pt x="62136" y="32221"/>
                    <a:pt x="61392" y="32370"/>
                  </a:cubicBezTo>
                  <a:cubicBezTo>
                    <a:pt x="60648" y="32519"/>
                    <a:pt x="60127" y="32742"/>
                    <a:pt x="59829" y="33039"/>
                  </a:cubicBezTo>
                  <a:lnTo>
                    <a:pt x="58936" y="33039"/>
                  </a:lnTo>
                  <a:cubicBezTo>
                    <a:pt x="57448" y="33039"/>
                    <a:pt x="56406" y="32295"/>
                    <a:pt x="55811" y="30807"/>
                  </a:cubicBezTo>
                  <a:cubicBezTo>
                    <a:pt x="55215" y="29319"/>
                    <a:pt x="55811" y="27979"/>
                    <a:pt x="57597" y="26789"/>
                  </a:cubicBezTo>
                  <a:cubicBezTo>
                    <a:pt x="58787" y="26789"/>
                    <a:pt x="59978" y="26491"/>
                    <a:pt x="61168" y="25896"/>
                  </a:cubicBezTo>
                  <a:close/>
                  <a:moveTo>
                    <a:pt x="72331" y="12948"/>
                  </a:moveTo>
                  <a:cubicBezTo>
                    <a:pt x="55959" y="12948"/>
                    <a:pt x="41895" y="18752"/>
                    <a:pt x="30138" y="30361"/>
                  </a:cubicBezTo>
                  <a:cubicBezTo>
                    <a:pt x="18380" y="41969"/>
                    <a:pt x="12502" y="55959"/>
                    <a:pt x="12502" y="72330"/>
                  </a:cubicBezTo>
                  <a:cubicBezTo>
                    <a:pt x="12502" y="88999"/>
                    <a:pt x="18380" y="103138"/>
                    <a:pt x="30138" y="114746"/>
                  </a:cubicBezTo>
                  <a:cubicBezTo>
                    <a:pt x="41895" y="126355"/>
                    <a:pt x="55959" y="132159"/>
                    <a:pt x="72331" y="132159"/>
                  </a:cubicBezTo>
                  <a:cubicBezTo>
                    <a:pt x="82451" y="132159"/>
                    <a:pt x="91678" y="129778"/>
                    <a:pt x="100013" y="125015"/>
                  </a:cubicBezTo>
                  <a:cubicBezTo>
                    <a:pt x="102691" y="123527"/>
                    <a:pt x="105222" y="123973"/>
                    <a:pt x="107603" y="126355"/>
                  </a:cubicBezTo>
                  <a:lnTo>
                    <a:pt x="132606" y="151358"/>
                  </a:lnTo>
                  <a:lnTo>
                    <a:pt x="134838" y="149572"/>
                  </a:lnTo>
                  <a:cubicBezTo>
                    <a:pt x="137517" y="148084"/>
                    <a:pt x="140047" y="148232"/>
                    <a:pt x="142429" y="150018"/>
                  </a:cubicBezTo>
                  <a:lnTo>
                    <a:pt x="150912" y="157162"/>
                  </a:lnTo>
                  <a:cubicBezTo>
                    <a:pt x="153293" y="159543"/>
                    <a:pt x="153740" y="161925"/>
                    <a:pt x="152251" y="164306"/>
                  </a:cubicBezTo>
                  <a:lnTo>
                    <a:pt x="150465" y="169217"/>
                  </a:lnTo>
                  <a:lnTo>
                    <a:pt x="157609" y="176361"/>
                  </a:lnTo>
                  <a:lnTo>
                    <a:pt x="167878" y="177254"/>
                  </a:lnTo>
                  <a:cubicBezTo>
                    <a:pt x="170259" y="177254"/>
                    <a:pt x="172045" y="178593"/>
                    <a:pt x="173236" y="181272"/>
                  </a:cubicBezTo>
                  <a:lnTo>
                    <a:pt x="176808" y="191541"/>
                  </a:lnTo>
                  <a:lnTo>
                    <a:pt x="191542" y="187970"/>
                  </a:lnTo>
                  <a:lnTo>
                    <a:pt x="189309" y="169217"/>
                  </a:lnTo>
                  <a:lnTo>
                    <a:pt x="126802" y="106263"/>
                  </a:lnTo>
                  <a:cubicBezTo>
                    <a:pt x="124420" y="103882"/>
                    <a:pt x="123974" y="101500"/>
                    <a:pt x="125462" y="99119"/>
                  </a:cubicBezTo>
                  <a:cubicBezTo>
                    <a:pt x="129629" y="91082"/>
                    <a:pt x="131713" y="82153"/>
                    <a:pt x="131713" y="72330"/>
                  </a:cubicBezTo>
                  <a:cubicBezTo>
                    <a:pt x="131713" y="55959"/>
                    <a:pt x="125909" y="41969"/>
                    <a:pt x="114300" y="30361"/>
                  </a:cubicBezTo>
                  <a:cubicBezTo>
                    <a:pt x="102691" y="18752"/>
                    <a:pt x="88702" y="12948"/>
                    <a:pt x="72331" y="12948"/>
                  </a:cubicBezTo>
                  <a:close/>
                  <a:moveTo>
                    <a:pt x="72331" y="0"/>
                  </a:moveTo>
                  <a:cubicBezTo>
                    <a:pt x="92274" y="0"/>
                    <a:pt x="109314" y="7069"/>
                    <a:pt x="123453" y="21208"/>
                  </a:cubicBezTo>
                  <a:cubicBezTo>
                    <a:pt x="137592" y="35346"/>
                    <a:pt x="144661" y="52387"/>
                    <a:pt x="144661" y="72330"/>
                  </a:cubicBezTo>
                  <a:cubicBezTo>
                    <a:pt x="144661" y="81260"/>
                    <a:pt x="142726" y="90636"/>
                    <a:pt x="138857" y="100459"/>
                  </a:cubicBezTo>
                  <a:lnTo>
                    <a:pt x="200025" y="161627"/>
                  </a:lnTo>
                  <a:cubicBezTo>
                    <a:pt x="201216" y="162818"/>
                    <a:pt x="201811" y="164157"/>
                    <a:pt x="201811" y="165645"/>
                  </a:cubicBezTo>
                  <a:lnTo>
                    <a:pt x="204490" y="192434"/>
                  </a:lnTo>
                  <a:cubicBezTo>
                    <a:pt x="205085" y="196304"/>
                    <a:pt x="203448" y="198536"/>
                    <a:pt x="199579" y="199132"/>
                  </a:cubicBezTo>
                  <a:lnTo>
                    <a:pt x="174129" y="204936"/>
                  </a:lnTo>
                  <a:cubicBezTo>
                    <a:pt x="173831" y="205234"/>
                    <a:pt x="173385" y="205382"/>
                    <a:pt x="172790" y="205382"/>
                  </a:cubicBezTo>
                  <a:cubicBezTo>
                    <a:pt x="169515" y="205382"/>
                    <a:pt x="167432" y="203894"/>
                    <a:pt x="166539" y="200918"/>
                  </a:cubicBezTo>
                  <a:lnTo>
                    <a:pt x="162967" y="189309"/>
                  </a:lnTo>
                  <a:lnTo>
                    <a:pt x="154484" y="188863"/>
                  </a:lnTo>
                  <a:cubicBezTo>
                    <a:pt x="152698" y="188863"/>
                    <a:pt x="151358" y="188267"/>
                    <a:pt x="150465" y="187077"/>
                  </a:cubicBezTo>
                  <a:lnTo>
                    <a:pt x="138410" y="175022"/>
                  </a:lnTo>
                  <a:cubicBezTo>
                    <a:pt x="136624" y="173236"/>
                    <a:pt x="136178" y="170854"/>
                    <a:pt x="137071" y="167878"/>
                  </a:cubicBezTo>
                  <a:lnTo>
                    <a:pt x="138857" y="163859"/>
                  </a:lnTo>
                  <a:lnTo>
                    <a:pt x="137964" y="162966"/>
                  </a:lnTo>
                  <a:lnTo>
                    <a:pt x="135731" y="164752"/>
                  </a:lnTo>
                  <a:cubicBezTo>
                    <a:pt x="132755" y="166538"/>
                    <a:pt x="129927" y="166390"/>
                    <a:pt x="127248" y="164306"/>
                  </a:cubicBezTo>
                  <a:lnTo>
                    <a:pt x="101799" y="138410"/>
                  </a:lnTo>
                  <a:cubicBezTo>
                    <a:pt x="91976" y="142577"/>
                    <a:pt x="82153" y="144661"/>
                    <a:pt x="72331" y="144661"/>
                  </a:cubicBezTo>
                  <a:cubicBezTo>
                    <a:pt x="52388" y="144661"/>
                    <a:pt x="35347" y="137666"/>
                    <a:pt x="21208" y="123676"/>
                  </a:cubicBezTo>
                  <a:cubicBezTo>
                    <a:pt x="7069" y="109686"/>
                    <a:pt x="0" y="92571"/>
                    <a:pt x="0" y="72330"/>
                  </a:cubicBezTo>
                  <a:cubicBezTo>
                    <a:pt x="0" y="52387"/>
                    <a:pt x="7069" y="35346"/>
                    <a:pt x="21208" y="21208"/>
                  </a:cubicBezTo>
                  <a:cubicBezTo>
                    <a:pt x="35347" y="7069"/>
                    <a:pt x="52388" y="0"/>
                    <a:pt x="72331"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prstClr val="black"/>
                </a:solidFill>
              </a:endParaRPr>
            </a:p>
          </p:txBody>
        </p:sp>
      </p:grpSp>
      <p:grpSp>
        <p:nvGrpSpPr>
          <p:cNvPr id="4" name="组合 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GrpSpPr/>
          <p:nvPr/>
        </p:nvGrpSpPr>
        <p:grpSpPr>
          <a:xfrm>
            <a:off x="947289" y="3165619"/>
            <a:ext cx="1246909" cy="1246909"/>
            <a:chOff x="4070838" y="2175162"/>
            <a:chExt cx="1246909" cy="1246909"/>
          </a:xfrm>
        </p:grpSpPr>
        <p:sp>
          <p:nvSpPr>
            <p:cNvPr id="6" name="椭圆 5"/>
            <p:cNvSpPr/>
            <p:nvPr/>
          </p:nvSpPr>
          <p:spPr>
            <a:xfrm>
              <a:off x="4070838" y="2175162"/>
              <a:ext cx="1246909" cy="1246909"/>
            </a:xfrm>
            <a:prstGeom prst="ellipse">
              <a:avLst/>
            </a:prstGeom>
            <a:gradFill>
              <a:gsLst>
                <a:gs pos="0">
                  <a:srgbClr val="F0C76A"/>
                </a:gs>
                <a:gs pos="100000">
                  <a:srgbClr val="CC6F62"/>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b="1">
                <a:solidFill>
                  <a:prstClr val="white"/>
                </a:solidFill>
                <a:cs typeface="Helvetica" panose="020B0604020202020204" pitchFamily="34" charset="0"/>
              </a:endParaRPr>
            </a:p>
          </p:txBody>
        </p:sp>
        <p:sp>
          <p:nvSpPr>
            <p:cNvPr id="25" name="Freeform 50"/>
            <p:cNvSpPr/>
            <p:nvPr/>
          </p:nvSpPr>
          <p:spPr>
            <a:xfrm>
              <a:off x="4519065" y="2591572"/>
              <a:ext cx="356176" cy="351549"/>
            </a:xfrm>
            <a:custGeom>
              <a:avLst/>
              <a:gdLst/>
              <a:ahLst/>
              <a:cxnLst/>
              <a:rect l="l" t="t" r="r" b="b"/>
              <a:pathLst>
                <a:path w="206276" h="203596">
                  <a:moveTo>
                    <a:pt x="95548" y="108049"/>
                  </a:moveTo>
                  <a:cubicBezTo>
                    <a:pt x="93762" y="108049"/>
                    <a:pt x="92199" y="108719"/>
                    <a:pt x="90860" y="110058"/>
                  </a:cubicBezTo>
                  <a:cubicBezTo>
                    <a:pt x="89520" y="111397"/>
                    <a:pt x="88850" y="112960"/>
                    <a:pt x="88850" y="114746"/>
                  </a:cubicBezTo>
                  <a:lnTo>
                    <a:pt x="88850" y="129927"/>
                  </a:lnTo>
                  <a:cubicBezTo>
                    <a:pt x="88850" y="134391"/>
                    <a:pt x="91083" y="136624"/>
                    <a:pt x="95548" y="136624"/>
                  </a:cubicBezTo>
                  <a:lnTo>
                    <a:pt x="110728" y="136624"/>
                  </a:lnTo>
                  <a:cubicBezTo>
                    <a:pt x="115193" y="136624"/>
                    <a:pt x="117426" y="134391"/>
                    <a:pt x="117426" y="129927"/>
                  </a:cubicBezTo>
                  <a:lnTo>
                    <a:pt x="117426" y="114746"/>
                  </a:lnTo>
                  <a:cubicBezTo>
                    <a:pt x="117426" y="112960"/>
                    <a:pt x="116756" y="111397"/>
                    <a:pt x="115416" y="110058"/>
                  </a:cubicBezTo>
                  <a:cubicBezTo>
                    <a:pt x="114077" y="108719"/>
                    <a:pt x="112514" y="108049"/>
                    <a:pt x="110728" y="108049"/>
                  </a:cubicBezTo>
                  <a:close/>
                  <a:moveTo>
                    <a:pt x="21878" y="54024"/>
                  </a:moveTo>
                  <a:cubicBezTo>
                    <a:pt x="19497" y="54024"/>
                    <a:pt x="17339" y="54992"/>
                    <a:pt x="15404" y="56926"/>
                  </a:cubicBezTo>
                  <a:cubicBezTo>
                    <a:pt x="13469" y="58861"/>
                    <a:pt x="12502" y="61019"/>
                    <a:pt x="12502" y="63400"/>
                  </a:cubicBezTo>
                  <a:lnTo>
                    <a:pt x="12502" y="117871"/>
                  </a:lnTo>
                  <a:lnTo>
                    <a:pt x="22771" y="117871"/>
                  </a:lnTo>
                  <a:cubicBezTo>
                    <a:pt x="24854" y="117871"/>
                    <a:pt x="25896" y="118913"/>
                    <a:pt x="25896" y="120997"/>
                  </a:cubicBezTo>
                  <a:cubicBezTo>
                    <a:pt x="25896" y="123080"/>
                    <a:pt x="24854" y="124122"/>
                    <a:pt x="22771" y="124122"/>
                  </a:cubicBezTo>
                  <a:lnTo>
                    <a:pt x="12502" y="124122"/>
                  </a:lnTo>
                  <a:lnTo>
                    <a:pt x="12502" y="181272"/>
                  </a:lnTo>
                  <a:cubicBezTo>
                    <a:pt x="12502" y="183951"/>
                    <a:pt x="13469" y="186184"/>
                    <a:pt x="15404" y="187970"/>
                  </a:cubicBezTo>
                  <a:cubicBezTo>
                    <a:pt x="17339" y="189755"/>
                    <a:pt x="19497" y="190648"/>
                    <a:pt x="21878" y="190648"/>
                  </a:cubicBezTo>
                  <a:lnTo>
                    <a:pt x="184398" y="190648"/>
                  </a:lnTo>
                  <a:cubicBezTo>
                    <a:pt x="186779" y="190648"/>
                    <a:pt x="188937" y="189755"/>
                    <a:pt x="190872" y="187970"/>
                  </a:cubicBezTo>
                  <a:cubicBezTo>
                    <a:pt x="192807" y="186184"/>
                    <a:pt x="193774" y="183951"/>
                    <a:pt x="193774" y="181272"/>
                  </a:cubicBezTo>
                  <a:lnTo>
                    <a:pt x="193774" y="124122"/>
                  </a:lnTo>
                  <a:lnTo>
                    <a:pt x="123676" y="124122"/>
                  </a:lnTo>
                  <a:lnTo>
                    <a:pt x="123676" y="130373"/>
                  </a:lnTo>
                  <a:cubicBezTo>
                    <a:pt x="123676" y="133647"/>
                    <a:pt x="122411" y="136549"/>
                    <a:pt x="119881" y="139079"/>
                  </a:cubicBezTo>
                  <a:cubicBezTo>
                    <a:pt x="117351" y="141610"/>
                    <a:pt x="114300" y="142875"/>
                    <a:pt x="110728" y="142875"/>
                  </a:cubicBezTo>
                  <a:lnTo>
                    <a:pt x="95548" y="142875"/>
                  </a:lnTo>
                  <a:cubicBezTo>
                    <a:pt x="91976" y="142875"/>
                    <a:pt x="88925" y="141610"/>
                    <a:pt x="86395" y="139079"/>
                  </a:cubicBezTo>
                  <a:cubicBezTo>
                    <a:pt x="83865" y="136549"/>
                    <a:pt x="82600" y="133647"/>
                    <a:pt x="82600" y="130373"/>
                  </a:cubicBezTo>
                  <a:lnTo>
                    <a:pt x="82600" y="124122"/>
                  </a:lnTo>
                  <a:lnTo>
                    <a:pt x="41523" y="124122"/>
                  </a:lnTo>
                  <a:cubicBezTo>
                    <a:pt x="39440" y="124122"/>
                    <a:pt x="38398" y="123080"/>
                    <a:pt x="38398" y="120997"/>
                  </a:cubicBezTo>
                  <a:cubicBezTo>
                    <a:pt x="38398" y="118913"/>
                    <a:pt x="39440" y="117871"/>
                    <a:pt x="41523" y="117871"/>
                  </a:cubicBezTo>
                  <a:lnTo>
                    <a:pt x="82600" y="117871"/>
                  </a:lnTo>
                  <a:lnTo>
                    <a:pt x="82600" y="114746"/>
                  </a:lnTo>
                  <a:cubicBezTo>
                    <a:pt x="82600" y="111174"/>
                    <a:pt x="83865" y="108123"/>
                    <a:pt x="86395" y="105593"/>
                  </a:cubicBezTo>
                  <a:cubicBezTo>
                    <a:pt x="88925" y="103063"/>
                    <a:pt x="91976" y="101798"/>
                    <a:pt x="95548" y="101798"/>
                  </a:cubicBezTo>
                  <a:lnTo>
                    <a:pt x="110728" y="101798"/>
                  </a:lnTo>
                  <a:cubicBezTo>
                    <a:pt x="114300" y="101798"/>
                    <a:pt x="117351" y="103063"/>
                    <a:pt x="119881" y="105593"/>
                  </a:cubicBezTo>
                  <a:cubicBezTo>
                    <a:pt x="122411" y="108123"/>
                    <a:pt x="123676" y="111174"/>
                    <a:pt x="123676" y="114746"/>
                  </a:cubicBezTo>
                  <a:lnTo>
                    <a:pt x="123676" y="117871"/>
                  </a:lnTo>
                  <a:lnTo>
                    <a:pt x="193774" y="117871"/>
                  </a:lnTo>
                  <a:lnTo>
                    <a:pt x="193774" y="63400"/>
                  </a:lnTo>
                  <a:cubicBezTo>
                    <a:pt x="193774" y="61019"/>
                    <a:pt x="192807" y="58861"/>
                    <a:pt x="190872" y="56926"/>
                  </a:cubicBezTo>
                  <a:cubicBezTo>
                    <a:pt x="188937" y="54992"/>
                    <a:pt x="186779" y="54024"/>
                    <a:pt x="184398" y="54024"/>
                  </a:cubicBezTo>
                  <a:close/>
                  <a:moveTo>
                    <a:pt x="89743" y="12948"/>
                  </a:moveTo>
                  <a:cubicBezTo>
                    <a:pt x="84981" y="12948"/>
                    <a:pt x="82600" y="15329"/>
                    <a:pt x="82600" y="20091"/>
                  </a:cubicBezTo>
                  <a:lnTo>
                    <a:pt x="82600" y="41523"/>
                  </a:lnTo>
                  <a:lnTo>
                    <a:pt x="123676" y="41523"/>
                  </a:lnTo>
                  <a:lnTo>
                    <a:pt x="123676" y="20091"/>
                  </a:lnTo>
                  <a:cubicBezTo>
                    <a:pt x="123676" y="15329"/>
                    <a:pt x="119807" y="12948"/>
                    <a:pt x="112068" y="12948"/>
                  </a:cubicBezTo>
                  <a:close/>
                  <a:moveTo>
                    <a:pt x="89743" y="0"/>
                  </a:moveTo>
                  <a:lnTo>
                    <a:pt x="115193" y="0"/>
                  </a:lnTo>
                  <a:cubicBezTo>
                    <a:pt x="121742" y="0"/>
                    <a:pt x="126950" y="1860"/>
                    <a:pt x="130820" y="5581"/>
                  </a:cubicBezTo>
                  <a:cubicBezTo>
                    <a:pt x="134690" y="9301"/>
                    <a:pt x="136624" y="14138"/>
                    <a:pt x="136624" y="20091"/>
                  </a:cubicBezTo>
                  <a:lnTo>
                    <a:pt x="136624" y="41523"/>
                  </a:lnTo>
                  <a:lnTo>
                    <a:pt x="184398" y="41523"/>
                  </a:lnTo>
                  <a:cubicBezTo>
                    <a:pt x="190351" y="41523"/>
                    <a:pt x="195486" y="43681"/>
                    <a:pt x="199802" y="47997"/>
                  </a:cubicBezTo>
                  <a:cubicBezTo>
                    <a:pt x="204118" y="52313"/>
                    <a:pt x="206276" y="57447"/>
                    <a:pt x="206276" y="63400"/>
                  </a:cubicBezTo>
                  <a:lnTo>
                    <a:pt x="206276" y="181272"/>
                  </a:lnTo>
                  <a:cubicBezTo>
                    <a:pt x="206276" y="187225"/>
                    <a:pt x="204118" y="192434"/>
                    <a:pt x="199802" y="196899"/>
                  </a:cubicBezTo>
                  <a:cubicBezTo>
                    <a:pt x="195486" y="201364"/>
                    <a:pt x="190351" y="203596"/>
                    <a:pt x="184398" y="203596"/>
                  </a:cubicBezTo>
                  <a:lnTo>
                    <a:pt x="21878" y="203596"/>
                  </a:lnTo>
                  <a:cubicBezTo>
                    <a:pt x="15925" y="203596"/>
                    <a:pt x="10790" y="201364"/>
                    <a:pt x="6474" y="196899"/>
                  </a:cubicBezTo>
                  <a:cubicBezTo>
                    <a:pt x="2158" y="192434"/>
                    <a:pt x="0" y="187225"/>
                    <a:pt x="0" y="181272"/>
                  </a:cubicBezTo>
                  <a:lnTo>
                    <a:pt x="0" y="63400"/>
                  </a:lnTo>
                  <a:cubicBezTo>
                    <a:pt x="0" y="57447"/>
                    <a:pt x="2158" y="52313"/>
                    <a:pt x="6474" y="47997"/>
                  </a:cubicBezTo>
                  <a:cubicBezTo>
                    <a:pt x="10790" y="43681"/>
                    <a:pt x="15925" y="41523"/>
                    <a:pt x="21878" y="41523"/>
                  </a:cubicBezTo>
                  <a:lnTo>
                    <a:pt x="69652" y="41523"/>
                  </a:lnTo>
                  <a:lnTo>
                    <a:pt x="69652" y="20091"/>
                  </a:lnTo>
                  <a:cubicBezTo>
                    <a:pt x="69652" y="14138"/>
                    <a:pt x="71363" y="9301"/>
                    <a:pt x="74786" y="5581"/>
                  </a:cubicBezTo>
                  <a:cubicBezTo>
                    <a:pt x="78209" y="1860"/>
                    <a:pt x="83195" y="0"/>
                    <a:pt x="89743" y="0"/>
                  </a:cubicBezTo>
                  <a:close/>
                </a:path>
              </a:pathLst>
            </a:custGeom>
            <a:solidFill>
              <a:schemeClr val="bg1"/>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a:solidFill>
                  <a:prstClr val="black"/>
                </a:solidFill>
              </a:endParaRPr>
            </a:p>
          </p:txBody>
        </p:sp>
      </p:grpSp>
      <p:sp>
        <p:nvSpPr>
          <p:cNvPr id="26" name="任意多边形 25"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1690684" y="1930682"/>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任意多边形 26"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5304356" y="3909463"/>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任意多边形 27"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8702254" y="1939135"/>
            <a:ext cx="969387"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
        <p:nvSpPr>
          <p:cNvPr id="33" name="TextBox 32"/>
          <p:cNvSpPr txBox="1"/>
          <p:nvPr/>
        </p:nvSpPr>
        <p:spPr>
          <a:xfrm>
            <a:off x="2332355" y="1448435"/>
            <a:ext cx="8050530" cy="953135"/>
          </a:xfrm>
          <a:prstGeom prst="rect">
            <a:avLst/>
          </a:prstGeom>
          <a:noFill/>
        </p:spPr>
        <p:txBody>
          <a:bodyPr wrap="square" rtlCol="0">
            <a:spAutoFit/>
          </a:bodyPr>
          <a:lstStyle/>
          <a:p>
            <a:r>
              <a:rPr lang="en-US" altLang="zh-CN" sz="2800" b="1" dirty="0">
                <a:solidFill>
                  <a:schemeClr val="bg1"/>
                </a:solidFill>
              </a:rPr>
              <a:t>F-score</a:t>
            </a:r>
            <a:r>
              <a:rPr lang="en-US" altLang="zh-CN" sz="2800" b="1" dirty="0">
                <a:solidFill>
                  <a:schemeClr val="bg1"/>
                </a:solidFill>
              </a:rPr>
              <a:t> isn't always the bigger the better. The F of small scale companies sometimes is high.</a:t>
            </a:r>
            <a:endParaRPr lang="en-US" altLang="zh-CN" sz="2800" b="1" dirty="0">
              <a:solidFill>
                <a:schemeClr val="bg1"/>
              </a:solidFill>
            </a:endParaRPr>
          </a:p>
        </p:txBody>
      </p:sp>
      <p:sp>
        <p:nvSpPr>
          <p:cNvPr id="34" name="TextBox 33"/>
          <p:cNvSpPr txBox="1"/>
          <p:nvPr/>
        </p:nvSpPr>
        <p:spPr>
          <a:xfrm>
            <a:off x="2332355" y="2401570"/>
            <a:ext cx="9394825" cy="2676525"/>
          </a:xfrm>
          <a:prstGeom prst="rect">
            <a:avLst/>
          </a:prstGeom>
          <a:noFill/>
        </p:spPr>
        <p:txBody>
          <a:bodyPr wrap="square" rtlCol="0">
            <a:spAutoFit/>
          </a:bodyPr>
          <a:lstStyle/>
          <a:p>
            <a:r>
              <a:rPr lang="en-US" sz="2800" b="1" dirty="0">
                <a:solidFill>
                  <a:schemeClr val="bg1"/>
                </a:solidFill>
              </a:rPr>
              <a:t>We finally choose excel to solve sequencing problem.</a:t>
            </a:r>
            <a:endParaRPr lang="en-US" sz="2800" b="1" dirty="0">
              <a:solidFill>
                <a:schemeClr val="bg1"/>
              </a:solidFill>
            </a:endParaRPr>
          </a:p>
          <a:p>
            <a:r>
              <a:rPr lang="en-US" sz="2800" b="1" dirty="0">
                <a:solidFill>
                  <a:schemeClr val="bg1"/>
                </a:solidFill>
              </a:rPr>
              <a:t>Because the “sort”function in python may come out the results that 5 is bigger than 44.When we turn string to float for sorting,“CIK”can't move with F-score automatically,which makes it difficult to figure out which company's performance is better.</a:t>
            </a:r>
            <a:endParaRPr lang="en-US" sz="2800" b="1" dirty="0">
              <a:solidFill>
                <a:schemeClr val="bg1"/>
              </a:solidFill>
            </a:endParaRPr>
          </a:p>
        </p:txBody>
      </p:sp>
      <p:sp>
        <p:nvSpPr>
          <p:cNvPr id="35" name="TextBox 34"/>
          <p:cNvSpPr txBox="1"/>
          <p:nvPr/>
        </p:nvSpPr>
        <p:spPr>
          <a:xfrm>
            <a:off x="2332355" y="4921885"/>
            <a:ext cx="8455660" cy="1814830"/>
          </a:xfrm>
          <a:prstGeom prst="rect">
            <a:avLst/>
          </a:prstGeom>
          <a:noFill/>
        </p:spPr>
        <p:txBody>
          <a:bodyPr wrap="square" rtlCol="0">
            <a:spAutoFit/>
          </a:bodyPr>
          <a:lstStyle/>
          <a:p>
            <a:r>
              <a:rPr lang="en-US" altLang="zh-CN" sz="2800" b="1" dirty="0">
                <a:solidFill>
                  <a:schemeClr val="bg1"/>
                </a:solidFill>
              </a:rPr>
              <a:t>F-score</a:t>
            </a:r>
            <a:r>
              <a:rPr lang="en-US" altLang="zh-CN" sz="2800" b="1" dirty="0">
                <a:solidFill>
                  <a:schemeClr val="bg1"/>
                </a:solidFill>
              </a:rPr>
              <a:t> is a very simple reference.</a:t>
            </a:r>
            <a:r>
              <a:rPr lang="en-US" altLang="zh-CN" sz="2800" b="1" dirty="0">
                <a:solidFill>
                  <a:schemeClr val="bg1"/>
                </a:solidFill>
                <a:sym typeface="+mn-ea"/>
              </a:rPr>
              <a:t>Different companies of different kinds have different potential,which can't reflect in the F-score.</a:t>
            </a:r>
            <a:r>
              <a:rPr lang="en-US" altLang="zh-CN" sz="2800" b="1" dirty="0">
                <a:solidFill>
                  <a:schemeClr val="bg1"/>
                </a:solidFill>
              </a:rPr>
              <a:t>When making investment decisions, we should  also consider other factors.</a:t>
            </a:r>
            <a:endParaRPr lang="en-US" altLang="zh-CN" sz="2800"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advClick="0" advTm="0">
        <p:fade/>
      </p:transition>
    </mc:Choice>
    <mc:Fallback>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63" presetClass="path" presetSubtype="0" accel="50000" decel="50000" fill="hold" grpId="1" nodeType="withEffect">
                                  <p:stCondLst>
                                    <p:cond delay="0"/>
                                  </p:stCondLst>
                                  <p:childTnLst>
                                    <p:animMotion origin="layout" path="M 0.11836 2.96296E-6 L 1.25E-6 2.96296E-6 " pathEditMode="relative" rAng="0" ptsTypes="AA">
                                      <p:cBhvr>
                                        <p:cTn id="9" dur="2000" fill="hold"/>
                                        <p:tgtEl>
                                          <p:spTgt spid="7"/>
                                        </p:tgtEl>
                                        <p:attrNameLst>
                                          <p:attrName>ppt_x</p:attrName>
                                          <p:attrName>ppt_y</p:attrName>
                                        </p:attrNameLst>
                                      </p:cBhvr>
                                      <p:rCtr x="-5924" y="0"/>
                                    </p:animMotion>
                                  </p:childTnLst>
                                </p:cTn>
                              </p:par>
                              <p:par>
                                <p:cTn id="10" presetID="1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63" presetClass="path" presetSubtype="0" accel="50000" decel="50000" fill="hold" grpId="1" nodeType="withEffect">
                                  <p:stCondLst>
                                    <p:cond delay="0"/>
                                  </p:stCondLst>
                                  <p:childTnLst>
                                    <p:animMotion origin="layout" path="M -0.0608 3.7037E-7 L -2.70833E-6 3.7037E-7 " pathEditMode="relative" rAng="0" ptsTypes="AA">
                                      <p:cBhvr>
                                        <p:cTn id="14" dur="2000" fill="hold"/>
                                        <p:tgtEl>
                                          <p:spTgt spid="5"/>
                                        </p:tgtEl>
                                        <p:attrNameLst>
                                          <p:attrName>ppt_x</p:attrName>
                                          <p:attrName>ppt_y</p:attrName>
                                        </p:attrNameLst>
                                      </p:cBhvr>
                                      <p:rCtr x="3034" y="0"/>
                                    </p:animMotion>
                                  </p:childTnLst>
                                </p:cTn>
                              </p:par>
                              <p:par>
                                <p:cTn id="15" presetID="22" presetClass="entr" presetSubtype="1" fill="hold" nodeType="withEffect">
                                  <p:stCondLst>
                                    <p:cond delay="3000"/>
                                  </p:stCondLst>
                                  <p:childTnLst>
                                    <p:set>
                                      <p:cBhvr>
                                        <p:cTn id="16" dur="1" fill="hold">
                                          <p:stCondLst>
                                            <p:cond delay="0"/>
                                          </p:stCondLst>
                                        </p:cTn>
                                        <p:tgtEl>
                                          <p:spTgt spid="19"/>
                                        </p:tgtEl>
                                        <p:attrNameLst>
                                          <p:attrName>style.visibility</p:attrName>
                                        </p:attrNameLst>
                                      </p:cBhvr>
                                      <p:to>
                                        <p:strVal val="visible"/>
                                      </p:to>
                                    </p:set>
                                    <p:animEffect transition="in" filter="wipe(up)">
                                      <p:cBhvr>
                                        <p:cTn id="17" dur="1000"/>
                                        <p:tgtEl>
                                          <p:spTgt spid="19"/>
                                        </p:tgtEl>
                                      </p:cBhvr>
                                    </p:animEffect>
                                  </p:childTnLst>
                                </p:cTn>
                              </p:par>
                              <p:par>
                                <p:cTn id="18" presetID="10" presetClass="entr" presetSubtype="0" fill="hold" grpId="0" nodeType="withEffect">
                                  <p:stCondLst>
                                    <p:cond delay="1000"/>
                                  </p:stCondLst>
                                  <p:childTnLst>
                                    <p:set>
                                      <p:cBhvr>
                                        <p:cTn id="19" dur="1" fill="hold">
                                          <p:stCondLst>
                                            <p:cond delay="0"/>
                                          </p:stCondLst>
                                        </p:cTn>
                                        <p:tgtEl>
                                          <p:spTgt spid="26"/>
                                        </p:tgtEl>
                                        <p:attrNameLst>
                                          <p:attrName>style.visibility</p:attrName>
                                        </p:attrNameLst>
                                      </p:cBhvr>
                                      <p:to>
                                        <p:strVal val="visible"/>
                                      </p:to>
                                    </p:set>
                                    <p:animEffect transition="in" filter="fade">
                                      <p:cBhvr>
                                        <p:cTn id="20" dur="500"/>
                                        <p:tgtEl>
                                          <p:spTgt spid="26"/>
                                        </p:tgtEl>
                                      </p:cBhvr>
                                    </p:animEffect>
                                  </p:childTnLst>
                                </p:cTn>
                              </p:par>
                              <p:par>
                                <p:cTn id="21" presetID="63" presetClass="path" presetSubtype="0" accel="50000" decel="50000" fill="hold" grpId="1" nodeType="withEffect">
                                  <p:stCondLst>
                                    <p:cond delay="1000"/>
                                  </p:stCondLst>
                                  <p:childTnLst>
                                    <p:animMotion origin="layout" path="M -0.08334 0.00047 L 4.58333E-6 -2.22222E-6 " pathEditMode="relative" rAng="0" ptsTypes="AA">
                                      <p:cBhvr>
                                        <p:cTn id="22" dur="2000" fill="hold"/>
                                        <p:tgtEl>
                                          <p:spTgt spid="26"/>
                                        </p:tgtEl>
                                        <p:attrNameLst>
                                          <p:attrName>ppt_x</p:attrName>
                                          <p:attrName>ppt_y</p:attrName>
                                        </p:attrNameLst>
                                      </p:cBhvr>
                                      <p:rCtr x="4167" y="-23"/>
                                    </p:animMotion>
                                  </p:childTnLst>
                                </p:cTn>
                              </p:par>
                              <p:par>
                                <p:cTn id="23" presetID="10" presetClass="entr" presetSubtype="0" fill="hold" grpId="0" nodeType="withEffect">
                                  <p:stCondLst>
                                    <p:cond delay="100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par>
                                <p:cTn id="26" presetID="63" presetClass="path" presetSubtype="0" accel="50000" decel="50000" fill="hold" grpId="1" nodeType="withEffect">
                                  <p:stCondLst>
                                    <p:cond delay="1000"/>
                                  </p:stCondLst>
                                  <p:childTnLst>
                                    <p:animMotion origin="layout" path="M -0.08334 0.00047 L 4.58333E-6 -2.22222E-6 " pathEditMode="relative" rAng="0" ptsTypes="AA">
                                      <p:cBhvr>
                                        <p:cTn id="27" dur="2000" fill="hold"/>
                                        <p:tgtEl>
                                          <p:spTgt spid="27"/>
                                        </p:tgtEl>
                                        <p:attrNameLst>
                                          <p:attrName>ppt_x</p:attrName>
                                          <p:attrName>ppt_y</p:attrName>
                                        </p:attrNameLst>
                                      </p:cBhvr>
                                      <p:rCtr x="4167" y="-23"/>
                                    </p:animMotion>
                                  </p:childTnLst>
                                </p:cTn>
                              </p:par>
                              <p:par>
                                <p:cTn id="28" presetID="10" presetClass="entr" presetSubtype="0" fill="hold" grpId="0" nodeType="withEffect">
                                  <p:stCondLst>
                                    <p:cond delay="1000"/>
                                  </p:stCondLst>
                                  <p:childTnLst>
                                    <p:set>
                                      <p:cBhvr>
                                        <p:cTn id="29" dur="1" fill="hold">
                                          <p:stCondLst>
                                            <p:cond delay="0"/>
                                          </p:stCondLst>
                                        </p:cTn>
                                        <p:tgtEl>
                                          <p:spTgt spid="28"/>
                                        </p:tgtEl>
                                        <p:attrNameLst>
                                          <p:attrName>style.visibility</p:attrName>
                                        </p:attrNameLst>
                                      </p:cBhvr>
                                      <p:to>
                                        <p:strVal val="visible"/>
                                      </p:to>
                                    </p:set>
                                    <p:animEffect transition="in" filter="fade">
                                      <p:cBhvr>
                                        <p:cTn id="30" dur="500"/>
                                        <p:tgtEl>
                                          <p:spTgt spid="28"/>
                                        </p:tgtEl>
                                      </p:cBhvr>
                                    </p:animEffect>
                                  </p:childTnLst>
                                </p:cTn>
                              </p:par>
                              <p:par>
                                <p:cTn id="31" presetID="63" presetClass="path" presetSubtype="0" accel="50000" decel="50000" fill="hold" grpId="1" nodeType="withEffect">
                                  <p:stCondLst>
                                    <p:cond delay="1000"/>
                                  </p:stCondLst>
                                  <p:childTnLst>
                                    <p:animMotion origin="layout" path="M -0.08334 0.00047 L 4.58333E-6 -2.22222E-6 " pathEditMode="relative" rAng="0" ptsTypes="AA">
                                      <p:cBhvr>
                                        <p:cTn id="32" dur="2000" fill="hold"/>
                                        <p:tgtEl>
                                          <p:spTgt spid="28"/>
                                        </p:tgtEl>
                                        <p:attrNameLst>
                                          <p:attrName>ppt_x</p:attrName>
                                          <p:attrName>ppt_y</p:attrName>
                                        </p:attrNameLst>
                                      </p:cBhvr>
                                      <p:rCtr x="4167" y="-23"/>
                                    </p:animMotion>
                                  </p:childTnLst>
                                </p:cTn>
                              </p:par>
                              <p:par>
                                <p:cTn id="33" presetID="53" presetClass="entr" presetSubtype="16" fill="hold" nodeType="withEffect">
                                  <p:stCondLst>
                                    <p:cond delay="2000"/>
                                  </p:stCondLst>
                                  <p:childTnLst>
                                    <p:set>
                                      <p:cBhvr>
                                        <p:cTn id="34" dur="1" fill="hold">
                                          <p:stCondLst>
                                            <p:cond delay="0"/>
                                          </p:stCondLst>
                                        </p:cTn>
                                        <p:tgtEl>
                                          <p:spTgt spid="30"/>
                                        </p:tgtEl>
                                        <p:attrNameLst>
                                          <p:attrName>style.visibility</p:attrName>
                                        </p:attrNameLst>
                                      </p:cBhvr>
                                      <p:to>
                                        <p:strVal val="visible"/>
                                      </p:to>
                                    </p:set>
                                    <p:anim calcmode="lin" valueType="num">
                                      <p:cBhvr>
                                        <p:cTn id="35" dur="2000" fill="hold"/>
                                        <p:tgtEl>
                                          <p:spTgt spid="30"/>
                                        </p:tgtEl>
                                        <p:attrNameLst>
                                          <p:attrName>ppt_w</p:attrName>
                                        </p:attrNameLst>
                                      </p:cBhvr>
                                      <p:tavLst>
                                        <p:tav tm="0">
                                          <p:val>
                                            <p:fltVal val="0"/>
                                          </p:val>
                                        </p:tav>
                                        <p:tav tm="100000">
                                          <p:val>
                                            <p:strVal val="#ppt_w"/>
                                          </p:val>
                                        </p:tav>
                                      </p:tavLst>
                                    </p:anim>
                                    <p:anim calcmode="lin" valueType="num">
                                      <p:cBhvr>
                                        <p:cTn id="36" dur="2000" fill="hold"/>
                                        <p:tgtEl>
                                          <p:spTgt spid="30"/>
                                        </p:tgtEl>
                                        <p:attrNameLst>
                                          <p:attrName>ppt_h</p:attrName>
                                        </p:attrNameLst>
                                      </p:cBhvr>
                                      <p:tavLst>
                                        <p:tav tm="0">
                                          <p:val>
                                            <p:fltVal val="0"/>
                                          </p:val>
                                        </p:tav>
                                        <p:tav tm="100000">
                                          <p:val>
                                            <p:strVal val="#ppt_h"/>
                                          </p:val>
                                        </p:tav>
                                      </p:tavLst>
                                    </p:anim>
                                    <p:animEffect transition="in" filter="fade">
                                      <p:cBhvr>
                                        <p:cTn id="37" dur="2000"/>
                                        <p:tgtEl>
                                          <p:spTgt spid="30"/>
                                        </p:tgtEl>
                                      </p:cBhvr>
                                    </p:animEffect>
                                  </p:childTnLst>
                                </p:cTn>
                              </p:par>
                              <p:par>
                                <p:cTn id="38" presetID="53" presetClass="entr" presetSubtype="16" fill="hold" nodeType="withEffect">
                                  <p:stCondLst>
                                    <p:cond delay="2000"/>
                                  </p:stCondLst>
                                  <p:childTnLst>
                                    <p:set>
                                      <p:cBhvr>
                                        <p:cTn id="39" dur="1" fill="hold">
                                          <p:stCondLst>
                                            <p:cond delay="0"/>
                                          </p:stCondLst>
                                        </p:cTn>
                                        <p:tgtEl>
                                          <p:spTgt spid="4"/>
                                        </p:tgtEl>
                                        <p:attrNameLst>
                                          <p:attrName>style.visibility</p:attrName>
                                        </p:attrNameLst>
                                      </p:cBhvr>
                                      <p:to>
                                        <p:strVal val="visible"/>
                                      </p:to>
                                    </p:set>
                                    <p:anim calcmode="lin" valueType="num">
                                      <p:cBhvr>
                                        <p:cTn id="40" dur="2000" fill="hold"/>
                                        <p:tgtEl>
                                          <p:spTgt spid="4"/>
                                        </p:tgtEl>
                                        <p:attrNameLst>
                                          <p:attrName>ppt_w</p:attrName>
                                        </p:attrNameLst>
                                      </p:cBhvr>
                                      <p:tavLst>
                                        <p:tav tm="0">
                                          <p:val>
                                            <p:fltVal val="0"/>
                                          </p:val>
                                        </p:tav>
                                        <p:tav tm="100000">
                                          <p:val>
                                            <p:strVal val="#ppt_w"/>
                                          </p:val>
                                        </p:tav>
                                      </p:tavLst>
                                    </p:anim>
                                    <p:anim calcmode="lin" valueType="num">
                                      <p:cBhvr>
                                        <p:cTn id="41" dur="2000" fill="hold"/>
                                        <p:tgtEl>
                                          <p:spTgt spid="4"/>
                                        </p:tgtEl>
                                        <p:attrNameLst>
                                          <p:attrName>ppt_h</p:attrName>
                                        </p:attrNameLst>
                                      </p:cBhvr>
                                      <p:tavLst>
                                        <p:tav tm="0">
                                          <p:val>
                                            <p:fltVal val="0"/>
                                          </p:val>
                                        </p:tav>
                                        <p:tav tm="100000">
                                          <p:val>
                                            <p:strVal val="#ppt_h"/>
                                          </p:val>
                                        </p:tav>
                                      </p:tavLst>
                                    </p:anim>
                                    <p:animEffect transition="in" filter="fade">
                                      <p:cBhvr>
                                        <p:cTn id="42" dur="2000"/>
                                        <p:tgtEl>
                                          <p:spTgt spid="4"/>
                                        </p:tgtEl>
                                      </p:cBhvr>
                                    </p:animEffect>
                                  </p:childTnLst>
                                </p:cTn>
                              </p:par>
                              <p:par>
                                <p:cTn id="43" presetID="53" presetClass="entr" presetSubtype="16" fill="hold" nodeType="withEffect">
                                  <p:stCondLst>
                                    <p:cond delay="2000"/>
                                  </p:stCondLst>
                                  <p:childTnLst>
                                    <p:set>
                                      <p:cBhvr>
                                        <p:cTn id="44" dur="1" fill="hold">
                                          <p:stCondLst>
                                            <p:cond delay="0"/>
                                          </p:stCondLst>
                                        </p:cTn>
                                        <p:tgtEl>
                                          <p:spTgt spid="3"/>
                                        </p:tgtEl>
                                        <p:attrNameLst>
                                          <p:attrName>style.visibility</p:attrName>
                                        </p:attrNameLst>
                                      </p:cBhvr>
                                      <p:to>
                                        <p:strVal val="visible"/>
                                      </p:to>
                                    </p:set>
                                    <p:anim calcmode="lin" valueType="num">
                                      <p:cBhvr>
                                        <p:cTn id="45" dur="2000" fill="hold"/>
                                        <p:tgtEl>
                                          <p:spTgt spid="3"/>
                                        </p:tgtEl>
                                        <p:attrNameLst>
                                          <p:attrName>ppt_w</p:attrName>
                                        </p:attrNameLst>
                                      </p:cBhvr>
                                      <p:tavLst>
                                        <p:tav tm="0">
                                          <p:val>
                                            <p:fltVal val="0"/>
                                          </p:val>
                                        </p:tav>
                                        <p:tav tm="100000">
                                          <p:val>
                                            <p:strVal val="#ppt_w"/>
                                          </p:val>
                                        </p:tav>
                                      </p:tavLst>
                                    </p:anim>
                                    <p:anim calcmode="lin" valueType="num">
                                      <p:cBhvr>
                                        <p:cTn id="46" dur="2000" fill="hold"/>
                                        <p:tgtEl>
                                          <p:spTgt spid="3"/>
                                        </p:tgtEl>
                                        <p:attrNameLst>
                                          <p:attrName>ppt_h</p:attrName>
                                        </p:attrNameLst>
                                      </p:cBhvr>
                                      <p:tavLst>
                                        <p:tav tm="0">
                                          <p:val>
                                            <p:fltVal val="0"/>
                                          </p:val>
                                        </p:tav>
                                        <p:tav tm="100000">
                                          <p:val>
                                            <p:strVal val="#ppt_h"/>
                                          </p:val>
                                        </p:tav>
                                      </p:tavLst>
                                    </p:anim>
                                    <p:animEffect transition="in" filter="fade">
                                      <p:cBhvr>
                                        <p:cTn id="47" dur="2000"/>
                                        <p:tgtEl>
                                          <p:spTgt spid="3"/>
                                        </p:tgtEl>
                                      </p:cBhvr>
                                    </p:animEffect>
                                  </p:childTnLst>
                                </p:cTn>
                              </p:par>
                              <p:par>
                                <p:cTn id="48" presetID="49" presetClass="entr" presetSubtype="0" decel="100000" fill="hold" nodeType="withEffect">
                                  <p:stCondLst>
                                    <p:cond delay="2000"/>
                                  </p:stCondLst>
                                  <p:childTnLst>
                                    <p:set>
                                      <p:cBhvr>
                                        <p:cTn id="49" dur="1" fill="hold">
                                          <p:stCondLst>
                                            <p:cond delay="0"/>
                                          </p:stCondLst>
                                        </p:cTn>
                                        <p:tgtEl>
                                          <p:spTgt spid="30"/>
                                        </p:tgtEl>
                                        <p:attrNameLst>
                                          <p:attrName>style.visibility</p:attrName>
                                        </p:attrNameLst>
                                      </p:cBhvr>
                                      <p:to>
                                        <p:strVal val="visible"/>
                                      </p:to>
                                    </p:set>
                                    <p:anim calcmode="lin" valueType="num">
                                      <p:cBhvr>
                                        <p:cTn id="50" dur="2000" fill="hold"/>
                                        <p:tgtEl>
                                          <p:spTgt spid="30"/>
                                        </p:tgtEl>
                                        <p:attrNameLst>
                                          <p:attrName>ppt_w</p:attrName>
                                        </p:attrNameLst>
                                      </p:cBhvr>
                                      <p:tavLst>
                                        <p:tav tm="0">
                                          <p:val>
                                            <p:fltVal val="0"/>
                                          </p:val>
                                        </p:tav>
                                        <p:tav tm="100000">
                                          <p:val>
                                            <p:strVal val="#ppt_w"/>
                                          </p:val>
                                        </p:tav>
                                      </p:tavLst>
                                    </p:anim>
                                    <p:anim calcmode="lin" valueType="num">
                                      <p:cBhvr>
                                        <p:cTn id="51" dur="2000" fill="hold"/>
                                        <p:tgtEl>
                                          <p:spTgt spid="30"/>
                                        </p:tgtEl>
                                        <p:attrNameLst>
                                          <p:attrName>ppt_h</p:attrName>
                                        </p:attrNameLst>
                                      </p:cBhvr>
                                      <p:tavLst>
                                        <p:tav tm="0">
                                          <p:val>
                                            <p:fltVal val="0"/>
                                          </p:val>
                                        </p:tav>
                                        <p:tav tm="100000">
                                          <p:val>
                                            <p:strVal val="#ppt_h"/>
                                          </p:val>
                                        </p:tav>
                                      </p:tavLst>
                                    </p:anim>
                                    <p:anim calcmode="lin" valueType="num">
                                      <p:cBhvr>
                                        <p:cTn id="52" dur="2000" fill="hold"/>
                                        <p:tgtEl>
                                          <p:spTgt spid="30"/>
                                        </p:tgtEl>
                                        <p:attrNameLst>
                                          <p:attrName>style.rotation</p:attrName>
                                        </p:attrNameLst>
                                      </p:cBhvr>
                                      <p:tavLst>
                                        <p:tav tm="0">
                                          <p:val>
                                            <p:fltVal val="360"/>
                                          </p:val>
                                        </p:tav>
                                        <p:tav tm="100000">
                                          <p:val>
                                            <p:fltVal val="0"/>
                                          </p:val>
                                        </p:tav>
                                      </p:tavLst>
                                    </p:anim>
                                    <p:animEffect transition="in" filter="fade">
                                      <p:cBhvr>
                                        <p:cTn id="53" dur="2000"/>
                                        <p:tgtEl>
                                          <p:spTgt spid="30"/>
                                        </p:tgtEl>
                                      </p:cBhvr>
                                    </p:animEffect>
                                  </p:childTnLst>
                                </p:cTn>
                              </p:par>
                              <p:par>
                                <p:cTn id="54" presetID="49" presetClass="entr" presetSubtype="0" decel="100000" fill="hold" nodeType="withEffect">
                                  <p:stCondLst>
                                    <p:cond delay="2000"/>
                                  </p:stCondLst>
                                  <p:childTnLst>
                                    <p:set>
                                      <p:cBhvr>
                                        <p:cTn id="55" dur="1" fill="hold">
                                          <p:stCondLst>
                                            <p:cond delay="0"/>
                                          </p:stCondLst>
                                        </p:cTn>
                                        <p:tgtEl>
                                          <p:spTgt spid="4"/>
                                        </p:tgtEl>
                                        <p:attrNameLst>
                                          <p:attrName>style.visibility</p:attrName>
                                        </p:attrNameLst>
                                      </p:cBhvr>
                                      <p:to>
                                        <p:strVal val="visible"/>
                                      </p:to>
                                    </p:set>
                                    <p:anim calcmode="lin" valueType="num">
                                      <p:cBhvr>
                                        <p:cTn id="56" dur="2000" fill="hold"/>
                                        <p:tgtEl>
                                          <p:spTgt spid="4"/>
                                        </p:tgtEl>
                                        <p:attrNameLst>
                                          <p:attrName>ppt_w</p:attrName>
                                        </p:attrNameLst>
                                      </p:cBhvr>
                                      <p:tavLst>
                                        <p:tav tm="0">
                                          <p:val>
                                            <p:fltVal val="0"/>
                                          </p:val>
                                        </p:tav>
                                        <p:tav tm="100000">
                                          <p:val>
                                            <p:strVal val="#ppt_w"/>
                                          </p:val>
                                        </p:tav>
                                      </p:tavLst>
                                    </p:anim>
                                    <p:anim calcmode="lin" valueType="num">
                                      <p:cBhvr>
                                        <p:cTn id="57" dur="2000" fill="hold"/>
                                        <p:tgtEl>
                                          <p:spTgt spid="4"/>
                                        </p:tgtEl>
                                        <p:attrNameLst>
                                          <p:attrName>ppt_h</p:attrName>
                                        </p:attrNameLst>
                                      </p:cBhvr>
                                      <p:tavLst>
                                        <p:tav tm="0">
                                          <p:val>
                                            <p:fltVal val="0"/>
                                          </p:val>
                                        </p:tav>
                                        <p:tav tm="100000">
                                          <p:val>
                                            <p:strVal val="#ppt_h"/>
                                          </p:val>
                                        </p:tav>
                                      </p:tavLst>
                                    </p:anim>
                                    <p:anim calcmode="lin" valueType="num">
                                      <p:cBhvr>
                                        <p:cTn id="58" dur="2000" fill="hold"/>
                                        <p:tgtEl>
                                          <p:spTgt spid="4"/>
                                        </p:tgtEl>
                                        <p:attrNameLst>
                                          <p:attrName>style.rotation</p:attrName>
                                        </p:attrNameLst>
                                      </p:cBhvr>
                                      <p:tavLst>
                                        <p:tav tm="0">
                                          <p:val>
                                            <p:fltVal val="360"/>
                                          </p:val>
                                        </p:tav>
                                        <p:tav tm="100000">
                                          <p:val>
                                            <p:fltVal val="0"/>
                                          </p:val>
                                        </p:tav>
                                      </p:tavLst>
                                    </p:anim>
                                    <p:animEffect transition="in" filter="fade">
                                      <p:cBhvr>
                                        <p:cTn id="59" dur="2000"/>
                                        <p:tgtEl>
                                          <p:spTgt spid="4"/>
                                        </p:tgtEl>
                                      </p:cBhvr>
                                    </p:animEffect>
                                  </p:childTnLst>
                                </p:cTn>
                              </p:par>
                              <p:par>
                                <p:cTn id="60" presetID="49" presetClass="entr" presetSubtype="0" decel="100000" fill="hold" nodeType="withEffect">
                                  <p:stCondLst>
                                    <p:cond delay="2000"/>
                                  </p:stCondLst>
                                  <p:childTnLst>
                                    <p:set>
                                      <p:cBhvr>
                                        <p:cTn id="61" dur="1" fill="hold">
                                          <p:stCondLst>
                                            <p:cond delay="0"/>
                                          </p:stCondLst>
                                        </p:cTn>
                                        <p:tgtEl>
                                          <p:spTgt spid="3"/>
                                        </p:tgtEl>
                                        <p:attrNameLst>
                                          <p:attrName>style.visibility</p:attrName>
                                        </p:attrNameLst>
                                      </p:cBhvr>
                                      <p:to>
                                        <p:strVal val="visible"/>
                                      </p:to>
                                    </p:set>
                                    <p:anim calcmode="lin" valueType="num">
                                      <p:cBhvr>
                                        <p:cTn id="62" dur="2000" fill="hold"/>
                                        <p:tgtEl>
                                          <p:spTgt spid="3"/>
                                        </p:tgtEl>
                                        <p:attrNameLst>
                                          <p:attrName>ppt_w</p:attrName>
                                        </p:attrNameLst>
                                      </p:cBhvr>
                                      <p:tavLst>
                                        <p:tav tm="0">
                                          <p:val>
                                            <p:fltVal val="0"/>
                                          </p:val>
                                        </p:tav>
                                        <p:tav tm="100000">
                                          <p:val>
                                            <p:strVal val="#ppt_w"/>
                                          </p:val>
                                        </p:tav>
                                      </p:tavLst>
                                    </p:anim>
                                    <p:anim calcmode="lin" valueType="num">
                                      <p:cBhvr>
                                        <p:cTn id="63" dur="2000" fill="hold"/>
                                        <p:tgtEl>
                                          <p:spTgt spid="3"/>
                                        </p:tgtEl>
                                        <p:attrNameLst>
                                          <p:attrName>ppt_h</p:attrName>
                                        </p:attrNameLst>
                                      </p:cBhvr>
                                      <p:tavLst>
                                        <p:tav tm="0">
                                          <p:val>
                                            <p:fltVal val="0"/>
                                          </p:val>
                                        </p:tav>
                                        <p:tav tm="100000">
                                          <p:val>
                                            <p:strVal val="#ppt_h"/>
                                          </p:val>
                                        </p:tav>
                                      </p:tavLst>
                                    </p:anim>
                                    <p:anim calcmode="lin" valueType="num">
                                      <p:cBhvr>
                                        <p:cTn id="64" dur="2000" fill="hold"/>
                                        <p:tgtEl>
                                          <p:spTgt spid="3"/>
                                        </p:tgtEl>
                                        <p:attrNameLst>
                                          <p:attrName>style.rotation</p:attrName>
                                        </p:attrNameLst>
                                      </p:cBhvr>
                                      <p:tavLst>
                                        <p:tav tm="0">
                                          <p:val>
                                            <p:fltVal val="360"/>
                                          </p:val>
                                        </p:tav>
                                        <p:tav tm="100000">
                                          <p:val>
                                            <p:fltVal val="0"/>
                                          </p:val>
                                        </p:tav>
                                      </p:tavLst>
                                    </p:anim>
                                    <p:animEffect transition="in" filter="fade">
                                      <p:cBhvr>
                                        <p:cTn id="65" dur="2000"/>
                                        <p:tgtEl>
                                          <p:spTgt spid="3"/>
                                        </p:tgtEl>
                                      </p:cBhvr>
                                    </p:animEffect>
                                  </p:childTnLst>
                                </p:cTn>
                              </p:par>
                            </p:childTnLst>
                          </p:cTn>
                        </p:par>
                      </p:childTnLst>
                    </p:cTn>
                  </p:par>
                  <p:par>
                    <p:cTn id="66" fill="hold">
                      <p:stCondLst>
                        <p:cond delay="indefinite"/>
                      </p:stCondLst>
                      <p:childTnLst>
                        <p:par>
                          <p:cTn id="67" fill="hold">
                            <p:stCondLst>
                              <p:cond delay="0"/>
                            </p:stCondLst>
                            <p:childTnLst>
                              <p:par>
                                <p:cTn id="68" presetID="13" presetClass="entr" presetSubtype="16" fill="hold" grpId="0" nodeType="click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plus(in)">
                                      <p:cBhvr>
                                        <p:cTn id="70" dur="2000"/>
                                        <p:tgtEl>
                                          <p:spTgt spid="33"/>
                                        </p:tgtEl>
                                      </p:cBhvr>
                                    </p:animEffect>
                                  </p:childTnLst>
                                </p:cTn>
                              </p:par>
                            </p:childTnLst>
                          </p:cTn>
                        </p:par>
                      </p:childTnLst>
                    </p:cTn>
                  </p:par>
                  <p:par>
                    <p:cTn id="71" fill="hold">
                      <p:stCondLst>
                        <p:cond delay="indefinite"/>
                      </p:stCondLst>
                      <p:childTnLst>
                        <p:par>
                          <p:cTn id="72" fill="hold">
                            <p:stCondLst>
                              <p:cond delay="0"/>
                            </p:stCondLst>
                            <p:childTnLst>
                              <p:par>
                                <p:cTn id="73" presetID="13" presetClass="entr" presetSubtype="16" fill="hold" grpId="0" nodeType="click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plus(in)">
                                      <p:cBhvr>
                                        <p:cTn id="75" dur="20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20" presetClass="entr" presetSubtype="0" fill="hold" grpId="0" nodeType="click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wedge">
                                      <p:cBhvr>
                                        <p:cTn id="80"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7" grpId="0" bldLvl="0" animBg="1"/>
      <p:bldP spid="7" grpId="1" bldLvl="0" animBg="1"/>
      <p:bldP spid="26" grpId="0" bldLvl="0" animBg="1"/>
      <p:bldP spid="26" grpId="1" bldLvl="0" animBg="1"/>
      <p:bldP spid="27" grpId="0" bldLvl="0" animBg="1"/>
      <p:bldP spid="27" grpId="1" bldLvl="0" animBg="1"/>
      <p:bldP spid="28" grpId="0" bldLvl="0" animBg="1"/>
      <p:bldP spid="28" grpId="1" bldLvl="0" animBg="1"/>
      <p:bldP spid="33" grpId="0"/>
      <p:bldP spid="34" grpId="0"/>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图片 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PicPr>
            <a:picLocks noChangeAspect="1"/>
          </p:cNvPicPr>
          <p:nvPr/>
        </p:nvPicPr>
        <p:blipFill rotWithShape="1">
          <a:blip r:embed="rId2" cstate="print">
            <a:extLst>
              <a:ext uri="{28A0092B-C50C-407E-A947-70E740481C1C}">
                <a14:useLocalDpi xmlns:a14="http://schemas.microsoft.com/office/drawing/2010/main" val="0"/>
              </a:ext>
            </a:extLst>
          </a:blip>
          <a:srcRect l="23567" t="24035" r="23801" b="23685"/>
          <a:stretch>
            <a:fillRect/>
          </a:stretch>
        </p:blipFill>
        <p:spPr>
          <a:xfrm>
            <a:off x="3632859" y="1104110"/>
            <a:ext cx="4926281" cy="4893441"/>
          </a:xfrm>
          <a:prstGeom prst="rect">
            <a:avLst/>
          </a:prstGeom>
        </p:spPr>
      </p:pic>
      <p:sp>
        <p:nvSpPr>
          <p:cNvPr id="15" name="文本框 14"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txBox="1"/>
          <p:nvPr/>
        </p:nvSpPr>
        <p:spPr>
          <a:xfrm>
            <a:off x="2114217" y="2889110"/>
            <a:ext cx="7963564" cy="1323439"/>
          </a:xfrm>
          <a:prstGeom prst="rect">
            <a:avLst/>
          </a:prstGeom>
          <a:noFill/>
        </p:spPr>
        <p:txBody>
          <a:bodyPr wrap="square" rtlCol="0">
            <a:spAutoFit/>
            <a:scene3d>
              <a:camera prst="orthographicFront">
                <a:rot lat="0" lon="0" rev="0"/>
              </a:camera>
              <a:lightRig rig="threePt" dir="t"/>
            </a:scene3d>
          </a:bodyPr>
          <a:lstStyle/>
          <a:p>
            <a:pPr algn="ctr"/>
            <a:r>
              <a:rPr lang="en-US" altLang="zh-CN" sz="80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rPr>
              <a:t>MANY THANKS</a:t>
            </a:r>
            <a:endParaRPr lang="zh-CN" altLang="en-US" sz="8000" spc="-150" dirty="0">
              <a:gradFill>
                <a:gsLst>
                  <a:gs pos="0">
                    <a:srgbClr val="DFA117"/>
                  </a:gs>
                  <a:gs pos="100000">
                    <a:srgbClr val="AE4638"/>
                  </a:gs>
                </a:gsLst>
                <a:lin ang="0" scaled="0"/>
              </a:gradFill>
              <a:latin typeface="Open Sans" panose="020B0606030504020204" pitchFamily="34" charset="0"/>
              <a:ea typeface="Open Sans" panose="020B0606030504020204" pitchFamily="34" charset="0"/>
              <a:cs typeface="Open Sans" panose="020B0606030504020204" pitchFamily="34" charset="0"/>
            </a:endParaRPr>
          </a:p>
        </p:txBody>
      </p:sp>
      <p:sp>
        <p:nvSpPr>
          <p:cNvPr id="19" name="任意多边形 18"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a:off x="444722" y="2190637"/>
            <a:ext cx="1844087"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0" name="任意多边形 19"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9890985" y="3467961"/>
            <a:ext cx="1844087" cy="0"/>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任意多边形 2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flipV="1">
            <a:off x="1129879" y="5613774"/>
            <a:ext cx="738134" cy="464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2" name="任意多边形 21"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8511647" y="2355442"/>
            <a:ext cx="738134"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3" name="任意多边形 22"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rot="10800000" flipV="1">
            <a:off x="2412473" y="4440115"/>
            <a:ext cx="1096722" cy="46401"/>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4" name="任意多边形 23"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p:cNvSpPr/>
          <p:nvPr/>
        </p:nvSpPr>
        <p:spPr>
          <a:xfrm>
            <a:off x="8855995" y="5354644"/>
            <a:ext cx="738134" cy="45719"/>
          </a:xfrm>
          <a:custGeom>
            <a:avLst/>
            <a:gdLst>
              <a:gd name="connsiteX0" fmla="*/ 0 w 3125338"/>
              <a:gd name="connsiteY0" fmla="*/ 0 h 0"/>
              <a:gd name="connsiteX1" fmla="*/ 3125338 w 3125338"/>
              <a:gd name="connsiteY1" fmla="*/ 0 h 0"/>
            </a:gdLst>
            <a:ahLst/>
            <a:cxnLst>
              <a:cxn ang="0">
                <a:pos x="connsiteX0" y="connsiteY0"/>
              </a:cxn>
              <a:cxn ang="0">
                <a:pos x="connsiteX1" y="connsiteY1"/>
              </a:cxn>
            </a:cxnLst>
            <a:rect l="l" t="t" r="r" b="b"/>
            <a:pathLst>
              <a:path w="3125338">
                <a:moveTo>
                  <a:pt x="0" y="0"/>
                </a:moveTo>
                <a:lnTo>
                  <a:pt x="3125338" y="0"/>
                </a:lnTo>
              </a:path>
            </a:pathLst>
          </a:custGeom>
          <a:noFill/>
          <a:ln>
            <a:gradFill>
              <a:gsLst>
                <a:gs pos="0">
                  <a:srgbClr val="C99115"/>
                </a:gs>
                <a:gs pos="100000">
                  <a:srgbClr val="C99115">
                    <a:alpha val="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 name="e7d195523061f1c0" descr="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0205959036996ad55c215b892a7aac5c0B9ADEF7896FB48F2EF97163A2DE1401E1875DEDC438B7864AD24CA23553DBBBD975DAF4CAD4A2592689FFB6CEE59FFA55B2702D0E5EE29CDFC0DD98BC7D6A39A64D3162AEA17DB19B9B9A87D0E9A0C5838999CD047764B32476FB53FC54D3671B43638F8C25D9EC95BB52BCC6C1CB3F6DE41EB0266A54822</a:t>
            </a:r>
            <a:endParaRPr lang="zh-CN" altLang="en-US" sz="10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2000" fill="hold"/>
                                        <p:tgtEl>
                                          <p:spTgt spid="3"/>
                                        </p:tgtEl>
                                        <p:attrNameLst>
                                          <p:attrName>ppt_w</p:attrName>
                                        </p:attrNameLst>
                                      </p:cBhvr>
                                      <p:tavLst>
                                        <p:tav tm="0">
                                          <p:val>
                                            <p:fltVal val="0"/>
                                          </p:val>
                                        </p:tav>
                                        <p:tav tm="100000">
                                          <p:val>
                                            <p:strVal val="#ppt_w"/>
                                          </p:val>
                                        </p:tav>
                                      </p:tavLst>
                                    </p:anim>
                                    <p:anim calcmode="lin" valueType="num">
                                      <p:cBhvr>
                                        <p:cTn id="8" dur="2000" fill="hold"/>
                                        <p:tgtEl>
                                          <p:spTgt spid="3"/>
                                        </p:tgtEl>
                                        <p:attrNameLst>
                                          <p:attrName>ppt_h</p:attrName>
                                        </p:attrNameLst>
                                      </p:cBhvr>
                                      <p:tavLst>
                                        <p:tav tm="0">
                                          <p:val>
                                            <p:fltVal val="0"/>
                                          </p:val>
                                        </p:tav>
                                        <p:tav tm="100000">
                                          <p:val>
                                            <p:strVal val="#ppt_h"/>
                                          </p:val>
                                        </p:tav>
                                      </p:tavLst>
                                    </p:anim>
                                    <p:animEffect transition="in" filter="fade">
                                      <p:cBhvr>
                                        <p:cTn id="9" dur="2000"/>
                                        <p:tgtEl>
                                          <p:spTgt spid="3"/>
                                        </p:tgtEl>
                                      </p:cBhvr>
                                    </p:animEffect>
                                  </p:childTnLst>
                                </p:cTn>
                              </p:par>
                              <p:par>
                                <p:cTn id="10" presetID="42" presetClass="path" presetSubtype="0" accel="50000" decel="50000" fill="hold" nodeType="withEffect">
                                  <p:stCondLst>
                                    <p:cond delay="0"/>
                                  </p:stCondLst>
                                  <p:childTnLst>
                                    <p:animMotion origin="layout" path="M 4.16667E-6 -0.23078 L 4.16667E-6 -4.07407E-6 " pathEditMode="relative" rAng="0" ptsTypes="AA">
                                      <p:cBhvr>
                                        <p:cTn id="11" dur="2000" fill="hold"/>
                                        <p:tgtEl>
                                          <p:spTgt spid="3"/>
                                        </p:tgtEl>
                                        <p:attrNameLst>
                                          <p:attrName>ppt_x</p:attrName>
                                          <p:attrName>ppt_y</p:attrName>
                                        </p:attrNameLst>
                                      </p:cBhvr>
                                      <p:rCtr x="0" y="11528"/>
                                    </p:animMotion>
                                  </p:childTnLst>
                                </p:cTn>
                              </p:par>
                              <p:par>
                                <p:cTn id="12" presetID="53" presetClass="entr" presetSubtype="16" fill="hold" grpId="0" nodeType="withEffect">
                                  <p:stCondLst>
                                    <p:cond delay="1250"/>
                                  </p:stCondLst>
                                  <p:childTnLst>
                                    <p:set>
                                      <p:cBhvr>
                                        <p:cTn id="13" dur="1" fill="hold">
                                          <p:stCondLst>
                                            <p:cond delay="0"/>
                                          </p:stCondLst>
                                        </p:cTn>
                                        <p:tgtEl>
                                          <p:spTgt spid="15"/>
                                        </p:tgtEl>
                                        <p:attrNameLst>
                                          <p:attrName>style.visibility</p:attrName>
                                        </p:attrNameLst>
                                      </p:cBhvr>
                                      <p:to>
                                        <p:strVal val="visible"/>
                                      </p:to>
                                    </p:set>
                                    <p:anim calcmode="lin" valueType="num">
                                      <p:cBhvr>
                                        <p:cTn id="14" dur="1000" fill="hold"/>
                                        <p:tgtEl>
                                          <p:spTgt spid="15"/>
                                        </p:tgtEl>
                                        <p:attrNameLst>
                                          <p:attrName>ppt_w</p:attrName>
                                        </p:attrNameLst>
                                      </p:cBhvr>
                                      <p:tavLst>
                                        <p:tav tm="0">
                                          <p:val>
                                            <p:fltVal val="0"/>
                                          </p:val>
                                        </p:tav>
                                        <p:tav tm="100000">
                                          <p:val>
                                            <p:strVal val="#ppt_w"/>
                                          </p:val>
                                        </p:tav>
                                      </p:tavLst>
                                    </p:anim>
                                    <p:anim calcmode="lin" valueType="num">
                                      <p:cBhvr>
                                        <p:cTn id="15" dur="1000" fill="hold"/>
                                        <p:tgtEl>
                                          <p:spTgt spid="15"/>
                                        </p:tgtEl>
                                        <p:attrNameLst>
                                          <p:attrName>ppt_h</p:attrName>
                                        </p:attrNameLst>
                                      </p:cBhvr>
                                      <p:tavLst>
                                        <p:tav tm="0">
                                          <p:val>
                                            <p:fltVal val="0"/>
                                          </p:val>
                                        </p:tav>
                                        <p:tav tm="100000">
                                          <p:val>
                                            <p:strVal val="#ppt_h"/>
                                          </p:val>
                                        </p:tav>
                                      </p:tavLst>
                                    </p:anim>
                                    <p:animEffect transition="in" filter="fade">
                                      <p:cBhvr>
                                        <p:cTn id="16" dur="10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63" presetClass="path" presetSubtype="0" accel="50000" decel="50000" fill="hold" grpId="1" nodeType="withEffect">
                                  <p:stCondLst>
                                    <p:cond delay="0"/>
                                  </p:stCondLst>
                                  <p:childTnLst>
                                    <p:animMotion origin="layout" path="M 6.25E-7 -4.44444E-6 L 0.23932 -4.44444E-6 " pathEditMode="relative" rAng="0" ptsTypes="AA">
                                      <p:cBhvr>
                                        <p:cTn id="21" dur="2000" fill="hold"/>
                                        <p:tgtEl>
                                          <p:spTgt spid="19"/>
                                        </p:tgtEl>
                                        <p:attrNameLst>
                                          <p:attrName>ppt_x</p:attrName>
                                          <p:attrName>ppt_y</p:attrName>
                                        </p:attrNameLst>
                                      </p:cBhvr>
                                      <p:rCtr x="11966" y="0"/>
                                    </p:animMotion>
                                  </p:childTnLst>
                                </p:cTn>
                              </p:par>
                              <p:par>
                                <p:cTn id="22" presetID="10" presetClass="exit" presetSubtype="0" fill="hold" grpId="2" nodeType="withEffect">
                                  <p:stCondLst>
                                    <p:cond delay="1500"/>
                                  </p:stCondLst>
                                  <p:childTnLst>
                                    <p:animEffect transition="out" filter="fade">
                                      <p:cBhvr>
                                        <p:cTn id="23" dur="500"/>
                                        <p:tgtEl>
                                          <p:spTgt spid="19"/>
                                        </p:tgtEl>
                                      </p:cBhvr>
                                    </p:animEffect>
                                    <p:set>
                                      <p:cBhvr>
                                        <p:cTn id="24" dur="1" fill="hold">
                                          <p:stCondLst>
                                            <p:cond delay="499"/>
                                          </p:stCondLst>
                                        </p:cTn>
                                        <p:tgtEl>
                                          <p:spTgt spid="19"/>
                                        </p:tgtEl>
                                        <p:attrNameLst>
                                          <p:attrName>style.visibility</p:attrName>
                                        </p:attrNameLst>
                                      </p:cBhvr>
                                      <p:to>
                                        <p:strVal val="hidden"/>
                                      </p:to>
                                    </p:set>
                                  </p:childTnLst>
                                </p:cTn>
                              </p:par>
                              <p:par>
                                <p:cTn id="25" presetID="10" presetClass="entr" presetSubtype="0" fill="hold" grpId="0" nodeType="withEffect">
                                  <p:stCondLst>
                                    <p:cond delay="50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500"/>
                                        <p:tgtEl>
                                          <p:spTgt spid="23"/>
                                        </p:tgtEl>
                                      </p:cBhvr>
                                    </p:animEffect>
                                  </p:childTnLst>
                                </p:cTn>
                              </p:par>
                              <p:par>
                                <p:cTn id="28" presetID="63" presetClass="path" presetSubtype="0" accel="50000" decel="50000" fill="hold" grpId="1" nodeType="withEffect">
                                  <p:stCondLst>
                                    <p:cond delay="500"/>
                                  </p:stCondLst>
                                  <p:childTnLst>
                                    <p:animMotion origin="layout" path="M 1.45833E-6 -4.44444E-6 L 0.16002 -4.44444E-6 " pathEditMode="relative" rAng="0" ptsTypes="AA">
                                      <p:cBhvr>
                                        <p:cTn id="29" dur="2000" fill="hold"/>
                                        <p:tgtEl>
                                          <p:spTgt spid="23"/>
                                        </p:tgtEl>
                                        <p:attrNameLst>
                                          <p:attrName>ppt_x</p:attrName>
                                          <p:attrName>ppt_y</p:attrName>
                                        </p:attrNameLst>
                                      </p:cBhvr>
                                      <p:rCtr x="7995" y="0"/>
                                    </p:animMotion>
                                  </p:childTnLst>
                                </p:cTn>
                              </p:par>
                              <p:par>
                                <p:cTn id="30" presetID="10" presetClass="exit" presetSubtype="0" fill="hold" grpId="2" nodeType="withEffect">
                                  <p:stCondLst>
                                    <p:cond delay="2000"/>
                                  </p:stCondLst>
                                  <p:childTnLst>
                                    <p:animEffect transition="out" filter="fade">
                                      <p:cBhvr>
                                        <p:cTn id="31" dur="500"/>
                                        <p:tgtEl>
                                          <p:spTgt spid="23"/>
                                        </p:tgtEl>
                                      </p:cBhvr>
                                    </p:animEffect>
                                    <p:set>
                                      <p:cBhvr>
                                        <p:cTn id="32" dur="1" fill="hold">
                                          <p:stCondLst>
                                            <p:cond delay="499"/>
                                          </p:stCondLst>
                                        </p:cTn>
                                        <p:tgtEl>
                                          <p:spTgt spid="23"/>
                                        </p:tgtEl>
                                        <p:attrNameLst>
                                          <p:attrName>style.visibility</p:attrName>
                                        </p:attrNameLst>
                                      </p:cBhvr>
                                      <p:to>
                                        <p:strVal val="hidden"/>
                                      </p:to>
                                    </p:set>
                                  </p:childTnLst>
                                </p:cTn>
                              </p:par>
                              <p:par>
                                <p:cTn id="33" presetID="10" presetClass="entr" presetSubtype="0" fill="hold" grpId="0" nodeType="withEffect">
                                  <p:stCondLst>
                                    <p:cond delay="75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63" presetClass="path" presetSubtype="0" accel="50000" decel="50000" fill="hold" grpId="1" nodeType="withEffect">
                                  <p:stCondLst>
                                    <p:cond delay="750"/>
                                  </p:stCondLst>
                                  <p:childTnLst>
                                    <p:animMotion origin="layout" path="M 3.33333E-6 7.40741E-7 L 0.28372 7.40741E-7 " pathEditMode="relative" rAng="0" ptsTypes="AA">
                                      <p:cBhvr>
                                        <p:cTn id="37" dur="2000" fill="hold"/>
                                        <p:tgtEl>
                                          <p:spTgt spid="21"/>
                                        </p:tgtEl>
                                        <p:attrNameLst>
                                          <p:attrName>ppt_x</p:attrName>
                                          <p:attrName>ppt_y</p:attrName>
                                        </p:attrNameLst>
                                      </p:cBhvr>
                                      <p:rCtr x="14180" y="0"/>
                                    </p:animMotion>
                                  </p:childTnLst>
                                </p:cTn>
                              </p:par>
                              <p:par>
                                <p:cTn id="38" presetID="10" presetClass="exit" presetSubtype="0" fill="hold" grpId="2" nodeType="withEffect">
                                  <p:stCondLst>
                                    <p:cond delay="2250"/>
                                  </p:stCondLst>
                                  <p:childTnLst>
                                    <p:animEffect transition="out" filter="fade">
                                      <p:cBhvr>
                                        <p:cTn id="39" dur="500"/>
                                        <p:tgtEl>
                                          <p:spTgt spid="21"/>
                                        </p:tgtEl>
                                      </p:cBhvr>
                                    </p:animEffect>
                                    <p:set>
                                      <p:cBhvr>
                                        <p:cTn id="40" dur="1" fill="hold">
                                          <p:stCondLst>
                                            <p:cond delay="499"/>
                                          </p:stCondLst>
                                        </p:cTn>
                                        <p:tgtEl>
                                          <p:spTgt spid="21"/>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par>
                                <p:cTn id="44" presetID="63" presetClass="path" presetSubtype="0" accel="50000" decel="50000" fill="hold" grpId="1" nodeType="withEffect">
                                  <p:stCondLst>
                                    <p:cond delay="0"/>
                                  </p:stCondLst>
                                  <p:childTnLst>
                                    <p:animMotion origin="layout" path="M 1.04167E-6 2.96296E-6 L -0.22982 2.96296E-6 " pathEditMode="relative" rAng="0" ptsTypes="AA">
                                      <p:cBhvr>
                                        <p:cTn id="45" dur="2000" fill="hold"/>
                                        <p:tgtEl>
                                          <p:spTgt spid="20"/>
                                        </p:tgtEl>
                                        <p:attrNameLst>
                                          <p:attrName>ppt_x</p:attrName>
                                          <p:attrName>ppt_y</p:attrName>
                                        </p:attrNameLst>
                                      </p:cBhvr>
                                      <p:rCtr x="-11497" y="0"/>
                                    </p:animMotion>
                                  </p:childTnLst>
                                </p:cTn>
                              </p:par>
                              <p:par>
                                <p:cTn id="46" presetID="10" presetClass="exit" presetSubtype="0" fill="hold" grpId="2" nodeType="withEffect">
                                  <p:stCondLst>
                                    <p:cond delay="1500"/>
                                  </p:stCondLst>
                                  <p:childTnLst>
                                    <p:animEffect transition="out" filter="fade">
                                      <p:cBhvr>
                                        <p:cTn id="47" dur="500"/>
                                        <p:tgtEl>
                                          <p:spTgt spid="20"/>
                                        </p:tgtEl>
                                      </p:cBhvr>
                                    </p:animEffect>
                                    <p:set>
                                      <p:cBhvr>
                                        <p:cTn id="48" dur="1" fill="hold">
                                          <p:stCondLst>
                                            <p:cond delay="499"/>
                                          </p:stCondLst>
                                        </p:cTn>
                                        <p:tgtEl>
                                          <p:spTgt spid="20"/>
                                        </p:tgtEl>
                                        <p:attrNameLst>
                                          <p:attrName>style.visibility</p:attrName>
                                        </p:attrNameLst>
                                      </p:cBhvr>
                                      <p:to>
                                        <p:strVal val="hidden"/>
                                      </p:to>
                                    </p:set>
                                  </p:childTnLst>
                                </p:cTn>
                              </p:par>
                              <p:par>
                                <p:cTn id="49" presetID="10" presetClass="entr" presetSubtype="0" fill="hold" grpId="0" nodeType="withEffect">
                                  <p:stCondLst>
                                    <p:cond delay="75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500"/>
                                        <p:tgtEl>
                                          <p:spTgt spid="22"/>
                                        </p:tgtEl>
                                      </p:cBhvr>
                                    </p:animEffect>
                                  </p:childTnLst>
                                </p:cTn>
                              </p:par>
                              <p:par>
                                <p:cTn id="52" presetID="63" presetClass="path" presetSubtype="0" accel="50000" decel="50000" fill="hold" grpId="1" nodeType="withEffect">
                                  <p:stCondLst>
                                    <p:cond delay="750"/>
                                  </p:stCondLst>
                                  <p:childTnLst>
                                    <p:animMotion origin="layout" path="M 4.58333E-6 7.40741E-7 L -0.1168 7.40741E-7 " pathEditMode="relative" rAng="0" ptsTypes="AA">
                                      <p:cBhvr>
                                        <p:cTn id="53" dur="2000" fill="hold"/>
                                        <p:tgtEl>
                                          <p:spTgt spid="22"/>
                                        </p:tgtEl>
                                        <p:attrNameLst>
                                          <p:attrName>ppt_x</p:attrName>
                                          <p:attrName>ppt_y</p:attrName>
                                        </p:attrNameLst>
                                      </p:cBhvr>
                                      <p:rCtr x="-5846" y="0"/>
                                    </p:animMotion>
                                  </p:childTnLst>
                                </p:cTn>
                              </p:par>
                              <p:par>
                                <p:cTn id="54" presetID="10" presetClass="exit" presetSubtype="0" fill="hold" grpId="2" nodeType="withEffect">
                                  <p:stCondLst>
                                    <p:cond delay="2250"/>
                                  </p:stCondLst>
                                  <p:childTnLst>
                                    <p:animEffect transition="out" filter="fade">
                                      <p:cBhvr>
                                        <p:cTn id="55" dur="500"/>
                                        <p:tgtEl>
                                          <p:spTgt spid="22"/>
                                        </p:tgtEl>
                                      </p:cBhvr>
                                    </p:animEffect>
                                    <p:set>
                                      <p:cBhvr>
                                        <p:cTn id="56" dur="1" fill="hold">
                                          <p:stCondLst>
                                            <p:cond delay="499"/>
                                          </p:stCondLst>
                                        </p:cTn>
                                        <p:tgtEl>
                                          <p:spTgt spid="22"/>
                                        </p:tgtEl>
                                        <p:attrNameLst>
                                          <p:attrName>style.visibility</p:attrName>
                                        </p:attrNameLst>
                                      </p:cBhvr>
                                      <p:to>
                                        <p:strVal val="hidden"/>
                                      </p:to>
                                    </p:set>
                                  </p:childTnLst>
                                </p:cTn>
                              </p:par>
                              <p:par>
                                <p:cTn id="57" presetID="10" presetClass="entr" presetSubtype="0" fill="hold" grpId="0" nodeType="withEffect">
                                  <p:stCondLst>
                                    <p:cond delay="50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63" presetClass="path" presetSubtype="0" accel="50000" decel="50000" fill="hold" grpId="1" nodeType="withEffect">
                                  <p:stCondLst>
                                    <p:cond delay="500"/>
                                  </p:stCondLst>
                                  <p:childTnLst>
                                    <p:animMotion origin="layout" path="M -6.25E-7 2.22222E-6 L -0.12812 2.22222E-6 " pathEditMode="relative" rAng="0" ptsTypes="AA">
                                      <p:cBhvr>
                                        <p:cTn id="61" dur="2000" fill="hold"/>
                                        <p:tgtEl>
                                          <p:spTgt spid="24"/>
                                        </p:tgtEl>
                                        <p:attrNameLst>
                                          <p:attrName>ppt_x</p:attrName>
                                          <p:attrName>ppt_y</p:attrName>
                                        </p:attrNameLst>
                                      </p:cBhvr>
                                      <p:rCtr x="-6406" y="0"/>
                                    </p:animMotion>
                                  </p:childTnLst>
                                </p:cTn>
                              </p:par>
                              <p:par>
                                <p:cTn id="62" presetID="10" presetClass="exit" presetSubtype="0" fill="hold" grpId="2" nodeType="withEffect">
                                  <p:stCondLst>
                                    <p:cond delay="2000"/>
                                  </p:stCondLst>
                                  <p:childTnLst>
                                    <p:animEffect transition="out" filter="fade">
                                      <p:cBhvr>
                                        <p:cTn id="63" dur="500"/>
                                        <p:tgtEl>
                                          <p:spTgt spid="24"/>
                                        </p:tgtEl>
                                      </p:cBhvr>
                                    </p:animEffect>
                                    <p:set>
                                      <p:cBhvr>
                                        <p:cTn id="64"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3" grpId="2" animBg="1"/>
      <p:bldP spid="24" grpId="0" animBg="1"/>
      <p:bldP spid="24" grpId="1" animBg="1"/>
      <p:bldP spid="24" grpId="2" animBg="1"/>
    </p:bldLst>
  </p:timing>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16233</Words>
  <Application>WPS 演示</Application>
  <PresentationFormat>宽屏</PresentationFormat>
  <Paragraphs>349</Paragraphs>
  <Slides>36</Slides>
  <Notes>1</Notes>
  <HiddenSlides>0</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9" baseType="lpstr">
      <vt:lpstr>Arial</vt:lpstr>
      <vt:lpstr>宋体</vt:lpstr>
      <vt:lpstr>Wingdings</vt:lpstr>
      <vt:lpstr>Open Sans</vt:lpstr>
      <vt:lpstr>Tekton Pro</vt:lpstr>
      <vt:lpstr>Microsoft YaHei UI</vt:lpstr>
      <vt:lpstr>Meiryo</vt:lpstr>
      <vt:lpstr>Meiryo UI</vt:lpstr>
      <vt:lpstr>Helvetica</vt:lpstr>
      <vt:lpstr>Roboto Light</vt:lpstr>
      <vt:lpstr>Segoe Print</vt:lpstr>
      <vt:lpstr>Calibri</vt:lpstr>
      <vt:lpstr>微软雅黑</vt:lpstr>
      <vt:lpstr>Calibri Light</vt:lpstr>
      <vt:lpstr>Roboto</vt:lpstr>
      <vt:lpstr>Open Sans Light</vt:lpstr>
      <vt:lpstr>Monotype Corsiva</vt:lpstr>
      <vt:lpstr>Comic Sans MS</vt:lpstr>
      <vt:lpstr>Yu Gothic UI</vt:lpstr>
      <vt:lpstr>Wide Latin</vt:lpstr>
      <vt:lpstr>Yu Gothic UI Light</vt:lpstr>
      <vt:lpstr>1_Office 主题</vt:lpstr>
      <vt:lpstr>Equation.KSEE3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©PPTSTORE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©PPTSTORE</dc:creator>
  <dc:description>©PPTSTORE 版权所有</dc:description>
  <cp:lastModifiedBy>lenovo</cp:lastModifiedBy>
  <cp:revision>66</cp:revision>
  <dcterms:created xsi:type="dcterms:W3CDTF">2016-10-27T16:23:00Z</dcterms:created>
  <dcterms:modified xsi:type="dcterms:W3CDTF">2017-06-09T11:55:26Z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