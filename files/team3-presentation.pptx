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9" r:id="rId7"/>
    <p:sldId id="264" r:id="rId8"/>
    <p:sldId id="271" r:id="rId9"/>
    <p:sldId id="280" r:id="rId10"/>
    <p:sldId id="281" r:id="rId11"/>
    <p:sldId id="259" r:id="rId12"/>
    <p:sldId id="282" r:id="rId13"/>
    <p:sldId id="283" r:id="rId14"/>
    <p:sldId id="285" r:id="rId15"/>
    <p:sldId id="272" r:id="rId16"/>
    <p:sldId id="286" r:id="rId17"/>
    <p:sldId id="288" r:id="rId18"/>
    <p:sldId id="287" r:id="rId19"/>
    <p:sldId id="290" r:id="rId20"/>
    <p:sldId id="260" r:id="rId2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E90B8"/>
    <a:srgbClr val="DFE0E2"/>
    <a:srgbClr val="F7B902"/>
    <a:srgbClr val="282830"/>
    <a:srgbClr val="E4C902"/>
    <a:srgbClr val="E48902"/>
    <a:srgbClr val="45454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876" y="-90"/>
      </p:cViewPr>
      <p:guideLst>
        <p:guide orient="horz" pos="1968"/>
        <p:guide orient="horz" pos="920"/>
        <p:guide orient="horz" pos="2573"/>
        <p:guide orient="horz" pos="1529"/>
        <p:guide pos="2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08ADF8-4FED-40BE-88E4-22D7F8F4AAC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A428E3D4-D058-417A-BC7D-3C222154CEAC}">
      <dgm:prSet phldrT="[文本]" custT="1"/>
      <dgm:spPr/>
      <dgm:t>
        <a:bodyPr/>
        <a:lstStyle/>
        <a:p>
          <a:r>
            <a:rPr lang="zh-CN" altLang="en-US" sz="1800" dirty="0" smtClean="0">
              <a:solidFill>
                <a:schemeClr val="bg1">
                  <a:lumMod val="95000"/>
                </a:schemeClr>
              </a:solidFill>
              <a:latin typeface="微软雅黑" charset="0"/>
              <a:ea typeface="微软雅黑" charset="0"/>
            </a:rPr>
            <a:t>KNeighbors</a:t>
          </a:r>
          <a:endParaRPr lang="zh-CN" altLang="en-US" sz="1800" dirty="0"/>
        </a:p>
      </dgm:t>
    </dgm:pt>
    <dgm:pt modelId="{840FC7C3-6A9F-454F-BD0D-C5A311DC827A}" type="parTrans" cxnId="{AD9CF7D7-A0BC-42CC-ACBE-29C37FABC6A2}">
      <dgm:prSet/>
      <dgm:spPr/>
      <dgm:t>
        <a:bodyPr/>
        <a:lstStyle/>
        <a:p>
          <a:endParaRPr lang="zh-CN" altLang="en-US"/>
        </a:p>
      </dgm:t>
    </dgm:pt>
    <dgm:pt modelId="{0EEC8DE9-62BE-426C-BCBD-C9C2ED54826F}" type="sibTrans" cxnId="{AD9CF7D7-A0BC-42CC-ACBE-29C37FABC6A2}">
      <dgm:prSet/>
      <dgm:spPr>
        <a:ln w="38100">
          <a:solidFill>
            <a:schemeClr val="accent1"/>
          </a:solidFill>
        </a:ln>
      </dgm:spPr>
      <dgm:t>
        <a:bodyPr/>
        <a:lstStyle/>
        <a:p>
          <a:endParaRPr lang="zh-CN" altLang="en-US"/>
        </a:p>
      </dgm:t>
    </dgm:pt>
    <dgm:pt modelId="{242ED6ED-2319-42C6-9FAB-1F534F82F900}">
      <dgm:prSet phldrT="[文本]"/>
      <dgm:spPr/>
      <dgm:t>
        <a:bodyPr/>
        <a:lstStyle/>
        <a:p>
          <a:r>
            <a:rPr lang="zh-CN" altLang="en-US" dirty="0" smtClean="0">
              <a:solidFill>
                <a:schemeClr val="bg1">
                  <a:lumMod val="95000"/>
                </a:schemeClr>
              </a:solidFill>
              <a:latin typeface="微软雅黑" charset="0"/>
              <a:ea typeface="微软雅黑" charset="0"/>
            </a:rPr>
            <a:t>AdaBoost</a:t>
          </a:r>
          <a:endParaRPr lang="zh-CN" altLang="en-US" dirty="0"/>
        </a:p>
      </dgm:t>
    </dgm:pt>
    <dgm:pt modelId="{80A5F96C-346B-4D5F-9297-12F4D53C0554}" type="parTrans" cxnId="{D8EDD06B-C7D7-4589-AD62-0738D0DF75E8}">
      <dgm:prSet/>
      <dgm:spPr/>
      <dgm:t>
        <a:bodyPr/>
        <a:lstStyle/>
        <a:p>
          <a:endParaRPr lang="zh-CN" altLang="en-US"/>
        </a:p>
      </dgm:t>
    </dgm:pt>
    <dgm:pt modelId="{ECBE1567-DA99-4A16-AE93-E6AE6303CE66}" type="sibTrans" cxnId="{D8EDD06B-C7D7-4589-AD62-0738D0DF75E8}">
      <dgm:prSet/>
      <dgm:spPr>
        <a:ln w="38100">
          <a:solidFill>
            <a:schemeClr val="accent1"/>
          </a:solidFill>
        </a:ln>
      </dgm:spPr>
      <dgm:t>
        <a:bodyPr/>
        <a:lstStyle/>
        <a:p>
          <a:endParaRPr lang="zh-CN" altLang="en-US"/>
        </a:p>
      </dgm:t>
    </dgm:pt>
    <dgm:pt modelId="{D4CBEA28-ED3C-411C-B47C-DCAD183C499D}">
      <dgm:prSet phldrT="[文本]" custT="1"/>
      <dgm:spPr/>
      <dgm:t>
        <a:bodyPr/>
        <a:lstStyle/>
        <a:p>
          <a:r>
            <a:rPr lang="zh-CN" altLang="en-US" sz="1800" dirty="0" smtClean="0">
              <a:solidFill>
                <a:schemeClr val="bg1">
                  <a:lumMod val="95000"/>
                </a:schemeClr>
              </a:solidFill>
              <a:latin typeface="微软雅黑" charset="0"/>
              <a:ea typeface="微软雅黑" charset="0"/>
            </a:rPr>
            <a:t>Random</a:t>
          </a:r>
          <a:endParaRPr lang="en-US" altLang="zh-CN" sz="1800" dirty="0" smtClean="0">
            <a:solidFill>
              <a:schemeClr val="bg1">
                <a:lumMod val="95000"/>
              </a:schemeClr>
            </a:solidFill>
            <a:latin typeface="微软雅黑" charset="0"/>
            <a:ea typeface="微软雅黑" charset="0"/>
          </a:endParaRPr>
        </a:p>
        <a:p>
          <a:r>
            <a:rPr lang="zh-CN" altLang="en-US" sz="1800" dirty="0" smtClean="0">
              <a:solidFill>
                <a:schemeClr val="bg1">
                  <a:lumMod val="95000"/>
                </a:schemeClr>
              </a:solidFill>
              <a:latin typeface="微软雅黑" charset="0"/>
              <a:ea typeface="微软雅黑" charset="0"/>
            </a:rPr>
            <a:t>Forest</a:t>
          </a:r>
          <a:endParaRPr lang="zh-CN" altLang="en-US" sz="1800" dirty="0"/>
        </a:p>
      </dgm:t>
    </dgm:pt>
    <dgm:pt modelId="{68D24E58-EE4D-4F6B-A634-115C745BC7C1}" type="parTrans" cxnId="{ED9ABD3E-5723-48B5-94A6-E92592829937}">
      <dgm:prSet/>
      <dgm:spPr/>
      <dgm:t>
        <a:bodyPr/>
        <a:lstStyle/>
        <a:p>
          <a:endParaRPr lang="zh-CN" altLang="en-US"/>
        </a:p>
      </dgm:t>
    </dgm:pt>
    <dgm:pt modelId="{FA63840C-23F2-4A52-9953-173F6E0FAB89}" type="sibTrans" cxnId="{ED9ABD3E-5723-48B5-94A6-E92592829937}">
      <dgm:prSet/>
      <dgm:spPr>
        <a:ln w="38100">
          <a:solidFill>
            <a:schemeClr val="accent1"/>
          </a:solidFill>
        </a:ln>
      </dgm:spPr>
      <dgm:t>
        <a:bodyPr/>
        <a:lstStyle/>
        <a:p>
          <a:endParaRPr lang="zh-CN" altLang="en-US"/>
        </a:p>
      </dgm:t>
    </dgm:pt>
    <dgm:pt modelId="{151A9FB1-E7E1-4656-BDEF-EE13F669F9BE}">
      <dgm:prSet phldrT="[文本]" custT="1"/>
      <dgm:spPr/>
      <dgm:t>
        <a:bodyPr/>
        <a:lstStyle/>
        <a:p>
          <a:r>
            <a:rPr lang="zh-CN" altLang="en-US" sz="1800" dirty="0" smtClean="0">
              <a:solidFill>
                <a:schemeClr val="bg1">
                  <a:lumMod val="95000"/>
                </a:schemeClr>
              </a:solidFill>
              <a:latin typeface="微软雅黑" charset="0"/>
              <a:ea typeface="微软雅黑" charset="0"/>
            </a:rPr>
            <a:t>Decision</a:t>
          </a:r>
          <a:endParaRPr lang="en-US" altLang="zh-CN" sz="1800" dirty="0" smtClean="0">
            <a:solidFill>
              <a:schemeClr val="bg1">
                <a:lumMod val="95000"/>
              </a:schemeClr>
            </a:solidFill>
            <a:latin typeface="微软雅黑" charset="0"/>
            <a:ea typeface="微软雅黑" charset="0"/>
          </a:endParaRPr>
        </a:p>
        <a:p>
          <a:r>
            <a:rPr lang="zh-CN" altLang="en-US" sz="1800" dirty="0" smtClean="0">
              <a:solidFill>
                <a:schemeClr val="bg1">
                  <a:lumMod val="95000"/>
                </a:schemeClr>
              </a:solidFill>
              <a:latin typeface="微软雅黑" charset="0"/>
              <a:ea typeface="微软雅黑" charset="0"/>
            </a:rPr>
            <a:t>Tree</a:t>
          </a:r>
          <a:endParaRPr lang="zh-CN" altLang="en-US" sz="1800" dirty="0"/>
        </a:p>
      </dgm:t>
    </dgm:pt>
    <dgm:pt modelId="{85F50909-F8D0-4127-BF5A-61B95882E384}" type="parTrans" cxnId="{384B1F65-1944-45F8-B406-A11A1BD72917}">
      <dgm:prSet/>
      <dgm:spPr/>
      <dgm:t>
        <a:bodyPr/>
        <a:lstStyle/>
        <a:p>
          <a:endParaRPr lang="zh-CN" altLang="en-US"/>
        </a:p>
      </dgm:t>
    </dgm:pt>
    <dgm:pt modelId="{A29DBC41-76E9-4A1C-B873-BDB05C86BA58}" type="sibTrans" cxnId="{384B1F65-1944-45F8-B406-A11A1BD72917}">
      <dgm:prSet/>
      <dgm:spPr>
        <a:ln w="38100">
          <a:solidFill>
            <a:schemeClr val="accent1"/>
          </a:solidFill>
        </a:ln>
      </dgm:spPr>
      <dgm:t>
        <a:bodyPr/>
        <a:lstStyle/>
        <a:p>
          <a:endParaRPr lang="zh-CN" altLang="en-US"/>
        </a:p>
      </dgm:t>
    </dgm:pt>
    <dgm:pt modelId="{A74B05A5-0CFD-4969-BA41-382A514E03D6}">
      <dgm:prSet phldrT="[文本]" custT="1"/>
      <dgm:spPr/>
      <dgm:t>
        <a:bodyPr/>
        <a:lstStyle/>
        <a:p>
          <a:r>
            <a:rPr lang="zh-CN" altLang="en-US" sz="1800" dirty="0" smtClean="0">
              <a:solidFill>
                <a:schemeClr val="bg1">
                  <a:lumMod val="95000"/>
                </a:schemeClr>
              </a:solidFill>
              <a:latin typeface="微软雅黑" charset="0"/>
              <a:ea typeface="微软雅黑" charset="0"/>
            </a:rPr>
            <a:t>Linear</a:t>
          </a:r>
          <a:endParaRPr lang="zh-CN" altLang="en-US" sz="1800" dirty="0"/>
        </a:p>
      </dgm:t>
    </dgm:pt>
    <dgm:pt modelId="{F6E6B7EE-0703-4C09-A18C-C15208C14005}" type="parTrans" cxnId="{04B2B81D-06EB-440B-BB0A-4B3FC30E9EBD}">
      <dgm:prSet/>
      <dgm:spPr/>
      <dgm:t>
        <a:bodyPr/>
        <a:lstStyle/>
        <a:p>
          <a:endParaRPr lang="zh-CN" altLang="en-US"/>
        </a:p>
      </dgm:t>
    </dgm:pt>
    <dgm:pt modelId="{377516DF-1ABC-49A2-9FE2-F5B600B61C6A}" type="sibTrans" cxnId="{04B2B81D-06EB-440B-BB0A-4B3FC30E9EBD}">
      <dgm:prSet/>
      <dgm:spPr>
        <a:ln w="38100">
          <a:solidFill>
            <a:schemeClr val="accent1"/>
          </a:solidFill>
        </a:ln>
      </dgm:spPr>
      <dgm:t>
        <a:bodyPr/>
        <a:lstStyle/>
        <a:p>
          <a:endParaRPr lang="zh-CN" altLang="en-US"/>
        </a:p>
      </dgm:t>
    </dgm:pt>
    <dgm:pt modelId="{FD7D30D8-BBDB-4277-87F7-3C04DA98F0B7}" type="pres">
      <dgm:prSet presAssocID="{EA08ADF8-4FED-40BE-88E4-22D7F8F4AACD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3C27D367-CC3F-4284-A040-45190C2304F9}" type="pres">
      <dgm:prSet presAssocID="{A428E3D4-D058-417A-BC7D-3C222154CEAC}" presName="node" presStyleLbl="node1" presStyleIdx="0" presStyleCnt="5" custScaleX="11772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7AA1AA-627E-4B40-AE68-665FACAD134A}" type="pres">
      <dgm:prSet presAssocID="{A428E3D4-D058-417A-BC7D-3C222154CEAC}" presName="spNode" presStyleCnt="0"/>
      <dgm:spPr/>
    </dgm:pt>
    <dgm:pt modelId="{C124C909-9401-4457-8AA7-06A3D5AD3556}" type="pres">
      <dgm:prSet presAssocID="{0EEC8DE9-62BE-426C-BCBD-C9C2ED54826F}" presName="sibTrans" presStyleLbl="sibTrans1D1" presStyleIdx="0" presStyleCnt="5"/>
      <dgm:spPr/>
      <dgm:t>
        <a:bodyPr/>
        <a:lstStyle/>
        <a:p>
          <a:endParaRPr lang="zh-CN" altLang="en-US"/>
        </a:p>
      </dgm:t>
    </dgm:pt>
    <dgm:pt modelId="{DED09CED-542F-49FF-8C1E-BD2EE087FD9D}" type="pres">
      <dgm:prSet presAssocID="{242ED6ED-2319-42C6-9FAB-1F534F82F90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99AE567-3B0E-401F-91E3-42E9EEF66183}" type="pres">
      <dgm:prSet presAssocID="{242ED6ED-2319-42C6-9FAB-1F534F82F900}" presName="spNode" presStyleCnt="0"/>
      <dgm:spPr/>
    </dgm:pt>
    <dgm:pt modelId="{39551E89-5B67-48DE-8B34-8A3970211DF4}" type="pres">
      <dgm:prSet presAssocID="{ECBE1567-DA99-4A16-AE93-E6AE6303CE66}" presName="sibTrans" presStyleLbl="sibTrans1D1" presStyleIdx="1" presStyleCnt="5"/>
      <dgm:spPr/>
      <dgm:t>
        <a:bodyPr/>
        <a:lstStyle/>
        <a:p>
          <a:endParaRPr lang="zh-CN" altLang="en-US"/>
        </a:p>
      </dgm:t>
    </dgm:pt>
    <dgm:pt modelId="{7C867FF6-9C92-4CFE-8B88-2211AF4BB41C}" type="pres">
      <dgm:prSet presAssocID="{D4CBEA28-ED3C-411C-B47C-DCAD183C499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7E15E1D-49E5-42D2-AAA5-2D4341CD852E}" type="pres">
      <dgm:prSet presAssocID="{D4CBEA28-ED3C-411C-B47C-DCAD183C499D}" presName="spNode" presStyleCnt="0"/>
      <dgm:spPr/>
    </dgm:pt>
    <dgm:pt modelId="{43877BA6-3B55-4F33-A35F-D28C98AD6C13}" type="pres">
      <dgm:prSet presAssocID="{FA63840C-23F2-4A52-9953-173F6E0FAB89}" presName="sibTrans" presStyleLbl="sibTrans1D1" presStyleIdx="2" presStyleCnt="5"/>
      <dgm:spPr/>
      <dgm:t>
        <a:bodyPr/>
        <a:lstStyle/>
        <a:p>
          <a:endParaRPr lang="zh-CN" altLang="en-US"/>
        </a:p>
      </dgm:t>
    </dgm:pt>
    <dgm:pt modelId="{7ED6249A-AECB-4C9F-B255-9CABB16E4EDC}" type="pres">
      <dgm:prSet presAssocID="{151A9FB1-E7E1-4656-BDEF-EE13F669F9BE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506ABB6-352E-475D-AC75-7B168AFB3DED}" type="pres">
      <dgm:prSet presAssocID="{151A9FB1-E7E1-4656-BDEF-EE13F669F9BE}" presName="spNode" presStyleCnt="0"/>
      <dgm:spPr/>
    </dgm:pt>
    <dgm:pt modelId="{7F8BA1D2-CB63-4E9D-820E-B60C9097D597}" type="pres">
      <dgm:prSet presAssocID="{A29DBC41-76E9-4A1C-B873-BDB05C86BA58}" presName="sibTrans" presStyleLbl="sibTrans1D1" presStyleIdx="3" presStyleCnt="5"/>
      <dgm:spPr/>
      <dgm:t>
        <a:bodyPr/>
        <a:lstStyle/>
        <a:p>
          <a:endParaRPr lang="zh-CN" altLang="en-US"/>
        </a:p>
      </dgm:t>
    </dgm:pt>
    <dgm:pt modelId="{BC0BF706-41D1-4816-97E2-DE8368BB7574}" type="pres">
      <dgm:prSet presAssocID="{A74B05A5-0CFD-4969-BA41-382A514E03D6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8BFF921-6B4D-4E97-8C5C-BD8302FDFD21}" type="pres">
      <dgm:prSet presAssocID="{A74B05A5-0CFD-4969-BA41-382A514E03D6}" presName="spNode" presStyleCnt="0"/>
      <dgm:spPr/>
    </dgm:pt>
    <dgm:pt modelId="{7B282B33-6209-4634-94DF-E2339C8341F1}" type="pres">
      <dgm:prSet presAssocID="{377516DF-1ABC-49A2-9FE2-F5B600B61C6A}" presName="sibTrans" presStyleLbl="sibTrans1D1" presStyleIdx="4" presStyleCnt="5"/>
      <dgm:spPr/>
      <dgm:t>
        <a:bodyPr/>
        <a:lstStyle/>
        <a:p>
          <a:endParaRPr lang="zh-CN" altLang="en-US"/>
        </a:p>
      </dgm:t>
    </dgm:pt>
  </dgm:ptLst>
  <dgm:cxnLst>
    <dgm:cxn modelId="{0673BE22-E739-42F8-843D-D5136782573A}" type="presOf" srcId="{A428E3D4-D058-417A-BC7D-3C222154CEAC}" destId="{3C27D367-CC3F-4284-A040-45190C2304F9}" srcOrd="0" destOrd="0" presId="urn:microsoft.com/office/officeart/2005/8/layout/cycle6"/>
    <dgm:cxn modelId="{4019D88C-4B19-4653-8994-E49EDD6E9EC2}" type="presOf" srcId="{A29DBC41-76E9-4A1C-B873-BDB05C86BA58}" destId="{7F8BA1D2-CB63-4E9D-820E-B60C9097D597}" srcOrd="0" destOrd="0" presId="urn:microsoft.com/office/officeart/2005/8/layout/cycle6"/>
    <dgm:cxn modelId="{0FF059A9-8FA4-459C-9E46-99EDFC1574DC}" type="presOf" srcId="{D4CBEA28-ED3C-411C-B47C-DCAD183C499D}" destId="{7C867FF6-9C92-4CFE-8B88-2211AF4BB41C}" srcOrd="0" destOrd="0" presId="urn:microsoft.com/office/officeart/2005/8/layout/cycle6"/>
    <dgm:cxn modelId="{0C59799B-58AE-4C5D-9360-B37256452663}" type="presOf" srcId="{FA63840C-23F2-4A52-9953-173F6E0FAB89}" destId="{43877BA6-3B55-4F33-A35F-D28C98AD6C13}" srcOrd="0" destOrd="0" presId="urn:microsoft.com/office/officeart/2005/8/layout/cycle6"/>
    <dgm:cxn modelId="{02F22502-CDB7-4A04-A18C-3ECAAADDC64A}" type="presOf" srcId="{151A9FB1-E7E1-4656-BDEF-EE13F669F9BE}" destId="{7ED6249A-AECB-4C9F-B255-9CABB16E4EDC}" srcOrd="0" destOrd="0" presId="urn:microsoft.com/office/officeart/2005/8/layout/cycle6"/>
    <dgm:cxn modelId="{5348E0E6-3F5A-4A7A-A151-4801A1C78077}" type="presOf" srcId="{A74B05A5-0CFD-4969-BA41-382A514E03D6}" destId="{BC0BF706-41D1-4816-97E2-DE8368BB7574}" srcOrd="0" destOrd="0" presId="urn:microsoft.com/office/officeart/2005/8/layout/cycle6"/>
    <dgm:cxn modelId="{04B2B81D-06EB-440B-BB0A-4B3FC30E9EBD}" srcId="{EA08ADF8-4FED-40BE-88E4-22D7F8F4AACD}" destId="{A74B05A5-0CFD-4969-BA41-382A514E03D6}" srcOrd="4" destOrd="0" parTransId="{F6E6B7EE-0703-4C09-A18C-C15208C14005}" sibTransId="{377516DF-1ABC-49A2-9FE2-F5B600B61C6A}"/>
    <dgm:cxn modelId="{3B673AD1-FD82-4780-85E3-8823E1BF0364}" type="presOf" srcId="{377516DF-1ABC-49A2-9FE2-F5B600B61C6A}" destId="{7B282B33-6209-4634-94DF-E2339C8341F1}" srcOrd="0" destOrd="0" presId="urn:microsoft.com/office/officeart/2005/8/layout/cycle6"/>
    <dgm:cxn modelId="{AD9CF7D7-A0BC-42CC-ACBE-29C37FABC6A2}" srcId="{EA08ADF8-4FED-40BE-88E4-22D7F8F4AACD}" destId="{A428E3D4-D058-417A-BC7D-3C222154CEAC}" srcOrd="0" destOrd="0" parTransId="{840FC7C3-6A9F-454F-BD0D-C5A311DC827A}" sibTransId="{0EEC8DE9-62BE-426C-BCBD-C9C2ED54826F}"/>
    <dgm:cxn modelId="{D8AF4705-6B14-4AB9-BFC9-EED2B4F46AEF}" type="presOf" srcId="{ECBE1567-DA99-4A16-AE93-E6AE6303CE66}" destId="{39551E89-5B67-48DE-8B34-8A3970211DF4}" srcOrd="0" destOrd="0" presId="urn:microsoft.com/office/officeart/2005/8/layout/cycle6"/>
    <dgm:cxn modelId="{D8EDD06B-C7D7-4589-AD62-0738D0DF75E8}" srcId="{EA08ADF8-4FED-40BE-88E4-22D7F8F4AACD}" destId="{242ED6ED-2319-42C6-9FAB-1F534F82F900}" srcOrd="1" destOrd="0" parTransId="{80A5F96C-346B-4D5F-9297-12F4D53C0554}" sibTransId="{ECBE1567-DA99-4A16-AE93-E6AE6303CE66}"/>
    <dgm:cxn modelId="{ED9ABD3E-5723-48B5-94A6-E92592829937}" srcId="{EA08ADF8-4FED-40BE-88E4-22D7F8F4AACD}" destId="{D4CBEA28-ED3C-411C-B47C-DCAD183C499D}" srcOrd="2" destOrd="0" parTransId="{68D24E58-EE4D-4F6B-A634-115C745BC7C1}" sibTransId="{FA63840C-23F2-4A52-9953-173F6E0FAB89}"/>
    <dgm:cxn modelId="{EF1DA8C5-7039-4780-88FE-624865C5FBCA}" type="presOf" srcId="{0EEC8DE9-62BE-426C-BCBD-C9C2ED54826F}" destId="{C124C909-9401-4457-8AA7-06A3D5AD3556}" srcOrd="0" destOrd="0" presId="urn:microsoft.com/office/officeart/2005/8/layout/cycle6"/>
    <dgm:cxn modelId="{384B1F65-1944-45F8-B406-A11A1BD72917}" srcId="{EA08ADF8-4FED-40BE-88E4-22D7F8F4AACD}" destId="{151A9FB1-E7E1-4656-BDEF-EE13F669F9BE}" srcOrd="3" destOrd="0" parTransId="{85F50909-F8D0-4127-BF5A-61B95882E384}" sibTransId="{A29DBC41-76E9-4A1C-B873-BDB05C86BA58}"/>
    <dgm:cxn modelId="{CC0B0A7A-0A19-4043-848F-B0B384A7FD4C}" type="presOf" srcId="{EA08ADF8-4FED-40BE-88E4-22D7F8F4AACD}" destId="{FD7D30D8-BBDB-4277-87F7-3C04DA98F0B7}" srcOrd="0" destOrd="0" presId="urn:microsoft.com/office/officeart/2005/8/layout/cycle6"/>
    <dgm:cxn modelId="{DA3E1B52-09E7-4B9A-9F19-74D1BF938E1F}" type="presOf" srcId="{242ED6ED-2319-42C6-9FAB-1F534F82F900}" destId="{DED09CED-542F-49FF-8C1E-BD2EE087FD9D}" srcOrd="0" destOrd="0" presId="urn:microsoft.com/office/officeart/2005/8/layout/cycle6"/>
    <dgm:cxn modelId="{28F2BE1C-4BE5-404F-8DFE-BE94C96A0B15}" type="presParOf" srcId="{FD7D30D8-BBDB-4277-87F7-3C04DA98F0B7}" destId="{3C27D367-CC3F-4284-A040-45190C2304F9}" srcOrd="0" destOrd="0" presId="urn:microsoft.com/office/officeart/2005/8/layout/cycle6"/>
    <dgm:cxn modelId="{1F32BABF-B265-4FCE-85D2-ADC1CA9DCF51}" type="presParOf" srcId="{FD7D30D8-BBDB-4277-87F7-3C04DA98F0B7}" destId="{EE7AA1AA-627E-4B40-AE68-665FACAD134A}" srcOrd="1" destOrd="0" presId="urn:microsoft.com/office/officeart/2005/8/layout/cycle6"/>
    <dgm:cxn modelId="{3BB067E1-0990-4B95-B0C5-AC99DF953FD3}" type="presParOf" srcId="{FD7D30D8-BBDB-4277-87F7-3C04DA98F0B7}" destId="{C124C909-9401-4457-8AA7-06A3D5AD3556}" srcOrd="2" destOrd="0" presId="urn:microsoft.com/office/officeart/2005/8/layout/cycle6"/>
    <dgm:cxn modelId="{CC7EE7E6-C626-4FEA-9352-A6837BE581CF}" type="presParOf" srcId="{FD7D30D8-BBDB-4277-87F7-3C04DA98F0B7}" destId="{DED09CED-542F-49FF-8C1E-BD2EE087FD9D}" srcOrd="3" destOrd="0" presId="urn:microsoft.com/office/officeart/2005/8/layout/cycle6"/>
    <dgm:cxn modelId="{B09BD179-74FC-4EEF-B10A-CD6FA621B705}" type="presParOf" srcId="{FD7D30D8-BBDB-4277-87F7-3C04DA98F0B7}" destId="{E99AE567-3B0E-401F-91E3-42E9EEF66183}" srcOrd="4" destOrd="0" presId="urn:microsoft.com/office/officeart/2005/8/layout/cycle6"/>
    <dgm:cxn modelId="{A12ECFE6-AC8C-461A-A3F6-76D1017CE047}" type="presParOf" srcId="{FD7D30D8-BBDB-4277-87F7-3C04DA98F0B7}" destId="{39551E89-5B67-48DE-8B34-8A3970211DF4}" srcOrd="5" destOrd="0" presId="urn:microsoft.com/office/officeart/2005/8/layout/cycle6"/>
    <dgm:cxn modelId="{D50D8CB2-8802-4E77-862A-FC17A12E47B8}" type="presParOf" srcId="{FD7D30D8-BBDB-4277-87F7-3C04DA98F0B7}" destId="{7C867FF6-9C92-4CFE-8B88-2211AF4BB41C}" srcOrd="6" destOrd="0" presId="urn:microsoft.com/office/officeart/2005/8/layout/cycle6"/>
    <dgm:cxn modelId="{B917D5C6-1AB6-4F77-A542-EEB13FB44136}" type="presParOf" srcId="{FD7D30D8-BBDB-4277-87F7-3C04DA98F0B7}" destId="{E7E15E1D-49E5-42D2-AAA5-2D4341CD852E}" srcOrd="7" destOrd="0" presId="urn:microsoft.com/office/officeart/2005/8/layout/cycle6"/>
    <dgm:cxn modelId="{81BE4EA2-5407-4BF4-BFF4-EB8CF0C5970F}" type="presParOf" srcId="{FD7D30D8-BBDB-4277-87F7-3C04DA98F0B7}" destId="{43877BA6-3B55-4F33-A35F-D28C98AD6C13}" srcOrd="8" destOrd="0" presId="urn:microsoft.com/office/officeart/2005/8/layout/cycle6"/>
    <dgm:cxn modelId="{29FB3A8F-859E-4107-A6A7-F0CF73257A8C}" type="presParOf" srcId="{FD7D30D8-BBDB-4277-87F7-3C04DA98F0B7}" destId="{7ED6249A-AECB-4C9F-B255-9CABB16E4EDC}" srcOrd="9" destOrd="0" presId="urn:microsoft.com/office/officeart/2005/8/layout/cycle6"/>
    <dgm:cxn modelId="{C9B46F81-C199-4C87-89DC-90F281F5618B}" type="presParOf" srcId="{FD7D30D8-BBDB-4277-87F7-3C04DA98F0B7}" destId="{F506ABB6-352E-475D-AC75-7B168AFB3DED}" srcOrd="10" destOrd="0" presId="urn:microsoft.com/office/officeart/2005/8/layout/cycle6"/>
    <dgm:cxn modelId="{F7D35438-C63D-42F8-BD9E-0E7C2EE30195}" type="presParOf" srcId="{FD7D30D8-BBDB-4277-87F7-3C04DA98F0B7}" destId="{7F8BA1D2-CB63-4E9D-820E-B60C9097D597}" srcOrd="11" destOrd="0" presId="urn:microsoft.com/office/officeart/2005/8/layout/cycle6"/>
    <dgm:cxn modelId="{865AC0D7-5940-47A6-8F8E-25B32F5C6A00}" type="presParOf" srcId="{FD7D30D8-BBDB-4277-87F7-3C04DA98F0B7}" destId="{BC0BF706-41D1-4816-97E2-DE8368BB7574}" srcOrd="12" destOrd="0" presId="urn:microsoft.com/office/officeart/2005/8/layout/cycle6"/>
    <dgm:cxn modelId="{2B0AABF6-B692-4166-A55D-75689B67FDF2}" type="presParOf" srcId="{FD7D30D8-BBDB-4277-87F7-3C04DA98F0B7}" destId="{18BFF921-6B4D-4E97-8C5C-BD8302FDFD21}" srcOrd="13" destOrd="0" presId="urn:microsoft.com/office/officeart/2005/8/layout/cycle6"/>
    <dgm:cxn modelId="{F78ABF7D-CEBD-4C49-B000-0E92CA0CD942}" type="presParOf" srcId="{FD7D30D8-BBDB-4277-87F7-3C04DA98F0B7}" destId="{7B282B33-6209-4634-94DF-E2339C8341F1}" srcOrd="14" destOrd="0" presId="urn:microsoft.com/office/officeart/2005/8/layout/cycle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4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2016/6/12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10800000">
            <a:off x="-1068435" y="3565344"/>
            <a:ext cx="2880319" cy="2645335"/>
            <a:chOff x="7814481" y="-756084"/>
            <a:chExt cx="2085603" cy="1915454"/>
          </a:xfrm>
        </p:grpSpPr>
        <p:sp>
          <p:nvSpPr>
            <p:cNvPr id="11" name="饼形 10"/>
            <p:cNvSpPr/>
            <p:nvPr/>
          </p:nvSpPr>
          <p:spPr>
            <a:xfrm>
              <a:off x="8387916" y="-756084"/>
              <a:ext cx="1512168" cy="1512168"/>
            </a:xfrm>
            <a:prstGeom prst="pie">
              <a:avLst>
                <a:gd name="adj1" fmla="val 5394615"/>
                <a:gd name="adj2" fmla="val 10818284"/>
              </a:avLst>
            </a:prstGeom>
            <a:solidFill>
              <a:srgbClr val="2E90B8"/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7814481" y="53916"/>
              <a:ext cx="627534" cy="627534"/>
            </a:xfrm>
            <a:prstGeom prst="ellipse">
              <a:avLst/>
            </a:prstGeom>
            <a:solidFill>
              <a:schemeClr val="bg1">
                <a:lumMod val="75000"/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748464" y="57199"/>
              <a:ext cx="313767" cy="313767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487735" y="438813"/>
              <a:ext cx="476753" cy="476753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207013" y="731737"/>
              <a:ext cx="268047" cy="268047"/>
            </a:xfrm>
            <a:prstGeom prst="ellipse">
              <a:avLst/>
            </a:prstGeom>
            <a:solidFill>
              <a:srgbClr val="2E90B8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8080337" y="1025347"/>
              <a:ext cx="134023" cy="1340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椭圆 33"/>
          <p:cNvSpPr/>
          <p:nvPr/>
        </p:nvSpPr>
        <p:spPr>
          <a:xfrm rot="10800000">
            <a:off x="351704" y="1163191"/>
            <a:ext cx="667764" cy="667764"/>
          </a:xfrm>
          <a:custGeom>
            <a:avLst/>
            <a:gdLst/>
            <a:ahLst/>
            <a:cxnLst/>
            <a:rect l="l" t="t" r="r" b="b"/>
            <a:pathLst>
              <a:path w="667764" h="667764">
                <a:moveTo>
                  <a:pt x="432521" y="511058"/>
                </a:moveTo>
                <a:lnTo>
                  <a:pt x="506403" y="437176"/>
                </a:lnTo>
                <a:lnTo>
                  <a:pt x="469462" y="437176"/>
                </a:lnTo>
                <a:lnTo>
                  <a:pt x="469462" y="252470"/>
                </a:lnTo>
                <a:lnTo>
                  <a:pt x="217899" y="252470"/>
                </a:lnTo>
                <a:lnTo>
                  <a:pt x="217899" y="215529"/>
                </a:lnTo>
                <a:lnTo>
                  <a:pt x="144017" y="289411"/>
                </a:lnTo>
                <a:lnTo>
                  <a:pt x="217899" y="363293"/>
                </a:lnTo>
                <a:lnTo>
                  <a:pt x="217899" y="326352"/>
                </a:lnTo>
                <a:lnTo>
                  <a:pt x="395580" y="326352"/>
                </a:lnTo>
                <a:lnTo>
                  <a:pt x="395580" y="437176"/>
                </a:lnTo>
                <a:lnTo>
                  <a:pt x="358639" y="437176"/>
                </a:lnTo>
                <a:close/>
                <a:moveTo>
                  <a:pt x="333882" y="667764"/>
                </a:moveTo>
                <a:cubicBezTo>
                  <a:pt x="149484" y="667764"/>
                  <a:pt x="0" y="518280"/>
                  <a:pt x="0" y="333882"/>
                </a:cubicBezTo>
                <a:cubicBezTo>
                  <a:pt x="0" y="149484"/>
                  <a:pt x="149484" y="0"/>
                  <a:pt x="333882" y="0"/>
                </a:cubicBezTo>
                <a:cubicBezTo>
                  <a:pt x="518280" y="0"/>
                  <a:pt x="667764" y="149484"/>
                  <a:pt x="667764" y="333882"/>
                </a:cubicBezTo>
                <a:cubicBezTo>
                  <a:pt x="667764" y="518280"/>
                  <a:pt x="518280" y="667764"/>
                  <a:pt x="333882" y="667764"/>
                </a:cubicBezTo>
                <a:close/>
              </a:path>
            </a:pathLst>
          </a:custGeom>
          <a:solidFill>
            <a:srgbClr val="2E90B8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44625" y="767715"/>
            <a:ext cx="51466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rgbClr val="2E90B8"/>
                </a:solidFill>
                <a:latin typeface="Bradley Hand ITC" charset="0"/>
                <a:ea typeface="微软雅黑" pitchFamily="34" charset="-122"/>
                <a:cs typeface="Arial" pitchFamily="34" charset="0"/>
              </a:rPr>
              <a:t>Railway</a:t>
            </a:r>
            <a:endParaRPr lang="en-US" altLang="zh-CN" sz="8800" dirty="0">
              <a:solidFill>
                <a:srgbClr val="2E90B8"/>
              </a:solidFill>
              <a:latin typeface="Bradley Hand ITC" charset="0"/>
              <a:ea typeface="微软雅黑" pitchFamily="34" charset="-122"/>
              <a:cs typeface="Arial" pitchFamily="3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327523" y="-1055666"/>
            <a:ext cx="2880319" cy="2645335"/>
            <a:chOff x="7814481" y="-756084"/>
            <a:chExt cx="2085603" cy="1915454"/>
          </a:xfrm>
        </p:grpSpPr>
        <p:sp>
          <p:nvSpPr>
            <p:cNvPr id="20" name="饼形 19"/>
            <p:cNvSpPr/>
            <p:nvPr/>
          </p:nvSpPr>
          <p:spPr>
            <a:xfrm>
              <a:off x="8387916" y="-756084"/>
              <a:ext cx="1512168" cy="1512168"/>
            </a:xfrm>
            <a:prstGeom prst="pie">
              <a:avLst>
                <a:gd name="adj1" fmla="val 5394615"/>
                <a:gd name="adj2" fmla="val 10818284"/>
              </a:avLst>
            </a:prstGeom>
            <a:solidFill>
              <a:srgbClr val="2E90B8"/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7814481" y="53916"/>
              <a:ext cx="627534" cy="627534"/>
            </a:xfrm>
            <a:prstGeom prst="ellipse">
              <a:avLst/>
            </a:prstGeom>
            <a:solidFill>
              <a:schemeClr val="bg1">
                <a:lumMod val="75000"/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8748464" y="57199"/>
              <a:ext cx="313767" cy="313767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487735" y="438813"/>
              <a:ext cx="476753" cy="476753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8207013" y="731737"/>
              <a:ext cx="268047" cy="268047"/>
            </a:xfrm>
            <a:prstGeom prst="ellipse">
              <a:avLst/>
            </a:prstGeom>
            <a:solidFill>
              <a:srgbClr val="2E90B8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8080337" y="1025347"/>
              <a:ext cx="134023" cy="1340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591945" y="2388235"/>
            <a:ext cx="590931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——</a:t>
            </a:r>
            <a:r>
              <a:rPr lang="zh-CN" altLang="en-US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the report of Introduction to business computing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380105" y="3902075"/>
            <a:ext cx="5237480" cy="933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DFE0E2"/>
                </a:solidFill>
                <a:latin typeface="微软雅黑" charset="0"/>
                <a:ea typeface="微软雅黑" charset="0"/>
              </a:rPr>
              <a:t>Team project : Real-time bond pricing-railway</a:t>
            </a:r>
          </a:p>
          <a:p>
            <a:endParaRPr lang="zh-CN" altLang="en-US">
              <a:solidFill>
                <a:srgbClr val="DFE0E2"/>
              </a:solidFill>
            </a:endParaRPr>
          </a:p>
          <a:p>
            <a:r>
              <a:rPr lang="zh-CN" altLang="en-US">
                <a:solidFill>
                  <a:srgbClr val="DFE0E2"/>
                </a:solidFill>
                <a:latin typeface="微软雅黑" charset="0"/>
                <a:ea typeface="微软雅黑" charset="0"/>
              </a:rPr>
              <a:t>Team members : 吉迎 吴琼琳 王蕊 盛竞逸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964562" y="771550"/>
            <a:ext cx="8027035" cy="3659053"/>
            <a:chOff x="964562" y="771550"/>
            <a:chExt cx="8182885" cy="3730096"/>
          </a:xfrm>
        </p:grpSpPr>
        <p:sp>
          <p:nvSpPr>
            <p:cNvPr id="3" name="TextBox 2"/>
            <p:cNvSpPr txBox="1"/>
            <p:nvPr/>
          </p:nvSpPr>
          <p:spPr>
            <a:xfrm>
              <a:off x="964562" y="2355726"/>
              <a:ext cx="18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DFE0E2"/>
                  </a:solidFill>
                  <a:latin typeface="Arial" pitchFamily="34" charset="0"/>
                  <a:ea typeface="微软雅黑" pitchFamily="34" charset="-122"/>
                  <a:cs typeface="Arial" pitchFamily="34" charset="0"/>
                </a:rPr>
                <a:t>CONTENT</a:t>
              </a:r>
              <a:endParaRPr lang="zh-CN" altLang="en-US" sz="2400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135949" y="771550"/>
              <a:ext cx="497223" cy="482922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 smtClean="0">
                  <a:latin typeface="Arial" pitchFamily="34" charset="0"/>
                  <a:cs typeface="Arial" pitchFamily="34" charset="0"/>
                </a:rPr>
                <a:t>1</a:t>
              </a:r>
              <a:endParaRPr lang="zh-CN" alt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135949" y="4018724"/>
              <a:ext cx="497223" cy="482922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" pitchFamily="34" charset="0"/>
                  <a:cs typeface="Arial" pitchFamily="34" charset="0"/>
                </a:rPr>
                <a:t>5</a:t>
              </a:r>
              <a:endParaRPr lang="zh-CN" alt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4205439" y="3155232"/>
              <a:ext cx="497223" cy="482922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" pitchFamily="34" charset="0"/>
                  <a:cs typeface="Arial" pitchFamily="34" charset="0"/>
                </a:rPr>
                <a:t>4</a:t>
              </a:r>
              <a:endParaRPr lang="zh-CN" alt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205439" y="1568590"/>
              <a:ext cx="497223" cy="482922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" pitchFamily="34" charset="0"/>
                  <a:cs typeface="Arial" pitchFamily="34" charset="0"/>
                </a:rPr>
                <a:t>2</a:t>
              </a:r>
              <a:endParaRPr lang="zh-CN" alt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281611" y="2319610"/>
              <a:ext cx="497223" cy="482922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latin typeface="Arial" pitchFamily="34" charset="0"/>
                  <a:cs typeface="Arial" pitchFamily="34" charset="0"/>
                </a:rPr>
                <a:t>3</a:t>
              </a:r>
              <a:endParaRPr lang="zh-CN" altLang="en-US" sz="28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5340897" y="1244134"/>
              <a:ext cx="2176393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340896" y="4490283"/>
              <a:ext cx="2307900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4420411" y="3638154"/>
              <a:ext cx="2303935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V="1">
              <a:off x="3530222" y="2787217"/>
              <a:ext cx="2284327" cy="15316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4440261" y="2048515"/>
              <a:ext cx="2264234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633172" y="842593"/>
              <a:ext cx="2015624" cy="37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Description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702662" y="1600866"/>
              <a:ext cx="2015624" cy="37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Background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99215" y="2358801"/>
              <a:ext cx="4601861" cy="37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The process of programming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08712" y="3177024"/>
              <a:ext cx="3692364" cy="37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Problems in programming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52518" y="4050918"/>
              <a:ext cx="3494929" cy="372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Reflection and Conclusion</a:t>
              </a:r>
              <a:endParaRPr lang="zh-CN" altLang="en-US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1046143" y="2725058"/>
              <a:ext cx="1502597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625492" y="2168162"/>
            <a:ext cx="663258" cy="663258"/>
          </a:xfrm>
          <a:prstGeom prst="ellipse">
            <a:avLst/>
          </a:prstGeom>
          <a:solidFill>
            <a:srgbClr val="2E90B8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</a:t>
            </a:r>
            <a:endParaRPr lang="zh-CN" altLang="en-US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2055" y="2130425"/>
            <a:ext cx="435483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Description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1857375" y="1630680"/>
            <a:ext cx="5648960" cy="635"/>
          </a:xfrm>
          <a:prstGeom prst="line">
            <a:avLst/>
          </a:prstGeom>
          <a:ln w="28575">
            <a:solidFill>
              <a:srgbClr val="2E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456114" y="741819"/>
            <a:ext cx="1295400" cy="1295400"/>
          </a:xfrm>
          <a:prstGeom prst="ellipse">
            <a:avLst/>
          </a:prstGeom>
          <a:solidFill>
            <a:srgbClr val="2E90B8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DFE0E2"/>
                </a:solidFill>
                <a:latin typeface="微软雅黑" charset="0"/>
                <a:ea typeface="微软雅黑" charset="0"/>
              </a:rPr>
              <a:t>Name</a:t>
            </a:r>
            <a:endParaRPr lang="zh-CN" alt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647568" y="2976384"/>
            <a:ext cx="1295400" cy="1295400"/>
          </a:xfrm>
          <a:prstGeom prst="ellipse">
            <a:avLst/>
          </a:prstGeom>
          <a:solidFill>
            <a:srgbClr val="2E90B8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Aim</a:t>
            </a:r>
            <a:endParaRPr lang="zh-CN" alt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2993265" y="2867283"/>
            <a:ext cx="791914" cy="1657350"/>
            <a:chOff x="2365908" y="1851025"/>
            <a:chExt cx="981956" cy="1657350"/>
          </a:xfrm>
        </p:grpSpPr>
        <p:cxnSp>
          <p:nvCxnSpPr>
            <p:cNvPr id="71" name="直接连接符 70"/>
            <p:cNvCxnSpPr/>
            <p:nvPr/>
          </p:nvCxnSpPr>
          <p:spPr>
            <a:xfrm flipV="1">
              <a:off x="2374684" y="1851025"/>
              <a:ext cx="795681" cy="707409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2374684" y="2803728"/>
              <a:ext cx="795681" cy="704647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>
              <a:off x="3170365" y="1851025"/>
              <a:ext cx="177499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>
              <a:off x="3170365" y="3508375"/>
              <a:ext cx="177499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2365908" y="2688695"/>
              <a:ext cx="973180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857375" y="1147445"/>
            <a:ext cx="6819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DFE0E2"/>
                </a:solidFill>
                <a:latin typeface="微软雅黑" charset="0"/>
                <a:ea typeface="微软雅黑" charset="0"/>
              </a:rPr>
              <a:t>Real-time </a:t>
            </a:r>
            <a:r>
              <a:rPr lang="en-US" altLang="zh-CN" sz="2400" dirty="0">
                <a:solidFill>
                  <a:srgbClr val="DFE0E2"/>
                </a:solidFill>
                <a:latin typeface="微软雅黑" charset="0"/>
                <a:ea typeface="微软雅黑" charset="0"/>
              </a:rPr>
              <a:t>bond pricing-Railway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777961" y="2671706"/>
            <a:ext cx="5151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DFE0E2"/>
                </a:solidFill>
                <a:latin typeface="微软雅黑" charset="0"/>
                <a:ea typeface="微软雅黑" charset="0"/>
              </a:rPr>
              <a:t>Find out the best feature in bond market</a:t>
            </a:r>
            <a:endParaRPr lang="en-US" altLang="zh-CN" sz="2000" dirty="0">
              <a:solidFill>
                <a:srgbClr val="DFE0E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77961" y="3496310"/>
            <a:ext cx="48660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DFE0E2"/>
                </a:solidFill>
                <a:latin typeface="微软雅黑" charset="0"/>
                <a:ea typeface="微软雅黑" charset="0"/>
              </a:rPr>
              <a:t>Predict the price</a:t>
            </a:r>
            <a:endParaRPr lang="en-US" altLang="zh-CN" sz="2000" dirty="0">
              <a:solidFill>
                <a:srgbClr val="DFE0E2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777960" y="4271645"/>
            <a:ext cx="4437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DFE0E2"/>
                </a:solidFill>
                <a:latin typeface="微软雅黑" charset="0"/>
                <a:ea typeface="微软雅黑" charset="0"/>
              </a:rPr>
              <a:t>Provide the information of a bond</a:t>
            </a:r>
            <a:endParaRPr lang="en-US" altLang="zh-CN" sz="2000" dirty="0">
              <a:solidFill>
                <a:srgbClr val="DFE0E2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5" grpId="0" animBg="1"/>
      <p:bldP spid="3" grpId="0"/>
      <p:bldP spid="11" grpId="0"/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724174" y="2187575"/>
            <a:ext cx="651510" cy="632460"/>
          </a:xfrm>
          <a:prstGeom prst="ellipse">
            <a:avLst/>
          </a:prstGeom>
          <a:solidFill>
            <a:srgbClr val="2E90B8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</a:t>
            </a:r>
            <a:endParaRPr lang="zh-CN" altLang="en-US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14774" y="2153285"/>
            <a:ext cx="4286250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Background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441325" y="3164840"/>
            <a:ext cx="2143125" cy="155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the amount of reference information available to those trading equities </a:t>
            </a:r>
          </a:p>
          <a:p>
            <a:pPr algn="ctr"/>
            <a:endParaRPr lang="en-US" altLang="zh-CN" sz="1200" dirty="0">
              <a:solidFill>
                <a:srgbClr val="DFE0E2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 algn="ctr"/>
            <a:endParaRPr lang="en-US" altLang="zh-CN" sz="1200" dirty="0">
              <a:solidFill>
                <a:srgbClr val="DFE0E2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  <a:p>
            <a:pPr algn="ctr"/>
            <a:r>
              <a:rPr lang="en-US" altLang="zh-CN" sz="1200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those trading corporate bonds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8008" y="736268"/>
            <a:ext cx="1730369" cy="1680302"/>
          </a:xfrm>
          <a:prstGeom prst="ellipse">
            <a:avLst/>
          </a:prstGeom>
          <a:ln w="19050" cap="rnd">
            <a:solidFill>
              <a:srgbClr val="2E90B8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55855" y="735791"/>
            <a:ext cx="1730369" cy="1680302"/>
          </a:xfrm>
          <a:prstGeom prst="ellipse">
            <a:avLst/>
          </a:prstGeom>
          <a:ln w="19050" cap="rnd">
            <a:solidFill>
              <a:srgbClr val="2E90B8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74093" y="735791"/>
            <a:ext cx="1730369" cy="1680302"/>
          </a:xfrm>
          <a:prstGeom prst="ellipse">
            <a:avLst/>
          </a:prstGeom>
          <a:ln w="19050" cap="rnd">
            <a:solidFill>
              <a:srgbClr val="2E90B8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90317" y="735791"/>
            <a:ext cx="1730369" cy="1680302"/>
          </a:xfrm>
          <a:prstGeom prst="ellipse">
            <a:avLst/>
          </a:prstGeom>
          <a:ln w="19050" cap="rnd">
            <a:solidFill>
              <a:srgbClr val="2E90B8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36" name="组合 35"/>
          <p:cNvGrpSpPr/>
          <p:nvPr/>
        </p:nvGrpSpPr>
        <p:grpSpPr>
          <a:xfrm>
            <a:off x="828219" y="2666399"/>
            <a:ext cx="1442337" cy="369332"/>
            <a:chOff x="1042066" y="3079080"/>
            <a:chExt cx="1442337" cy="369332"/>
          </a:xfrm>
        </p:grpSpPr>
        <p:sp>
          <p:nvSpPr>
            <p:cNvPr id="26" name="TextBox 25"/>
            <p:cNvSpPr txBox="1"/>
            <p:nvPr/>
          </p:nvSpPr>
          <p:spPr>
            <a:xfrm>
              <a:off x="1042066" y="3079080"/>
              <a:ext cx="1442337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DFE0E2"/>
                  </a:solidFill>
                  <a:latin typeface="Arial" pitchFamily="34" charset="0"/>
                  <a:cs typeface="Arial" pitchFamily="34" charset="0"/>
                </a:rPr>
                <a:t>Huge Gap</a:t>
              </a: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1291718" y="3448412"/>
              <a:ext cx="942753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2799870" y="2666413"/>
            <a:ext cx="1442337" cy="369332"/>
            <a:chOff x="1041431" y="3065110"/>
            <a:chExt cx="1442337" cy="369332"/>
          </a:xfrm>
        </p:grpSpPr>
        <p:sp>
          <p:nvSpPr>
            <p:cNvPr id="51" name="TextBox 50"/>
            <p:cNvSpPr txBox="1"/>
            <p:nvPr/>
          </p:nvSpPr>
          <p:spPr>
            <a:xfrm>
              <a:off x="1041431" y="3065110"/>
              <a:ext cx="1442337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DFE0E2"/>
                  </a:solidFill>
                  <a:latin typeface="Arial" pitchFamily="34" charset="0"/>
                  <a:cs typeface="Arial" pitchFamily="34" charset="0"/>
                </a:rPr>
                <a:t>Delay</a:t>
              </a:r>
              <a:endParaRPr lang="en-US" dirty="0">
                <a:solidFill>
                  <a:srgbClr val="DFE0E2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2" name="直接连接符 51"/>
            <p:cNvCxnSpPr/>
            <p:nvPr/>
          </p:nvCxnSpPr>
          <p:spPr>
            <a:xfrm>
              <a:off x="1291083" y="3434442"/>
              <a:ext cx="942753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/>
          <p:cNvGrpSpPr/>
          <p:nvPr/>
        </p:nvGrpSpPr>
        <p:grpSpPr>
          <a:xfrm>
            <a:off x="4818108" y="2666413"/>
            <a:ext cx="1442337" cy="369332"/>
            <a:chOff x="1041431" y="3065110"/>
            <a:chExt cx="1442337" cy="369332"/>
          </a:xfrm>
        </p:grpSpPr>
        <p:sp>
          <p:nvSpPr>
            <p:cNvPr id="54" name="TextBox 53"/>
            <p:cNvSpPr txBox="1"/>
            <p:nvPr/>
          </p:nvSpPr>
          <p:spPr>
            <a:xfrm>
              <a:off x="1041431" y="3065110"/>
              <a:ext cx="1442337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DFE0E2"/>
                  </a:solidFill>
                  <a:latin typeface="Arial" pitchFamily="34" charset="0"/>
                  <a:cs typeface="Arial" pitchFamily="34" charset="0"/>
                </a:rPr>
                <a:t>Cost</a:t>
              </a:r>
              <a:endParaRPr lang="en-US" dirty="0">
                <a:solidFill>
                  <a:srgbClr val="DFE0E2"/>
                </a:solidFill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1291083" y="3434442"/>
              <a:ext cx="942753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/>
          <p:cNvGrpSpPr/>
          <p:nvPr/>
        </p:nvGrpSpPr>
        <p:grpSpPr>
          <a:xfrm>
            <a:off x="6832427" y="2666413"/>
            <a:ext cx="1442337" cy="369332"/>
            <a:chOff x="1041431" y="3570570"/>
            <a:chExt cx="1442337" cy="369332"/>
          </a:xfrm>
        </p:grpSpPr>
        <p:sp>
          <p:nvSpPr>
            <p:cNvPr id="57" name="TextBox 56"/>
            <p:cNvSpPr txBox="1"/>
            <p:nvPr/>
          </p:nvSpPr>
          <p:spPr>
            <a:xfrm>
              <a:off x="1041431" y="3570570"/>
              <a:ext cx="1442337" cy="3657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DFE0E2"/>
                  </a:solidFill>
                  <a:latin typeface="Arial" pitchFamily="34" charset="0"/>
                  <a:cs typeface="Arial" pitchFamily="34" charset="0"/>
                </a:rPr>
                <a:t>Hinder</a:t>
              </a: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1252983" y="3939902"/>
              <a:ext cx="942753" cy="0"/>
            </a:xfrm>
            <a:prstGeom prst="line">
              <a:avLst/>
            </a:prstGeom>
            <a:ln w="28575">
              <a:solidFill>
                <a:srgbClr val="2E90B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58"/>
          <p:cNvSpPr txBox="1"/>
          <p:nvPr/>
        </p:nvSpPr>
        <p:spPr>
          <a:xfrm>
            <a:off x="2727530" y="3164651"/>
            <a:ext cx="1514345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Free access is available online with a 15 minute delay</a:t>
            </a:r>
            <a:endParaRPr lang="zh-CN" altLang="en-US" sz="1200" dirty="0">
              <a:solidFill>
                <a:srgbClr val="DFE0E2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745909" y="3164989"/>
            <a:ext cx="1514345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more information need pay </a:t>
            </a:r>
            <a:endParaRPr lang="zh-CN" altLang="en-US" sz="1200" dirty="0">
              <a:solidFill>
                <a:srgbClr val="DFE0E2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760087" y="3164989"/>
            <a:ext cx="1514345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Accurate bond pricing is also hindered by lack of liquidity.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>
            <a:off x="1513205" y="3893185"/>
            <a:ext cx="0" cy="42545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59" grpId="0"/>
      <p:bldP spid="60" grpId="0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382905" y="1069975"/>
            <a:ext cx="1328420" cy="1430655"/>
          </a:xfrm>
          <a:prstGeom prst="ellipse">
            <a:avLst/>
          </a:prstGeom>
          <a:solidFill>
            <a:srgbClr val="2E90B8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one</a:t>
            </a:r>
            <a:endParaRPr lang="zh-CN" altLang="en-US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333485" y="1400547"/>
            <a:ext cx="1099766" cy="1099766"/>
          </a:xfrm>
          <a:prstGeom prst="ellipse">
            <a:avLst/>
          </a:prstGeom>
          <a:solidFill>
            <a:srgbClr val="2E90B8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three</a:t>
            </a:r>
          </a:p>
        </p:txBody>
      </p:sp>
      <p:sp>
        <p:nvSpPr>
          <p:cNvPr id="9" name="椭圆 8"/>
          <p:cNvSpPr/>
          <p:nvPr/>
        </p:nvSpPr>
        <p:spPr>
          <a:xfrm>
            <a:off x="2025390" y="3365343"/>
            <a:ext cx="1099766" cy="1099766"/>
          </a:xfrm>
          <a:prstGeom prst="ellipse">
            <a:avLst/>
          </a:prstGeom>
          <a:solidFill>
            <a:srgbClr val="DFE0E2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two</a:t>
            </a:r>
          </a:p>
        </p:txBody>
      </p:sp>
      <p:sp>
        <p:nvSpPr>
          <p:cNvPr id="10" name="椭圆 9"/>
          <p:cNvSpPr/>
          <p:nvPr/>
        </p:nvSpPr>
        <p:spPr>
          <a:xfrm>
            <a:off x="6187440" y="3326130"/>
            <a:ext cx="1316355" cy="1297305"/>
          </a:xfrm>
          <a:prstGeom prst="ellipse">
            <a:avLst/>
          </a:prstGeom>
          <a:solidFill>
            <a:srgbClr val="DFE0E2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Free and no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64354"/>
            <a:ext cx="914400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FE0E2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So our project was born</a:t>
            </a:r>
          </a:p>
          <a:p>
            <a:pPr algn="ctr"/>
            <a:endParaRPr lang="zh-CN" altLang="en-US" sz="2400" dirty="0">
              <a:solidFill>
                <a:srgbClr val="DFE0E2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2807970" y="870585"/>
            <a:ext cx="3528060" cy="10160"/>
          </a:xfrm>
          <a:prstGeom prst="line">
            <a:avLst/>
          </a:prstGeom>
          <a:ln w="28575">
            <a:solidFill>
              <a:srgbClr val="2E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1310766" y="2260284"/>
            <a:ext cx="334008" cy="33400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181271" y="2237741"/>
            <a:ext cx="334008" cy="334008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5" name="椭圆 14"/>
          <p:cNvSpPr/>
          <p:nvPr/>
        </p:nvSpPr>
        <p:spPr>
          <a:xfrm>
            <a:off x="2751481" y="4253966"/>
            <a:ext cx="334008" cy="334008"/>
          </a:xfrm>
          <a:prstGeom prst="ellipse">
            <a:avLst/>
          </a:prstGeom>
          <a:solidFill>
            <a:srgbClr val="2E9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</a:p>
        </p:txBody>
      </p:sp>
      <p:sp>
        <p:nvSpPr>
          <p:cNvPr id="16" name="椭圆 15"/>
          <p:cNvSpPr/>
          <p:nvPr/>
        </p:nvSpPr>
        <p:spPr>
          <a:xfrm>
            <a:off x="7261279" y="4247403"/>
            <a:ext cx="334008" cy="334008"/>
          </a:xfrm>
          <a:prstGeom prst="ellipse">
            <a:avLst/>
          </a:prstGeom>
          <a:solidFill>
            <a:srgbClr val="2E9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538572" y="2571749"/>
            <a:ext cx="647875" cy="864097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2918485" y="2260284"/>
            <a:ext cx="1415000" cy="1175563"/>
          </a:xfrm>
          <a:prstGeom prst="straightConnector1">
            <a:avLst/>
          </a:prstGeom>
          <a:ln w="28575">
            <a:solidFill>
              <a:schemeClr val="bg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11618" y="1622946"/>
            <a:ext cx="2137444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collect previous information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0794" y="1635646"/>
            <a:ext cx="2425582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provide you with a reference price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34690" y="4205605"/>
            <a:ext cx="160591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DFE0E2"/>
                </a:solidFill>
                <a:latin typeface="微软雅黑" charset="0"/>
                <a:ea typeface="微软雅黑" charset="0"/>
              </a:rPr>
              <a:t>analyse</a:t>
            </a:r>
          </a:p>
        </p:txBody>
      </p:sp>
      <p:cxnSp>
        <p:nvCxnSpPr>
          <p:cNvPr id="3" name="直接箭头连接符 2"/>
          <p:cNvCxnSpPr>
            <a:stCxn id="14" idx="5"/>
          </p:cNvCxnSpPr>
          <p:nvPr/>
        </p:nvCxnSpPr>
        <p:spPr>
          <a:xfrm rot="16200000" flipH="1">
            <a:off x="5387634" y="2601565"/>
            <a:ext cx="977610" cy="820149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/>
      <p:bldP spid="13" grpId="0" animBg="1"/>
      <p:bldP spid="14" grpId="0" animBg="1"/>
      <p:bldP spid="15" grpId="0" animBg="1"/>
      <p:bldP spid="16" grpId="0" animBg="1"/>
      <p:bldP spid="40" grpId="0"/>
      <p:bldP spid="41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60220" y="1979885"/>
            <a:ext cx="663258" cy="663258"/>
          </a:xfrm>
          <a:prstGeom prst="ellipse">
            <a:avLst/>
          </a:prstGeom>
          <a:solidFill>
            <a:srgbClr val="2E90B8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3</a:t>
            </a:r>
            <a:endParaRPr lang="zh-CN" altLang="en-US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9453" y="1942148"/>
            <a:ext cx="8709025" cy="70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process of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1450" y="251460"/>
            <a:ext cx="497649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2E90B8"/>
                </a:solidFill>
                <a:latin typeface="微软雅黑" charset="0"/>
                <a:ea typeface="微软雅黑" charset="0"/>
              </a:rPr>
              <a:t>Before start: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71450" y="1013460"/>
            <a:ext cx="8329930" cy="38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charset="0"/>
                <a:ea typeface="微软雅黑" charset="0"/>
              </a:rPr>
              <a:t>&gt;&gt;</a:t>
            </a:r>
            <a:r>
              <a:rPr lang="en-US" altLang="zh-CN">
                <a:solidFill>
                  <a:schemeClr val="bg1"/>
                </a:solidFill>
                <a:latin typeface="微软雅黑" charset="0"/>
                <a:ea typeface="微软雅黑" charset="0"/>
              </a:rPr>
              <a:t>we find </a:t>
            </a:r>
            <a:r>
              <a:rPr lang="zh-CN" altLang="en-US">
                <a:solidFill>
                  <a:schemeClr val="bg1"/>
                </a:solidFill>
                <a:latin typeface="微软雅黑" charset="0"/>
                <a:ea typeface="微软雅黑" charset="0"/>
              </a:rPr>
              <a:t>there are countless missing values in the data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71450" y="1520190"/>
            <a:ext cx="8327390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charset="0"/>
                <a:ea typeface="微软雅黑" charset="0"/>
              </a:rPr>
              <a:t>&gt;&gt;</a:t>
            </a:r>
            <a:r>
              <a:rPr lang="en-US" altLang="zh-CN">
                <a:solidFill>
                  <a:schemeClr val="bg1"/>
                </a:solidFill>
                <a:latin typeface="微软雅黑" charset="0"/>
                <a:ea typeface="微软雅黑" charset="0"/>
              </a:rPr>
              <a:t>so </a:t>
            </a:r>
            <a:r>
              <a:rPr lang="zh-CN" altLang="en-US">
                <a:solidFill>
                  <a:schemeClr val="bg1"/>
                </a:solidFill>
                <a:latin typeface="微软雅黑" charset="0"/>
                <a:ea typeface="微软雅黑" charset="0"/>
              </a:rPr>
              <a:t>we rewrote several codes to remove the NaN (missing value), and saved the new data in another file called “whole_price_data.csv”.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71450" y="2242185"/>
            <a:ext cx="8171180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charset="0"/>
                <a:ea typeface="微软雅黑" charset="0"/>
              </a:rPr>
              <a:t>&gt;&gt;</a:t>
            </a:r>
            <a:r>
              <a:rPr lang="zh-CN" altLang="en-US">
                <a:solidFill>
                  <a:schemeClr val="bg1"/>
                </a:solidFill>
                <a:latin typeface="微软雅黑" charset="0"/>
                <a:ea typeface="微软雅黑" charset="0"/>
              </a:rPr>
              <a:t>the revised data file was still very huge (more than 250MB) to read by the computer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71450" y="2994660"/>
            <a:ext cx="8171180" cy="659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accent6">
                    <a:lumMod val="60000"/>
                    <a:lumOff val="40000"/>
                  </a:schemeClr>
                </a:solidFill>
                <a:latin typeface="微软雅黑" charset="0"/>
                <a:ea typeface="微软雅黑" charset="0"/>
              </a:rPr>
              <a:t>&gt;&gt;</a:t>
            </a:r>
            <a:r>
              <a:rPr lang="zh-CN" altLang="en-US">
                <a:solidFill>
                  <a:schemeClr val="bg1"/>
                </a:solidFill>
                <a:latin typeface="微软雅黑" charset="0"/>
                <a:ea typeface="微软雅黑" charset="0"/>
              </a:rPr>
              <a:t>we added codes for randomly choosing 150,000 lines of data and saved them in a new file called “150000_price_data.csv”.</a:t>
            </a:r>
            <a:r>
              <a:rPr lang="zh-CN" altLang="en-US"/>
              <a:t> 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1450" y="3783330"/>
            <a:ext cx="3687445" cy="848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rgbClr val="2E90B8"/>
                </a:solidFill>
                <a:latin typeface="微软雅黑" charset="0"/>
                <a:ea typeface="微软雅黑" charset="0"/>
              </a:rPr>
              <a:t>Then</a:t>
            </a:r>
          </a:p>
          <a:p>
            <a:r>
              <a:rPr lang="en-US" altLang="zh-CN" sz="2400">
                <a:solidFill>
                  <a:srgbClr val="2E90B8"/>
                </a:solidFill>
                <a:latin typeface="微软雅黑" charset="0"/>
                <a:ea typeface="微软雅黑" charset="0"/>
              </a:rPr>
              <a:t>Let's begin</a:t>
            </a:r>
          </a:p>
        </p:txBody>
      </p:sp>
      <p:pic>
        <p:nvPicPr>
          <p:cNvPr id="8" name="图片 7" descr="N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" y="1428742"/>
            <a:ext cx="9090268" cy="1571636"/>
          </a:xfrm>
          <a:prstGeom prst="rect">
            <a:avLst/>
          </a:prstGeom>
        </p:spPr>
      </p:pic>
      <p:pic>
        <p:nvPicPr>
          <p:cNvPr id="9" name="图片 8" descr="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2" y="3000378"/>
            <a:ext cx="6771844" cy="171451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406" y="334580"/>
            <a:ext cx="9326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Find the best algorithm in training the machine and predicting the price </a:t>
            </a:r>
          </a:p>
          <a:p>
            <a:r>
              <a:rPr lang="en-US" altLang="zh-CN" sz="20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of bonds:</a:t>
            </a:r>
            <a:endParaRPr lang="zh-CN" altLang="en-US" sz="2000" dirty="0">
              <a:solidFill>
                <a:srgbClr val="2E90B8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72" name="图示 71"/>
          <p:cNvGraphicFramePr/>
          <p:nvPr/>
        </p:nvGraphicFramePr>
        <p:xfrm>
          <a:off x="2119338" y="857238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4714876" y="2714626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MSE</a:t>
            </a:r>
            <a:endParaRPr lang="zh-CN" altLang="en-US" sz="3200" dirty="0" smtClean="0">
              <a:solidFill>
                <a:srgbClr val="2E90B8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74" name="组合 73"/>
          <p:cNvGrpSpPr/>
          <p:nvPr/>
        </p:nvGrpSpPr>
        <p:grpSpPr>
          <a:xfrm rot="10800000">
            <a:off x="-1068435" y="3565344"/>
            <a:ext cx="2880319" cy="2645335"/>
            <a:chOff x="7814481" y="-756084"/>
            <a:chExt cx="2085603" cy="1915454"/>
          </a:xfrm>
        </p:grpSpPr>
        <p:sp>
          <p:nvSpPr>
            <p:cNvPr id="75" name="饼形 74"/>
            <p:cNvSpPr/>
            <p:nvPr/>
          </p:nvSpPr>
          <p:spPr>
            <a:xfrm>
              <a:off x="8387916" y="-756084"/>
              <a:ext cx="1512168" cy="1512168"/>
            </a:xfrm>
            <a:prstGeom prst="pie">
              <a:avLst>
                <a:gd name="adj1" fmla="val 5394615"/>
                <a:gd name="adj2" fmla="val 10818284"/>
              </a:avLst>
            </a:prstGeom>
            <a:solidFill>
              <a:srgbClr val="2E90B8"/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7814481" y="53916"/>
              <a:ext cx="627534" cy="627534"/>
            </a:xfrm>
            <a:prstGeom prst="ellipse">
              <a:avLst/>
            </a:prstGeom>
            <a:solidFill>
              <a:schemeClr val="bg1">
                <a:lumMod val="75000"/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8748464" y="57199"/>
              <a:ext cx="313767" cy="313767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8487735" y="438813"/>
              <a:ext cx="476753" cy="476753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8207013" y="731737"/>
              <a:ext cx="268047" cy="268047"/>
            </a:xfrm>
            <a:prstGeom prst="ellipse">
              <a:avLst/>
            </a:prstGeom>
            <a:solidFill>
              <a:srgbClr val="2E90B8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8080337" y="1025347"/>
              <a:ext cx="134023" cy="1340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2" grpId="0">
        <p:bldAsOne/>
      </p:bldGraphic>
      <p:bldP spid="7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3275856" y="926019"/>
            <a:ext cx="2592288" cy="0"/>
          </a:xfrm>
          <a:prstGeom prst="line">
            <a:avLst/>
          </a:prstGeom>
          <a:ln w="28575">
            <a:solidFill>
              <a:srgbClr val="2E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饼形 10"/>
          <p:cNvSpPr/>
          <p:nvPr/>
        </p:nvSpPr>
        <p:spPr>
          <a:xfrm rot="16200000">
            <a:off x="6446764" y="2142079"/>
            <a:ext cx="2592389" cy="2011369"/>
          </a:xfrm>
          <a:custGeom>
            <a:avLst/>
            <a:gdLst/>
            <a:ahLst/>
            <a:cxnLst/>
            <a:rect l="l" t="t" r="r" b="b"/>
            <a:pathLst>
              <a:path w="2592389" h="2011369">
                <a:moveTo>
                  <a:pt x="2592389" y="715097"/>
                </a:moveTo>
                <a:cubicBezTo>
                  <a:pt x="2592389" y="1269656"/>
                  <a:pt x="2239600" y="1762781"/>
                  <a:pt x="1714749" y="1941853"/>
                </a:cubicBezTo>
                <a:cubicBezTo>
                  <a:pt x="1189898" y="2120926"/>
                  <a:pt x="609271" y="1946270"/>
                  <a:pt x="270312" y="1507360"/>
                </a:cubicBezTo>
                <a:cubicBezTo>
                  <a:pt x="-68647" y="1068450"/>
                  <a:pt x="-90839" y="462529"/>
                  <a:pt x="215105" y="0"/>
                </a:cubicBezTo>
                <a:lnTo>
                  <a:pt x="805745" y="390685"/>
                </a:lnTo>
                <a:cubicBezTo>
                  <a:pt x="745729" y="484289"/>
                  <a:pt x="712075" y="595763"/>
                  <a:pt x="712075" y="715097"/>
                </a:cubicBezTo>
                <a:cubicBezTo>
                  <a:pt x="712075" y="1058125"/>
                  <a:pt x="990154" y="1336204"/>
                  <a:pt x="1333182" y="1336204"/>
                </a:cubicBezTo>
                <a:cubicBezTo>
                  <a:pt x="1676210" y="1336204"/>
                  <a:pt x="1954289" y="1058125"/>
                  <a:pt x="1954289" y="715097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156175" y="1851567"/>
            <a:ext cx="2590876" cy="2590876"/>
          </a:xfrm>
          <a:custGeom>
            <a:avLst/>
            <a:gdLst/>
            <a:ahLst/>
            <a:cxnLst/>
            <a:rect l="l" t="t" r="r" b="b"/>
            <a:pathLst>
              <a:path w="2590876" h="2590876">
                <a:moveTo>
                  <a:pt x="1288242" y="661149"/>
                </a:moveTo>
                <a:cubicBezTo>
                  <a:pt x="946510" y="661149"/>
                  <a:pt x="669482" y="938177"/>
                  <a:pt x="669482" y="1279909"/>
                </a:cubicBezTo>
                <a:cubicBezTo>
                  <a:pt x="669482" y="1621641"/>
                  <a:pt x="946510" y="1898669"/>
                  <a:pt x="1288242" y="1898669"/>
                </a:cubicBezTo>
                <a:cubicBezTo>
                  <a:pt x="1629974" y="1898669"/>
                  <a:pt x="1907002" y="1621641"/>
                  <a:pt x="1907002" y="1279909"/>
                </a:cubicBezTo>
                <a:cubicBezTo>
                  <a:pt x="1907002" y="938177"/>
                  <a:pt x="1629974" y="661149"/>
                  <a:pt x="1288242" y="661149"/>
                </a:cubicBezTo>
                <a:close/>
                <a:moveTo>
                  <a:pt x="1295438" y="0"/>
                </a:moveTo>
                <a:cubicBezTo>
                  <a:pt x="2010889" y="0"/>
                  <a:pt x="2590876" y="579987"/>
                  <a:pt x="2590876" y="1295438"/>
                </a:cubicBezTo>
                <a:cubicBezTo>
                  <a:pt x="2590876" y="2010889"/>
                  <a:pt x="2010889" y="2590876"/>
                  <a:pt x="1295438" y="2590876"/>
                </a:cubicBezTo>
                <a:cubicBezTo>
                  <a:pt x="579987" y="2590876"/>
                  <a:pt x="0" y="2010889"/>
                  <a:pt x="0" y="1295438"/>
                </a:cubicBezTo>
                <a:cubicBezTo>
                  <a:pt x="0" y="579987"/>
                  <a:pt x="579987" y="0"/>
                  <a:pt x="1295438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372919" y="2068311"/>
            <a:ext cx="2157388" cy="2157388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饼形 12"/>
          <p:cNvSpPr/>
          <p:nvPr/>
        </p:nvSpPr>
        <p:spPr>
          <a:xfrm rot="16200000">
            <a:off x="6372920" y="2071734"/>
            <a:ext cx="2157419" cy="2157419"/>
          </a:xfrm>
          <a:custGeom>
            <a:avLst/>
            <a:gdLst/>
            <a:ahLst/>
            <a:cxnLst/>
            <a:rect l="l" t="t" r="r" b="b"/>
            <a:pathLst>
              <a:path w="2157419" h="2157419">
                <a:moveTo>
                  <a:pt x="2157419" y="1078694"/>
                </a:moveTo>
                <a:cubicBezTo>
                  <a:pt x="2157419" y="1515387"/>
                  <a:pt x="1894126" y="1908997"/>
                  <a:pt x="1490503" y="2075699"/>
                </a:cubicBezTo>
                <a:cubicBezTo>
                  <a:pt x="1086881" y="2242401"/>
                  <a:pt x="622569" y="2149303"/>
                  <a:pt x="314413" y="1839883"/>
                </a:cubicBezTo>
                <a:cubicBezTo>
                  <a:pt x="6257" y="1530463"/>
                  <a:pt x="-84940" y="1065775"/>
                  <a:pt x="83413" y="662838"/>
                </a:cubicBezTo>
                <a:cubicBezTo>
                  <a:pt x="251766" y="259901"/>
                  <a:pt x="646451" y="-1779"/>
                  <a:pt x="1083140" y="9"/>
                </a:cubicBezTo>
                <a:lnTo>
                  <a:pt x="1081247" y="462554"/>
                </a:lnTo>
                <a:cubicBezTo>
                  <a:pt x="748041" y="470763"/>
                  <a:pt x="480973" y="743918"/>
                  <a:pt x="480973" y="1079450"/>
                </a:cubicBezTo>
                <a:cubicBezTo>
                  <a:pt x="480973" y="1421182"/>
                  <a:pt x="758001" y="1698210"/>
                  <a:pt x="1099733" y="1698210"/>
                </a:cubicBezTo>
                <a:cubicBezTo>
                  <a:pt x="1441465" y="1698210"/>
                  <a:pt x="1718493" y="1421182"/>
                  <a:pt x="1718493" y="1079450"/>
                </a:cubicBezTo>
                <a:cubicBezTo>
                  <a:pt x="1718493" y="1079198"/>
                  <a:pt x="1718493" y="1078946"/>
                  <a:pt x="1718417" y="107869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6566221" y="2253280"/>
            <a:ext cx="1756395" cy="1756395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饼形 17"/>
          <p:cNvSpPr/>
          <p:nvPr/>
        </p:nvSpPr>
        <p:spPr>
          <a:xfrm rot="16200000">
            <a:off x="6566157" y="2268763"/>
            <a:ext cx="1756435" cy="1756484"/>
          </a:xfrm>
          <a:custGeom>
            <a:avLst/>
            <a:gdLst/>
            <a:ahLst/>
            <a:cxnLst/>
            <a:rect l="l" t="t" r="r" b="b"/>
            <a:pathLst>
              <a:path w="1756435" h="1756484">
                <a:moveTo>
                  <a:pt x="1756435" y="878202"/>
                </a:moveTo>
                <a:cubicBezTo>
                  <a:pt x="1756435" y="1282386"/>
                  <a:pt x="1480564" y="1634376"/>
                  <a:pt x="1088089" y="1730959"/>
                </a:cubicBezTo>
                <a:cubicBezTo>
                  <a:pt x="695614" y="1827542"/>
                  <a:pt x="287900" y="1643773"/>
                  <a:pt x="100330" y="1285747"/>
                </a:cubicBezTo>
                <a:cubicBezTo>
                  <a:pt x="-87239" y="927721"/>
                  <a:pt x="-6221" y="487906"/>
                  <a:pt x="296612" y="220217"/>
                </a:cubicBezTo>
                <a:cubicBezTo>
                  <a:pt x="599445" y="-47472"/>
                  <a:pt x="1045879" y="-73897"/>
                  <a:pt x="1378176" y="156196"/>
                </a:cubicBezTo>
                <a:lnTo>
                  <a:pt x="1236511" y="360788"/>
                </a:lnTo>
                <a:cubicBezTo>
                  <a:pt x="1139703" y="296454"/>
                  <a:pt x="1023438" y="259441"/>
                  <a:pt x="898528" y="259441"/>
                </a:cubicBezTo>
                <a:cubicBezTo>
                  <a:pt x="556796" y="259441"/>
                  <a:pt x="279768" y="536469"/>
                  <a:pt x="279768" y="878201"/>
                </a:cubicBezTo>
                <a:cubicBezTo>
                  <a:pt x="279768" y="1219933"/>
                  <a:pt x="556796" y="1496961"/>
                  <a:pt x="898528" y="1496961"/>
                </a:cubicBezTo>
                <a:cubicBezTo>
                  <a:pt x="1240260" y="1496961"/>
                  <a:pt x="1517288" y="1219933"/>
                  <a:pt x="1517288" y="878202"/>
                </a:cubicBezTo>
                <a:close/>
              </a:path>
            </a:pathLst>
          </a:custGeom>
          <a:solidFill>
            <a:srgbClr val="2E9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4500563" y="2053502"/>
            <a:ext cx="2519709" cy="0"/>
          </a:xfrm>
          <a:prstGeom prst="line">
            <a:avLst/>
          </a:prstGeom>
          <a:ln>
            <a:solidFill>
              <a:srgbClr val="DFE0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4500562" y="3001563"/>
            <a:ext cx="19436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500563" y="3937667"/>
            <a:ext cx="2663725" cy="0"/>
          </a:xfrm>
          <a:prstGeom prst="line">
            <a:avLst/>
          </a:prstGeom>
          <a:ln>
            <a:solidFill>
              <a:srgbClr val="2E90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3" name="圆角矩形 3082"/>
          <p:cNvSpPr/>
          <p:nvPr/>
        </p:nvSpPr>
        <p:spPr>
          <a:xfrm>
            <a:off x="4427984" y="1725164"/>
            <a:ext cx="72008" cy="70033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4427984" y="2651395"/>
            <a:ext cx="72008" cy="70033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4427984" y="3587499"/>
            <a:ext cx="72008" cy="700335"/>
          </a:xfrm>
          <a:prstGeom prst="roundRect">
            <a:avLst/>
          </a:prstGeom>
          <a:solidFill>
            <a:srgbClr val="2E9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-764540" y="1851660"/>
            <a:ext cx="5265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Use panda to read the price data </a:t>
            </a:r>
          </a:p>
          <a:p>
            <a:pPr algn="r"/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and prepare feature metric</a:t>
            </a:r>
            <a:endParaRPr lang="en-US" altLang="zh-CN" sz="1600" dirty="0">
              <a:solidFill>
                <a:srgbClr val="DFE0E2"/>
              </a:solidFill>
              <a:latin typeface="微软雅黑" charset="0"/>
              <a:ea typeface="微软雅黑" charset="0"/>
              <a:cs typeface="Arial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-220980" y="2767330"/>
            <a:ext cx="4721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Use </a:t>
            </a:r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holdout </a:t>
            </a:r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validation and</a:t>
            </a:r>
          </a:p>
          <a:p>
            <a:pPr algn="r"/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 train the model in each algorithm</a:t>
            </a:r>
            <a:endParaRPr lang="en-US" altLang="zh-CN" sz="1600" dirty="0">
              <a:solidFill>
                <a:srgbClr val="DFE0E2"/>
              </a:solidFill>
              <a:latin typeface="微软雅黑" charset="0"/>
              <a:ea typeface="微软雅黑" charset="0"/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85720" y="3738397"/>
            <a:ext cx="4141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Evaluate </a:t>
            </a:r>
            <a:r>
              <a:rPr lang="en-US" altLang="zh-CN" sz="1600" dirty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the regression </a:t>
            </a:r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model</a:t>
            </a:r>
          </a:p>
          <a:p>
            <a:pPr algn="r"/>
            <a:r>
              <a:rPr lang="en-US" altLang="zh-CN" sz="1600" dirty="0" smtClean="0">
                <a:solidFill>
                  <a:srgbClr val="DFE0E2"/>
                </a:solidFill>
                <a:latin typeface="微软雅黑" charset="0"/>
                <a:ea typeface="微软雅黑" charset="0"/>
                <a:cs typeface="Arial" pitchFamily="34" charset="0"/>
              </a:rPr>
              <a:t>and choose the best algorithm </a:t>
            </a:r>
            <a:endParaRPr lang="en-US" altLang="zh-CN" sz="1600" dirty="0">
              <a:solidFill>
                <a:srgbClr val="DFE0E2"/>
              </a:solidFill>
              <a:latin typeface="微软雅黑" charset="0"/>
              <a:ea typeface="微软雅黑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48064" y="1764564"/>
            <a:ext cx="936104" cy="335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2E90B8"/>
                </a:solidFill>
                <a:latin typeface="Arial" pitchFamily="34" charset="0"/>
                <a:cs typeface="Arial" pitchFamily="34" charset="0"/>
              </a:rPr>
              <a:t>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1664" y="2706474"/>
            <a:ext cx="936104" cy="335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2E90B8"/>
                </a:solidFill>
                <a:latin typeface="Arial" pitchFamily="34" charset="0"/>
                <a:cs typeface="Arial" pitchFamily="34" charset="0"/>
              </a:rPr>
              <a:t>Second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1664" y="3642578"/>
            <a:ext cx="936104" cy="335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itchFamily="34" charset="0"/>
                <a:cs typeface="Arial" pitchFamily="34" charset="0"/>
              </a:rPr>
              <a:t>Third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275965" y="508000"/>
            <a:ext cx="2755265" cy="417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charset="0"/>
                <a:ea typeface="微软雅黑" charset="0"/>
              </a:rPr>
              <a:t>D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charset="0"/>
                <a:ea typeface="微软雅黑" charset="0"/>
              </a:rPr>
              <a:t>etailed </a:t>
            </a: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latin typeface="微软雅黑" charset="0"/>
                <a:ea typeface="微软雅黑" charset="0"/>
              </a:rPr>
              <a:t>P</a:t>
            </a:r>
            <a:r>
              <a:rPr lang="zh-CN" altLang="en-US" sz="2000" dirty="0">
                <a:solidFill>
                  <a:schemeClr val="bg1">
                    <a:lumMod val="95000"/>
                  </a:schemeClr>
                </a:solidFill>
                <a:latin typeface="微软雅黑" charset="0"/>
                <a:ea typeface="微软雅黑" charset="0"/>
              </a:rPr>
              <a:t>rocedures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3" grpId="0" animBg="1"/>
      <p:bldP spid="16" grpId="0" animBg="1"/>
      <p:bldP spid="18" grpId="0" animBg="1"/>
      <p:bldP spid="3083" grpId="0" animBg="1"/>
      <p:bldP spid="44" grpId="0" animBg="1"/>
      <p:bldP spid="45" grpId="0" animBg="1"/>
      <p:bldP spid="46" grpId="0"/>
      <p:bldP spid="46" grpId="1"/>
      <p:bldP spid="46" grpId="2"/>
      <p:bldP spid="46" grpId="3"/>
      <p:bldP spid="47" grpId="0"/>
      <p:bldP spid="48" grpId="0"/>
      <p:bldP spid="2" grpId="0"/>
      <p:bldP spid="20" grpId="0"/>
      <p:bldP spid="21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2800" dirty="0" smtClean="0">
                <a:solidFill>
                  <a:srgbClr val="2E90B8"/>
                </a:solidFill>
                <a:latin typeface="微软雅黑" charset="0"/>
                <a:ea typeface="微软雅黑" charset="0"/>
                <a:cs typeface="+mn-cs"/>
              </a:rPr>
              <a:t>Evaluate the regression model</a:t>
            </a:r>
            <a:endParaRPr lang="zh-CN" altLang="en-US" sz="2800" dirty="0">
              <a:solidFill>
                <a:srgbClr val="2E90B8"/>
              </a:solidFill>
              <a:latin typeface="微软雅黑" charset="0"/>
              <a:ea typeface="微软雅黑" charset="0"/>
              <a:cs typeface="+mn-cs"/>
            </a:endParaRP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571474" y="1285866"/>
          <a:ext cx="8001054" cy="261071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333509"/>
                <a:gridCol w="1333509"/>
                <a:gridCol w="1333509"/>
                <a:gridCol w="1333509"/>
                <a:gridCol w="1333509"/>
                <a:gridCol w="1333509"/>
              </a:tblGrid>
              <a:tr h="134122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kern="100" dirty="0" smtClean="0"/>
                        <a:t>KNeighbors</a:t>
                      </a:r>
                      <a:endParaRPr lang="zh-CN" altLang="en-US" sz="1800" kern="100" dirty="0" smtClean="0"/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kern="100" dirty="0" err="1" smtClean="0"/>
                        <a:t>Regressor</a:t>
                      </a:r>
                      <a:endParaRPr lang="zh-CN" altLang="en-US" sz="1800" kern="100" dirty="0" smtClean="0"/>
                    </a:p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Linear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Regressor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kern="100" dirty="0" smtClean="0"/>
                        <a:t>De</a:t>
                      </a:r>
                      <a:r>
                        <a:rPr lang="en-US" sz="1800" b="1" kern="1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cision</a:t>
                      </a: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Tree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Regressor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Random</a:t>
                      </a: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Forest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Regressor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endParaRPr lang="zh-CN" altLang="en-US" sz="1800" b="1" kern="1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AdaBoost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US" sz="1800" b="1" kern="1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Regressor</a:t>
                      </a:r>
                      <a:endParaRPr lang="zh-CN" altLang="en-US" sz="1800" b="1" kern="1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dirty="0"/>
                    </a:p>
                  </a:txBody>
                  <a:tcPr/>
                </a:tc>
              </a:tr>
              <a:tr h="873355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MSE</a:t>
                      </a:r>
                      <a:endParaRPr lang="zh-CN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 smtClean="0"/>
                        <a:t>80.762049</a:t>
                      </a:r>
                      <a:endParaRPr lang="zh-CN" altLang="en-US" sz="1800" kern="100" dirty="0" smtClean="0"/>
                    </a:p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 smtClean="0"/>
                        <a:t>0.930923</a:t>
                      </a:r>
                      <a:endParaRPr lang="zh-CN" altLang="en-US" sz="1800" kern="100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 smtClean="0"/>
                        <a:t>1.372639</a:t>
                      </a:r>
                      <a:endParaRPr lang="zh-CN" altLang="en-US" sz="1800" kern="100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 smtClean="0"/>
                        <a:t>0.655586</a:t>
                      </a:r>
                      <a:endParaRPr lang="zh-CN" altLang="en-US" sz="1800" kern="100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00" dirty="0" smtClean="0"/>
                        <a:t>10.127853</a:t>
                      </a:r>
                      <a:endParaRPr lang="zh-CN" altLang="en-US" sz="1800" kern="100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直角双向箭头 7"/>
          <p:cNvSpPr/>
          <p:nvPr/>
        </p:nvSpPr>
        <p:spPr>
          <a:xfrm>
            <a:off x="1142976" y="3929072"/>
            <a:ext cx="642942" cy="428628"/>
          </a:xfrm>
          <a:prstGeom prst="leftUpArrow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143108" y="4059806"/>
            <a:ext cx="650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Find the best algorithm to predict the price of the bond</a:t>
            </a:r>
            <a:endParaRPr lang="zh-CN" altLang="en-US" dirty="0" smtClean="0">
              <a:solidFill>
                <a:srgbClr val="2E90B8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82880" y="374003"/>
            <a:ext cx="4089400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2E90B8"/>
                </a:solidFill>
                <a:latin typeface="微软雅黑" charset="0"/>
                <a:ea typeface="微软雅黑" charset="0"/>
              </a:rPr>
              <a:t>ALL is done!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45820" y="1071552"/>
            <a:ext cx="866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I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t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’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s </a:t>
            </a:r>
            <a:r>
              <a:rPr lang="zh-CN" altLang="en-US" sz="20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time to use the program and predict the bond 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price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2880" y="2143122"/>
            <a:ext cx="1731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Here</a:t>
            </a:r>
            <a:endParaRPr lang="en-US" altLang="zh-CN" sz="2400" dirty="0">
              <a:solidFill>
                <a:srgbClr val="2E90B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5820" y="2741613"/>
            <a:ext cx="7703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We have a new data which has all detailed information but no trade price.</a:t>
            </a:r>
            <a:endParaRPr lang="en-US" altLang="zh-CN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10" name="图片 9" descr="pre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51" y="3500444"/>
            <a:ext cx="6144483" cy="13527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83221" y="310506"/>
            <a:ext cx="5860415" cy="97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2E90B8"/>
                </a:solidFill>
                <a:latin typeface="微软雅黑" charset="0"/>
                <a:ea typeface="微软雅黑" charset="0"/>
              </a:rPr>
              <a:t>Well</a:t>
            </a:r>
          </a:p>
          <a:p>
            <a:r>
              <a:rPr lang="en-US" altLang="zh-CN" sz="2800" dirty="0">
                <a:solidFill>
                  <a:srgbClr val="2E90B8"/>
                </a:solidFill>
                <a:latin typeface="微软雅黑" charset="0"/>
                <a:ea typeface="微软雅黑" charset="0"/>
              </a:rPr>
              <a:t>It finally runs well.</a:t>
            </a:r>
          </a:p>
        </p:txBody>
      </p:sp>
      <p:pic>
        <p:nvPicPr>
          <p:cNvPr id="5" name="图片 4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1285866"/>
            <a:ext cx="3048426" cy="3620005"/>
          </a:xfrm>
          <a:prstGeom prst="rect">
            <a:avLst/>
          </a:prstGeom>
        </p:spPr>
      </p:pic>
      <p:sp>
        <p:nvSpPr>
          <p:cNvPr id="6" name="右箭头 5"/>
          <p:cNvSpPr/>
          <p:nvPr/>
        </p:nvSpPr>
        <p:spPr>
          <a:xfrm>
            <a:off x="5857884" y="2097097"/>
            <a:ext cx="1071570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429124" y="1928808"/>
            <a:ext cx="12858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Bond</a:t>
            </a:r>
            <a:r>
              <a:rPr lang="en-US" altLang="zh-CN" dirty="0" smtClean="0"/>
              <a:t> </a:t>
            </a:r>
          </a:p>
          <a:p>
            <a:r>
              <a:rPr lang="en-US" altLang="zh-CN" sz="28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ID</a:t>
            </a:r>
            <a:endParaRPr lang="zh-CN" altLang="en-US" sz="2800" dirty="0">
              <a:solidFill>
                <a:srgbClr val="2E90B8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15206" y="1928808"/>
            <a:ext cx="15716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Trade</a:t>
            </a:r>
          </a:p>
          <a:p>
            <a:r>
              <a:rPr lang="en-US" altLang="zh-CN" sz="2800" dirty="0" smtClean="0">
                <a:solidFill>
                  <a:srgbClr val="2E90B8"/>
                </a:solidFill>
                <a:latin typeface="微软雅黑" charset="0"/>
                <a:ea typeface="微软雅黑" charset="0"/>
              </a:rPr>
              <a:t>Price</a:t>
            </a:r>
            <a:endParaRPr lang="zh-CN" altLang="en-US" sz="2800" dirty="0" smtClean="0">
              <a:solidFill>
                <a:srgbClr val="2E90B8"/>
              </a:solidFill>
              <a:latin typeface="微软雅黑" charset="0"/>
              <a:ea typeface="微软雅黑" charset="0"/>
            </a:endParaRPr>
          </a:p>
        </p:txBody>
      </p:sp>
      <p:pic>
        <p:nvPicPr>
          <p:cNvPr id="9" name="图片 8" descr="图标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2" y="4071948"/>
            <a:ext cx="1528150" cy="285752"/>
          </a:xfrm>
          <a:prstGeom prst="rect">
            <a:avLst/>
          </a:prstGeom>
        </p:spPr>
      </p:pic>
      <p:pic>
        <p:nvPicPr>
          <p:cNvPr id="10" name="图片 9" descr="图标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3" y="4572014"/>
            <a:ext cx="1500198" cy="285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29388" y="4500576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Exact price</a:t>
            </a:r>
            <a:endParaRPr lang="zh-CN" altLang="en-US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29388" y="4000510"/>
            <a:ext cx="2500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</a:rPr>
              <a:t>Detailed information</a:t>
            </a:r>
            <a:endParaRPr lang="zh-CN" altLang="en-US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/>
      <p:bldP spid="8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142976" y="2122806"/>
            <a:ext cx="663258" cy="663258"/>
          </a:xfrm>
          <a:prstGeom prst="ellipse">
            <a:avLst/>
          </a:prstGeom>
          <a:solidFill>
            <a:srgbClr val="2E90B8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4</a:t>
            </a:r>
            <a:endParaRPr lang="zh-CN" altLang="en-US" sz="3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76659" y="2149616"/>
            <a:ext cx="6309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Problems in programming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>
            <a:off x="386080" y="281873"/>
            <a:ext cx="1269999" cy="507999"/>
          </a:xfrm>
          <a:custGeom>
            <a:avLst/>
            <a:gdLst>
              <a:gd name="connsiteX0" fmla="*/ 0 w 1269999"/>
              <a:gd name="connsiteY0" fmla="*/ 0 h 507999"/>
              <a:gd name="connsiteX1" fmla="*/ 1016000 w 1269999"/>
              <a:gd name="connsiteY1" fmla="*/ 0 h 507999"/>
              <a:gd name="connsiteX2" fmla="*/ 1269999 w 1269999"/>
              <a:gd name="connsiteY2" fmla="*/ 254000 h 507999"/>
              <a:gd name="connsiteX3" fmla="*/ 1016000 w 1269999"/>
              <a:gd name="connsiteY3" fmla="*/ 507999 h 507999"/>
              <a:gd name="connsiteX4" fmla="*/ 0 w 1269999"/>
              <a:gd name="connsiteY4" fmla="*/ 507999 h 507999"/>
              <a:gd name="connsiteX5" fmla="*/ 254000 w 1269999"/>
              <a:gd name="connsiteY5" fmla="*/ 254000 h 507999"/>
              <a:gd name="connsiteX6" fmla="*/ 0 w 1269999"/>
              <a:gd name="connsiteY6" fmla="*/ 0 h 50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9999" h="507999">
                <a:moveTo>
                  <a:pt x="0" y="0"/>
                </a:moveTo>
                <a:lnTo>
                  <a:pt x="1016000" y="0"/>
                </a:lnTo>
                <a:lnTo>
                  <a:pt x="1269999" y="254000"/>
                </a:lnTo>
                <a:lnTo>
                  <a:pt x="1016000" y="507999"/>
                </a:lnTo>
                <a:lnTo>
                  <a:pt x="0" y="507999"/>
                </a:lnTo>
                <a:lnTo>
                  <a:pt x="25400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2E90B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4008" tIns="20003" rIns="274002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b="1" kern="1200" dirty="0"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1</a:t>
            </a:r>
          </a:p>
        </p:txBody>
      </p:sp>
      <p:sp>
        <p:nvSpPr>
          <p:cNvPr id="4" name="任意多边形 3"/>
          <p:cNvSpPr/>
          <p:nvPr/>
        </p:nvSpPr>
        <p:spPr>
          <a:xfrm>
            <a:off x="1050290" y="2214560"/>
            <a:ext cx="1269999" cy="507999"/>
          </a:xfrm>
          <a:custGeom>
            <a:avLst/>
            <a:gdLst>
              <a:gd name="connsiteX0" fmla="*/ 0 w 1269999"/>
              <a:gd name="connsiteY0" fmla="*/ 0 h 507999"/>
              <a:gd name="connsiteX1" fmla="*/ 1016000 w 1269999"/>
              <a:gd name="connsiteY1" fmla="*/ 0 h 507999"/>
              <a:gd name="connsiteX2" fmla="*/ 1269999 w 1269999"/>
              <a:gd name="connsiteY2" fmla="*/ 254000 h 507999"/>
              <a:gd name="connsiteX3" fmla="*/ 1016000 w 1269999"/>
              <a:gd name="connsiteY3" fmla="*/ 507999 h 507999"/>
              <a:gd name="connsiteX4" fmla="*/ 0 w 1269999"/>
              <a:gd name="connsiteY4" fmla="*/ 507999 h 507999"/>
              <a:gd name="connsiteX5" fmla="*/ 254000 w 1269999"/>
              <a:gd name="connsiteY5" fmla="*/ 254000 h 507999"/>
              <a:gd name="connsiteX6" fmla="*/ 0 w 1269999"/>
              <a:gd name="connsiteY6" fmla="*/ 0 h 50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9999" h="507999">
                <a:moveTo>
                  <a:pt x="0" y="0"/>
                </a:moveTo>
                <a:lnTo>
                  <a:pt x="1016000" y="0"/>
                </a:lnTo>
                <a:lnTo>
                  <a:pt x="1269999" y="254000"/>
                </a:lnTo>
                <a:lnTo>
                  <a:pt x="1016000" y="507999"/>
                </a:lnTo>
                <a:lnTo>
                  <a:pt x="0" y="507999"/>
                </a:lnTo>
                <a:lnTo>
                  <a:pt x="25400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2E90B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4008" tIns="20003" rIns="274002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b="1" kern="1200" dirty="0"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2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1747520" y="4184583"/>
            <a:ext cx="1269999" cy="507999"/>
          </a:xfrm>
          <a:custGeom>
            <a:avLst/>
            <a:gdLst>
              <a:gd name="connsiteX0" fmla="*/ 0 w 1269999"/>
              <a:gd name="connsiteY0" fmla="*/ 0 h 507999"/>
              <a:gd name="connsiteX1" fmla="*/ 1016000 w 1269999"/>
              <a:gd name="connsiteY1" fmla="*/ 0 h 507999"/>
              <a:gd name="connsiteX2" fmla="*/ 1269999 w 1269999"/>
              <a:gd name="connsiteY2" fmla="*/ 254000 h 507999"/>
              <a:gd name="connsiteX3" fmla="*/ 1016000 w 1269999"/>
              <a:gd name="connsiteY3" fmla="*/ 507999 h 507999"/>
              <a:gd name="connsiteX4" fmla="*/ 0 w 1269999"/>
              <a:gd name="connsiteY4" fmla="*/ 507999 h 507999"/>
              <a:gd name="connsiteX5" fmla="*/ 254000 w 1269999"/>
              <a:gd name="connsiteY5" fmla="*/ 254000 h 507999"/>
              <a:gd name="connsiteX6" fmla="*/ 0 w 1269999"/>
              <a:gd name="connsiteY6" fmla="*/ 0 h 50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69999" h="507999">
                <a:moveTo>
                  <a:pt x="0" y="0"/>
                </a:moveTo>
                <a:lnTo>
                  <a:pt x="1016000" y="0"/>
                </a:lnTo>
                <a:lnTo>
                  <a:pt x="1269999" y="254000"/>
                </a:lnTo>
                <a:lnTo>
                  <a:pt x="1016000" y="507999"/>
                </a:lnTo>
                <a:lnTo>
                  <a:pt x="0" y="507999"/>
                </a:lnTo>
                <a:lnTo>
                  <a:pt x="25400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2E90B8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4008" tIns="20003" rIns="274002" bIns="20003" numCol="1" spcCol="1270" anchor="ctr" anchorCtr="0">
            <a:noAutofit/>
          </a:bodyPr>
          <a:lstStyle/>
          <a:p>
            <a:pPr lvl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b="1" kern="1200" dirty="0">
                <a:latin typeface="方正兰亭纤黑_GBK" panose="02000000000000000000" pitchFamily="2" charset="-122"/>
                <a:ea typeface="方正兰亭纤黑_GBK" panose="02000000000000000000" pitchFamily="2" charset="-122"/>
              </a:rPr>
              <a:t>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47520" y="281940"/>
            <a:ext cx="489521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  <a:latin typeface="微软雅黑" charset="0"/>
                <a:ea typeface="微软雅黑" charset="0"/>
              </a:rPr>
              <a:t>The missing value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526030" y="2214627"/>
            <a:ext cx="526161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T</a:t>
            </a:r>
            <a:r>
              <a:rPr lang="zh-CN" altLang="en-US" sz="2800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oo huge file to operate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77540" y="4144010"/>
            <a:ext cx="6943090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solidFill>
                  <a:schemeClr val="bg1"/>
                </a:solidFill>
                <a:latin typeface="微软雅黑" charset="0"/>
                <a:ea typeface="微软雅黑" charset="0"/>
              </a:rPr>
              <a:t>Application of the trained model 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327523" y="-1032806"/>
            <a:ext cx="2880319" cy="2645335"/>
            <a:chOff x="7814481" y="-756084"/>
            <a:chExt cx="2085603" cy="1915454"/>
          </a:xfrm>
        </p:grpSpPr>
        <p:sp>
          <p:nvSpPr>
            <p:cNvPr id="20" name="饼形 19"/>
            <p:cNvSpPr/>
            <p:nvPr/>
          </p:nvSpPr>
          <p:spPr>
            <a:xfrm>
              <a:off x="8387916" y="-756084"/>
              <a:ext cx="1512168" cy="1512168"/>
            </a:xfrm>
            <a:prstGeom prst="pie">
              <a:avLst>
                <a:gd name="adj1" fmla="val 5394615"/>
                <a:gd name="adj2" fmla="val 10818284"/>
              </a:avLst>
            </a:prstGeom>
            <a:solidFill>
              <a:srgbClr val="2E90B8"/>
            </a:soli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7814481" y="53916"/>
              <a:ext cx="627534" cy="627534"/>
            </a:xfrm>
            <a:prstGeom prst="ellipse">
              <a:avLst/>
            </a:prstGeom>
            <a:solidFill>
              <a:schemeClr val="bg1">
                <a:lumMod val="75000"/>
                <a:alpha val="7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8748464" y="57199"/>
              <a:ext cx="313767" cy="313767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487735" y="438813"/>
              <a:ext cx="476753" cy="476753"/>
            </a:xfrm>
            <a:prstGeom prst="ellipse">
              <a:avLst/>
            </a:prstGeom>
            <a:solidFill>
              <a:schemeClr val="bg1">
                <a:lumMod val="75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8207013" y="731737"/>
              <a:ext cx="268047" cy="268047"/>
            </a:xfrm>
            <a:prstGeom prst="ellipse">
              <a:avLst/>
            </a:prstGeom>
            <a:solidFill>
              <a:srgbClr val="2E90B8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8080337" y="1025347"/>
              <a:ext cx="134023" cy="13402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4" grpId="0" animBg="1"/>
      <p:bldP spid="5" grpId="0" animBg="1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042562" y="1966867"/>
            <a:ext cx="663258" cy="663258"/>
          </a:xfrm>
          <a:prstGeom prst="ellipse">
            <a:avLst/>
          </a:prstGeom>
          <a:solidFill>
            <a:srgbClr val="2E90B8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3375" y="2038985"/>
            <a:ext cx="4880610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Reflection </a:t>
            </a:r>
            <a:r>
              <a:rPr lang="zh-CN" altLang="en-US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＆ </a:t>
            </a:r>
            <a:r>
              <a:rPr lang="en-US" altLang="zh-CN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02" name="组合 5"/>
          <p:cNvGrpSpPr/>
          <p:nvPr/>
        </p:nvGrpSpPr>
        <p:grpSpPr bwMode="auto">
          <a:xfrm>
            <a:off x="412115" y="187325"/>
            <a:ext cx="7797166" cy="2216150"/>
            <a:chOff x="566545" y="1490242"/>
            <a:chExt cx="10223020" cy="2905255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1559790" y="1490242"/>
              <a:ext cx="85204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左右箭头 7"/>
            <p:cNvSpPr/>
            <p:nvPr/>
          </p:nvSpPr>
          <p:spPr>
            <a:xfrm>
              <a:off x="4709360" y="2892090"/>
              <a:ext cx="2500181" cy="1503407"/>
            </a:xfrm>
            <a:prstGeom prst="leftRightArrow">
              <a:avLst/>
            </a:prstGeom>
            <a:noFill/>
            <a:ln>
              <a:solidFill>
                <a:srgbClr val="FFC715"/>
              </a:solidFill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bg1">
                      <a:lumMod val="5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/>
            </a:p>
          </p:txBody>
        </p:sp>
        <p:sp>
          <p:nvSpPr>
            <p:cNvPr id="9" name="加号 8"/>
            <p:cNvSpPr/>
            <p:nvPr/>
          </p:nvSpPr>
          <p:spPr>
            <a:xfrm>
              <a:off x="4968695" y="3247964"/>
              <a:ext cx="790933" cy="790829"/>
            </a:xfrm>
            <a:prstGeom prst="mathPlus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/>
            </a:p>
          </p:txBody>
        </p:sp>
        <p:sp>
          <p:nvSpPr>
            <p:cNvPr id="10" name="减号 9"/>
            <p:cNvSpPr/>
            <p:nvPr/>
          </p:nvSpPr>
          <p:spPr>
            <a:xfrm>
              <a:off x="6231273" y="3252126"/>
              <a:ext cx="793015" cy="786666"/>
            </a:xfrm>
            <a:prstGeom prst="mathMinus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566545" y="1916457"/>
              <a:ext cx="2629228" cy="847435"/>
            </a:xfrm>
            <a:prstGeom prst="rect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scene3d>
                <a:camera prst="orthographicFront"/>
                <a:lightRig rig="threePt" dir="t"/>
              </a:scene3d>
            </a:bodyPr>
            <a:lstStyle/>
            <a:p>
              <a:pPr algn="ctr">
                <a:defRPr/>
              </a:pPr>
              <a:r>
                <a:rPr lang="en-US" altLang="zh-CN" dirty="0">
                  <a:solidFill>
                    <a:schemeClr val="tx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Advantage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8250253" y="1917289"/>
              <a:ext cx="2539312" cy="846603"/>
            </a:xfrm>
            <a:prstGeom prst="rect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sz="2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Disadvantage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412115" y="1365250"/>
            <a:ext cx="2985770" cy="933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approximate real-time price fifteen minutes earlier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12115" y="2606040"/>
            <a:ext cx="2560320" cy="933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charset="0"/>
                <a:ea typeface="微软雅黑" charset="0"/>
              </a:rPr>
              <a:t>spare the money for buying the information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72530" y="1470025"/>
            <a:ext cx="2152015" cy="933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微软雅黑" charset="0"/>
                <a:ea typeface="微软雅黑" charset="0"/>
              </a:rPr>
              <a:t>the data we used could be out of date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72530" y="2606040"/>
            <a:ext cx="2654300" cy="1482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微软雅黑" charset="0"/>
                <a:ea typeface="微软雅黑" charset="0"/>
              </a:rPr>
              <a:t>sometimes the capital market is too changeable to be controlled and predicted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596" y="3728875"/>
            <a:ext cx="292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charset="0"/>
                <a:ea typeface="微软雅黑" charset="0"/>
              </a:rPr>
              <a:t>it’s possible to predict the price because the bond market doesn’t change quickly</a:t>
            </a:r>
            <a:endParaRPr lang="zh-CN" altLang="en-US" dirty="0">
              <a:solidFill>
                <a:schemeClr val="bg1"/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137795" y="123825"/>
            <a:ext cx="1305560" cy="1294130"/>
            <a:chOff x="2218010" y="844002"/>
            <a:chExt cx="1453659" cy="1533438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2235313" y="885277"/>
              <a:ext cx="0" cy="1465014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3658689" y="844060"/>
              <a:ext cx="0" cy="163506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3671666" y="2213934"/>
              <a:ext cx="0" cy="163506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rot="5400000">
              <a:off x="2944839" y="117172"/>
              <a:ext cx="0" cy="1453659"/>
            </a:xfrm>
            <a:prstGeom prst="line">
              <a:avLst/>
            </a:prstGeom>
            <a:ln w="762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5400000">
              <a:off x="2944839" y="1623462"/>
              <a:ext cx="0" cy="1453659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1074420" y="651510"/>
            <a:ext cx="5570855" cy="808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err="1">
                <a:solidFill>
                  <a:srgbClr val="2E90B8"/>
                </a:solidFill>
                <a:latin typeface="微软雅黑" charset="0"/>
                <a:ea typeface="微软雅黑" charset="0"/>
              </a:rPr>
              <a:t>onclusion</a:t>
            </a:r>
            <a:endParaRPr lang="en-US" altLang="zh-CN" sz="4400" dirty="0">
              <a:solidFill>
                <a:srgbClr val="2E90B8"/>
              </a:solidFill>
              <a:latin typeface="微软雅黑" charset="0"/>
              <a:ea typeface="微软雅黑" charset="0"/>
            </a:endParaRPr>
          </a:p>
        </p:txBody>
      </p:sp>
      <p:grpSp>
        <p:nvGrpSpPr>
          <p:cNvPr id="3074" name="组合 5"/>
          <p:cNvGrpSpPr/>
          <p:nvPr/>
        </p:nvGrpSpPr>
        <p:grpSpPr bwMode="auto">
          <a:xfrm>
            <a:off x="1359218" y="1620203"/>
            <a:ext cx="6739139" cy="3008776"/>
            <a:chOff x="395337" y="1916832"/>
            <a:chExt cx="8529894" cy="3808768"/>
          </a:xfrm>
          <a:solidFill>
            <a:srgbClr val="2E90B8"/>
          </a:solidFill>
        </p:grpSpPr>
        <p:grpSp>
          <p:nvGrpSpPr>
            <p:cNvPr id="3079" name="组合 5"/>
            <p:cNvGrpSpPr/>
            <p:nvPr/>
          </p:nvGrpSpPr>
          <p:grpSpPr bwMode="auto">
            <a:xfrm>
              <a:off x="747762" y="2797895"/>
              <a:ext cx="7129934" cy="407546"/>
              <a:chOff x="1263849" y="2797895"/>
              <a:chExt cx="7129934" cy="407546"/>
            </a:xfrm>
            <a:grpFill/>
          </p:grpSpPr>
          <p:sp>
            <p:nvSpPr>
              <p:cNvPr id="3104" name="Rectangle 4"/>
              <p:cNvSpPr>
                <a:spLocks noChangeArrowheads="1"/>
              </p:cNvSpPr>
              <p:nvPr/>
            </p:nvSpPr>
            <p:spPr bwMode="auto">
              <a:xfrm>
                <a:off x="1263849" y="2797895"/>
                <a:ext cx="280988" cy="280987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ctr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05" name="Line 10"/>
              <p:cNvSpPr>
                <a:spLocks noChangeShapeType="1"/>
              </p:cNvSpPr>
              <p:nvPr/>
            </p:nvSpPr>
            <p:spPr bwMode="auto">
              <a:xfrm>
                <a:off x="1430537" y="2934420"/>
                <a:ext cx="6873875" cy="0"/>
              </a:xfrm>
              <a:prstGeom prst="line">
                <a:avLst/>
              </a:prstGeom>
              <a:grpFill/>
              <a:ln w="22225">
                <a:solidFill>
                  <a:srgbClr val="FFC715"/>
                </a:solidFill>
                <a:round/>
              </a:ln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3106" name="Rectangle 13"/>
              <p:cNvSpPr>
                <a:spLocks noChangeArrowheads="1"/>
              </p:cNvSpPr>
              <p:nvPr/>
            </p:nvSpPr>
            <p:spPr bwMode="auto">
              <a:xfrm>
                <a:off x="1802352" y="2797895"/>
                <a:ext cx="6591431" cy="407546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l"/>
                <a:r>
                  <a:rPr lang="en-US" altLang="zh-CN" sz="16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Q</a:t>
                </a:r>
                <a:r>
                  <a:rPr lang="zh-CN" altLang="en-US" sz="16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uite a long time to finish running</a:t>
                </a:r>
                <a:r>
                  <a:rPr lang="en-US" altLang="zh-CN" sz="16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.</a:t>
                </a:r>
              </a:p>
            </p:txBody>
          </p:sp>
        </p:grpSp>
        <p:grpSp>
          <p:nvGrpSpPr>
            <p:cNvPr id="3080" name="组合 11"/>
            <p:cNvGrpSpPr/>
            <p:nvPr/>
          </p:nvGrpSpPr>
          <p:grpSpPr bwMode="auto">
            <a:xfrm>
              <a:off x="1124000" y="3680545"/>
              <a:ext cx="7048756" cy="406742"/>
              <a:chOff x="1640087" y="3680545"/>
              <a:chExt cx="7048756" cy="406742"/>
            </a:xfrm>
            <a:grpFill/>
          </p:grpSpPr>
          <p:sp>
            <p:nvSpPr>
              <p:cNvPr id="3099" name="Rectangle 5"/>
              <p:cNvSpPr>
                <a:spLocks noChangeArrowheads="1"/>
              </p:cNvSpPr>
              <p:nvPr/>
            </p:nvSpPr>
            <p:spPr bwMode="auto">
              <a:xfrm>
                <a:off x="1640087" y="3680545"/>
                <a:ext cx="280987" cy="280987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ctr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00" name="Line 9"/>
              <p:cNvSpPr>
                <a:spLocks noChangeShapeType="1"/>
              </p:cNvSpPr>
              <p:nvPr/>
            </p:nvSpPr>
            <p:spPr bwMode="auto">
              <a:xfrm>
                <a:off x="1802012" y="3815482"/>
                <a:ext cx="6873875" cy="0"/>
              </a:xfrm>
              <a:prstGeom prst="line">
                <a:avLst/>
              </a:prstGeom>
              <a:grpFill/>
              <a:ln w="22225">
                <a:solidFill>
                  <a:srgbClr val="FFC715"/>
                </a:solidFill>
                <a:round/>
              </a:ln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3101" name="Rectangle 14"/>
              <p:cNvSpPr>
                <a:spLocks noChangeArrowheads="1"/>
              </p:cNvSpPr>
              <p:nvPr/>
            </p:nvSpPr>
            <p:spPr bwMode="auto">
              <a:xfrm>
                <a:off x="2097412" y="3680545"/>
                <a:ext cx="6591431" cy="406742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l"/>
                <a:r>
                  <a:rPr lang="en-US" altLang="zh-CN" sz="160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  <a:sym typeface="+mn-ea"/>
                  </a:rPr>
                  <a:t> Benefit &gt; Cost, so it is not a bad choice to use it!</a:t>
                </a:r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3081" name="组合 17"/>
            <p:cNvGrpSpPr/>
            <p:nvPr/>
          </p:nvGrpSpPr>
          <p:grpSpPr bwMode="auto">
            <a:xfrm>
              <a:off x="1500237" y="4561607"/>
              <a:ext cx="7048756" cy="409153"/>
              <a:chOff x="2016324" y="4561607"/>
              <a:chExt cx="7048756" cy="409153"/>
            </a:xfrm>
            <a:grpFill/>
          </p:grpSpPr>
          <p:sp>
            <p:nvSpPr>
              <p:cNvPr id="3094" name="Rectangle 6"/>
              <p:cNvSpPr>
                <a:spLocks noChangeArrowheads="1"/>
              </p:cNvSpPr>
              <p:nvPr/>
            </p:nvSpPr>
            <p:spPr bwMode="auto">
              <a:xfrm>
                <a:off x="2016324" y="4561607"/>
                <a:ext cx="280988" cy="280988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ctr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5" name="Line 8"/>
              <p:cNvSpPr>
                <a:spLocks noChangeShapeType="1"/>
              </p:cNvSpPr>
              <p:nvPr/>
            </p:nvSpPr>
            <p:spPr bwMode="auto">
              <a:xfrm>
                <a:off x="2189983" y="4698132"/>
                <a:ext cx="6873875" cy="0"/>
              </a:xfrm>
              <a:prstGeom prst="line">
                <a:avLst/>
              </a:prstGeom>
              <a:grpFill/>
              <a:ln w="22225">
                <a:solidFill>
                  <a:srgbClr val="FFC715"/>
                </a:solidFill>
                <a:round/>
              </a:ln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3096" name="Rectangle 15"/>
              <p:cNvSpPr>
                <a:spLocks noChangeArrowheads="1"/>
              </p:cNvSpPr>
              <p:nvPr/>
            </p:nvSpPr>
            <p:spPr bwMode="auto">
              <a:xfrm>
                <a:off x="2473649" y="4561607"/>
                <a:ext cx="6591431" cy="409153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r>
                  <a:rPr lang="en-US" altLang="zh-CN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Reasonable for problems and worth a try.</a:t>
                </a:r>
              </a:p>
            </p:txBody>
          </p:sp>
        </p:grpSp>
        <p:grpSp>
          <p:nvGrpSpPr>
            <p:cNvPr id="3082" name="组合 23"/>
            <p:cNvGrpSpPr/>
            <p:nvPr/>
          </p:nvGrpSpPr>
          <p:grpSpPr bwMode="auto">
            <a:xfrm>
              <a:off x="1876475" y="5328504"/>
              <a:ext cx="7048756" cy="397096"/>
              <a:chOff x="2392562" y="5328504"/>
              <a:chExt cx="7048756" cy="397096"/>
            </a:xfrm>
            <a:grpFill/>
          </p:grpSpPr>
          <p:sp>
            <p:nvSpPr>
              <p:cNvPr id="3089" name="Line 3"/>
              <p:cNvSpPr>
                <a:spLocks noChangeShapeType="1"/>
              </p:cNvSpPr>
              <p:nvPr/>
            </p:nvSpPr>
            <p:spPr bwMode="auto">
              <a:xfrm>
                <a:off x="2543374" y="5580782"/>
                <a:ext cx="6873875" cy="0"/>
              </a:xfrm>
              <a:prstGeom prst="line">
                <a:avLst/>
              </a:prstGeom>
              <a:grpFill/>
              <a:ln w="22225">
                <a:solidFill>
                  <a:srgbClr val="FFC715"/>
                </a:solidFill>
                <a:round/>
              </a:ln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3090" name="Rectangle 7"/>
              <p:cNvSpPr>
                <a:spLocks noChangeArrowheads="1"/>
              </p:cNvSpPr>
              <p:nvPr/>
            </p:nvSpPr>
            <p:spPr bwMode="auto">
              <a:xfrm>
                <a:off x="2392562" y="5444257"/>
                <a:ext cx="281307" cy="281343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ctr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91" name="Rectangle 16"/>
              <p:cNvSpPr>
                <a:spLocks noChangeArrowheads="1"/>
              </p:cNvSpPr>
              <p:nvPr/>
            </p:nvSpPr>
            <p:spPr bwMode="auto">
              <a:xfrm>
                <a:off x="2849887" y="5328504"/>
                <a:ext cx="6591431" cy="397096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l"/>
                <a:r>
                  <a:rPr lang="en-US" altLang="zh-CN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I</a:t>
                </a:r>
                <a:r>
                  <a:rPr lang="zh-CN" altLang="en-US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mprove it according to the </a:t>
                </a:r>
                <a:r>
                  <a:rPr lang="en-US" altLang="zh-CN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feedback.</a:t>
                </a:r>
              </a:p>
            </p:txBody>
          </p:sp>
        </p:grpSp>
        <p:grpSp>
          <p:nvGrpSpPr>
            <p:cNvPr id="3083" name="组合 29"/>
            <p:cNvGrpSpPr/>
            <p:nvPr/>
          </p:nvGrpSpPr>
          <p:grpSpPr bwMode="auto">
            <a:xfrm>
              <a:off x="395337" y="1916832"/>
              <a:ext cx="7391951" cy="470245"/>
              <a:chOff x="911424" y="1916832"/>
              <a:chExt cx="7391951" cy="470245"/>
            </a:xfrm>
            <a:grpFill/>
          </p:grpSpPr>
          <p:sp>
            <p:nvSpPr>
              <p:cNvPr id="3084" name="Line 11"/>
              <p:cNvSpPr>
                <a:spLocks noChangeShapeType="1"/>
              </p:cNvSpPr>
              <p:nvPr/>
            </p:nvSpPr>
            <p:spPr bwMode="auto">
              <a:xfrm>
                <a:off x="1046362" y="2058120"/>
                <a:ext cx="6873875" cy="0"/>
              </a:xfrm>
              <a:prstGeom prst="line">
                <a:avLst/>
              </a:prstGeom>
              <a:grpFill/>
              <a:ln w="22225">
                <a:solidFill>
                  <a:srgbClr val="FFC715"/>
                </a:solidFill>
                <a:round/>
              </a:ln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3085" name="Rectangle 12"/>
              <p:cNvSpPr>
                <a:spLocks noChangeArrowheads="1"/>
              </p:cNvSpPr>
              <p:nvPr/>
            </p:nvSpPr>
            <p:spPr bwMode="auto">
              <a:xfrm>
                <a:off x="1429833" y="1916832"/>
                <a:ext cx="6873542" cy="470245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l"/>
                <a:r>
                  <a:rPr lang="en-US" altLang="zh-CN" sz="1600" dirty="0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 Difficult to get detailed information of so many bonds.</a:t>
                </a:r>
              </a:p>
            </p:txBody>
          </p:sp>
          <p:sp>
            <p:nvSpPr>
              <p:cNvPr id="3088" name="Rectangle 28"/>
              <p:cNvSpPr>
                <a:spLocks noChangeArrowheads="1"/>
              </p:cNvSpPr>
              <p:nvPr/>
            </p:nvSpPr>
            <p:spPr bwMode="auto">
              <a:xfrm>
                <a:off x="911424" y="1916832"/>
                <a:ext cx="280988" cy="280988"/>
              </a:xfrm>
              <a:prstGeom prst="rect">
                <a:avLst/>
              </a:prstGeom>
              <a:grpFill/>
              <a:ln w="6350">
                <a:solidFill>
                  <a:srgbClr val="FFC715"/>
                </a:solidFill>
                <a:miter lim="800000"/>
              </a:ln>
            </p:spPr>
            <p:txBody>
              <a:bodyPr wrap="none" lIns="0" tIns="0" rIns="0" bIns="0" anchor="ctr"/>
              <a:lstStyle/>
              <a:p>
                <a:pPr algn="ctr"/>
                <a:endParaRPr lang="zh-CN" altLang="en-US" sz="160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2771800" y="771550"/>
            <a:ext cx="3600400" cy="3600400"/>
          </a:xfrm>
          <a:prstGeom prst="ellipse">
            <a:avLst/>
          </a:prstGeom>
          <a:solidFill>
            <a:srgbClr val="2E9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011528" y="1011278"/>
            <a:ext cx="3120943" cy="3120943"/>
          </a:xfrm>
          <a:prstGeom prst="ellipse">
            <a:avLst/>
          </a:prstGeom>
          <a:solidFill>
            <a:schemeClr val="bg1">
              <a:lumMod val="75000"/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3485700" y="2139702"/>
            <a:ext cx="21664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31840" y="2213451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 smtClean="0">
                <a:solidFill>
                  <a:srgbClr val="2E90B8"/>
                </a:solidFill>
                <a:latin typeface="微软雅黑" pitchFamily="34" charset="-122"/>
                <a:ea typeface="微软雅黑" pitchFamily="34" charset="-122"/>
              </a:rPr>
              <a:t>THANKS</a:t>
            </a:r>
            <a:endParaRPr lang="zh-CN" altLang="en-US" sz="3600" dirty="0">
              <a:solidFill>
                <a:srgbClr val="2E90B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3485700" y="2859782"/>
            <a:ext cx="216642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6372200" y="2211710"/>
            <a:ext cx="1588487" cy="2422438"/>
            <a:chOff x="6372200" y="2211710"/>
            <a:chExt cx="1588487" cy="2422438"/>
          </a:xfrm>
        </p:grpSpPr>
        <p:sp>
          <p:nvSpPr>
            <p:cNvPr id="13" name="椭圆 12"/>
            <p:cNvSpPr/>
            <p:nvPr/>
          </p:nvSpPr>
          <p:spPr>
            <a:xfrm>
              <a:off x="6732240" y="2911252"/>
              <a:ext cx="92546" cy="92546"/>
            </a:xfrm>
            <a:prstGeom prst="ellipse">
              <a:avLst/>
            </a:prstGeom>
            <a:solidFill>
              <a:schemeClr val="bg1">
                <a:lumMod val="75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7236296" y="2211710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7020272" y="3127276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6372200" y="4357646"/>
              <a:ext cx="216024" cy="230229"/>
            </a:xfrm>
            <a:prstGeom prst="ellipse">
              <a:avLst/>
            </a:prstGeom>
            <a:solidFill>
              <a:srgbClr val="2E90B8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7247445" y="4541602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7868141" y="4039675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6479960" y="3867894"/>
              <a:ext cx="92546" cy="9254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7380312" y="3775348"/>
              <a:ext cx="92546" cy="9254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 rot="10800000">
            <a:off x="1183313" y="509351"/>
            <a:ext cx="1588487" cy="2422438"/>
            <a:chOff x="6372200" y="2211710"/>
            <a:chExt cx="1588487" cy="2422438"/>
          </a:xfrm>
        </p:grpSpPr>
        <p:sp>
          <p:nvSpPr>
            <p:cNvPr id="28" name="椭圆 27"/>
            <p:cNvSpPr/>
            <p:nvPr/>
          </p:nvSpPr>
          <p:spPr>
            <a:xfrm>
              <a:off x="6732240" y="2911252"/>
              <a:ext cx="92546" cy="92546"/>
            </a:xfrm>
            <a:prstGeom prst="ellipse">
              <a:avLst/>
            </a:prstGeom>
            <a:solidFill>
              <a:schemeClr val="bg1">
                <a:lumMod val="75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7236296" y="2211710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7020272" y="3127276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6372200" y="4357646"/>
              <a:ext cx="216024" cy="230229"/>
            </a:xfrm>
            <a:prstGeom prst="ellipse">
              <a:avLst/>
            </a:prstGeom>
            <a:solidFill>
              <a:srgbClr val="2E90B8">
                <a:alpha val="7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7247445" y="4541602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7868141" y="4039675"/>
              <a:ext cx="92546" cy="92546"/>
            </a:xfrm>
            <a:prstGeom prst="ellipse">
              <a:avLst/>
            </a:prstGeom>
            <a:solidFill>
              <a:srgbClr val="2E90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6479960" y="3867894"/>
              <a:ext cx="92546" cy="9254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7380312" y="3775348"/>
              <a:ext cx="92546" cy="9254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517</Words>
  <Application>WPS 演示</Application>
  <PresentationFormat>全屏显示(16:9)</PresentationFormat>
  <Paragraphs>134</Paragraphs>
  <Slides>20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Evaluate the regression model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Jiying</dc:creator>
  <cp:lastModifiedBy>Jiying</cp:lastModifiedBy>
  <cp:revision>86</cp:revision>
  <dcterms:created xsi:type="dcterms:W3CDTF">2016-06-10T08:21:00Z</dcterms:created>
  <dcterms:modified xsi:type="dcterms:W3CDTF">2016-06-12T07:17:45Z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