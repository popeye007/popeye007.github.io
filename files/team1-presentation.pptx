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79" r:id="rId2"/>
    <p:sldId id="266" r:id="rId3"/>
    <p:sldId id="282" r:id="rId4"/>
    <p:sldId id="268" r:id="rId5"/>
    <p:sldId id="283" r:id="rId6"/>
    <p:sldId id="273" r:id="rId7"/>
    <p:sldId id="265" r:id="rId8"/>
    <p:sldId id="258" r:id="rId9"/>
    <p:sldId id="256" r:id="rId10"/>
    <p:sldId id="260" r:id="rId11"/>
    <p:sldId id="277" r:id="rId12"/>
    <p:sldId id="263" r:id="rId13"/>
    <p:sldId id="264" r:id="rId14"/>
    <p:sldId id="280" r:id="rId15"/>
    <p:sldId id="278" r:id="rId16"/>
    <p:sldId id="28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-53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3E975-FA30-4187-B190-F159BE5B52CB}" type="datetimeFigureOut">
              <a:rPr lang="en-US" smtClean="0"/>
              <a:t>12/06/16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6AEF8-E527-4B10-AD90-6BE6CEFFCF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6AEF8-E527-4B10-AD90-6BE6CEFFCF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4988-609A-403A-904E-B3BCA26B20A7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97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E3A4-5B60-4F41-9FF2-932EB8E9C072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1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AC20-05E3-4D60-AE42-ECB4B6D0518C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23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A083-85D8-4009-8D64-6F119BF7B790}" type="datetime1">
              <a:rPr lang="fr-FR" smtClean="0"/>
              <a:t>12/06/16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1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FBC-39FC-4E72-9584-3739752BECFD}" type="datetime1">
              <a:rPr lang="fr-FR" smtClean="0"/>
              <a:t>12/06/16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94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703B-32B4-4F84-B407-1A5648E17CDC}" type="datetime1">
              <a:rPr lang="fr-FR" smtClean="0"/>
              <a:t>12/06/16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21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543A-E539-41A4-805F-13ACC921A2D8}" type="datetime1">
              <a:rPr lang="fr-FR" smtClean="0"/>
              <a:t>12/06/16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3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97F0-24BE-4E1E-B5C4-394FF8DB8291}" type="datetime1">
              <a:rPr lang="fr-FR" smtClean="0"/>
              <a:t>12/06/16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98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2CE6-A278-49DA-A3E6-0F604AE7FDE7}" type="datetime1">
              <a:rPr lang="fr-FR" smtClean="0"/>
              <a:t>12/06/16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92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341E-B8A8-4948-A55B-C4717C7AEADB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98A8-607B-408B-B0A0-4CD04ACB523A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7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73B1E-2980-4F1F-A785-D0D13EBBD2B7}" type="datetime1">
              <a:rPr lang="fr-FR" smtClean="0"/>
              <a:t>12/06/16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47C06-EE9F-4526-9855-AC761131E36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99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20258"/>
            <a:ext cx="9144000" cy="2387600"/>
          </a:xfrm>
        </p:spPr>
        <p:txBody>
          <a:bodyPr/>
          <a:lstStyle/>
          <a:p>
            <a:r>
              <a:rPr lang="en-US" dirty="0" smtClean="0"/>
              <a:t>EDGAR Financial Analysis Computing Project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718969"/>
            <a:ext cx="9144000" cy="1655762"/>
          </a:xfrm>
        </p:spPr>
        <p:txBody>
          <a:bodyPr/>
          <a:lstStyle/>
          <a:p>
            <a:r>
              <a:rPr lang="fr-FR" dirty="0" smtClean="0"/>
              <a:t>Robin </a:t>
            </a:r>
            <a:r>
              <a:rPr lang="fr-FR" dirty="0" err="1" smtClean="0"/>
              <a:t>Multon</a:t>
            </a:r>
            <a:r>
              <a:rPr lang="fr-FR" dirty="0" smtClean="0"/>
              <a:t>, Johanna Otto, Jose Zhu, Steven Kircher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cache2.asset-cache.net/gc/513676272-sec-gettyimages.jpg?v=1&amp;c=IWSAsset&amp;k=2&amp;d=fJISjfJFt9I9q5Z6lml947UyqE%2BncGBUFFsejy%2Bye%2F0%3D&amp;b=NEU=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418" y="2836530"/>
            <a:ext cx="3967163" cy="262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2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 We Saw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67525" cy="4351338"/>
          </a:xfrm>
        </p:spPr>
        <p:txBody>
          <a:bodyPr/>
          <a:lstStyle/>
          <a:p>
            <a:r>
              <a:rPr lang="en-US" dirty="0" smtClean="0"/>
              <a:t>Financial statement analysis</a:t>
            </a:r>
            <a:br>
              <a:rPr lang="en-US" dirty="0" smtClean="0"/>
            </a:br>
            <a:r>
              <a:rPr lang="en-US" sz="2000" i="1" dirty="0" smtClean="0"/>
              <a:t>Investment, competitive analysis, marketing …</a:t>
            </a:r>
          </a:p>
          <a:p>
            <a:r>
              <a:rPr lang="en-US" dirty="0" smtClean="0"/>
              <a:t>Security and Exchange Commission (SEC) : EDGAR database</a:t>
            </a:r>
          </a:p>
          <a:p>
            <a:r>
              <a:rPr lang="en-US" dirty="0" smtClean="0"/>
              <a:t>Decisions based on key financial ratios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09363" y="6220106"/>
            <a:ext cx="2743200" cy="365125"/>
          </a:xfrm>
        </p:spPr>
        <p:txBody>
          <a:bodyPr/>
          <a:lstStyle/>
          <a:p>
            <a:fld id="{63347C06-EE9F-4526-9855-AC761131E361}" type="slidenum">
              <a:rPr lang="fr-FR" smtClean="0"/>
              <a:t>2</a:t>
            </a:fld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http://www.accountingcoach.com/wp-content/uploads/2013/10/04X-table-03@2x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822" y="2133874"/>
            <a:ext cx="2513903" cy="381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49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Status </a:t>
            </a:r>
            <a:r>
              <a:rPr lang="en-US" dirty="0"/>
              <a:t>Q</a:t>
            </a:r>
            <a:r>
              <a:rPr lang="en-US" dirty="0" smtClean="0"/>
              <a:t>uo?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smtClean="0"/>
              <a:t>Manually download data</a:t>
            </a:r>
          </a:p>
          <a:p>
            <a:r>
              <a:rPr lang="en-US" dirty="0" smtClean="0"/>
              <a:t>Time consuming, costs firms money and human capital</a:t>
            </a:r>
          </a:p>
          <a:p>
            <a:r>
              <a:rPr lang="en-US" dirty="0" smtClean="0"/>
              <a:t>Uncertainty, people make mistakes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09363" y="6220106"/>
            <a:ext cx="2743200" cy="365125"/>
          </a:xfrm>
        </p:spPr>
        <p:txBody>
          <a:bodyPr/>
          <a:lstStyle/>
          <a:p>
            <a:fld id="{63347C06-EE9F-4526-9855-AC761131E361}" type="slidenum">
              <a:rPr lang="fr-FR" smtClean="0"/>
              <a:t>3</a:t>
            </a:fld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1027906"/>
            <a:ext cx="3286125" cy="2190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3881437"/>
            <a:ext cx="5972175" cy="218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Our Solution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081" y="18510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000" dirty="0" smtClean="0"/>
              <a:t>Security and Exchange Commission (SEC) : EDGAR </a:t>
            </a:r>
            <a:r>
              <a:rPr lang="fr-FR" sz="4000" dirty="0" err="1" smtClean="0"/>
              <a:t>database</a:t>
            </a:r>
            <a:endParaRPr lang="fr-FR" sz="4000" dirty="0" smtClean="0"/>
          </a:p>
        </p:txBody>
      </p:sp>
      <p:sp>
        <p:nvSpPr>
          <p:cNvPr id="4" name="Left Brace 3"/>
          <p:cNvSpPr/>
          <p:nvPr/>
        </p:nvSpPr>
        <p:spPr>
          <a:xfrm rot="16200000">
            <a:off x="5649861" y="-782996"/>
            <a:ext cx="892277" cy="9011267"/>
          </a:xfrm>
          <a:prstGeom prst="leftBrace">
            <a:avLst>
              <a:gd name="adj1" fmla="val 87810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1629697" y="4923959"/>
            <a:ext cx="921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How about </a:t>
            </a:r>
            <a:r>
              <a:rPr lang="fr-FR" sz="2800" dirty="0" err="1" smtClean="0"/>
              <a:t>using</a:t>
            </a:r>
            <a:r>
              <a:rPr lang="fr-FR" sz="2800" dirty="0" smtClean="0"/>
              <a:t> </a:t>
            </a:r>
            <a:r>
              <a:rPr lang="fr-FR" sz="2800" dirty="0" err="1" smtClean="0"/>
              <a:t>it</a:t>
            </a:r>
            <a:r>
              <a:rPr lang="fr-FR" sz="2800" dirty="0" smtClean="0"/>
              <a:t> to automate </a:t>
            </a:r>
            <a:r>
              <a:rPr lang="fr-FR" sz="2800" dirty="0" err="1" smtClean="0"/>
              <a:t>financial</a:t>
            </a:r>
            <a:r>
              <a:rPr lang="fr-FR" sz="2800" dirty="0" smtClean="0"/>
              <a:t> and </a:t>
            </a:r>
            <a:r>
              <a:rPr lang="fr-FR" sz="2800" dirty="0" err="1" smtClean="0"/>
              <a:t>market</a:t>
            </a:r>
            <a:r>
              <a:rPr lang="fr-FR" sz="2800" dirty="0" smtClean="0"/>
              <a:t> </a:t>
            </a:r>
            <a:r>
              <a:rPr lang="fr-FR" sz="2800" dirty="0" err="1" smtClean="0"/>
              <a:t>analysis</a:t>
            </a:r>
            <a:r>
              <a:rPr lang="fr-FR" sz="2800" dirty="0" smtClean="0"/>
              <a:t>?</a:t>
            </a:r>
            <a:endParaRPr lang="fr-FR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4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2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2392366" y="-289471"/>
            <a:ext cx="10363200" cy="1470025"/>
          </a:xfrm>
        </p:spPr>
        <p:txBody>
          <a:bodyPr>
            <a:normAutofit/>
          </a:bodyPr>
          <a:lstStyle/>
          <a:p>
            <a:r>
              <a:rPr lang="en-US" sz="4800" dirty="0" smtClean="0"/>
              <a:t>The Data Sets</a:t>
            </a:r>
            <a:endParaRPr lang="en-US" sz="4800" dirty="0"/>
          </a:p>
        </p:txBody>
      </p:sp>
      <p:sp>
        <p:nvSpPr>
          <p:cNvPr id="4" name="Rectángulo 3"/>
          <p:cNvSpPr/>
          <p:nvPr/>
        </p:nvSpPr>
        <p:spPr>
          <a:xfrm>
            <a:off x="413203" y="1180554"/>
            <a:ext cx="1142602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609585">
              <a:buFont typeface="Arial"/>
              <a:buChar char="•"/>
            </a:pPr>
            <a:r>
              <a:rPr lang="en-AU" sz="2400" dirty="0">
                <a:solidFill>
                  <a:prstClr val="black"/>
                </a:solidFill>
              </a:rPr>
              <a:t>We need to </a:t>
            </a:r>
            <a:r>
              <a:rPr lang="en-AU" sz="2400" dirty="0" smtClean="0">
                <a:solidFill>
                  <a:prstClr val="black"/>
                </a:solidFill>
              </a:rPr>
              <a:t>control information </a:t>
            </a:r>
            <a:r>
              <a:rPr lang="en-AU" sz="2400" dirty="0">
                <a:solidFill>
                  <a:prstClr val="black"/>
                </a:solidFill>
              </a:rPr>
              <a:t>in quantity and quality </a:t>
            </a:r>
          </a:p>
          <a:p>
            <a:pPr marL="380990" indent="-380990" defTabSz="609585">
              <a:buFont typeface="Arial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Analysis of the </a:t>
            </a:r>
            <a:r>
              <a:rPr lang="en-AU" sz="2400" dirty="0">
                <a:solidFill>
                  <a:prstClr val="black"/>
                </a:solidFill>
              </a:rPr>
              <a:t>USA market </a:t>
            </a:r>
          </a:p>
          <a:p>
            <a:pPr defTabSz="609585"/>
            <a:endParaRPr lang="en-AU" sz="2400" dirty="0">
              <a:solidFill>
                <a:prstClr val="black"/>
              </a:solidFill>
            </a:endParaRPr>
          </a:p>
          <a:p>
            <a:pPr marL="380990" indent="-380990" defTabSz="609585">
              <a:buFont typeface="Arial"/>
              <a:buChar char="•"/>
            </a:pPr>
            <a:r>
              <a:rPr lang="en-AU" sz="2400" dirty="0">
                <a:solidFill>
                  <a:prstClr val="black"/>
                </a:solidFill>
              </a:rPr>
              <a:t>What it </a:t>
            </a:r>
            <a:r>
              <a:rPr lang="en-AU" sz="2400" dirty="0" smtClean="0">
                <a:solidFill>
                  <a:prstClr val="black"/>
                </a:solidFill>
              </a:rPr>
              <a:t>is the data?</a:t>
            </a:r>
            <a:endParaRPr lang="en-AU" sz="2400" dirty="0">
              <a:solidFill>
                <a:prstClr val="black"/>
              </a:solidFill>
            </a:endParaRPr>
          </a:p>
          <a:p>
            <a:pPr marL="380990" indent="-380990" defTabSz="609585">
              <a:buFont typeface="Arial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What </a:t>
            </a:r>
            <a:r>
              <a:rPr lang="en-AU" sz="2400" dirty="0">
                <a:solidFill>
                  <a:prstClr val="black"/>
                </a:solidFill>
              </a:rPr>
              <a:t>are </a:t>
            </a:r>
            <a:r>
              <a:rPr lang="en-AU" sz="2400" dirty="0" smtClean="0">
                <a:solidFill>
                  <a:prstClr val="black"/>
                </a:solidFill>
              </a:rPr>
              <a:t>our objectives?</a:t>
            </a:r>
            <a:endParaRPr lang="en-AU" sz="2400" dirty="0">
              <a:solidFill>
                <a:prstClr val="black"/>
              </a:solidFill>
            </a:endParaRPr>
          </a:p>
          <a:p>
            <a:pPr marL="380990" indent="-380990" defTabSz="609585">
              <a:buFont typeface="Arial"/>
              <a:buChar char="•"/>
            </a:pPr>
            <a:r>
              <a:rPr lang="en-AU" sz="2400" b="1" dirty="0" smtClean="0">
                <a:solidFill>
                  <a:prstClr val="black"/>
                </a:solidFill>
              </a:rPr>
              <a:t>What are the problems with the database</a:t>
            </a:r>
            <a:r>
              <a:rPr lang="en-AU" sz="2400" b="1" dirty="0">
                <a:solidFill>
                  <a:prstClr val="black"/>
                </a:solidFill>
              </a:rPr>
              <a:t>?</a:t>
            </a:r>
          </a:p>
          <a:p>
            <a:pPr marL="990575" lvl="1" indent="-380990" defTabSz="609585">
              <a:buFont typeface="Arial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Some information is </a:t>
            </a:r>
            <a:r>
              <a:rPr lang="en-AU" sz="2400" dirty="0">
                <a:solidFill>
                  <a:prstClr val="black"/>
                </a:solidFill>
              </a:rPr>
              <a:t>not </a:t>
            </a:r>
            <a:r>
              <a:rPr lang="en-AU" sz="2400" dirty="0" smtClean="0">
                <a:solidFill>
                  <a:prstClr val="black"/>
                </a:solidFill>
              </a:rPr>
              <a:t>mandatory</a:t>
            </a:r>
            <a:endParaRPr lang="en-AU" sz="2400" dirty="0">
              <a:solidFill>
                <a:prstClr val="black"/>
              </a:solidFill>
            </a:endParaRPr>
          </a:p>
          <a:p>
            <a:pPr marL="990575" lvl="1" indent="-380990" defTabSz="609585">
              <a:buFont typeface="Arial"/>
              <a:buChar char="•"/>
            </a:pPr>
            <a:r>
              <a:rPr lang="en-AU" sz="2400" dirty="0">
                <a:solidFill>
                  <a:prstClr val="black"/>
                </a:solidFill>
              </a:rPr>
              <a:t>It is </a:t>
            </a:r>
            <a:r>
              <a:rPr lang="en-AU" sz="2400" dirty="0" smtClean="0">
                <a:solidFill>
                  <a:prstClr val="black"/>
                </a:solidFill>
              </a:rPr>
              <a:t>updated often </a:t>
            </a:r>
            <a:endParaRPr lang="en-AU" sz="2400" dirty="0">
              <a:solidFill>
                <a:prstClr val="black"/>
              </a:solidFill>
            </a:endParaRPr>
          </a:p>
          <a:p>
            <a:pPr defTabSz="609585"/>
            <a:r>
              <a:rPr lang="en-AU" sz="2400" dirty="0">
                <a:solidFill>
                  <a:prstClr val="black"/>
                </a:solidFill>
              </a:rPr>
              <a:t>The options we </a:t>
            </a:r>
            <a:r>
              <a:rPr lang="en-AU" sz="2400" dirty="0" smtClean="0">
                <a:solidFill>
                  <a:prstClr val="black"/>
                </a:solidFill>
              </a:rPr>
              <a:t>have:</a:t>
            </a:r>
            <a:endParaRPr lang="en-AU" sz="2400" dirty="0">
              <a:solidFill>
                <a:prstClr val="black"/>
              </a:solidFill>
            </a:endParaRPr>
          </a:p>
          <a:p>
            <a:pPr lvl="1" defTabSz="609585"/>
            <a:endParaRPr lang="en-AU" sz="2400" dirty="0">
              <a:solidFill>
                <a:prstClr val="black"/>
              </a:solidFill>
            </a:endParaRPr>
          </a:p>
        </p:txBody>
      </p:sp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661" y="254509"/>
            <a:ext cx="2812571" cy="253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941" y="3442711"/>
            <a:ext cx="4047365" cy="11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ultiply 15"/>
          <p:cNvSpPr/>
          <p:nvPr/>
        </p:nvSpPr>
        <p:spPr>
          <a:xfrm>
            <a:off x="11221258" y="5205311"/>
            <a:ext cx="523875" cy="5905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111" y="4741160"/>
            <a:ext cx="427022" cy="44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8880" y="4761922"/>
            <a:ext cx="10380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lvl="1" defTabSz="609585"/>
            <a:r>
              <a:rPr lang="en-AU" sz="2400" dirty="0">
                <a:solidFill>
                  <a:prstClr val="black"/>
                </a:solidFill>
              </a:rPr>
              <a:t>Compiled .txt database files  	</a:t>
            </a:r>
            <a:r>
              <a:rPr lang="en-AU" sz="2400" dirty="0">
                <a:solidFill>
                  <a:prstClr val="black"/>
                </a:solidFill>
                <a:sym typeface="Wingdings"/>
              </a:rPr>
              <a:t> it is </a:t>
            </a:r>
            <a:r>
              <a:rPr lang="en-AU" sz="2400" dirty="0">
                <a:solidFill>
                  <a:prstClr val="black"/>
                </a:solidFill>
              </a:rPr>
              <a:t>not real time data’s. However it is lighter 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370384" y="5320383"/>
            <a:ext cx="96221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AU" sz="2400" dirty="0">
                <a:solidFill>
                  <a:prstClr val="black"/>
                </a:solidFill>
              </a:rPr>
              <a:t>XBRL files </a:t>
            </a:r>
            <a:r>
              <a:rPr lang="en-AU" sz="2400" dirty="0" smtClean="0">
                <a:solidFill>
                  <a:prstClr val="black"/>
                </a:solidFill>
                <a:sym typeface="Wingdings"/>
              </a:rPr>
              <a:t> </a:t>
            </a:r>
            <a:r>
              <a:rPr lang="en-AU" sz="2400" dirty="0">
                <a:solidFill>
                  <a:prstClr val="black"/>
                </a:solidFill>
              </a:rPr>
              <a:t>it is real time data however it is real heavy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0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Our </a:t>
            </a:r>
            <a:r>
              <a:rPr lang="fr-FR" dirty="0" err="1" smtClean="0"/>
              <a:t>Desired</a:t>
            </a:r>
            <a:r>
              <a:rPr lang="fr-FR" dirty="0" smtClean="0"/>
              <a:t> Output – </a:t>
            </a:r>
            <a:r>
              <a:rPr lang="fr-FR" dirty="0" err="1" smtClean="0"/>
              <a:t>Where</a:t>
            </a:r>
            <a:r>
              <a:rPr lang="fr-FR" dirty="0" smtClean="0"/>
              <a:t> the Value Lies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6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18240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lazy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time </a:t>
            </a:r>
            <a:r>
              <a:rPr lang="fr-FR" dirty="0" err="1" smtClean="0"/>
              <a:t>costs</a:t>
            </a:r>
            <a:r>
              <a:rPr lang="fr-FR" dirty="0" smtClean="0"/>
              <a:t> money</a:t>
            </a:r>
          </a:p>
          <a:p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computer to </a:t>
            </a:r>
            <a:r>
              <a:rPr lang="fr-FR" dirty="0" err="1" smtClean="0"/>
              <a:t>ease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job</a:t>
            </a:r>
          </a:p>
          <a:p>
            <a:r>
              <a:rPr lang="fr-FR" dirty="0" err="1" smtClean="0"/>
              <a:t>My</a:t>
            </a:r>
            <a:r>
              <a:rPr lang="fr-FR" dirty="0" smtClean="0"/>
              <a:t> job </a:t>
            </a:r>
            <a:r>
              <a:rPr lang="fr-FR" dirty="0" err="1" smtClean="0"/>
              <a:t>is</a:t>
            </a:r>
            <a:r>
              <a:rPr lang="fr-FR" dirty="0" smtClean="0"/>
              <a:t> to </a:t>
            </a:r>
            <a:r>
              <a:rPr lang="fr-FR" dirty="0" err="1" smtClean="0"/>
              <a:t>calculate</a:t>
            </a:r>
            <a:r>
              <a:rPr lang="fr-FR" dirty="0" smtClean="0"/>
              <a:t> the ratios…	 →	The program must do </a:t>
            </a:r>
            <a:r>
              <a:rPr lang="fr-FR" dirty="0" err="1" smtClean="0"/>
              <a:t>it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err="1" smtClean="0"/>
              <a:t>Then</a:t>
            </a:r>
            <a:r>
              <a:rPr lang="fr-FR" dirty="0" smtClean="0"/>
              <a:t> to analyse the output…		 →	The program must </a:t>
            </a:r>
            <a:r>
              <a:rPr lang="fr-FR" dirty="0" err="1" smtClean="0"/>
              <a:t>ease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To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choices</a:t>
            </a:r>
            <a:r>
              <a:rPr lang="fr-FR" dirty="0" smtClean="0"/>
              <a:t>				 →	The program must </a:t>
            </a:r>
            <a:r>
              <a:rPr lang="fr-FR" dirty="0" err="1" smtClean="0"/>
              <a:t>ease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7263581" y="2868561"/>
            <a:ext cx="3805084" cy="3982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1 . </a:t>
            </a:r>
            <a:r>
              <a:rPr lang="fr-FR" sz="2400" dirty="0" err="1" smtClean="0"/>
              <a:t>Computed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13" name="Rectangle 12"/>
          <p:cNvSpPr/>
          <p:nvPr/>
        </p:nvSpPr>
        <p:spPr>
          <a:xfrm>
            <a:off x="7263581" y="3271942"/>
            <a:ext cx="3805084" cy="3982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2</a:t>
            </a:r>
            <a:r>
              <a:rPr lang="fr-FR" sz="2400" dirty="0" smtClean="0"/>
              <a:t> . Graph to </a:t>
            </a:r>
            <a:r>
              <a:rPr lang="fr-FR" sz="2400" dirty="0" err="1" smtClean="0"/>
              <a:t>ease</a:t>
            </a:r>
            <a:r>
              <a:rPr lang="fr-FR" sz="2400" dirty="0" smtClean="0"/>
              <a:t> </a:t>
            </a:r>
            <a:r>
              <a:rPr lang="fr-FR" sz="2400" dirty="0" err="1" smtClean="0"/>
              <a:t>analysis</a:t>
            </a:r>
            <a:endParaRPr lang="fr-FR" sz="2400" dirty="0"/>
          </a:p>
        </p:txBody>
      </p:sp>
      <p:sp>
        <p:nvSpPr>
          <p:cNvPr id="14" name="Rectangle 13"/>
          <p:cNvSpPr/>
          <p:nvPr/>
        </p:nvSpPr>
        <p:spPr>
          <a:xfrm>
            <a:off x="7263581" y="3664975"/>
            <a:ext cx="3805084" cy="398207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3 . Automate </a:t>
            </a:r>
            <a:r>
              <a:rPr lang="fr-FR" sz="2400" dirty="0" err="1" smtClean="0"/>
              <a:t>choices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2626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How </a:t>
            </a:r>
            <a:r>
              <a:rPr lang="fr-FR" dirty="0" err="1"/>
              <a:t>D</a:t>
            </a:r>
            <a:r>
              <a:rPr lang="fr-FR" dirty="0" err="1" smtClean="0"/>
              <a:t>oes</a:t>
            </a:r>
            <a:r>
              <a:rPr lang="fr-FR" dirty="0" smtClean="0"/>
              <a:t> Our </a:t>
            </a:r>
            <a:r>
              <a:rPr lang="fr-FR" dirty="0"/>
              <a:t>P</a:t>
            </a:r>
            <a:r>
              <a:rPr lang="fr-FR" dirty="0" smtClean="0"/>
              <a:t>rogram </a:t>
            </a:r>
            <a:r>
              <a:rPr lang="fr-FR" dirty="0" err="1" smtClean="0"/>
              <a:t>Work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926" y="2673350"/>
            <a:ext cx="4495800" cy="1003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5400" dirty="0" smtClean="0">
                <a:solidFill>
                  <a:schemeClr val="tx2"/>
                </a:solidFill>
              </a:rPr>
              <a:t>Part 1 : </a:t>
            </a:r>
            <a:r>
              <a:rPr lang="fr-FR" sz="5400" dirty="0" err="1" smtClean="0">
                <a:solidFill>
                  <a:schemeClr val="tx2"/>
                </a:solidFill>
              </a:rPr>
              <a:t>Find</a:t>
            </a:r>
            <a:r>
              <a:rPr lang="fr-FR" sz="5400" dirty="0" smtClean="0">
                <a:solidFill>
                  <a:schemeClr val="tx2"/>
                </a:solidFill>
              </a:rPr>
              <a:t> &amp; clean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7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67525" y="2562225"/>
            <a:ext cx="495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chemeClr val="tx2"/>
                </a:solidFill>
              </a:rPr>
              <a:t>Part 2 : </a:t>
            </a:r>
            <a:r>
              <a:rPr lang="fr-FR" sz="5400" dirty="0" err="1" smtClean="0">
                <a:solidFill>
                  <a:schemeClr val="tx2"/>
                </a:solidFill>
              </a:rPr>
              <a:t>Analyze</a:t>
            </a:r>
            <a:r>
              <a:rPr lang="fr-FR" sz="5400" dirty="0" smtClean="0">
                <a:solidFill>
                  <a:schemeClr val="tx2"/>
                </a:solidFill>
              </a:rPr>
              <a:t> </a:t>
            </a:r>
            <a:r>
              <a:rPr lang="fr-FR" sz="5400" dirty="0">
                <a:solidFill>
                  <a:schemeClr val="tx2"/>
                </a:solidFill>
              </a:rPr>
              <a:t>the data</a:t>
            </a:r>
          </a:p>
          <a:p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4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0723" y="1762431"/>
            <a:ext cx="2548754" cy="12683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Download</a:t>
            </a:r>
            <a:r>
              <a:rPr lang="fr-FR" sz="2400" dirty="0" smtClean="0"/>
              <a:t> .zip files </a:t>
            </a:r>
            <a:r>
              <a:rPr lang="fr-FR" sz="2400" dirty="0" err="1" smtClean="0"/>
              <a:t>from</a:t>
            </a:r>
            <a:r>
              <a:rPr lang="fr-FR" sz="2400" dirty="0" smtClean="0"/>
              <a:t> </a:t>
            </a:r>
            <a:r>
              <a:rPr lang="fr-FR" sz="2400" dirty="0" err="1" smtClean="0"/>
              <a:t>SEC’s</a:t>
            </a:r>
            <a:r>
              <a:rPr lang="fr-FR" sz="2400" dirty="0" smtClean="0"/>
              <a:t> </a:t>
            </a:r>
            <a:r>
              <a:rPr lang="fr-FR" sz="2400" dirty="0" err="1" smtClean="0"/>
              <a:t>website</a:t>
            </a:r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3261592" y="1762432"/>
            <a:ext cx="2548754" cy="12683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Unzip</a:t>
            </a:r>
            <a:r>
              <a:rPr lang="fr-FR" sz="2400" dirty="0" smtClean="0"/>
              <a:t> to .</a:t>
            </a:r>
            <a:r>
              <a:rPr lang="fr-FR" sz="2400" dirty="0" err="1" smtClean="0"/>
              <a:t>txt</a:t>
            </a:r>
            <a:r>
              <a:rPr lang="fr-FR" sz="2400" dirty="0" smtClean="0"/>
              <a:t> file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6272461" y="1762430"/>
            <a:ext cx="2548754" cy="12683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Cleaning</a:t>
            </a:r>
            <a:r>
              <a:rPr lang="fr-FR" sz="2400" dirty="0" smtClean="0"/>
              <a:t> data and </a:t>
            </a:r>
            <a:r>
              <a:rPr lang="fr-FR" sz="2400" dirty="0" err="1" smtClean="0"/>
              <a:t>feeding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database</a:t>
            </a: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9283330" y="1762429"/>
            <a:ext cx="2548754" cy="12683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Computing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required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723" y="353961"/>
            <a:ext cx="10515600" cy="96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dirty="0" smtClean="0"/>
              <a:t>Part 1 : </a:t>
            </a:r>
            <a:r>
              <a:rPr lang="fr-FR" sz="4400" dirty="0" err="1" smtClean="0"/>
              <a:t>Finding</a:t>
            </a:r>
            <a:r>
              <a:rPr lang="fr-FR" sz="4400" dirty="0" smtClean="0"/>
              <a:t> &amp; </a:t>
            </a:r>
            <a:r>
              <a:rPr lang="fr-FR" sz="4400" dirty="0" err="1"/>
              <a:t>C</a:t>
            </a:r>
            <a:r>
              <a:rPr lang="fr-FR" sz="4400" dirty="0" err="1" smtClean="0"/>
              <a:t>leaning</a:t>
            </a:r>
            <a:r>
              <a:rPr lang="fr-FR" sz="4400" dirty="0" smtClean="0"/>
              <a:t> the </a:t>
            </a:r>
            <a:r>
              <a:rPr lang="fr-FR" sz="4400" dirty="0"/>
              <a:t>D</a:t>
            </a:r>
            <a:r>
              <a:rPr lang="fr-FR" sz="4400" dirty="0" smtClean="0"/>
              <a:t>ata</a:t>
            </a:r>
            <a:endParaRPr lang="fr-FR" sz="4400" dirty="0"/>
          </a:p>
        </p:txBody>
      </p:sp>
      <p:sp>
        <p:nvSpPr>
          <p:cNvPr id="2" name="Left Brace 1"/>
          <p:cNvSpPr/>
          <p:nvPr/>
        </p:nvSpPr>
        <p:spPr>
          <a:xfrm rot="16200000">
            <a:off x="8848932" y="582099"/>
            <a:ext cx="406680" cy="5559624"/>
          </a:xfrm>
          <a:prstGeom prst="leftBrace">
            <a:avLst>
              <a:gd name="adj1" fmla="val 20091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6272460" y="3667630"/>
            <a:ext cx="5559624" cy="24929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600" b="1" dirty="0" err="1" smtClean="0"/>
              <a:t>Problems</a:t>
            </a:r>
            <a:endParaRPr lang="fr-FR" sz="2600" b="1" dirty="0" smtClean="0"/>
          </a:p>
          <a:p>
            <a:pPr algn="ctr"/>
            <a:endParaRPr lang="fr-FR" sz="2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 err="1" smtClean="0"/>
              <a:t>Missing</a:t>
            </a:r>
            <a:r>
              <a:rPr lang="fr-FR" sz="2600" dirty="0" smtClean="0"/>
              <a:t> data for the ratios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 smtClean="0"/>
              <a:t>GAAP </a:t>
            </a:r>
            <a:r>
              <a:rPr lang="fr-FR" sz="2600" dirty="0" err="1" smtClean="0"/>
              <a:t>accounting</a:t>
            </a:r>
            <a:r>
              <a:rPr lang="fr-FR" sz="2600" dirty="0" smtClean="0"/>
              <a:t> standards are </a:t>
            </a:r>
            <a:r>
              <a:rPr lang="fr-FR" sz="2600" dirty="0" err="1" smtClean="0"/>
              <a:t>loose</a:t>
            </a:r>
            <a:endParaRPr lang="fr-FR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 smtClean="0"/>
              <a:t>Save or </a:t>
            </a:r>
            <a:r>
              <a:rPr lang="fr-FR" sz="2600" dirty="0" err="1" smtClean="0"/>
              <a:t>keep</a:t>
            </a:r>
            <a:r>
              <a:rPr lang="fr-FR" sz="2600" dirty="0" smtClean="0"/>
              <a:t> in RAM </a:t>
            </a:r>
            <a:r>
              <a:rPr lang="fr-FR" sz="2600" dirty="0" err="1" smtClean="0"/>
              <a:t>computed</a:t>
            </a:r>
            <a:r>
              <a:rPr lang="fr-FR" sz="2600" dirty="0" smtClean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 smtClean="0"/>
              <a:t>Data structure</a:t>
            </a:r>
            <a:endParaRPr lang="fr-FR" sz="2600" dirty="0"/>
          </a:p>
        </p:txBody>
      </p:sp>
      <p:sp>
        <p:nvSpPr>
          <p:cNvPr id="12" name="Rectangle 11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44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0723" y="1762431"/>
            <a:ext cx="2548754" cy="12683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Download</a:t>
            </a:r>
            <a:r>
              <a:rPr lang="fr-FR" sz="2400" dirty="0" smtClean="0"/>
              <a:t> .zip files </a:t>
            </a:r>
            <a:r>
              <a:rPr lang="fr-FR" sz="2400" dirty="0" err="1" smtClean="0"/>
              <a:t>from</a:t>
            </a:r>
            <a:r>
              <a:rPr lang="fr-FR" sz="2400" dirty="0" smtClean="0"/>
              <a:t> </a:t>
            </a:r>
            <a:r>
              <a:rPr lang="fr-FR" sz="2400" dirty="0" err="1" smtClean="0"/>
              <a:t>SEC’s</a:t>
            </a:r>
            <a:r>
              <a:rPr lang="fr-FR" sz="2400" dirty="0" smtClean="0"/>
              <a:t> </a:t>
            </a:r>
            <a:r>
              <a:rPr lang="fr-FR" sz="2400" dirty="0" err="1" smtClean="0"/>
              <a:t>website</a:t>
            </a:r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3261592" y="1762432"/>
            <a:ext cx="2548754" cy="12683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Unzip</a:t>
            </a:r>
            <a:r>
              <a:rPr lang="fr-FR" sz="2400" dirty="0" smtClean="0"/>
              <a:t> to .</a:t>
            </a:r>
            <a:r>
              <a:rPr lang="fr-FR" sz="2400" dirty="0" err="1" smtClean="0"/>
              <a:t>txt</a:t>
            </a:r>
            <a:r>
              <a:rPr lang="fr-FR" sz="2400" dirty="0" smtClean="0"/>
              <a:t> file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6272461" y="1762430"/>
            <a:ext cx="2548754" cy="12683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Cleaning</a:t>
            </a:r>
            <a:r>
              <a:rPr lang="fr-FR" sz="2400" dirty="0" smtClean="0"/>
              <a:t> data and </a:t>
            </a:r>
            <a:r>
              <a:rPr lang="fr-FR" sz="2400" dirty="0" err="1" smtClean="0"/>
              <a:t>feeding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database</a:t>
            </a: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9283330" y="1753879"/>
            <a:ext cx="2548754" cy="12769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Computing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required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723" y="353961"/>
            <a:ext cx="10515600" cy="96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dirty="0" smtClean="0"/>
              <a:t>Part 1: </a:t>
            </a:r>
            <a:r>
              <a:rPr lang="fr-FR" sz="4400" dirty="0" err="1" smtClean="0"/>
              <a:t>Finding</a:t>
            </a:r>
            <a:r>
              <a:rPr lang="fr-FR" sz="4400" dirty="0" smtClean="0"/>
              <a:t> &amp; </a:t>
            </a:r>
            <a:r>
              <a:rPr lang="fr-FR" sz="4400" dirty="0" err="1"/>
              <a:t>C</a:t>
            </a:r>
            <a:r>
              <a:rPr lang="fr-FR" sz="4400" dirty="0" err="1" smtClean="0"/>
              <a:t>leaning</a:t>
            </a:r>
            <a:r>
              <a:rPr lang="fr-FR" sz="4400" dirty="0" smtClean="0"/>
              <a:t> the Data</a:t>
            </a:r>
            <a:endParaRPr lang="fr-FR" sz="4400" dirty="0"/>
          </a:p>
        </p:txBody>
      </p:sp>
      <p:sp>
        <p:nvSpPr>
          <p:cNvPr id="9" name="Curved Up Arrow 8"/>
          <p:cNvSpPr/>
          <p:nvPr/>
        </p:nvSpPr>
        <p:spPr>
          <a:xfrm rot="771419">
            <a:off x="1913512" y="2961061"/>
            <a:ext cx="2154324" cy="83262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 rot="983473">
            <a:off x="5156079" y="2916687"/>
            <a:ext cx="2206171" cy="82049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 rot="623699">
            <a:off x="8413707" y="2978813"/>
            <a:ext cx="2056691" cy="797118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46570" y="3849328"/>
            <a:ext cx="208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.zip files</a:t>
            </a:r>
            <a:endParaRPr lang="fr-FR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5467377" y="3849329"/>
            <a:ext cx="208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.</a:t>
            </a:r>
            <a:r>
              <a:rPr lang="fr-FR" sz="3200" dirty="0" err="1" smtClean="0"/>
              <a:t>txt</a:t>
            </a:r>
            <a:r>
              <a:rPr lang="fr-FR" sz="3200" dirty="0" smtClean="0"/>
              <a:t> files</a:t>
            </a:r>
            <a:endParaRPr lang="fr-FR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8564221" y="3775779"/>
            <a:ext cx="175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D</a:t>
            </a:r>
            <a:r>
              <a:rPr lang="fr-FR" sz="3200" dirty="0" err="1" smtClean="0"/>
              <a:t>atabase</a:t>
            </a:r>
            <a:endParaRPr lang="fr-FR" sz="3200" dirty="0"/>
          </a:p>
        </p:txBody>
      </p:sp>
      <p:sp>
        <p:nvSpPr>
          <p:cNvPr id="15" name="Curved Up Arrow 14"/>
          <p:cNvSpPr/>
          <p:nvPr/>
        </p:nvSpPr>
        <p:spPr>
          <a:xfrm rot="16200000" flipH="1">
            <a:off x="10111741" y="4075390"/>
            <a:ext cx="3175200" cy="73902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42052" y="5582930"/>
            <a:ext cx="208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.csv file</a:t>
            </a:r>
            <a:endParaRPr lang="fr-FR" sz="3200" dirty="0"/>
          </a:p>
        </p:txBody>
      </p:sp>
      <p:sp>
        <p:nvSpPr>
          <p:cNvPr id="17" name="Rectangle 16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82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0723" y="1762431"/>
            <a:ext cx="2548754" cy="12683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Download</a:t>
            </a:r>
            <a:r>
              <a:rPr lang="fr-FR" sz="2400" dirty="0" smtClean="0"/>
              <a:t> .zip files </a:t>
            </a:r>
            <a:r>
              <a:rPr lang="fr-FR" sz="2400" dirty="0" err="1" smtClean="0"/>
              <a:t>from</a:t>
            </a:r>
            <a:r>
              <a:rPr lang="fr-FR" sz="2400" dirty="0" smtClean="0"/>
              <a:t> </a:t>
            </a:r>
            <a:r>
              <a:rPr lang="fr-FR" sz="2400" dirty="0" err="1" smtClean="0"/>
              <a:t>SEC’s</a:t>
            </a:r>
            <a:r>
              <a:rPr lang="fr-FR" sz="2400" dirty="0" smtClean="0"/>
              <a:t> </a:t>
            </a:r>
            <a:r>
              <a:rPr lang="fr-FR" sz="2400" dirty="0" err="1" smtClean="0"/>
              <a:t>website</a:t>
            </a:r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3261592" y="1762432"/>
            <a:ext cx="2548754" cy="126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Unzip</a:t>
            </a:r>
            <a:r>
              <a:rPr lang="fr-FR" sz="2400" dirty="0" smtClean="0"/>
              <a:t> to .</a:t>
            </a:r>
            <a:r>
              <a:rPr lang="fr-FR" sz="2400" dirty="0" err="1" smtClean="0"/>
              <a:t>txt</a:t>
            </a:r>
            <a:r>
              <a:rPr lang="fr-FR" sz="2400" dirty="0" smtClean="0"/>
              <a:t> file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6272461" y="1762430"/>
            <a:ext cx="2548754" cy="12683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Cleaning</a:t>
            </a:r>
            <a:r>
              <a:rPr lang="fr-FR" sz="2400" dirty="0" smtClean="0"/>
              <a:t> data and </a:t>
            </a:r>
            <a:r>
              <a:rPr lang="fr-FR" sz="2400" dirty="0" err="1" smtClean="0"/>
              <a:t>feeding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database</a:t>
            </a: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9283330" y="1753879"/>
            <a:ext cx="2548754" cy="12769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Computing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required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723" y="353961"/>
            <a:ext cx="10515600" cy="96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dirty="0" smtClean="0"/>
              <a:t>Part 2: </a:t>
            </a:r>
            <a:r>
              <a:rPr lang="fr-FR" sz="4400" dirty="0" err="1" smtClean="0"/>
              <a:t>Analysing</a:t>
            </a:r>
            <a:r>
              <a:rPr lang="fr-FR" sz="4400" dirty="0" smtClean="0"/>
              <a:t> the Data</a:t>
            </a:r>
            <a:endParaRPr lang="fr-FR" sz="4400" dirty="0"/>
          </a:p>
        </p:txBody>
      </p:sp>
      <p:sp>
        <p:nvSpPr>
          <p:cNvPr id="9" name="Curved Up Arrow 8"/>
          <p:cNvSpPr/>
          <p:nvPr/>
        </p:nvSpPr>
        <p:spPr>
          <a:xfrm rot="771419">
            <a:off x="1913512" y="2961061"/>
            <a:ext cx="2154324" cy="83262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 rot="983473">
            <a:off x="5156079" y="2916687"/>
            <a:ext cx="2206171" cy="82049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 rot="623699">
            <a:off x="8413707" y="2978813"/>
            <a:ext cx="2056691" cy="797118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46570" y="3849328"/>
            <a:ext cx="208689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.zip files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7377" y="3849329"/>
            <a:ext cx="208689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</a:t>
            </a:r>
            <a:r>
              <a:rPr lang="fr-FR" sz="3200" dirty="0" err="1" smtClean="0">
                <a:solidFill>
                  <a:schemeClr val="bg2">
                    <a:lumMod val="90000"/>
                  </a:schemeClr>
                </a:solidFill>
              </a:rPr>
              <a:t>txt</a:t>
            </a:r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 files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64221" y="3775779"/>
            <a:ext cx="175566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err="1">
                <a:solidFill>
                  <a:schemeClr val="bg2">
                    <a:lumMod val="90000"/>
                  </a:schemeClr>
                </a:solidFill>
              </a:rPr>
              <a:t>D</a:t>
            </a:r>
            <a:r>
              <a:rPr lang="fr-FR" sz="3200" dirty="0" err="1" smtClean="0">
                <a:solidFill>
                  <a:schemeClr val="bg2">
                    <a:lumMod val="90000"/>
                  </a:schemeClr>
                </a:solidFill>
              </a:rPr>
              <a:t>atabase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Curved Up Arrow 14"/>
          <p:cNvSpPr/>
          <p:nvPr/>
        </p:nvSpPr>
        <p:spPr>
          <a:xfrm rot="16200000" flipH="1">
            <a:off x="10010022" y="4025818"/>
            <a:ext cx="3495876" cy="614082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90590" y="4434103"/>
            <a:ext cx="208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.csv file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74057" y="4855375"/>
            <a:ext cx="2548754" cy="12254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Teaching</a:t>
            </a:r>
            <a:r>
              <a:rPr lang="fr-FR" sz="2400" dirty="0" smtClean="0"/>
              <a:t> the program to </a:t>
            </a:r>
            <a:r>
              <a:rPr lang="fr-FR" sz="2400" dirty="0" err="1" smtClean="0"/>
              <a:t>choose</a:t>
            </a:r>
            <a:r>
              <a:rPr lang="fr-FR" sz="2400" dirty="0" smtClean="0"/>
              <a:t> a short </a:t>
            </a:r>
            <a:r>
              <a:rPr lang="fr-FR" sz="2400" dirty="0" err="1" smtClean="0"/>
              <a:t>list</a:t>
            </a:r>
            <a:endParaRPr lang="fr-FR" sz="2400" dirty="0"/>
          </a:p>
        </p:txBody>
      </p:sp>
      <p:sp>
        <p:nvSpPr>
          <p:cNvPr id="18" name="Rectangle 17"/>
          <p:cNvSpPr/>
          <p:nvPr/>
        </p:nvSpPr>
        <p:spPr>
          <a:xfrm>
            <a:off x="4483136" y="5018877"/>
            <a:ext cx="2548754" cy="89841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/>
              <a:t>D</a:t>
            </a:r>
            <a:r>
              <a:rPr lang="fr-FR" sz="2400" dirty="0" err="1" smtClean="0"/>
              <a:t>imensionality</a:t>
            </a:r>
            <a:r>
              <a:rPr lang="fr-FR" sz="2400" dirty="0" smtClean="0"/>
              <a:t> </a:t>
            </a:r>
            <a:r>
              <a:rPr lang="fr-FR" sz="2400" dirty="0" err="1" smtClean="0"/>
              <a:t>reduction</a:t>
            </a:r>
            <a:endParaRPr lang="fr-FR" sz="2400" dirty="0"/>
          </a:p>
        </p:txBody>
      </p:sp>
      <p:sp>
        <p:nvSpPr>
          <p:cNvPr id="19" name="Rectangle 18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00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0723" y="1762431"/>
            <a:ext cx="2548754" cy="12683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Download</a:t>
            </a:r>
            <a:r>
              <a:rPr lang="fr-FR" sz="2400" dirty="0" smtClean="0"/>
              <a:t> .zip files </a:t>
            </a:r>
            <a:r>
              <a:rPr lang="fr-FR" sz="2400" dirty="0" err="1" smtClean="0"/>
              <a:t>from</a:t>
            </a:r>
            <a:r>
              <a:rPr lang="fr-FR" sz="2400" dirty="0" smtClean="0"/>
              <a:t> </a:t>
            </a:r>
            <a:r>
              <a:rPr lang="fr-FR" sz="2400" dirty="0" err="1" smtClean="0"/>
              <a:t>SEC’s</a:t>
            </a:r>
            <a:r>
              <a:rPr lang="fr-FR" sz="2400" dirty="0" smtClean="0"/>
              <a:t> </a:t>
            </a:r>
            <a:r>
              <a:rPr lang="fr-FR" sz="2400" dirty="0" err="1" smtClean="0"/>
              <a:t>website</a:t>
            </a:r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3261592" y="1762432"/>
            <a:ext cx="2548754" cy="126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Unzip</a:t>
            </a:r>
            <a:r>
              <a:rPr lang="fr-FR" sz="2400" dirty="0" smtClean="0"/>
              <a:t> to .</a:t>
            </a:r>
            <a:r>
              <a:rPr lang="fr-FR" sz="2400" dirty="0" err="1" smtClean="0"/>
              <a:t>txt</a:t>
            </a:r>
            <a:r>
              <a:rPr lang="fr-FR" sz="2400" dirty="0" smtClean="0"/>
              <a:t> file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6272461" y="1762430"/>
            <a:ext cx="2548754" cy="12683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Cleaning</a:t>
            </a:r>
            <a:r>
              <a:rPr lang="fr-FR" sz="2400" dirty="0" smtClean="0"/>
              <a:t> data and </a:t>
            </a:r>
            <a:r>
              <a:rPr lang="fr-FR" sz="2400" dirty="0" err="1" smtClean="0"/>
              <a:t>feeding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database</a:t>
            </a: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9283330" y="1753879"/>
            <a:ext cx="2548754" cy="12769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Computing</a:t>
            </a:r>
            <a:r>
              <a:rPr lang="fr-FR" sz="2400" dirty="0" smtClean="0"/>
              <a:t> the </a:t>
            </a:r>
            <a:r>
              <a:rPr lang="fr-FR" sz="2400" dirty="0" err="1" smtClean="0"/>
              <a:t>required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723" y="353961"/>
            <a:ext cx="10515600" cy="96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dirty="0" smtClean="0"/>
              <a:t>Part 2: </a:t>
            </a:r>
            <a:r>
              <a:rPr lang="fr-FR" sz="4400" dirty="0" err="1" smtClean="0"/>
              <a:t>Analysing</a:t>
            </a:r>
            <a:r>
              <a:rPr lang="fr-FR" sz="4400" dirty="0" smtClean="0"/>
              <a:t> the Data</a:t>
            </a:r>
            <a:endParaRPr lang="fr-FR" sz="4400" dirty="0"/>
          </a:p>
        </p:txBody>
      </p:sp>
      <p:sp>
        <p:nvSpPr>
          <p:cNvPr id="9" name="Curved Up Arrow 8"/>
          <p:cNvSpPr/>
          <p:nvPr/>
        </p:nvSpPr>
        <p:spPr>
          <a:xfrm rot="771419">
            <a:off x="1913512" y="2961061"/>
            <a:ext cx="2154324" cy="83262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 rot="983473">
            <a:off x="5156079" y="2916687"/>
            <a:ext cx="2206171" cy="82049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 rot="623699">
            <a:off x="8413707" y="2978813"/>
            <a:ext cx="2056691" cy="797118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46570" y="3849328"/>
            <a:ext cx="208689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.zip files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7377" y="3849329"/>
            <a:ext cx="208689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</a:t>
            </a:r>
            <a:r>
              <a:rPr lang="fr-FR" sz="3200" dirty="0" err="1" smtClean="0">
                <a:solidFill>
                  <a:schemeClr val="bg2">
                    <a:lumMod val="90000"/>
                  </a:schemeClr>
                </a:solidFill>
              </a:rPr>
              <a:t>txt</a:t>
            </a:r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 files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64221" y="3775779"/>
            <a:ext cx="175566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err="1">
                <a:solidFill>
                  <a:schemeClr val="bg2">
                    <a:lumMod val="90000"/>
                  </a:schemeClr>
                </a:solidFill>
              </a:rPr>
              <a:t>D</a:t>
            </a:r>
            <a:r>
              <a:rPr lang="fr-FR" sz="3200" dirty="0" err="1" smtClean="0">
                <a:solidFill>
                  <a:schemeClr val="bg2">
                    <a:lumMod val="90000"/>
                  </a:schemeClr>
                </a:solidFill>
              </a:rPr>
              <a:t>atabase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Curved Up Arrow 14"/>
          <p:cNvSpPr/>
          <p:nvPr/>
        </p:nvSpPr>
        <p:spPr>
          <a:xfrm rot="16200000" flipH="1">
            <a:off x="10092034" y="4095097"/>
            <a:ext cx="3214614" cy="739021"/>
          </a:xfrm>
          <a:prstGeom prst="curvedUpArrow">
            <a:avLst>
              <a:gd name="adj1" fmla="val 17797"/>
              <a:gd name="adj2" fmla="val 58605"/>
              <a:gd name="adj3" fmla="val 26219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90590" y="4434103"/>
            <a:ext cx="208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2">
                    <a:lumMod val="90000"/>
                  </a:schemeClr>
                </a:solidFill>
              </a:rPr>
              <a:t>.csv file</a:t>
            </a:r>
            <a:endParaRPr lang="fr-FR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22540" y="4846495"/>
            <a:ext cx="2548754" cy="12254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Teaching</a:t>
            </a:r>
            <a:r>
              <a:rPr lang="fr-FR" sz="2400" dirty="0" smtClean="0"/>
              <a:t> the program to </a:t>
            </a:r>
            <a:r>
              <a:rPr lang="fr-FR" sz="2400" dirty="0" err="1" smtClean="0"/>
              <a:t>choose</a:t>
            </a:r>
            <a:r>
              <a:rPr lang="fr-FR" sz="2400" dirty="0" smtClean="0"/>
              <a:t> a short </a:t>
            </a:r>
            <a:r>
              <a:rPr lang="fr-FR" sz="2400" dirty="0" err="1" smtClean="0"/>
              <a:t>list</a:t>
            </a:r>
            <a:endParaRPr lang="fr-FR" sz="2400" dirty="0"/>
          </a:p>
        </p:txBody>
      </p:sp>
      <p:sp>
        <p:nvSpPr>
          <p:cNvPr id="18" name="Rectangle 17"/>
          <p:cNvSpPr/>
          <p:nvPr/>
        </p:nvSpPr>
        <p:spPr>
          <a:xfrm>
            <a:off x="8358671" y="5141718"/>
            <a:ext cx="2548754" cy="89841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/>
              <a:t>D</a:t>
            </a:r>
            <a:r>
              <a:rPr lang="fr-FR" sz="2400" dirty="0" err="1" smtClean="0"/>
              <a:t>imensionality</a:t>
            </a:r>
            <a:r>
              <a:rPr lang="fr-FR" sz="2400" dirty="0" smtClean="0"/>
              <a:t> </a:t>
            </a:r>
            <a:r>
              <a:rPr lang="fr-FR" sz="2400" dirty="0" err="1" smtClean="0"/>
              <a:t>reduction</a:t>
            </a:r>
            <a:endParaRPr lang="fr-FR" sz="2400" dirty="0"/>
          </a:p>
        </p:txBody>
      </p:sp>
      <p:sp>
        <p:nvSpPr>
          <p:cNvPr id="19" name="Rectangle 18"/>
          <p:cNvSpPr/>
          <p:nvPr/>
        </p:nvSpPr>
        <p:spPr>
          <a:xfrm rot="20969952">
            <a:off x="9068175" y="2160250"/>
            <a:ext cx="3044829" cy="3982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1 . </a:t>
            </a:r>
            <a:r>
              <a:rPr lang="fr-FR" sz="2400" dirty="0" err="1" smtClean="0"/>
              <a:t>Computed</a:t>
            </a:r>
            <a:r>
              <a:rPr lang="fr-FR" sz="2400" dirty="0" smtClean="0"/>
              <a:t> ratios</a:t>
            </a:r>
            <a:endParaRPr lang="fr-FR" sz="2400" dirty="0"/>
          </a:p>
        </p:txBody>
      </p:sp>
      <p:sp>
        <p:nvSpPr>
          <p:cNvPr id="20" name="Rectangle 19"/>
          <p:cNvSpPr/>
          <p:nvPr/>
        </p:nvSpPr>
        <p:spPr>
          <a:xfrm rot="21138038">
            <a:off x="7662035" y="5391822"/>
            <a:ext cx="3805084" cy="3982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2</a:t>
            </a:r>
            <a:r>
              <a:rPr lang="fr-FR" sz="2400" dirty="0" smtClean="0"/>
              <a:t> . Graph to </a:t>
            </a:r>
            <a:r>
              <a:rPr lang="fr-FR" sz="2400" dirty="0" err="1" smtClean="0"/>
              <a:t>ease</a:t>
            </a:r>
            <a:r>
              <a:rPr lang="fr-FR" sz="2400" dirty="0" smtClean="0"/>
              <a:t> </a:t>
            </a:r>
            <a:r>
              <a:rPr lang="fr-FR" sz="2400" dirty="0" err="1" smtClean="0"/>
              <a:t>analysis</a:t>
            </a:r>
            <a:endParaRPr lang="fr-FR" sz="2400" dirty="0"/>
          </a:p>
        </p:txBody>
      </p:sp>
      <p:sp>
        <p:nvSpPr>
          <p:cNvPr id="21" name="Rectangle 20"/>
          <p:cNvSpPr/>
          <p:nvPr/>
        </p:nvSpPr>
        <p:spPr>
          <a:xfrm rot="20998772">
            <a:off x="4187802" y="5287915"/>
            <a:ext cx="3805084" cy="398207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3 . Automate </a:t>
            </a:r>
            <a:r>
              <a:rPr lang="fr-FR" sz="2400" dirty="0" err="1" smtClean="0"/>
              <a:t>choices</a:t>
            </a:r>
            <a:endParaRPr lang="fr-FR" sz="2400" dirty="0"/>
          </a:p>
        </p:txBody>
      </p:sp>
      <p:sp>
        <p:nvSpPr>
          <p:cNvPr id="22" name="Rectangle 21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8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723" y="353961"/>
            <a:ext cx="10515600" cy="96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dirty="0" smtClean="0"/>
              <a:t>Part 2: </a:t>
            </a:r>
            <a:r>
              <a:rPr lang="fr-FR" sz="4400" dirty="0" err="1" smtClean="0"/>
              <a:t>Analyzing</a:t>
            </a:r>
            <a:r>
              <a:rPr lang="fr-FR" sz="4400" dirty="0" smtClean="0"/>
              <a:t> the data</a:t>
            </a:r>
            <a:endParaRPr lang="fr-FR" sz="4400" dirty="0"/>
          </a:p>
        </p:txBody>
      </p:sp>
      <p:sp>
        <p:nvSpPr>
          <p:cNvPr id="17" name="Rectangle 16"/>
          <p:cNvSpPr/>
          <p:nvPr/>
        </p:nvSpPr>
        <p:spPr>
          <a:xfrm>
            <a:off x="0" y="1552354"/>
            <a:ext cx="6083710" cy="637781"/>
          </a:xfrm>
          <a:prstGeom prst="rect">
            <a:avLst/>
          </a:prstGeom>
          <a:solidFill>
            <a:srgbClr val="8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 smtClean="0"/>
              <a:t>Teaching</a:t>
            </a:r>
            <a:r>
              <a:rPr lang="fr-FR" sz="2400" dirty="0" smtClean="0"/>
              <a:t> the program to </a:t>
            </a:r>
            <a:r>
              <a:rPr lang="fr-FR" sz="2400" dirty="0" err="1" smtClean="0"/>
              <a:t>choose</a:t>
            </a:r>
            <a:r>
              <a:rPr lang="fr-FR" sz="2400" dirty="0" smtClean="0"/>
              <a:t> a short </a:t>
            </a:r>
            <a:r>
              <a:rPr lang="fr-FR" sz="2400" dirty="0" err="1" smtClean="0"/>
              <a:t>list</a:t>
            </a:r>
            <a:endParaRPr lang="fr-FR" sz="2400" dirty="0"/>
          </a:p>
        </p:txBody>
      </p:sp>
      <p:sp>
        <p:nvSpPr>
          <p:cNvPr id="18" name="Rectangle 17"/>
          <p:cNvSpPr/>
          <p:nvPr/>
        </p:nvSpPr>
        <p:spPr>
          <a:xfrm>
            <a:off x="6083710" y="1552354"/>
            <a:ext cx="6108290" cy="63778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/>
              <a:t>D</a:t>
            </a:r>
            <a:r>
              <a:rPr lang="fr-FR" sz="2400" dirty="0" err="1" smtClean="0"/>
              <a:t>imensionality</a:t>
            </a:r>
            <a:r>
              <a:rPr lang="fr-FR" sz="2400" dirty="0" smtClean="0"/>
              <a:t> </a:t>
            </a:r>
            <a:r>
              <a:rPr lang="fr-FR" sz="2400" dirty="0" err="1" smtClean="0"/>
              <a:t>reduction</a:t>
            </a:r>
            <a:endParaRPr lang="fr-FR" sz="2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083710" y="2190135"/>
            <a:ext cx="0" cy="464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99239" y="2270380"/>
            <a:ext cx="587723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 smtClean="0"/>
              <a:t>Why</a:t>
            </a:r>
            <a:r>
              <a:rPr lang="fr-FR" sz="2400" dirty="0" smtClean="0"/>
              <a:t>? Help </a:t>
            </a:r>
            <a:r>
              <a:rPr lang="fr-FR" sz="2400" dirty="0" err="1" smtClean="0"/>
              <a:t>analysts</a:t>
            </a:r>
            <a:r>
              <a:rPr lang="fr-FR" sz="2400" dirty="0" smtClean="0"/>
              <a:t> </a:t>
            </a:r>
            <a:r>
              <a:rPr lang="fr-FR" sz="2400" dirty="0" err="1" smtClean="0"/>
              <a:t>understand</a:t>
            </a:r>
            <a:r>
              <a:rPr lang="fr-FR" sz="2400" dirty="0" smtClean="0"/>
              <a:t> a </a:t>
            </a:r>
            <a:r>
              <a:rPr lang="fr-FR" sz="2400" dirty="0" err="1" smtClean="0"/>
              <a:t>market</a:t>
            </a:r>
            <a:endParaRPr lang="fr-FR" sz="1600" dirty="0"/>
          </a:p>
          <a:p>
            <a:r>
              <a:rPr lang="fr-FR" sz="1600" i="1" dirty="0" smtClean="0"/>
              <a:t>Ex : </a:t>
            </a:r>
            <a:r>
              <a:rPr lang="fr-FR" sz="1600" i="1" dirty="0" err="1" smtClean="0"/>
              <a:t>What</a:t>
            </a:r>
            <a:r>
              <a:rPr lang="fr-FR" sz="1600" i="1" dirty="0" smtClean="0"/>
              <a:t> are the </a:t>
            </a:r>
            <a:r>
              <a:rPr lang="fr-FR" sz="1600" i="1" dirty="0" err="1" smtClean="0"/>
              <a:t>strategies</a:t>
            </a:r>
            <a:r>
              <a:rPr lang="fr-FR" sz="1600" i="1" dirty="0" smtClean="0"/>
              <a:t> of a </a:t>
            </a:r>
            <a:r>
              <a:rPr lang="fr-FR" sz="1600" i="1" dirty="0" err="1" smtClean="0"/>
              <a:t>sector’s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companies</a:t>
            </a:r>
            <a:r>
              <a:rPr lang="fr-FR" sz="1600" i="1" dirty="0" smtClean="0"/>
              <a:t> ? Is </a:t>
            </a:r>
            <a:r>
              <a:rPr lang="fr-FR" sz="1600" i="1" dirty="0" err="1" smtClean="0"/>
              <a:t>this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sector</a:t>
            </a:r>
            <a:r>
              <a:rPr lang="fr-FR" sz="1600" i="1" dirty="0" smtClean="0"/>
              <a:t> a </a:t>
            </a:r>
            <a:r>
              <a:rPr lang="fr-FR" sz="1600" i="1" dirty="0" err="1" smtClean="0"/>
              <a:t>monoply</a:t>
            </a:r>
            <a:r>
              <a:rPr lang="fr-FR" sz="1600" i="1" dirty="0" smtClean="0"/>
              <a:t> ? </a:t>
            </a:r>
            <a:r>
              <a:rPr lang="fr-FR" sz="1600" i="1" dirty="0" err="1" smtClean="0"/>
              <a:t>Which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company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should</a:t>
            </a:r>
            <a:r>
              <a:rPr lang="fr-FR" sz="1600" i="1" dirty="0" smtClean="0"/>
              <a:t> I </a:t>
            </a:r>
            <a:r>
              <a:rPr lang="fr-FR" sz="1600" i="1" dirty="0" err="1" smtClean="0"/>
              <a:t>invest</a:t>
            </a:r>
            <a:r>
              <a:rPr lang="fr-FR" sz="1600" i="1" dirty="0" smtClean="0"/>
              <a:t> in ? </a:t>
            </a:r>
            <a:r>
              <a:rPr lang="fr-FR" sz="1600" i="1" dirty="0" err="1" smtClean="0"/>
              <a:t>What</a:t>
            </a:r>
            <a:r>
              <a:rPr lang="fr-FR" sz="1600" i="1" dirty="0" smtClean="0"/>
              <a:t> are the key figures </a:t>
            </a:r>
            <a:r>
              <a:rPr lang="fr-FR" sz="1600" i="1" dirty="0" err="1" smtClean="0"/>
              <a:t>that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make</a:t>
            </a:r>
            <a:r>
              <a:rPr lang="fr-FR" sz="1600" i="1" dirty="0" smtClean="0"/>
              <a:t> a </a:t>
            </a:r>
            <a:r>
              <a:rPr lang="fr-FR" sz="1600" i="1" dirty="0" err="1" smtClean="0"/>
              <a:t>company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different</a:t>
            </a:r>
            <a:r>
              <a:rPr lang="fr-FR" sz="1600" i="1" dirty="0" smtClean="0"/>
              <a:t> </a:t>
            </a:r>
            <a:r>
              <a:rPr lang="fr-FR" sz="1600" i="1" dirty="0" err="1" smtClean="0"/>
              <a:t>from</a:t>
            </a:r>
            <a:r>
              <a:rPr lang="fr-FR" sz="1600" i="1" dirty="0" smtClean="0"/>
              <a:t> the </a:t>
            </a:r>
            <a:r>
              <a:rPr lang="fr-FR" sz="1600" i="1" dirty="0" err="1" smtClean="0"/>
              <a:t>other</a:t>
            </a:r>
            <a:r>
              <a:rPr lang="fr-FR" sz="1600" i="1" dirty="0" smtClean="0"/>
              <a:t> ?</a:t>
            </a:r>
          </a:p>
          <a:p>
            <a:endParaRPr lang="fr-FR" sz="1600" dirty="0" smtClean="0"/>
          </a:p>
          <a:p>
            <a:r>
              <a:rPr lang="fr-FR" sz="2400" dirty="0" smtClean="0"/>
              <a:t>How? Principal Component </a:t>
            </a:r>
            <a:r>
              <a:rPr lang="fr-FR" sz="2400" dirty="0" err="1" smtClean="0"/>
              <a:t>Analysis</a:t>
            </a:r>
            <a:endParaRPr lang="fr-FR" sz="2400" dirty="0" smtClean="0"/>
          </a:p>
          <a:p>
            <a:endParaRPr lang="fr-FR" sz="1600" dirty="0"/>
          </a:p>
          <a:p>
            <a:r>
              <a:rPr lang="fr-FR" sz="2400" dirty="0" smtClean="0"/>
              <a:t>For </a:t>
            </a:r>
            <a:r>
              <a:rPr lang="fr-FR" sz="2400" dirty="0" err="1" smtClean="0"/>
              <a:t>who</a:t>
            </a:r>
            <a:r>
              <a:rPr lang="fr-FR" sz="2400" dirty="0" err="1"/>
              <a:t>m</a:t>
            </a:r>
            <a:r>
              <a:rPr lang="fr-FR" sz="2400" dirty="0" smtClean="0"/>
              <a:t>?</a:t>
            </a:r>
          </a:p>
          <a:p>
            <a:r>
              <a:rPr lang="fr-FR" dirty="0" err="1"/>
              <a:t>I</a:t>
            </a:r>
            <a:r>
              <a:rPr lang="fr-FR" dirty="0" err="1" smtClean="0"/>
              <a:t>nvestors</a:t>
            </a:r>
            <a:r>
              <a:rPr lang="fr-FR" dirty="0" smtClean="0"/>
              <a:t>, </a:t>
            </a:r>
            <a:r>
              <a:rPr lang="fr-FR" dirty="0" err="1" smtClean="0"/>
              <a:t>competitors</a:t>
            </a:r>
            <a:r>
              <a:rPr lang="fr-FR" dirty="0" smtClean="0"/>
              <a:t> </a:t>
            </a:r>
            <a:r>
              <a:rPr lang="fr-FR" dirty="0" err="1" smtClean="0"/>
              <a:t>analysts</a:t>
            </a:r>
            <a:r>
              <a:rPr lang="fr-FR" dirty="0" smtClean="0"/>
              <a:t>, entrepreneurs …</a:t>
            </a:r>
          </a:p>
          <a:p>
            <a:endParaRPr lang="fr-FR" dirty="0"/>
          </a:p>
          <a:p>
            <a:r>
              <a:rPr lang="fr-FR" sz="2400" dirty="0" err="1" smtClean="0"/>
              <a:t>What</a:t>
            </a:r>
            <a:r>
              <a:rPr lang="fr-FR" sz="2400" dirty="0" smtClean="0"/>
              <a:t> </a:t>
            </a:r>
            <a:r>
              <a:rPr lang="fr-FR" sz="2400" dirty="0" err="1" smtClean="0"/>
              <a:t>is</a:t>
            </a:r>
            <a:r>
              <a:rPr lang="fr-FR" sz="2400" dirty="0" smtClean="0"/>
              <a:t> </a:t>
            </a:r>
            <a:r>
              <a:rPr lang="fr-FR" sz="2400" dirty="0" err="1" smtClean="0"/>
              <a:t>produced</a:t>
            </a:r>
            <a:r>
              <a:rPr lang="fr-FR" sz="2400" dirty="0" smtClean="0"/>
              <a:t>? </a:t>
            </a:r>
            <a:r>
              <a:rPr lang="fr-FR" sz="2400" b="1" dirty="0" smtClean="0"/>
              <a:t>A graph</a:t>
            </a:r>
            <a:endParaRPr lang="fr-FR" sz="2400" dirty="0" smtClean="0"/>
          </a:p>
          <a:p>
            <a:endParaRPr lang="fr-FR" sz="2400" dirty="0" smtClean="0"/>
          </a:p>
          <a:p>
            <a:endParaRPr lang="fr-FR" dirty="0"/>
          </a:p>
        </p:txBody>
      </p:sp>
      <p:sp>
        <p:nvSpPr>
          <p:cNvPr id="10" name="TextBox 9"/>
          <p:cNvSpPr txBox="1"/>
          <p:nvPr/>
        </p:nvSpPr>
        <p:spPr>
          <a:xfrm>
            <a:off x="250723" y="2270380"/>
            <a:ext cx="587723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 smtClean="0"/>
              <a:t>Why</a:t>
            </a:r>
            <a:r>
              <a:rPr lang="fr-FR" sz="2400" dirty="0" smtClean="0"/>
              <a:t>? Automate a part of </a:t>
            </a:r>
            <a:r>
              <a:rPr lang="fr-FR" sz="2400" dirty="0" err="1" smtClean="0"/>
              <a:t>analysts</a:t>
            </a:r>
            <a:r>
              <a:rPr lang="fr-FR" sz="2400" dirty="0" smtClean="0"/>
              <a:t>’ job</a:t>
            </a:r>
            <a:endParaRPr lang="fr-FR" sz="1600" dirty="0"/>
          </a:p>
          <a:p>
            <a:r>
              <a:rPr lang="fr-FR" sz="1600" i="1" dirty="0" smtClean="0"/>
              <a:t>Ex : </a:t>
            </a:r>
            <a:r>
              <a:rPr lang="fr-FR" sz="1600" i="1" dirty="0" err="1" smtClean="0"/>
              <a:t>Creating</a:t>
            </a:r>
            <a:r>
              <a:rPr lang="fr-FR" sz="1600" i="1" dirty="0" smtClean="0"/>
              <a:t> a short </a:t>
            </a:r>
            <a:r>
              <a:rPr lang="fr-FR" sz="1600" i="1" dirty="0" err="1" smtClean="0"/>
              <a:t>list</a:t>
            </a:r>
            <a:r>
              <a:rPr lang="fr-FR" sz="1600" i="1" dirty="0" smtClean="0"/>
              <a:t> of </a:t>
            </a:r>
            <a:r>
              <a:rPr lang="fr-FR" sz="1600" i="1" dirty="0" err="1" smtClean="0"/>
              <a:t>companies</a:t>
            </a:r>
            <a:r>
              <a:rPr lang="fr-FR" sz="1600" i="1" dirty="0" smtClean="0"/>
              <a:t> to </a:t>
            </a:r>
            <a:r>
              <a:rPr lang="fr-FR" sz="1600" i="1" dirty="0" err="1" smtClean="0"/>
              <a:t>invest</a:t>
            </a:r>
            <a:r>
              <a:rPr lang="fr-FR" sz="1600" i="1" dirty="0" smtClean="0"/>
              <a:t> in</a:t>
            </a:r>
          </a:p>
          <a:p>
            <a:endParaRPr lang="fr-FR" sz="1600" dirty="0" smtClean="0"/>
          </a:p>
          <a:p>
            <a:r>
              <a:rPr lang="fr-FR" sz="2400" dirty="0" smtClean="0"/>
              <a:t>How? K </a:t>
            </a:r>
            <a:r>
              <a:rPr lang="fr-FR" sz="2400" dirty="0" err="1" smtClean="0"/>
              <a:t>Nearest</a:t>
            </a:r>
            <a:r>
              <a:rPr lang="fr-FR" sz="2400" dirty="0" smtClean="0"/>
              <a:t> Neighbors </a:t>
            </a:r>
            <a:r>
              <a:rPr lang="fr-FR" sz="2400" dirty="0" err="1" smtClean="0"/>
              <a:t>method</a:t>
            </a:r>
            <a:endParaRPr lang="fr-FR" sz="2400" dirty="0" smtClean="0"/>
          </a:p>
          <a:p>
            <a:r>
              <a:rPr lang="fr-FR" i="1" dirty="0" err="1" smtClean="0"/>
              <a:t>Two</a:t>
            </a:r>
            <a:r>
              <a:rPr lang="fr-FR" i="1" dirty="0" smtClean="0"/>
              <a:t> classes </a:t>
            </a:r>
            <a:r>
              <a:rPr lang="fr-FR" i="1" dirty="0" err="1" smtClean="0"/>
              <a:t>supervised</a:t>
            </a:r>
            <a:r>
              <a:rPr lang="fr-FR" i="1" dirty="0" smtClean="0"/>
              <a:t> </a:t>
            </a:r>
            <a:r>
              <a:rPr lang="fr-FR" i="1" dirty="0" err="1" smtClean="0"/>
              <a:t>learning</a:t>
            </a:r>
            <a:r>
              <a:rPr lang="fr-FR" i="1" dirty="0" smtClean="0"/>
              <a:t> : Good / Bad</a:t>
            </a:r>
          </a:p>
          <a:p>
            <a:r>
              <a:rPr lang="fr-FR" i="1" dirty="0" smtClean="0"/>
              <a:t>K </a:t>
            </a:r>
            <a:r>
              <a:rPr lang="fr-FR" i="1" dirty="0" err="1" smtClean="0"/>
              <a:t>optimised</a:t>
            </a:r>
            <a:r>
              <a:rPr lang="fr-FR" i="1" dirty="0" smtClean="0"/>
              <a:t> in [1,20]</a:t>
            </a:r>
          </a:p>
          <a:p>
            <a:endParaRPr lang="fr-FR" sz="1600" dirty="0"/>
          </a:p>
          <a:p>
            <a:r>
              <a:rPr lang="fr-FR" sz="2400" dirty="0" smtClean="0"/>
              <a:t>For </a:t>
            </a:r>
            <a:r>
              <a:rPr lang="fr-FR" sz="2400" dirty="0" err="1" smtClean="0"/>
              <a:t>whom</a:t>
            </a:r>
            <a:r>
              <a:rPr lang="fr-FR" sz="2400" dirty="0" smtClean="0"/>
              <a:t>?</a:t>
            </a:r>
          </a:p>
          <a:p>
            <a:r>
              <a:rPr lang="fr-FR" dirty="0" err="1"/>
              <a:t>I</a:t>
            </a:r>
            <a:r>
              <a:rPr lang="fr-FR" dirty="0" err="1" smtClean="0"/>
              <a:t>nvestors</a:t>
            </a:r>
            <a:r>
              <a:rPr lang="fr-FR" dirty="0" smtClean="0"/>
              <a:t>, </a:t>
            </a:r>
            <a:r>
              <a:rPr lang="fr-FR" dirty="0" err="1" smtClean="0"/>
              <a:t>competitors</a:t>
            </a:r>
            <a:r>
              <a:rPr lang="fr-FR" dirty="0" smtClean="0"/>
              <a:t> </a:t>
            </a:r>
            <a:r>
              <a:rPr lang="fr-FR" dirty="0" err="1" smtClean="0"/>
              <a:t>analysts</a:t>
            </a:r>
            <a:r>
              <a:rPr lang="fr-FR" dirty="0" smtClean="0"/>
              <a:t>, entrepreneurs …</a:t>
            </a:r>
          </a:p>
          <a:p>
            <a:endParaRPr lang="fr-FR" dirty="0"/>
          </a:p>
          <a:p>
            <a:r>
              <a:rPr lang="fr-FR" sz="2400" dirty="0" err="1" smtClean="0"/>
              <a:t>What</a:t>
            </a:r>
            <a:r>
              <a:rPr lang="fr-FR" sz="2400" dirty="0"/>
              <a:t> </a:t>
            </a:r>
            <a:r>
              <a:rPr lang="fr-FR" sz="2400" dirty="0" err="1" smtClean="0"/>
              <a:t>is</a:t>
            </a:r>
            <a:r>
              <a:rPr lang="fr-FR" sz="2400" dirty="0" smtClean="0"/>
              <a:t> </a:t>
            </a:r>
            <a:r>
              <a:rPr lang="fr-FR" sz="2400" dirty="0" err="1" smtClean="0"/>
              <a:t>produced</a:t>
            </a:r>
            <a:r>
              <a:rPr lang="fr-FR" sz="2400" dirty="0" smtClean="0"/>
              <a:t>? </a:t>
            </a:r>
            <a:r>
              <a:rPr lang="fr-FR" sz="2400" b="1" dirty="0" smtClean="0"/>
              <a:t>A </a:t>
            </a:r>
            <a:r>
              <a:rPr lang="fr-FR" sz="2400" b="1" dirty="0" err="1" smtClean="0"/>
              <a:t>decision</a:t>
            </a:r>
            <a:r>
              <a:rPr lang="fr-FR" sz="2400" b="1" dirty="0" smtClean="0"/>
              <a:t> model</a:t>
            </a:r>
          </a:p>
          <a:p>
            <a:endParaRPr lang="fr-FR" sz="2400" dirty="0" smtClean="0"/>
          </a:p>
          <a:p>
            <a:endParaRPr lang="fr-FR" dirty="0"/>
          </a:p>
        </p:txBody>
      </p:sp>
      <p:pic>
        <p:nvPicPr>
          <p:cNvPr id="15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2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127" y="119970"/>
            <a:ext cx="10619798" cy="1325563"/>
          </a:xfrm>
        </p:spPr>
        <p:txBody>
          <a:bodyPr/>
          <a:lstStyle/>
          <a:p>
            <a:r>
              <a:rPr lang="fr-FR" dirty="0" smtClean="0"/>
              <a:t>PCA </a:t>
            </a:r>
            <a:r>
              <a:rPr lang="fr-FR" dirty="0" err="1"/>
              <a:t>R</a:t>
            </a:r>
            <a:r>
              <a:rPr lang="fr-FR" dirty="0" err="1" smtClean="0"/>
              <a:t>esults</a:t>
            </a:r>
            <a:r>
              <a:rPr lang="fr-FR" dirty="0" smtClean="0"/>
              <a:t> for Computer </a:t>
            </a:r>
            <a:r>
              <a:rPr lang="fr-FR" dirty="0" err="1"/>
              <a:t>C</a:t>
            </a:r>
            <a:r>
              <a:rPr lang="fr-FR" dirty="0" err="1" smtClean="0"/>
              <a:t>ompanies</a:t>
            </a:r>
            <a:r>
              <a:rPr lang="fr-FR" dirty="0" smtClean="0"/>
              <a:t> 2015 Q4</a:t>
            </a:r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921" t="15732" r="9938" b="13717"/>
          <a:stretch/>
        </p:blipFill>
        <p:spPr>
          <a:xfrm>
            <a:off x="1473700" y="1429078"/>
            <a:ext cx="9244600" cy="4635547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074037" y="1595015"/>
            <a:ext cx="8844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451123" y="5400633"/>
            <a:ext cx="828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2611" y="1326031"/>
            <a:ext cx="1806678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Companies</a:t>
            </a:r>
            <a:endParaRPr lang="fr-FR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25593" y="4701223"/>
            <a:ext cx="3325530" cy="13849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Projection of a </a:t>
            </a:r>
            <a:r>
              <a:rPr lang="fr-FR" sz="2800" dirty="0" err="1" smtClean="0"/>
              <a:t>ratio’s</a:t>
            </a:r>
            <a:r>
              <a:rPr lang="fr-FR" sz="2800" dirty="0" smtClean="0"/>
              <a:t> unit </a:t>
            </a:r>
            <a:r>
              <a:rPr lang="fr-FR" sz="2800" dirty="0" err="1" smtClean="0"/>
              <a:t>vector</a:t>
            </a:r>
            <a:r>
              <a:rPr lang="fr-FR" sz="2800" dirty="0" smtClean="0"/>
              <a:t> on the PCA plan</a:t>
            </a:r>
            <a:endParaRPr lang="fr-FR" sz="2800" dirty="0"/>
          </a:p>
        </p:txBody>
      </p:sp>
      <p:pic>
        <p:nvPicPr>
          <p:cNvPr id="14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00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How the Data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93259" cy="4351338"/>
          </a:xfrm>
        </p:spPr>
        <p:txBody>
          <a:bodyPr/>
          <a:lstStyle/>
          <a:p>
            <a:r>
              <a:rPr lang="fr-FR" dirty="0" smtClean="0"/>
              <a:t>Key </a:t>
            </a:r>
            <a:r>
              <a:rPr lang="fr-FR" dirty="0" err="1" smtClean="0"/>
              <a:t>financial</a:t>
            </a:r>
            <a:r>
              <a:rPr lang="fr-FR" dirty="0" smtClean="0"/>
              <a:t> ratios:</a:t>
            </a:r>
          </a:p>
          <a:p>
            <a:pPr lvl="1"/>
            <a:r>
              <a:rPr lang="fr-FR" dirty="0" err="1" smtClean="0"/>
              <a:t>Analysis</a:t>
            </a:r>
            <a:r>
              <a:rPr lang="fr-FR" dirty="0" smtClean="0"/>
              <a:t> of </a:t>
            </a:r>
            <a:r>
              <a:rPr lang="fr-FR" dirty="0" err="1" smtClean="0"/>
              <a:t>successful</a:t>
            </a:r>
            <a:r>
              <a:rPr lang="fr-FR" dirty="0" smtClean="0"/>
              <a:t> </a:t>
            </a:r>
            <a:r>
              <a:rPr lang="fr-FR" dirty="0" err="1" smtClean="0"/>
              <a:t>industry</a:t>
            </a:r>
            <a:r>
              <a:rPr lang="fr-FR" dirty="0" smtClean="0"/>
              <a:t> </a:t>
            </a:r>
            <a:r>
              <a:rPr lang="fr-FR" dirty="0" err="1" smtClean="0"/>
              <a:t>investment</a:t>
            </a:r>
            <a:r>
              <a:rPr lang="fr-FR" dirty="0" smtClean="0"/>
              <a:t> compositions</a:t>
            </a:r>
          </a:p>
          <a:p>
            <a:pPr lvl="1"/>
            <a:r>
              <a:rPr lang="fr-FR" dirty="0" smtClean="0"/>
              <a:t>Position in the </a:t>
            </a:r>
            <a:r>
              <a:rPr lang="fr-FR" dirty="0" err="1" smtClean="0"/>
              <a:t>industry</a:t>
            </a:r>
            <a:endParaRPr lang="fr-FR" dirty="0" smtClean="0"/>
          </a:p>
          <a:p>
            <a:r>
              <a:rPr lang="fr-FR" dirty="0" err="1" smtClean="0"/>
              <a:t>Published</a:t>
            </a:r>
            <a:r>
              <a:rPr lang="fr-FR" dirty="0"/>
              <a:t> </a:t>
            </a:r>
            <a:r>
              <a:rPr lang="fr-FR" dirty="0" smtClean="0"/>
              <a:t>reports</a:t>
            </a:r>
          </a:p>
          <a:p>
            <a:r>
              <a:rPr lang="fr-FR" dirty="0" smtClean="0"/>
              <a:t>Automation and more </a:t>
            </a:r>
            <a:r>
              <a:rPr lang="fr-FR" dirty="0" err="1" smtClean="0"/>
              <a:t>accurate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14</a:t>
            </a:fld>
            <a:endParaRPr lang="fr-FR"/>
          </a:p>
        </p:txBody>
      </p:sp>
      <p:pic>
        <p:nvPicPr>
          <p:cNvPr id="5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8864" t="10142" r="3870" b="7047"/>
          <a:stretch/>
        </p:blipFill>
        <p:spPr>
          <a:xfrm>
            <a:off x="5972432" y="1458097"/>
            <a:ext cx="5954291" cy="464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1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Problems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Our Program</a:t>
            </a:r>
            <a:br>
              <a:rPr lang="fr-FR" dirty="0" smtClean="0"/>
            </a:br>
            <a:r>
              <a:rPr lang="fr-FR" dirty="0" smtClean="0"/>
              <a:t>and </a:t>
            </a:r>
            <a:r>
              <a:rPr lang="fr-FR" dirty="0" err="1" smtClean="0"/>
              <a:t>Potential</a:t>
            </a:r>
            <a:r>
              <a:rPr lang="fr-FR" dirty="0" smtClean="0"/>
              <a:t> for Version 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GAAP </a:t>
            </a:r>
            <a:r>
              <a:rPr lang="fr-FR" dirty="0" err="1" smtClean="0"/>
              <a:t>loose</a:t>
            </a:r>
            <a:r>
              <a:rPr lang="fr-FR" dirty="0" smtClean="0"/>
              <a:t> standards</a:t>
            </a:r>
          </a:p>
          <a:p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methods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K </a:t>
            </a:r>
            <a:r>
              <a:rPr lang="fr-FR" dirty="0" err="1" smtClean="0"/>
              <a:t>Nearest</a:t>
            </a:r>
            <a:r>
              <a:rPr lang="fr-FR" dirty="0" smtClean="0"/>
              <a:t> Neighbors are possible</a:t>
            </a:r>
            <a:br>
              <a:rPr lang="fr-FR" dirty="0" smtClean="0"/>
            </a:br>
            <a:r>
              <a:rPr lang="fr-FR" sz="2400" i="1" dirty="0" err="1" smtClean="0"/>
              <a:t>Random</a:t>
            </a:r>
            <a:r>
              <a:rPr lang="fr-FR" sz="2400" i="1" dirty="0" smtClean="0"/>
              <a:t> </a:t>
            </a:r>
            <a:r>
              <a:rPr lang="fr-FR" sz="2400" i="1" dirty="0" err="1" smtClean="0"/>
              <a:t>tree</a:t>
            </a:r>
            <a:r>
              <a:rPr lang="fr-FR" sz="2400" i="1" dirty="0" smtClean="0"/>
              <a:t>, …</a:t>
            </a:r>
          </a:p>
          <a:p>
            <a:r>
              <a:rPr lang="fr-FR" dirty="0" err="1" smtClean="0"/>
              <a:t>Accuracy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not </a:t>
            </a:r>
            <a:r>
              <a:rPr lang="fr-FR" dirty="0" err="1" smtClean="0"/>
              <a:t>great</a:t>
            </a:r>
            <a:r>
              <a:rPr lang="fr-FR" dirty="0" smtClean="0"/>
              <a:t> (0.66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example</a:t>
            </a:r>
            <a:r>
              <a:rPr lang="fr-FR" dirty="0" smtClean="0"/>
              <a:t>)</a:t>
            </a:r>
          </a:p>
          <a:p>
            <a:r>
              <a:rPr lang="fr-FR" dirty="0" smtClean="0"/>
              <a:t>Poor graph designs</a:t>
            </a:r>
            <a:br>
              <a:rPr lang="fr-FR" dirty="0" smtClean="0"/>
            </a:br>
            <a:r>
              <a:rPr lang="fr-FR" sz="2400" i="1" dirty="0" err="1" smtClean="0"/>
              <a:t>Sorry</a:t>
            </a:r>
            <a:r>
              <a:rPr lang="fr-FR" sz="2400" i="1" dirty="0" smtClean="0"/>
              <a:t> for </a:t>
            </a:r>
            <a:r>
              <a:rPr lang="fr-FR" sz="2400" i="1" dirty="0" err="1" smtClean="0"/>
              <a:t>your</a:t>
            </a:r>
            <a:r>
              <a:rPr lang="fr-FR" sz="2400" i="1" dirty="0" smtClean="0"/>
              <a:t> </a:t>
            </a:r>
            <a:r>
              <a:rPr lang="fr-FR" sz="2400" i="1" dirty="0" err="1" smtClean="0"/>
              <a:t>eyes</a:t>
            </a:r>
            <a:endParaRPr lang="fr-FR" sz="2400" i="1" dirty="0" smtClean="0"/>
          </a:p>
          <a:p>
            <a:r>
              <a:rPr lang="fr-FR" dirty="0" err="1" smtClean="0"/>
              <a:t>Needs</a:t>
            </a:r>
            <a:r>
              <a:rPr lang="fr-FR" dirty="0" smtClean="0"/>
              <a:t> </a:t>
            </a:r>
            <a:r>
              <a:rPr lang="fr-FR" dirty="0" err="1" smtClean="0"/>
              <a:t>improvements</a:t>
            </a:r>
            <a:r>
              <a:rPr lang="fr-FR" dirty="0" smtClean="0"/>
              <a:t> on the </a:t>
            </a:r>
            <a:r>
              <a:rPr lang="fr-FR" dirty="0" err="1" smtClean="0"/>
              <a:t>way</a:t>
            </a:r>
            <a:r>
              <a:rPr lang="fr-FR" dirty="0" smtClean="0"/>
              <a:t> data are </a:t>
            </a:r>
            <a:r>
              <a:rPr lang="fr-FR" dirty="0" err="1" smtClean="0"/>
              <a:t>handled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400" i="1" dirty="0" smtClean="0"/>
              <a:t>More pandas, </a:t>
            </a:r>
            <a:r>
              <a:rPr lang="fr-FR" sz="2400" i="1" dirty="0" err="1" smtClean="0"/>
              <a:t>less</a:t>
            </a:r>
            <a:r>
              <a:rPr lang="fr-FR" sz="2400" i="1" dirty="0" smtClean="0"/>
              <a:t> SQL</a:t>
            </a:r>
          </a:p>
          <a:p>
            <a:endParaRPr lang="fr-FR" sz="2400" i="1" dirty="0"/>
          </a:p>
          <a:p>
            <a:r>
              <a:rPr lang="fr-FR" dirty="0" smtClean="0"/>
              <a:t>But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b="1" dirty="0" smtClean="0"/>
              <a:t>proof of concept</a:t>
            </a:r>
            <a:r>
              <a:rPr lang="fr-FR" dirty="0" smtClean="0"/>
              <a:t>!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15</a:t>
            </a:fld>
            <a:endParaRPr lang="fr-FR"/>
          </a:p>
        </p:txBody>
      </p:sp>
      <p:pic>
        <p:nvPicPr>
          <p:cNvPr id="5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3164" y="624262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41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fr-FR" dirty="0" err="1" smtClean="0"/>
              <a:t>Acknowledgments</a:t>
            </a:r>
            <a:r>
              <a:rPr lang="fr-FR" dirty="0" smtClean="0"/>
              <a:t> for Code </a:t>
            </a:r>
            <a:r>
              <a:rPr lang="fr-FR" dirty="0"/>
              <a:t>I</a:t>
            </a:r>
            <a:r>
              <a:rPr lang="fr-FR" dirty="0" smtClean="0"/>
              <a:t>nspiration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3172153"/>
            <a:ext cx="12468498" cy="1660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Our </a:t>
            </a:r>
            <a:r>
              <a:rPr lang="fr-FR" dirty="0" err="1"/>
              <a:t>t</a:t>
            </a:r>
            <a:r>
              <a:rPr lang="fr-FR" dirty="0" err="1" smtClean="0"/>
              <a:t>eacher’s</a:t>
            </a:r>
            <a:r>
              <a:rPr lang="fr-FR" smtClean="0"/>
              <a:t> instruction</a:t>
            </a:r>
            <a:endParaRPr lang="fr-FR" dirty="0" smtClean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7C06-EE9F-4526-9855-AC761131E361}" type="slidenum">
              <a:rPr lang="fr-FR" smtClean="0"/>
              <a:t>16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http://www.sec.gov/ecms/images/sec-logo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0" y="62484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camo.githubusercontent.com/25777962f8bafb1c14f9a5d2d90b195555011292/68747470733a2f2f7261772e6769746875622e636f6d2f7765696a69616e77656e2f534a54552d6c6f676f2d62616e6e65722f6d61737465722f534a54555f4c4f474f2f504e472f736a74756c6f676f626c75652e706e67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7636"/>
            <a:ext cx="591127" cy="5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692" y="753360"/>
            <a:ext cx="1539016" cy="2144530"/>
          </a:xfrm>
          <a:prstGeom prst="rect">
            <a:avLst/>
          </a:prstGeom>
        </p:spPr>
      </p:pic>
      <p:pic>
        <p:nvPicPr>
          <p:cNvPr id="2050" name="Picture 2" descr="https://avatars2.githubusercontent.com/u/365630?v=3&amp;s=4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033" y="3352800"/>
            <a:ext cx="36195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cdn.sstatic.net/Sites/stackoverflow/company/img/logos/so/so-logo.png?v=9c558ec15d8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81" y="4001294"/>
            <a:ext cx="6623338" cy="157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38199" y="1867319"/>
            <a:ext cx="3600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SciKit</a:t>
            </a:r>
            <a:r>
              <a:rPr lang="fr-FR" sz="2800" dirty="0"/>
              <a:t> </a:t>
            </a:r>
            <a:r>
              <a:rPr lang="fr-FR" sz="2800" dirty="0" err="1"/>
              <a:t>Learn</a:t>
            </a:r>
            <a:r>
              <a:rPr lang="fr-FR" sz="2800" dirty="0"/>
              <a:t> </a:t>
            </a:r>
            <a:r>
              <a:rPr lang="fr-FR" sz="2800" dirty="0" err="1"/>
              <a:t>website</a:t>
            </a:r>
            <a:endParaRPr lang="fr-FR" sz="2800" dirty="0"/>
          </a:p>
          <a:p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838199" y="2457253"/>
            <a:ext cx="41052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Stack</a:t>
            </a:r>
            <a:r>
              <a:rPr lang="fr-FR" sz="2800" dirty="0"/>
              <a:t> </a:t>
            </a:r>
            <a:r>
              <a:rPr lang="fr-FR" sz="2800" dirty="0" err="1"/>
              <a:t>Overflow</a:t>
            </a:r>
            <a:r>
              <a:rPr lang="fr-FR" sz="2800" dirty="0"/>
              <a:t> </a:t>
            </a:r>
            <a:r>
              <a:rPr lang="fr-FR" sz="2800" dirty="0" err="1"/>
              <a:t>website</a:t>
            </a:r>
            <a:endParaRPr lang="fr-FR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423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665</TotalTime>
  <Words>622</Words>
  <Application>Microsoft Macintosh PowerPoint</Application>
  <PresentationFormat>Personalizado</PresentationFormat>
  <Paragraphs>133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Office Theme</vt:lpstr>
      <vt:lpstr>EDGAR Financial Analysis Computing Project</vt:lpstr>
      <vt:lpstr>The Problem We Saw</vt:lpstr>
      <vt:lpstr>What is the Status Quo?</vt:lpstr>
      <vt:lpstr>Our Solution</vt:lpstr>
      <vt:lpstr>The Data Sets</vt:lpstr>
      <vt:lpstr>Our Desired Output – Where the Value Lies</vt:lpstr>
      <vt:lpstr>How Does Our Program Work?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PCA Results for Computer Companies 2015 Q4</vt:lpstr>
      <vt:lpstr>How the Data will be Used</vt:lpstr>
      <vt:lpstr>Problems with Our Program and Potential for Version 2</vt:lpstr>
      <vt:lpstr>Acknowledgments for Code Inspiration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Multon</dc:creator>
  <cp:lastModifiedBy>zi qiang zhu</cp:lastModifiedBy>
  <cp:revision>26</cp:revision>
  <dcterms:created xsi:type="dcterms:W3CDTF">2016-06-07T15:48:04Z</dcterms:created>
  <dcterms:modified xsi:type="dcterms:W3CDTF">2016-06-12T04:56:39Z</dcterms:modified>
</cp:coreProperties>
</file>