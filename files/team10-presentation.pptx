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62" r:id="rId6"/>
    <p:sldId id="261" r:id="rId7"/>
    <p:sldId id="263" r:id="rId8"/>
    <p:sldId id="264" r:id="rId9"/>
    <p:sldId id="265" r:id="rId10"/>
    <p:sldId id="266" r:id="rId11"/>
    <p:sldId id="267" r:id="rId12"/>
    <p:sldId id="268" r:id="rId13"/>
    <p:sldId id="272" r:id="rId14"/>
    <p:sldId id="273" r:id="rId15"/>
    <p:sldId id="274" r:id="rId16"/>
    <p:sldId id="269" r:id="rId17"/>
    <p:sldId id="270" r:id="rId18"/>
    <p:sldId id="271"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A61721-D71E-464A-A957-956B4D535136}" type="datetimeFigureOut">
              <a:rPr lang="zh-CN" altLang="en-US" smtClean="0"/>
              <a:t>2016/6/10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C936B8-81FD-4B59-B028-4257EDB452A1}" type="slidenum">
              <a:rPr lang="zh-CN" altLang="en-US" smtClean="0"/>
              <a:t>‹#›</a:t>
            </a:fld>
            <a:endParaRPr lang="zh-CN" altLang="en-US"/>
          </a:p>
        </p:txBody>
      </p:sp>
    </p:spTree>
    <p:extLst>
      <p:ext uri="{BB962C8B-B14F-4D97-AF65-F5344CB8AC3E}">
        <p14:creationId xmlns:p14="http://schemas.microsoft.com/office/powerpoint/2010/main" val="4074620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BA95F5C-132B-4896-9DC0-7955A099A3EC}" type="slidenum">
              <a:rPr lang="zh-CN" altLang="en-US" smtClean="0"/>
              <a:t>13</a:t>
            </a:fld>
            <a:endParaRPr lang="zh-CN" altLang="en-US"/>
          </a:p>
        </p:txBody>
      </p:sp>
    </p:spTree>
    <p:extLst>
      <p:ext uri="{BB962C8B-B14F-4D97-AF65-F5344CB8AC3E}">
        <p14:creationId xmlns:p14="http://schemas.microsoft.com/office/powerpoint/2010/main" val="25472758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FACBA848-E4E1-44E8-BA0E-CF8345859DF1}" type="datetimeFigureOut">
              <a:rPr lang="zh-CN" altLang="en-US" smtClean="0"/>
              <a:t>2016/6/10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53461E5-98B7-42DC-AEFC-38D70785BBF2}" type="slidenum">
              <a:rPr lang="zh-CN" altLang="en-US" smtClean="0"/>
              <a:t>‹#›</a:t>
            </a:fld>
            <a:endParaRPr lang="zh-CN" altLang="en-US"/>
          </a:p>
        </p:txBody>
      </p:sp>
    </p:spTree>
    <p:extLst>
      <p:ext uri="{BB962C8B-B14F-4D97-AF65-F5344CB8AC3E}">
        <p14:creationId xmlns:p14="http://schemas.microsoft.com/office/powerpoint/2010/main" val="17530412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ACBA848-E4E1-44E8-BA0E-CF8345859DF1}" type="datetimeFigureOut">
              <a:rPr lang="zh-CN" altLang="en-US" smtClean="0"/>
              <a:t>2016/6/10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53461E5-98B7-42DC-AEFC-38D70785BBF2}" type="slidenum">
              <a:rPr lang="zh-CN" altLang="en-US" smtClean="0"/>
              <a:t>‹#›</a:t>
            </a:fld>
            <a:endParaRPr lang="zh-CN" altLang="en-US"/>
          </a:p>
        </p:txBody>
      </p:sp>
    </p:spTree>
    <p:extLst>
      <p:ext uri="{BB962C8B-B14F-4D97-AF65-F5344CB8AC3E}">
        <p14:creationId xmlns:p14="http://schemas.microsoft.com/office/powerpoint/2010/main" val="3704104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FACBA848-E4E1-44E8-BA0E-CF8345859DF1}" type="datetimeFigureOut">
              <a:rPr lang="zh-CN" altLang="en-US" smtClean="0"/>
              <a:t>2016/6/10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53461E5-98B7-42DC-AEFC-38D70785BBF2}" type="slidenum">
              <a:rPr lang="zh-CN" altLang="en-US" smtClean="0"/>
              <a:t>‹#›</a:t>
            </a:fld>
            <a:endParaRPr lang="zh-CN" altLang="en-US"/>
          </a:p>
        </p:txBody>
      </p:sp>
    </p:spTree>
    <p:extLst>
      <p:ext uri="{BB962C8B-B14F-4D97-AF65-F5344CB8AC3E}">
        <p14:creationId xmlns:p14="http://schemas.microsoft.com/office/powerpoint/2010/main" val="4142347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FACBA848-E4E1-44E8-BA0E-CF8345859DF1}" type="datetimeFigureOut">
              <a:rPr lang="zh-CN" altLang="en-US" smtClean="0"/>
              <a:t>2016/6/10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53461E5-98B7-42DC-AEFC-38D70785BBF2}" type="slidenum">
              <a:rPr lang="zh-CN" altLang="en-US" smtClean="0"/>
              <a:t>‹#›</a:t>
            </a:fld>
            <a:endParaRPr lang="zh-CN" altLang="en-US"/>
          </a:p>
        </p:txBody>
      </p:sp>
    </p:spTree>
    <p:extLst>
      <p:ext uri="{BB962C8B-B14F-4D97-AF65-F5344CB8AC3E}">
        <p14:creationId xmlns:p14="http://schemas.microsoft.com/office/powerpoint/2010/main" val="2447015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ACBA848-E4E1-44E8-BA0E-CF8345859DF1}" type="datetimeFigureOut">
              <a:rPr lang="zh-CN" altLang="en-US" smtClean="0"/>
              <a:t>2016/6/10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53461E5-98B7-42DC-AEFC-38D70785BBF2}" type="slidenum">
              <a:rPr lang="zh-CN" altLang="en-US" smtClean="0"/>
              <a:t>‹#›</a:t>
            </a:fld>
            <a:endParaRPr lang="zh-CN" altLang="en-US"/>
          </a:p>
        </p:txBody>
      </p:sp>
    </p:spTree>
    <p:extLst>
      <p:ext uri="{BB962C8B-B14F-4D97-AF65-F5344CB8AC3E}">
        <p14:creationId xmlns:p14="http://schemas.microsoft.com/office/powerpoint/2010/main" val="116156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ACBA848-E4E1-44E8-BA0E-CF8345859DF1}" type="datetimeFigureOut">
              <a:rPr lang="zh-CN" altLang="en-US" smtClean="0"/>
              <a:t>2016/6/10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53461E5-98B7-42DC-AEFC-38D70785BBF2}" type="slidenum">
              <a:rPr lang="zh-CN" altLang="en-US" smtClean="0"/>
              <a:t>‹#›</a:t>
            </a:fld>
            <a:endParaRPr lang="zh-CN" altLang="en-US"/>
          </a:p>
        </p:txBody>
      </p:sp>
    </p:spTree>
    <p:extLst>
      <p:ext uri="{BB962C8B-B14F-4D97-AF65-F5344CB8AC3E}">
        <p14:creationId xmlns:p14="http://schemas.microsoft.com/office/powerpoint/2010/main" val="1552985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ACBA848-E4E1-44E8-BA0E-CF8345859DF1}" type="datetimeFigureOut">
              <a:rPr lang="zh-CN" altLang="en-US" smtClean="0"/>
              <a:t>2016/6/10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53461E5-98B7-42DC-AEFC-38D70785BBF2}" type="slidenum">
              <a:rPr lang="zh-CN" altLang="en-US" smtClean="0"/>
              <a:t>‹#›</a:t>
            </a:fld>
            <a:endParaRPr lang="zh-CN" altLang="en-US"/>
          </a:p>
        </p:txBody>
      </p:sp>
    </p:spTree>
    <p:extLst>
      <p:ext uri="{BB962C8B-B14F-4D97-AF65-F5344CB8AC3E}">
        <p14:creationId xmlns:p14="http://schemas.microsoft.com/office/powerpoint/2010/main" val="125270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FACBA848-E4E1-44E8-BA0E-CF8345859DF1}" type="datetimeFigureOut">
              <a:rPr lang="zh-CN" altLang="en-US" smtClean="0"/>
              <a:t>2016/6/10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53461E5-98B7-42DC-AEFC-38D70785BBF2}" type="slidenum">
              <a:rPr lang="zh-CN" altLang="en-US" smtClean="0"/>
              <a:t>‹#›</a:t>
            </a:fld>
            <a:endParaRPr lang="zh-CN" altLang="en-US"/>
          </a:p>
        </p:txBody>
      </p:sp>
    </p:spTree>
    <p:extLst>
      <p:ext uri="{BB962C8B-B14F-4D97-AF65-F5344CB8AC3E}">
        <p14:creationId xmlns:p14="http://schemas.microsoft.com/office/powerpoint/2010/main" val="20001645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FACBA848-E4E1-44E8-BA0E-CF8345859DF1}" type="datetimeFigureOut">
              <a:rPr lang="zh-CN" altLang="en-US" smtClean="0"/>
              <a:t>2016/6/10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53461E5-98B7-42DC-AEFC-38D70785BBF2}" type="slidenum">
              <a:rPr lang="zh-CN" altLang="en-US" smtClean="0"/>
              <a:t>‹#›</a:t>
            </a:fld>
            <a:endParaRPr lang="zh-CN" altLang="en-US"/>
          </a:p>
        </p:txBody>
      </p:sp>
    </p:spTree>
    <p:extLst>
      <p:ext uri="{BB962C8B-B14F-4D97-AF65-F5344CB8AC3E}">
        <p14:creationId xmlns:p14="http://schemas.microsoft.com/office/powerpoint/2010/main" val="38252388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ACBA848-E4E1-44E8-BA0E-CF8345859DF1}" type="datetimeFigureOut">
              <a:rPr lang="zh-CN" altLang="en-US" smtClean="0"/>
              <a:t>2016/6/10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53461E5-98B7-42DC-AEFC-38D70785BBF2}" type="slidenum">
              <a:rPr lang="zh-CN" altLang="en-US" smtClean="0"/>
              <a:t>‹#›</a:t>
            </a:fld>
            <a:endParaRPr lang="zh-CN" altLang="en-US"/>
          </a:p>
        </p:txBody>
      </p:sp>
    </p:spTree>
    <p:extLst>
      <p:ext uri="{BB962C8B-B14F-4D97-AF65-F5344CB8AC3E}">
        <p14:creationId xmlns:p14="http://schemas.microsoft.com/office/powerpoint/2010/main" val="1573776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ACBA848-E4E1-44E8-BA0E-CF8345859DF1}" type="datetimeFigureOut">
              <a:rPr lang="zh-CN" altLang="en-US" smtClean="0"/>
              <a:t>2016/6/10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53461E5-98B7-42DC-AEFC-38D70785BBF2}" type="slidenum">
              <a:rPr lang="zh-CN" altLang="en-US" smtClean="0"/>
              <a:t>‹#›</a:t>
            </a:fld>
            <a:endParaRPr lang="zh-CN" altLang="en-US"/>
          </a:p>
        </p:txBody>
      </p:sp>
    </p:spTree>
    <p:extLst>
      <p:ext uri="{BB962C8B-B14F-4D97-AF65-F5344CB8AC3E}">
        <p14:creationId xmlns:p14="http://schemas.microsoft.com/office/powerpoint/2010/main" val="4051333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CBA848-E4E1-44E8-BA0E-CF8345859DF1}" type="datetimeFigureOut">
              <a:rPr lang="zh-CN" altLang="en-US" smtClean="0"/>
              <a:t>2016/6/10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3461E5-98B7-42DC-AEFC-38D70785BBF2}" type="slidenum">
              <a:rPr lang="zh-CN" altLang="en-US" smtClean="0"/>
              <a:t>‹#›</a:t>
            </a:fld>
            <a:endParaRPr lang="zh-CN" altLang="en-US"/>
          </a:p>
        </p:txBody>
      </p:sp>
    </p:spTree>
    <p:extLst>
      <p:ext uri="{BB962C8B-B14F-4D97-AF65-F5344CB8AC3E}">
        <p14:creationId xmlns:p14="http://schemas.microsoft.com/office/powerpoint/2010/main" val="11697285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601595"/>
            <a:ext cx="9906000" cy="2387600"/>
          </a:xfrm>
        </p:spPr>
        <p:txBody>
          <a:bodyPr>
            <a:normAutofit/>
          </a:bodyPr>
          <a:lstStyle/>
          <a:p>
            <a:r>
              <a:rPr lang="en-US" altLang="zh-CN" dirty="0">
                <a:solidFill>
                  <a:schemeClr val="accent2">
                    <a:lumMod val="50000"/>
                  </a:schemeClr>
                </a:solidFill>
                <a:latin typeface="Berlin Sans FB" panose="020E0602020502020306" pitchFamily="34" charset="0"/>
              </a:rPr>
              <a:t>The prediction of return on stock price——Two approaches</a:t>
            </a:r>
            <a:endParaRPr lang="zh-CN" altLang="en-US" dirty="0">
              <a:solidFill>
                <a:schemeClr val="accent2">
                  <a:lumMod val="50000"/>
                </a:schemeClr>
              </a:solidFill>
              <a:latin typeface="Berlin Sans FB" panose="020E0602020502020306" pitchFamily="34" charset="0"/>
            </a:endParaRPr>
          </a:p>
        </p:txBody>
      </p:sp>
      <p:sp>
        <p:nvSpPr>
          <p:cNvPr id="10" name="文本框 9"/>
          <p:cNvSpPr txBox="1"/>
          <p:nvPr/>
        </p:nvSpPr>
        <p:spPr>
          <a:xfrm>
            <a:off x="4528102" y="4221804"/>
            <a:ext cx="3135795" cy="1631216"/>
          </a:xfrm>
          <a:prstGeom prst="rect">
            <a:avLst/>
          </a:prstGeom>
          <a:noFill/>
        </p:spPr>
        <p:txBody>
          <a:bodyPr wrap="none" rtlCol="0">
            <a:spAutoFit/>
          </a:bodyPr>
          <a:lstStyle/>
          <a:p>
            <a:r>
              <a:rPr lang="en-US" altLang="zh-CN" sz="2000" dirty="0">
                <a:solidFill>
                  <a:schemeClr val="accent2">
                    <a:lumMod val="50000"/>
                  </a:schemeClr>
                </a:solidFill>
                <a:latin typeface="Berlin Sans FB" panose="020E0602020502020306" pitchFamily="34" charset="0"/>
              </a:rPr>
              <a:t>Team10</a:t>
            </a:r>
          </a:p>
          <a:p>
            <a:r>
              <a:rPr lang="zh-CN" altLang="en-US" sz="2000" dirty="0">
                <a:solidFill>
                  <a:schemeClr val="accent2">
                    <a:lumMod val="50000"/>
                  </a:schemeClr>
                </a:solidFill>
                <a:latin typeface="Berlin Sans FB" panose="020E0602020502020306" pitchFamily="34" charset="0"/>
              </a:rPr>
              <a:t>赖亚王</a:t>
            </a:r>
            <a:r>
              <a:rPr lang="en-US" altLang="zh-CN" sz="2000" dirty="0">
                <a:solidFill>
                  <a:schemeClr val="accent2">
                    <a:lumMod val="50000"/>
                  </a:schemeClr>
                </a:solidFill>
                <a:latin typeface="Berlin Sans FB" panose="020E0602020502020306" pitchFamily="34" charset="0"/>
              </a:rPr>
              <a:t>, 5130719085 </a:t>
            </a:r>
          </a:p>
          <a:p>
            <a:r>
              <a:rPr lang="zh-CN" altLang="en-US" sz="2000" dirty="0">
                <a:solidFill>
                  <a:schemeClr val="accent2">
                    <a:lumMod val="50000"/>
                  </a:schemeClr>
                </a:solidFill>
                <a:latin typeface="Berlin Sans FB" panose="020E0602020502020306" pitchFamily="34" charset="0"/>
              </a:rPr>
              <a:t>邓凡意</a:t>
            </a:r>
            <a:r>
              <a:rPr lang="en-US" altLang="zh-CN" sz="2000" dirty="0">
                <a:solidFill>
                  <a:schemeClr val="accent2">
                    <a:lumMod val="50000"/>
                  </a:schemeClr>
                </a:solidFill>
                <a:latin typeface="Berlin Sans FB" panose="020E0602020502020306" pitchFamily="34" charset="0"/>
              </a:rPr>
              <a:t>, 515120910159</a:t>
            </a:r>
            <a:r>
              <a:rPr lang="zh-CN" altLang="en-US" sz="2000" dirty="0">
                <a:solidFill>
                  <a:schemeClr val="accent2">
                    <a:lumMod val="50000"/>
                  </a:schemeClr>
                </a:solidFill>
                <a:latin typeface="Berlin Sans FB" panose="020E0602020502020306" pitchFamily="34" charset="0"/>
              </a:rPr>
              <a:t> </a:t>
            </a:r>
            <a:endParaRPr lang="en-US" altLang="zh-CN" sz="2000" dirty="0">
              <a:solidFill>
                <a:schemeClr val="accent2">
                  <a:lumMod val="50000"/>
                </a:schemeClr>
              </a:solidFill>
              <a:latin typeface="Berlin Sans FB" panose="020E0602020502020306" pitchFamily="34" charset="0"/>
            </a:endParaRPr>
          </a:p>
          <a:p>
            <a:r>
              <a:rPr lang="zh-CN" altLang="en-US" sz="2000" dirty="0">
                <a:solidFill>
                  <a:schemeClr val="accent2">
                    <a:lumMod val="50000"/>
                  </a:schemeClr>
                </a:solidFill>
                <a:latin typeface="Berlin Sans FB" panose="020E0602020502020306" pitchFamily="34" charset="0"/>
              </a:rPr>
              <a:t>刘益鹏</a:t>
            </a:r>
            <a:r>
              <a:rPr lang="en-US" altLang="zh-CN" sz="2000" dirty="0">
                <a:solidFill>
                  <a:schemeClr val="accent2">
                    <a:lumMod val="50000"/>
                  </a:schemeClr>
                </a:solidFill>
                <a:latin typeface="Berlin Sans FB" panose="020E0602020502020306" pitchFamily="34" charset="0"/>
              </a:rPr>
              <a:t>, 515120910200</a:t>
            </a:r>
            <a:r>
              <a:rPr lang="zh-CN" altLang="en-US" sz="2000" dirty="0">
                <a:solidFill>
                  <a:schemeClr val="accent2">
                    <a:lumMod val="50000"/>
                  </a:schemeClr>
                </a:solidFill>
                <a:latin typeface="Berlin Sans FB" panose="020E0602020502020306" pitchFamily="34" charset="0"/>
              </a:rPr>
              <a:t> </a:t>
            </a:r>
            <a:endParaRPr lang="en-US" altLang="zh-CN" sz="2000" dirty="0">
              <a:solidFill>
                <a:schemeClr val="accent2">
                  <a:lumMod val="50000"/>
                </a:schemeClr>
              </a:solidFill>
              <a:latin typeface="Berlin Sans FB" panose="020E0602020502020306" pitchFamily="34" charset="0"/>
            </a:endParaRPr>
          </a:p>
          <a:p>
            <a:r>
              <a:rPr lang="en-US" altLang="zh-CN" sz="2000" dirty="0">
                <a:solidFill>
                  <a:schemeClr val="accent2">
                    <a:lumMod val="50000"/>
                  </a:schemeClr>
                </a:solidFill>
                <a:latin typeface="Berlin Sans FB" panose="020E0602020502020306" pitchFamily="34" charset="0"/>
              </a:rPr>
              <a:t>LINJIANG LI, 713120990034 </a:t>
            </a:r>
            <a:endParaRPr lang="zh-CN" altLang="en-US" sz="2000" dirty="0">
              <a:solidFill>
                <a:schemeClr val="accent2">
                  <a:lumMod val="50000"/>
                </a:schemeClr>
              </a:solidFill>
              <a:latin typeface="Berlin Sans FB" panose="020E0602020502020306" pitchFamily="34" charset="0"/>
            </a:endParaRPr>
          </a:p>
        </p:txBody>
      </p:sp>
    </p:spTree>
    <p:extLst>
      <p:ext uri="{BB962C8B-B14F-4D97-AF65-F5344CB8AC3E}">
        <p14:creationId xmlns:p14="http://schemas.microsoft.com/office/powerpoint/2010/main" val="26157962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970383" y="2500604"/>
            <a:ext cx="3331029" cy="1632857"/>
          </a:xfrm>
          <a:prstGeom prst="roundRect">
            <a:avLst/>
          </a:prstGeom>
          <a:blipFill>
            <a:blip r:embed="rId2"/>
            <a:tile tx="0" ty="0" sx="100000" sy="100000" flip="none" algn="tl"/>
          </a:blip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2800" dirty="0">
                <a:solidFill>
                  <a:schemeClr val="accent2">
                    <a:lumMod val="50000"/>
                  </a:schemeClr>
                </a:solidFill>
                <a:latin typeface="Berlin Sans FB" panose="020E0602020502020306" pitchFamily="34" charset="0"/>
              </a:rPr>
              <a:t>Prediction of stock prices via coding and data analysis</a:t>
            </a:r>
          </a:p>
        </p:txBody>
      </p:sp>
      <p:sp>
        <p:nvSpPr>
          <p:cNvPr id="3" name="圆角矩形 2"/>
          <p:cNvSpPr/>
          <p:nvPr/>
        </p:nvSpPr>
        <p:spPr>
          <a:xfrm>
            <a:off x="6901543" y="4133461"/>
            <a:ext cx="3772677" cy="1819470"/>
          </a:xfrm>
          <a:prstGeom prst="roundRect">
            <a:avLst/>
          </a:prstGeom>
          <a:blipFill>
            <a:blip r:embed="rId2"/>
            <a:tile tx="0" ty="0" sx="100000" sy="100000" flip="none" algn="tl"/>
          </a:blip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2400" dirty="0">
                <a:solidFill>
                  <a:schemeClr val="accent2">
                    <a:lumMod val="50000"/>
                  </a:schemeClr>
                </a:solidFill>
                <a:latin typeface="Berlin Sans FB" panose="020E0602020502020306" pitchFamily="34" charset="0"/>
              </a:rPr>
              <a:t>Regression: Using ARMA model</a:t>
            </a:r>
            <a:endParaRPr lang="zh-CN" altLang="en-US" sz="2400" dirty="0">
              <a:solidFill>
                <a:schemeClr val="accent2">
                  <a:lumMod val="50000"/>
                </a:schemeClr>
              </a:solidFill>
              <a:latin typeface="Berlin Sans FB" panose="020E0602020502020306" pitchFamily="34" charset="0"/>
            </a:endParaRPr>
          </a:p>
        </p:txBody>
      </p:sp>
      <p:sp>
        <p:nvSpPr>
          <p:cNvPr id="4" name="圆角矩形 3"/>
          <p:cNvSpPr/>
          <p:nvPr/>
        </p:nvSpPr>
        <p:spPr>
          <a:xfrm>
            <a:off x="6901543" y="653143"/>
            <a:ext cx="3772677" cy="1847461"/>
          </a:xfrm>
          <a:prstGeom prst="roundRect">
            <a:avLst/>
          </a:prstGeom>
          <a:blipFill>
            <a:blip r:embed="rId2"/>
            <a:tile tx="0" ty="0" sx="100000" sy="100000" flip="none" algn="tl"/>
          </a:blip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2400" dirty="0">
                <a:solidFill>
                  <a:schemeClr val="accent2">
                    <a:lumMod val="50000"/>
                  </a:schemeClr>
                </a:solidFill>
                <a:latin typeface="Berlin Sans FB" panose="020E0602020502020306" pitchFamily="34" charset="0"/>
              </a:rPr>
              <a:t>Classification: SVM using features of  stock prices and market conditions from the past</a:t>
            </a:r>
            <a:endParaRPr lang="zh-CN" altLang="en-US" sz="2400" dirty="0">
              <a:solidFill>
                <a:schemeClr val="accent2">
                  <a:lumMod val="50000"/>
                </a:schemeClr>
              </a:solidFill>
              <a:latin typeface="Berlin Sans FB" panose="020E0602020502020306" pitchFamily="34" charset="0"/>
            </a:endParaRPr>
          </a:p>
        </p:txBody>
      </p:sp>
      <p:cxnSp>
        <p:nvCxnSpPr>
          <p:cNvPr id="6" name="直接箭头连接符 5"/>
          <p:cNvCxnSpPr>
            <a:stCxn id="2" idx="3"/>
            <a:endCxn id="4" idx="1"/>
          </p:cNvCxnSpPr>
          <p:nvPr/>
        </p:nvCxnSpPr>
        <p:spPr>
          <a:xfrm flipV="1">
            <a:off x="4301412" y="1576874"/>
            <a:ext cx="2600131" cy="1740159"/>
          </a:xfrm>
          <a:prstGeom prst="straightConnector1">
            <a:avLst/>
          </a:prstGeom>
          <a:ln w="76200">
            <a:solidFill>
              <a:schemeClr val="accent2">
                <a:lumMod val="50000"/>
              </a:schemeClr>
            </a:solidFill>
            <a:tailEnd type="triangle"/>
          </a:ln>
          <a:effectLst>
            <a:outerShdw blurRad="190500" dist="228600" dir="2700000" algn="ctr">
              <a:srgbClr val="000000">
                <a:alpha val="30000"/>
              </a:srgbClr>
            </a:outerShdw>
          </a:effectLst>
        </p:spPr>
        <p:style>
          <a:lnRef idx="1">
            <a:schemeClr val="accent1"/>
          </a:lnRef>
          <a:fillRef idx="0">
            <a:schemeClr val="accent1"/>
          </a:fillRef>
          <a:effectRef idx="0">
            <a:schemeClr val="accent1"/>
          </a:effectRef>
          <a:fontRef idx="minor">
            <a:schemeClr val="tx1"/>
          </a:fontRef>
        </p:style>
      </p:cxnSp>
      <p:cxnSp>
        <p:nvCxnSpPr>
          <p:cNvPr id="9" name="直接箭头连接符 8"/>
          <p:cNvCxnSpPr>
            <a:stCxn id="2" idx="3"/>
            <a:endCxn id="3" idx="1"/>
          </p:cNvCxnSpPr>
          <p:nvPr/>
        </p:nvCxnSpPr>
        <p:spPr>
          <a:xfrm>
            <a:off x="4301412" y="3317033"/>
            <a:ext cx="2600131" cy="1726163"/>
          </a:xfrm>
          <a:prstGeom prst="straightConnector1">
            <a:avLst/>
          </a:prstGeom>
          <a:ln w="76200">
            <a:solidFill>
              <a:schemeClr val="accent2">
                <a:lumMod val="50000"/>
              </a:schemeClr>
            </a:solidFill>
            <a:tailEnd type="triangle"/>
          </a:ln>
          <a:effectLst>
            <a:outerShdw blurRad="190500" dist="228600" dir="2700000" algn="ctr">
              <a:srgbClr val="000000">
                <a:alpha val="30000"/>
              </a:srgb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886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dirty="0">
                <a:solidFill>
                  <a:schemeClr val="accent2">
                    <a:lumMod val="50000"/>
                  </a:schemeClr>
                </a:solidFill>
                <a:latin typeface="Berlin Sans FB" panose="020E0602020502020306" pitchFamily="34" charset="0"/>
              </a:rPr>
              <a:t>First Step: Get information and handle information</a:t>
            </a:r>
            <a:endParaRPr lang="zh-CN" altLang="en-US" sz="3600" dirty="0">
              <a:solidFill>
                <a:schemeClr val="accent2">
                  <a:lumMod val="50000"/>
                </a:schemeClr>
              </a:solidFill>
              <a:latin typeface="Berlin Sans FB" panose="020E0602020502020306" pitchFamily="34" charset="0"/>
            </a:endParaRPr>
          </a:p>
        </p:txBody>
      </p:sp>
      <p:sp>
        <p:nvSpPr>
          <p:cNvPr id="3" name="内容占位符 2"/>
          <p:cNvSpPr>
            <a:spLocks noGrp="1"/>
          </p:cNvSpPr>
          <p:nvPr>
            <p:ph idx="1"/>
          </p:nvPr>
        </p:nvSpPr>
        <p:spPr/>
        <p:txBody>
          <a:bodyPr/>
          <a:lstStyle/>
          <a:p>
            <a:r>
              <a:rPr lang="en-US" altLang="zh-CN" dirty="0">
                <a:solidFill>
                  <a:schemeClr val="accent2">
                    <a:lumMod val="50000"/>
                  </a:schemeClr>
                </a:solidFill>
                <a:latin typeface="Berlin Sans FB" panose="020E0602020502020306" pitchFamily="34" charset="0"/>
              </a:rPr>
              <a:t>Get stock information from Yahoo:</a:t>
            </a:r>
          </a:p>
          <a:p>
            <a:endParaRPr lang="en-US" altLang="zh-CN" dirty="0">
              <a:solidFill>
                <a:schemeClr val="accent2">
                  <a:lumMod val="50000"/>
                </a:schemeClr>
              </a:solidFill>
              <a:latin typeface="Berlin Sans FB" panose="020E0602020502020306" pitchFamily="34" charset="0"/>
            </a:endParaRPr>
          </a:p>
          <a:p>
            <a:endParaRPr lang="en-US" altLang="zh-CN" dirty="0">
              <a:solidFill>
                <a:schemeClr val="accent2">
                  <a:lumMod val="50000"/>
                </a:schemeClr>
              </a:solidFill>
              <a:latin typeface="Berlin Sans FB" panose="020E0602020502020306" pitchFamily="34" charset="0"/>
            </a:endParaRPr>
          </a:p>
          <a:p>
            <a:endParaRPr lang="en-US" altLang="zh-CN" dirty="0">
              <a:solidFill>
                <a:schemeClr val="accent2">
                  <a:lumMod val="50000"/>
                </a:schemeClr>
              </a:solidFill>
              <a:latin typeface="Berlin Sans FB" panose="020E0602020502020306" pitchFamily="34" charset="0"/>
            </a:endParaRPr>
          </a:p>
          <a:p>
            <a:r>
              <a:rPr lang="en-US" altLang="zh-CN" dirty="0">
                <a:solidFill>
                  <a:schemeClr val="accent2">
                    <a:lumMod val="50000"/>
                  </a:schemeClr>
                </a:solidFill>
                <a:latin typeface="Berlin Sans FB" panose="020E0602020502020306" pitchFamily="34" charset="0"/>
              </a:rPr>
              <a:t>Read local csv file directly:</a:t>
            </a:r>
          </a:p>
          <a:p>
            <a:endParaRPr lang="en-US" altLang="zh-CN" dirty="0">
              <a:solidFill>
                <a:schemeClr val="accent2">
                  <a:lumMod val="50000"/>
                </a:schemeClr>
              </a:solidFill>
              <a:latin typeface="Berlin Sans FB" panose="020E0602020502020306" pitchFamily="34" charset="0"/>
            </a:endParaRPr>
          </a:p>
          <a:p>
            <a:r>
              <a:rPr lang="en-US" altLang="zh-CN" dirty="0">
                <a:solidFill>
                  <a:schemeClr val="accent2">
                    <a:lumMod val="50000"/>
                  </a:schemeClr>
                </a:solidFill>
                <a:latin typeface="Berlin Sans FB" panose="020E0602020502020306" pitchFamily="34" charset="0"/>
              </a:rPr>
              <a:t>Calculate the log return of the asset:</a:t>
            </a:r>
          </a:p>
          <a:p>
            <a:endParaRPr lang="zh-CN" altLang="en-US" dirty="0"/>
          </a:p>
        </p:txBody>
      </p:sp>
      <p:pic>
        <p:nvPicPr>
          <p:cNvPr id="4" name="图片 3"/>
          <p:cNvPicPr>
            <a:picLocks noChangeAspect="1"/>
          </p:cNvPicPr>
          <p:nvPr/>
        </p:nvPicPr>
        <p:blipFill>
          <a:blip r:embed="rId2">
            <a:duotone>
              <a:prstClr val="black"/>
              <a:schemeClr val="accent3">
                <a:tint val="45000"/>
                <a:satMod val="400000"/>
              </a:schemeClr>
            </a:duotone>
          </a:blip>
          <a:stretch>
            <a:fillRect/>
          </a:stretch>
        </p:blipFill>
        <p:spPr>
          <a:xfrm>
            <a:off x="838200" y="2227731"/>
            <a:ext cx="7806354" cy="1299240"/>
          </a:xfrm>
          <a:prstGeom prst="rect">
            <a:avLst/>
          </a:prstGeom>
        </p:spPr>
      </p:pic>
      <p:pic>
        <p:nvPicPr>
          <p:cNvPr id="5" name="图片 4"/>
          <p:cNvPicPr>
            <a:picLocks noChangeAspect="1"/>
          </p:cNvPicPr>
          <p:nvPr/>
        </p:nvPicPr>
        <p:blipFill>
          <a:blip r:embed="rId3">
            <a:duotone>
              <a:prstClr val="black"/>
              <a:schemeClr val="accent3">
                <a:tint val="45000"/>
                <a:satMod val="400000"/>
              </a:schemeClr>
            </a:duotone>
          </a:blip>
          <a:stretch>
            <a:fillRect/>
          </a:stretch>
        </p:blipFill>
        <p:spPr>
          <a:xfrm>
            <a:off x="838200" y="4303101"/>
            <a:ext cx="7806354" cy="399527"/>
          </a:xfrm>
          <a:prstGeom prst="rect">
            <a:avLst/>
          </a:prstGeom>
        </p:spPr>
      </p:pic>
      <p:pic>
        <p:nvPicPr>
          <p:cNvPr id="6" name="图片 5"/>
          <p:cNvPicPr>
            <a:picLocks noChangeAspect="1"/>
          </p:cNvPicPr>
          <p:nvPr/>
        </p:nvPicPr>
        <p:blipFill>
          <a:blip r:embed="rId4">
            <a:duotone>
              <a:prstClr val="black"/>
              <a:schemeClr val="accent3">
                <a:tint val="45000"/>
                <a:satMod val="400000"/>
              </a:schemeClr>
            </a:duotone>
          </a:blip>
          <a:stretch>
            <a:fillRect/>
          </a:stretch>
        </p:blipFill>
        <p:spPr>
          <a:xfrm>
            <a:off x="838200" y="5443145"/>
            <a:ext cx="7806354" cy="1119401"/>
          </a:xfrm>
          <a:prstGeom prst="rect">
            <a:avLst/>
          </a:prstGeom>
        </p:spPr>
      </p:pic>
    </p:spTree>
    <p:extLst>
      <p:ext uri="{BB962C8B-B14F-4D97-AF65-F5344CB8AC3E}">
        <p14:creationId xmlns:p14="http://schemas.microsoft.com/office/powerpoint/2010/main" val="1989623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accent2">
                    <a:lumMod val="50000"/>
                  </a:schemeClr>
                </a:solidFill>
                <a:latin typeface="Berlin Sans FB" panose="020E0602020502020306" pitchFamily="34" charset="0"/>
              </a:rPr>
              <a:t>SVM Classification Method: Introduction</a:t>
            </a:r>
            <a:endParaRPr lang="zh-CN" altLang="en-US" dirty="0">
              <a:solidFill>
                <a:schemeClr val="accent2">
                  <a:lumMod val="50000"/>
                </a:schemeClr>
              </a:solidFill>
              <a:latin typeface="Berlin Sans FB" panose="020E0602020502020306" pitchFamily="34" charset="0"/>
            </a:endParaRPr>
          </a:p>
        </p:txBody>
      </p:sp>
      <p:sp>
        <p:nvSpPr>
          <p:cNvPr id="3" name="内容占位符 2"/>
          <p:cNvSpPr>
            <a:spLocks noGrp="1"/>
          </p:cNvSpPr>
          <p:nvPr>
            <p:ph idx="1"/>
          </p:nvPr>
        </p:nvSpPr>
        <p:spPr/>
        <p:txBody>
          <a:bodyPr/>
          <a:lstStyle/>
          <a:p>
            <a:pPr marL="0" indent="0">
              <a:buNone/>
            </a:pPr>
            <a:r>
              <a:rPr lang="en-US" altLang="zh-CN" sz="3600" u="sng" dirty="0">
                <a:solidFill>
                  <a:schemeClr val="accent2">
                    <a:lumMod val="50000"/>
                  </a:schemeClr>
                </a:solidFill>
                <a:latin typeface="Berlin Sans FB" panose="020E0602020502020306" pitchFamily="34" charset="0"/>
              </a:rPr>
              <a:t>support vector machines (SVM):</a:t>
            </a:r>
          </a:p>
          <a:p>
            <a:r>
              <a:rPr lang="en-US" altLang="zh-CN" dirty="0">
                <a:solidFill>
                  <a:schemeClr val="accent2">
                    <a:lumMod val="50000"/>
                  </a:schemeClr>
                </a:solidFill>
                <a:latin typeface="Berlin Sans FB" panose="020E0602020502020306" pitchFamily="34" charset="0"/>
              </a:rPr>
              <a:t>supervised learning models</a:t>
            </a:r>
          </a:p>
          <a:p>
            <a:r>
              <a:rPr lang="en-US" altLang="zh-CN" dirty="0">
                <a:solidFill>
                  <a:schemeClr val="accent2">
                    <a:lumMod val="50000"/>
                  </a:schemeClr>
                </a:solidFill>
                <a:latin typeface="Berlin Sans FB" panose="020E0602020502020306" pitchFamily="34" charset="0"/>
              </a:rPr>
              <a:t>constructs a hyperplane or set of hyperplanes in a high-or infinite-dimensional space, which can be used for classification, regression, or other tasks</a:t>
            </a:r>
          </a:p>
          <a:p>
            <a:r>
              <a:rPr lang="en-US" altLang="zh-CN" dirty="0">
                <a:solidFill>
                  <a:schemeClr val="accent2">
                    <a:lumMod val="50000"/>
                  </a:schemeClr>
                </a:solidFill>
                <a:latin typeface="Berlin Sans FB" panose="020E0602020502020306" pitchFamily="34" charset="0"/>
              </a:rPr>
              <a:t>a good separation is achieved by the hyperplane that has the largest distance to the nearest training-data point of any class, since in general the larger the margin the lower the generalization error of the classifier</a:t>
            </a:r>
            <a:endParaRPr lang="zh-CN" altLang="en-US" dirty="0">
              <a:solidFill>
                <a:schemeClr val="accent2">
                  <a:lumMod val="50000"/>
                </a:schemeClr>
              </a:solidFill>
              <a:latin typeface="Berlin Sans FB" panose="020E0602020502020306" pitchFamily="34" charset="0"/>
            </a:endParaRPr>
          </a:p>
        </p:txBody>
      </p:sp>
    </p:spTree>
    <p:extLst>
      <p:ext uri="{BB962C8B-B14F-4D97-AF65-F5344CB8AC3E}">
        <p14:creationId xmlns:p14="http://schemas.microsoft.com/office/powerpoint/2010/main" val="4242292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accent2">
                    <a:lumMod val="50000"/>
                  </a:schemeClr>
                </a:solidFill>
                <a:latin typeface="Berlin Sans FB" panose="020E0602020502020306" pitchFamily="34" charset="0"/>
              </a:rPr>
              <a:t>SVM Classification Method: Training</a:t>
            </a:r>
            <a:endParaRPr lang="zh-CN" altLang="en-US" dirty="0"/>
          </a:p>
        </p:txBody>
      </p:sp>
      <p:sp>
        <p:nvSpPr>
          <p:cNvPr id="3" name="内容占位符 2"/>
          <p:cNvSpPr>
            <a:spLocks noGrp="1"/>
          </p:cNvSpPr>
          <p:nvPr>
            <p:ph idx="1"/>
          </p:nvPr>
        </p:nvSpPr>
        <p:spPr>
          <a:xfrm>
            <a:off x="838200" y="1517715"/>
            <a:ext cx="10515600" cy="4351338"/>
          </a:xfrm>
        </p:spPr>
        <p:txBody>
          <a:bodyPr/>
          <a:lstStyle/>
          <a:p>
            <a:r>
              <a:rPr lang="en-US" altLang="zh-CN" dirty="0">
                <a:solidFill>
                  <a:schemeClr val="accent2">
                    <a:lumMod val="50000"/>
                  </a:schemeClr>
                </a:solidFill>
                <a:latin typeface="Berlin Sans FB" panose="020E0602020502020306" pitchFamily="34" charset="0"/>
              </a:rPr>
              <a:t>Step 1: building a data frame of the features of training samples</a:t>
            </a:r>
          </a:p>
          <a:p>
            <a:endParaRPr lang="en-US" altLang="zh-CN" dirty="0">
              <a:solidFill>
                <a:schemeClr val="accent2">
                  <a:lumMod val="50000"/>
                </a:schemeClr>
              </a:solidFill>
              <a:latin typeface="Berlin Sans FB" panose="020E0602020502020306" pitchFamily="34" charset="0"/>
            </a:endParaRPr>
          </a:p>
          <a:p>
            <a:endParaRPr lang="zh-CN" altLang="en-US" dirty="0"/>
          </a:p>
        </p:txBody>
      </p:sp>
      <p:pic>
        <p:nvPicPr>
          <p:cNvPr id="4" name="图片 3"/>
          <p:cNvPicPr>
            <a:picLocks noChangeAspect="1"/>
          </p:cNvPicPr>
          <p:nvPr/>
        </p:nvPicPr>
        <p:blipFill>
          <a:blip r:embed="rId2">
            <a:duotone>
              <a:prstClr val="black"/>
              <a:schemeClr val="accent3">
                <a:tint val="45000"/>
                <a:satMod val="400000"/>
              </a:schemeClr>
            </a:duotone>
          </a:blip>
          <a:stretch>
            <a:fillRect/>
          </a:stretch>
        </p:blipFill>
        <p:spPr>
          <a:xfrm>
            <a:off x="838200" y="1932013"/>
            <a:ext cx="3503662" cy="2624694"/>
          </a:xfrm>
          <a:prstGeom prst="rect">
            <a:avLst/>
          </a:prstGeom>
        </p:spPr>
      </p:pic>
      <p:graphicFrame>
        <p:nvGraphicFramePr>
          <p:cNvPr id="5" name="表格 4"/>
          <p:cNvGraphicFramePr>
            <a:graphicFrameLocks noGrp="1"/>
          </p:cNvGraphicFramePr>
          <p:nvPr>
            <p:extLst>
              <p:ext uri="{D42A27DB-BD31-4B8C-83A1-F6EECF244321}">
                <p14:modId xmlns:p14="http://schemas.microsoft.com/office/powerpoint/2010/main" val="771501607"/>
              </p:ext>
            </p:extLst>
          </p:nvPr>
        </p:nvGraphicFramePr>
        <p:xfrm>
          <a:off x="4341862" y="1932012"/>
          <a:ext cx="7011938" cy="2624695"/>
        </p:xfrm>
        <a:graphic>
          <a:graphicData uri="http://schemas.openxmlformats.org/drawingml/2006/table">
            <a:tbl>
              <a:tblPr firstRow="1" bandRow="1">
                <a:tableStyleId>{5C22544A-7EE6-4342-B048-85BDC9FD1C3A}</a:tableStyleId>
              </a:tblPr>
              <a:tblGrid>
                <a:gridCol w="3505969">
                  <a:extLst>
                    <a:ext uri="{9D8B030D-6E8A-4147-A177-3AD203B41FA5}">
                      <a16:colId xmlns:a16="http://schemas.microsoft.com/office/drawing/2014/main" val="2810891613"/>
                    </a:ext>
                  </a:extLst>
                </a:gridCol>
                <a:gridCol w="3505969">
                  <a:extLst>
                    <a:ext uri="{9D8B030D-6E8A-4147-A177-3AD203B41FA5}">
                      <a16:colId xmlns:a16="http://schemas.microsoft.com/office/drawing/2014/main" val="935806403"/>
                    </a:ext>
                  </a:extLst>
                </a:gridCol>
              </a:tblGrid>
              <a:tr h="524939">
                <a:tc gridSpan="2">
                  <a:txBody>
                    <a:bodyPr/>
                    <a:lstStyle/>
                    <a:p>
                      <a:pPr algn="ctr"/>
                      <a:r>
                        <a:rPr lang="en-US" altLang="zh-CN" sz="2400" b="0" i="1" dirty="0">
                          <a:solidFill>
                            <a:schemeClr val="accent2">
                              <a:lumMod val="50000"/>
                            </a:schemeClr>
                          </a:solidFill>
                          <a:latin typeface="Berlin Sans FB" panose="020E0602020502020306" pitchFamily="34" charset="0"/>
                        </a:rPr>
                        <a:t>Features</a:t>
                      </a:r>
                      <a:endParaRPr lang="zh-CN" altLang="en-US" sz="2400" b="0" i="1" dirty="0">
                        <a:solidFill>
                          <a:schemeClr val="accent2">
                            <a:lumMod val="50000"/>
                          </a:schemeClr>
                        </a:solidFill>
                        <a:latin typeface="Berlin Sans FB" panose="020E0602020502020306" pitchFamily="34" charset="0"/>
                      </a:endParaRPr>
                    </a:p>
                  </a:txBody>
                  <a:tcPr>
                    <a:solidFill>
                      <a:schemeClr val="accent1">
                        <a:lumMod val="20000"/>
                        <a:lumOff val="80000"/>
                      </a:schemeClr>
                    </a:solidFill>
                  </a:tcPr>
                </a:tc>
                <a:tc hMerge="1">
                  <a:txBody>
                    <a:bodyPr/>
                    <a:lstStyle/>
                    <a:p>
                      <a:endParaRPr lang="zh-CN" altLang="en-US" dirty="0"/>
                    </a:p>
                  </a:txBody>
                  <a:tcPr/>
                </a:tc>
                <a:extLst>
                  <a:ext uri="{0D108BD9-81ED-4DB2-BD59-A6C34878D82A}">
                    <a16:rowId xmlns:a16="http://schemas.microsoft.com/office/drawing/2014/main" val="3725233801"/>
                  </a:ext>
                </a:extLst>
              </a:tr>
              <a:tr h="524939">
                <a:tc>
                  <a:txBody>
                    <a:bodyPr/>
                    <a:lstStyle/>
                    <a:p>
                      <a:pPr algn="ctr"/>
                      <a:r>
                        <a:rPr lang="en-US" altLang="zh-CN" sz="2400" b="0" i="1" dirty="0">
                          <a:solidFill>
                            <a:schemeClr val="accent2">
                              <a:lumMod val="50000"/>
                            </a:schemeClr>
                          </a:solidFill>
                          <a:latin typeface="Berlin Sans FB" panose="020E0602020502020306" pitchFamily="34" charset="0"/>
                        </a:rPr>
                        <a:t>Stock</a:t>
                      </a:r>
                      <a:r>
                        <a:rPr lang="en-US" altLang="zh-CN" sz="2400" b="0" i="1" baseline="0" dirty="0">
                          <a:solidFill>
                            <a:schemeClr val="accent2">
                              <a:lumMod val="50000"/>
                            </a:schemeClr>
                          </a:solidFill>
                          <a:latin typeface="Berlin Sans FB" panose="020E0602020502020306" pitchFamily="34" charset="0"/>
                        </a:rPr>
                        <a:t> return</a:t>
                      </a:r>
                      <a:endParaRPr lang="zh-CN" altLang="en-US" sz="2400" b="0" i="1" dirty="0">
                        <a:solidFill>
                          <a:schemeClr val="accent2">
                            <a:lumMod val="50000"/>
                          </a:schemeClr>
                        </a:solidFill>
                        <a:latin typeface="Berlin Sans FB" panose="020E0602020502020306" pitchFamily="34" charset="0"/>
                      </a:endParaRPr>
                    </a:p>
                  </a:txBody>
                  <a:tcPr/>
                </a:tc>
                <a:tc>
                  <a:txBody>
                    <a:bodyPr/>
                    <a:lstStyle/>
                    <a:p>
                      <a:pPr algn="ctr"/>
                      <a:r>
                        <a:rPr lang="en-US" altLang="zh-CN" sz="2400" b="0" i="1" dirty="0">
                          <a:solidFill>
                            <a:schemeClr val="accent2">
                              <a:lumMod val="50000"/>
                            </a:schemeClr>
                          </a:solidFill>
                          <a:latin typeface="Berlin Sans FB" panose="020E0602020502020306" pitchFamily="34" charset="0"/>
                        </a:rPr>
                        <a:t>Market return</a:t>
                      </a:r>
                      <a:endParaRPr lang="zh-CN" altLang="en-US" sz="2400" b="0" i="1" dirty="0">
                        <a:solidFill>
                          <a:schemeClr val="accent2">
                            <a:lumMod val="50000"/>
                          </a:schemeClr>
                        </a:solidFill>
                        <a:latin typeface="Berlin Sans FB" panose="020E0602020502020306" pitchFamily="34" charset="0"/>
                      </a:endParaRPr>
                    </a:p>
                  </a:txBody>
                  <a:tcPr/>
                </a:tc>
                <a:extLst>
                  <a:ext uri="{0D108BD9-81ED-4DB2-BD59-A6C34878D82A}">
                    <a16:rowId xmlns:a16="http://schemas.microsoft.com/office/drawing/2014/main" val="3530719333"/>
                  </a:ext>
                </a:extLst>
              </a:tr>
              <a:tr h="524939">
                <a:tc>
                  <a:txBody>
                    <a:bodyPr/>
                    <a:lstStyle/>
                    <a:p>
                      <a:pPr algn="ctr"/>
                      <a:r>
                        <a:rPr lang="en-US" altLang="zh-CN" sz="2400" dirty="0">
                          <a:solidFill>
                            <a:schemeClr val="accent2">
                              <a:lumMod val="50000"/>
                            </a:schemeClr>
                          </a:solidFill>
                          <a:latin typeface="Berlin Sans FB" panose="020E0602020502020306" pitchFamily="34" charset="0"/>
                        </a:rPr>
                        <a:t>Yesterday</a:t>
                      </a:r>
                      <a:endParaRPr lang="zh-CN" altLang="en-US" sz="2400" dirty="0">
                        <a:solidFill>
                          <a:schemeClr val="accent2">
                            <a:lumMod val="50000"/>
                          </a:schemeClr>
                        </a:solidFill>
                        <a:latin typeface="Berlin Sans FB" panose="020E0602020502020306" pitchFamily="34" charset="0"/>
                      </a:endParaRPr>
                    </a:p>
                  </a:txBody>
                  <a:tcPr/>
                </a:tc>
                <a:tc>
                  <a:txBody>
                    <a:bodyPr/>
                    <a:lstStyle/>
                    <a:p>
                      <a:pPr algn="ctr"/>
                      <a:r>
                        <a:rPr lang="en-US" altLang="zh-CN" sz="2400" dirty="0">
                          <a:solidFill>
                            <a:schemeClr val="accent2">
                              <a:lumMod val="50000"/>
                            </a:schemeClr>
                          </a:solidFill>
                          <a:latin typeface="Berlin Sans FB" panose="020E0602020502020306" pitchFamily="34" charset="0"/>
                        </a:rPr>
                        <a:t>Yesterday</a:t>
                      </a:r>
                      <a:endParaRPr lang="zh-CN" altLang="en-US" sz="2400" dirty="0">
                        <a:solidFill>
                          <a:schemeClr val="accent2">
                            <a:lumMod val="50000"/>
                          </a:schemeClr>
                        </a:solidFill>
                        <a:latin typeface="Berlin Sans FB" panose="020E0602020502020306" pitchFamily="34" charset="0"/>
                      </a:endParaRPr>
                    </a:p>
                  </a:txBody>
                  <a:tcPr/>
                </a:tc>
                <a:extLst>
                  <a:ext uri="{0D108BD9-81ED-4DB2-BD59-A6C34878D82A}">
                    <a16:rowId xmlns:a16="http://schemas.microsoft.com/office/drawing/2014/main" val="2982820086"/>
                  </a:ext>
                </a:extLst>
              </a:tr>
              <a:tr h="524939">
                <a:tc>
                  <a:txBody>
                    <a:bodyPr/>
                    <a:lstStyle/>
                    <a:p>
                      <a:pPr algn="ctr"/>
                      <a:r>
                        <a:rPr lang="en-US" altLang="zh-CN" sz="2400" dirty="0">
                          <a:solidFill>
                            <a:schemeClr val="accent2">
                              <a:lumMod val="50000"/>
                            </a:schemeClr>
                          </a:solidFill>
                          <a:latin typeface="Berlin Sans FB" panose="020E0602020502020306" pitchFamily="34" charset="0"/>
                        </a:rPr>
                        <a:t>The day before yesterday</a:t>
                      </a:r>
                      <a:endParaRPr lang="zh-CN" altLang="en-US" sz="2400" dirty="0">
                        <a:solidFill>
                          <a:schemeClr val="accent2">
                            <a:lumMod val="50000"/>
                          </a:schemeClr>
                        </a:solidFill>
                        <a:latin typeface="Berlin Sans FB" panose="020E0602020502020306" pitchFamily="34" charset="0"/>
                      </a:endParaRPr>
                    </a:p>
                  </a:txBody>
                  <a:tcPr/>
                </a:tc>
                <a:tc>
                  <a:txBody>
                    <a:bodyPr/>
                    <a:lstStyle/>
                    <a:p>
                      <a:pPr algn="ctr"/>
                      <a:r>
                        <a:rPr lang="en-US" altLang="zh-CN" sz="2400" dirty="0">
                          <a:solidFill>
                            <a:schemeClr val="accent2">
                              <a:lumMod val="50000"/>
                            </a:schemeClr>
                          </a:solidFill>
                          <a:latin typeface="Berlin Sans FB" panose="020E0602020502020306" pitchFamily="34" charset="0"/>
                        </a:rPr>
                        <a:t>The day before yesterday</a:t>
                      </a:r>
                      <a:endParaRPr lang="zh-CN" altLang="en-US" sz="2400" dirty="0">
                        <a:solidFill>
                          <a:schemeClr val="accent2">
                            <a:lumMod val="50000"/>
                          </a:schemeClr>
                        </a:solidFill>
                        <a:latin typeface="Berlin Sans FB" panose="020E0602020502020306" pitchFamily="34" charset="0"/>
                      </a:endParaRPr>
                    </a:p>
                  </a:txBody>
                  <a:tcPr/>
                </a:tc>
                <a:extLst>
                  <a:ext uri="{0D108BD9-81ED-4DB2-BD59-A6C34878D82A}">
                    <a16:rowId xmlns:a16="http://schemas.microsoft.com/office/drawing/2014/main" val="3374627891"/>
                  </a:ext>
                </a:extLst>
              </a:tr>
              <a:tr h="524939">
                <a:tc>
                  <a:txBody>
                    <a:bodyPr/>
                    <a:lstStyle/>
                    <a:p>
                      <a:pPr algn="ctr"/>
                      <a:r>
                        <a:rPr lang="en-US" altLang="zh-CN" sz="2400" dirty="0">
                          <a:solidFill>
                            <a:schemeClr val="accent2">
                              <a:lumMod val="50000"/>
                            </a:schemeClr>
                          </a:solidFill>
                          <a:latin typeface="Berlin Sans FB" panose="020E0602020502020306" pitchFamily="34" charset="0"/>
                        </a:rPr>
                        <a:t>Three days ago</a:t>
                      </a:r>
                      <a:endParaRPr lang="zh-CN" altLang="en-US" sz="2400" dirty="0">
                        <a:solidFill>
                          <a:schemeClr val="accent2">
                            <a:lumMod val="50000"/>
                          </a:schemeClr>
                        </a:solidFill>
                        <a:latin typeface="Berlin Sans FB" panose="020E0602020502020306" pitchFamily="34" charset="0"/>
                      </a:endParaRPr>
                    </a:p>
                  </a:txBody>
                  <a:tcPr/>
                </a:tc>
                <a:tc>
                  <a:txBody>
                    <a:bodyPr/>
                    <a:lstStyle/>
                    <a:p>
                      <a:pPr algn="ctr"/>
                      <a:r>
                        <a:rPr lang="en-US" altLang="zh-CN" sz="2400" dirty="0">
                          <a:solidFill>
                            <a:schemeClr val="accent2">
                              <a:lumMod val="50000"/>
                            </a:schemeClr>
                          </a:solidFill>
                          <a:latin typeface="Berlin Sans FB" panose="020E0602020502020306" pitchFamily="34" charset="0"/>
                        </a:rPr>
                        <a:t>Three days ago</a:t>
                      </a:r>
                      <a:endParaRPr lang="zh-CN" altLang="en-US" sz="2400" dirty="0">
                        <a:solidFill>
                          <a:schemeClr val="accent2">
                            <a:lumMod val="50000"/>
                          </a:schemeClr>
                        </a:solidFill>
                        <a:latin typeface="Berlin Sans FB" panose="020E0602020502020306" pitchFamily="34" charset="0"/>
                      </a:endParaRPr>
                    </a:p>
                  </a:txBody>
                  <a:tcPr/>
                </a:tc>
                <a:extLst>
                  <a:ext uri="{0D108BD9-81ED-4DB2-BD59-A6C34878D82A}">
                    <a16:rowId xmlns:a16="http://schemas.microsoft.com/office/drawing/2014/main" val="3482840310"/>
                  </a:ext>
                </a:extLst>
              </a:tr>
            </a:tbl>
          </a:graphicData>
        </a:graphic>
      </p:graphicFrame>
      <p:pic>
        <p:nvPicPr>
          <p:cNvPr id="7" name="图片 6"/>
          <p:cNvPicPr>
            <a:picLocks noChangeAspect="1"/>
          </p:cNvPicPr>
          <p:nvPr/>
        </p:nvPicPr>
        <p:blipFill>
          <a:blip r:embed="rId3">
            <a:duotone>
              <a:prstClr val="black"/>
              <a:schemeClr val="accent3">
                <a:tint val="45000"/>
                <a:satMod val="400000"/>
              </a:schemeClr>
            </a:duotone>
          </a:blip>
          <a:stretch>
            <a:fillRect/>
          </a:stretch>
        </p:blipFill>
        <p:spPr>
          <a:xfrm>
            <a:off x="838200" y="4572773"/>
            <a:ext cx="3503662" cy="1651151"/>
          </a:xfrm>
          <a:prstGeom prst="rect">
            <a:avLst/>
          </a:prstGeom>
        </p:spPr>
      </p:pic>
      <p:graphicFrame>
        <p:nvGraphicFramePr>
          <p:cNvPr id="8" name="表格 7"/>
          <p:cNvGraphicFramePr>
            <a:graphicFrameLocks noGrp="1"/>
          </p:cNvGraphicFramePr>
          <p:nvPr>
            <p:extLst>
              <p:ext uri="{D42A27DB-BD31-4B8C-83A1-F6EECF244321}">
                <p14:modId xmlns:p14="http://schemas.microsoft.com/office/powerpoint/2010/main" val="3693394066"/>
              </p:ext>
            </p:extLst>
          </p:nvPr>
        </p:nvGraphicFramePr>
        <p:xfrm>
          <a:off x="4341862" y="4556707"/>
          <a:ext cx="7011938" cy="1651152"/>
        </p:xfrm>
        <a:graphic>
          <a:graphicData uri="http://schemas.openxmlformats.org/drawingml/2006/table">
            <a:tbl>
              <a:tblPr firstRow="1" bandRow="1">
                <a:tableStyleId>{5C22544A-7EE6-4342-B048-85BDC9FD1C3A}</a:tableStyleId>
              </a:tblPr>
              <a:tblGrid>
                <a:gridCol w="3505969">
                  <a:extLst>
                    <a:ext uri="{9D8B030D-6E8A-4147-A177-3AD203B41FA5}">
                      <a16:colId xmlns:a16="http://schemas.microsoft.com/office/drawing/2014/main" val="768171768"/>
                    </a:ext>
                  </a:extLst>
                </a:gridCol>
                <a:gridCol w="3505969">
                  <a:extLst>
                    <a:ext uri="{9D8B030D-6E8A-4147-A177-3AD203B41FA5}">
                      <a16:colId xmlns:a16="http://schemas.microsoft.com/office/drawing/2014/main" val="2052366188"/>
                    </a:ext>
                  </a:extLst>
                </a:gridCol>
              </a:tblGrid>
              <a:tr h="550384">
                <a:tc gridSpan="2">
                  <a:txBody>
                    <a:bodyPr/>
                    <a:lstStyle/>
                    <a:p>
                      <a:pPr algn="ctr"/>
                      <a:r>
                        <a:rPr lang="en-US" altLang="zh-CN" sz="2400" b="0" i="1" dirty="0">
                          <a:solidFill>
                            <a:schemeClr val="accent2">
                              <a:lumMod val="50000"/>
                            </a:schemeClr>
                          </a:solidFill>
                          <a:latin typeface="Berlin Sans FB" panose="020E0602020502020306" pitchFamily="34" charset="0"/>
                        </a:rPr>
                        <a:t>Labels</a:t>
                      </a:r>
                      <a:endParaRPr lang="zh-CN" altLang="en-US" sz="2400" b="0" i="1" dirty="0">
                        <a:solidFill>
                          <a:schemeClr val="accent2">
                            <a:lumMod val="50000"/>
                          </a:schemeClr>
                        </a:solidFill>
                        <a:latin typeface="Berlin Sans FB" panose="020E0602020502020306" pitchFamily="34" charset="0"/>
                      </a:endParaRPr>
                    </a:p>
                  </a:txBody>
                  <a:tcPr>
                    <a:solidFill>
                      <a:schemeClr val="accent1">
                        <a:lumMod val="20000"/>
                        <a:lumOff val="80000"/>
                      </a:schemeClr>
                    </a:solidFill>
                  </a:tcPr>
                </a:tc>
                <a:tc hMerge="1">
                  <a:txBody>
                    <a:bodyPr/>
                    <a:lstStyle/>
                    <a:p>
                      <a:endParaRPr lang="zh-CN" altLang="en-US" sz="1800" dirty="0"/>
                    </a:p>
                  </a:txBody>
                  <a:tcPr/>
                </a:tc>
                <a:extLst>
                  <a:ext uri="{0D108BD9-81ED-4DB2-BD59-A6C34878D82A}">
                    <a16:rowId xmlns:a16="http://schemas.microsoft.com/office/drawing/2014/main" val="1413364553"/>
                  </a:ext>
                </a:extLst>
              </a:tr>
              <a:tr h="550384">
                <a:tc>
                  <a:txBody>
                    <a:bodyPr/>
                    <a:lstStyle/>
                    <a:p>
                      <a:pPr algn="ctr"/>
                      <a:r>
                        <a:rPr lang="en-US" altLang="zh-CN" sz="2400" dirty="0">
                          <a:solidFill>
                            <a:schemeClr val="accent2">
                              <a:lumMod val="50000"/>
                            </a:schemeClr>
                          </a:solidFill>
                          <a:latin typeface="Berlin Sans FB" panose="020E0602020502020306" pitchFamily="34" charset="0"/>
                        </a:rPr>
                        <a:t>The stock prices</a:t>
                      </a:r>
                      <a:r>
                        <a:rPr lang="en-US" altLang="zh-CN" sz="2400" baseline="0" dirty="0">
                          <a:solidFill>
                            <a:schemeClr val="accent2">
                              <a:lumMod val="50000"/>
                            </a:schemeClr>
                          </a:solidFill>
                          <a:latin typeface="Berlin Sans FB" panose="020E0602020502020306" pitchFamily="34" charset="0"/>
                        </a:rPr>
                        <a:t> declines</a:t>
                      </a:r>
                      <a:endParaRPr lang="zh-CN" altLang="en-US" sz="2400" dirty="0">
                        <a:solidFill>
                          <a:schemeClr val="accent2">
                            <a:lumMod val="50000"/>
                          </a:schemeClr>
                        </a:solidFill>
                        <a:latin typeface="Berlin Sans FB" panose="020E0602020502020306" pitchFamily="34" charset="0"/>
                      </a:endParaRPr>
                    </a:p>
                  </a:txBody>
                  <a:tcPr/>
                </a:tc>
                <a:tc>
                  <a:txBody>
                    <a:bodyPr/>
                    <a:lstStyle/>
                    <a:p>
                      <a:pPr algn="ctr"/>
                      <a:r>
                        <a:rPr lang="en-US" altLang="zh-CN" sz="2400" dirty="0">
                          <a:solidFill>
                            <a:schemeClr val="accent2">
                              <a:lumMod val="50000"/>
                            </a:schemeClr>
                          </a:solidFill>
                          <a:latin typeface="Berlin Sans FB" panose="020E0602020502020306" pitchFamily="34" charset="0"/>
                        </a:rPr>
                        <a:t>0</a:t>
                      </a:r>
                      <a:endParaRPr lang="zh-CN" altLang="en-US" sz="2400" dirty="0">
                        <a:solidFill>
                          <a:schemeClr val="accent2">
                            <a:lumMod val="50000"/>
                          </a:schemeClr>
                        </a:solidFill>
                        <a:latin typeface="Berlin Sans FB" panose="020E0602020502020306" pitchFamily="34" charset="0"/>
                      </a:endParaRPr>
                    </a:p>
                  </a:txBody>
                  <a:tcPr/>
                </a:tc>
                <a:extLst>
                  <a:ext uri="{0D108BD9-81ED-4DB2-BD59-A6C34878D82A}">
                    <a16:rowId xmlns:a16="http://schemas.microsoft.com/office/drawing/2014/main" val="859649652"/>
                  </a:ext>
                </a:extLst>
              </a:tr>
              <a:tr h="550384">
                <a:tc>
                  <a:txBody>
                    <a:bodyPr/>
                    <a:lstStyle/>
                    <a:p>
                      <a:pPr algn="ctr"/>
                      <a:r>
                        <a:rPr lang="en-US" altLang="zh-CN" sz="2400" dirty="0">
                          <a:solidFill>
                            <a:schemeClr val="accent2">
                              <a:lumMod val="50000"/>
                            </a:schemeClr>
                          </a:solidFill>
                          <a:latin typeface="Berlin Sans FB" panose="020E0602020502020306" pitchFamily="34" charset="0"/>
                        </a:rPr>
                        <a:t>Otherwise</a:t>
                      </a:r>
                      <a:endParaRPr lang="zh-CN" altLang="en-US" sz="2400" dirty="0">
                        <a:solidFill>
                          <a:schemeClr val="accent2">
                            <a:lumMod val="50000"/>
                          </a:schemeClr>
                        </a:solidFill>
                        <a:latin typeface="Berlin Sans FB" panose="020E0602020502020306" pitchFamily="34" charset="0"/>
                      </a:endParaRPr>
                    </a:p>
                  </a:txBody>
                  <a:tcPr/>
                </a:tc>
                <a:tc>
                  <a:txBody>
                    <a:bodyPr/>
                    <a:lstStyle/>
                    <a:p>
                      <a:pPr algn="ctr"/>
                      <a:r>
                        <a:rPr lang="en-US" altLang="zh-CN" sz="2400" dirty="0">
                          <a:solidFill>
                            <a:schemeClr val="accent2">
                              <a:lumMod val="50000"/>
                            </a:schemeClr>
                          </a:solidFill>
                          <a:latin typeface="Berlin Sans FB" panose="020E0602020502020306" pitchFamily="34" charset="0"/>
                        </a:rPr>
                        <a:t>1</a:t>
                      </a:r>
                      <a:endParaRPr lang="zh-CN" altLang="en-US" sz="2400" dirty="0">
                        <a:solidFill>
                          <a:schemeClr val="accent2">
                            <a:lumMod val="50000"/>
                          </a:schemeClr>
                        </a:solidFill>
                        <a:latin typeface="Berlin Sans FB" panose="020E0602020502020306" pitchFamily="34" charset="0"/>
                      </a:endParaRPr>
                    </a:p>
                  </a:txBody>
                  <a:tcPr/>
                </a:tc>
                <a:extLst>
                  <a:ext uri="{0D108BD9-81ED-4DB2-BD59-A6C34878D82A}">
                    <a16:rowId xmlns:a16="http://schemas.microsoft.com/office/drawing/2014/main" val="3119303428"/>
                  </a:ext>
                </a:extLst>
              </a:tr>
            </a:tbl>
          </a:graphicData>
        </a:graphic>
      </p:graphicFrame>
    </p:spTree>
    <p:extLst>
      <p:ext uri="{BB962C8B-B14F-4D97-AF65-F5344CB8AC3E}">
        <p14:creationId xmlns:p14="http://schemas.microsoft.com/office/powerpoint/2010/main" val="766245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accent2">
                    <a:lumMod val="50000"/>
                  </a:schemeClr>
                </a:solidFill>
                <a:latin typeface="Berlin Sans FB" panose="020E0602020502020306" pitchFamily="34" charset="0"/>
              </a:rPr>
              <a:t>SVM Classification Method: Training</a:t>
            </a:r>
            <a:endParaRPr lang="zh-CN" altLang="en-US" dirty="0"/>
          </a:p>
        </p:txBody>
      </p:sp>
      <p:sp>
        <p:nvSpPr>
          <p:cNvPr id="3" name="内容占位符 2"/>
          <p:cNvSpPr>
            <a:spLocks noGrp="1"/>
          </p:cNvSpPr>
          <p:nvPr>
            <p:ph idx="1"/>
          </p:nvPr>
        </p:nvSpPr>
        <p:spPr/>
        <p:txBody>
          <a:bodyPr/>
          <a:lstStyle/>
          <a:p>
            <a:r>
              <a:rPr lang="en-US" altLang="zh-CN" dirty="0">
                <a:solidFill>
                  <a:schemeClr val="accent2">
                    <a:lumMod val="50000"/>
                  </a:schemeClr>
                </a:solidFill>
                <a:latin typeface="Berlin Sans FB" panose="020E0602020502020306" pitchFamily="34" charset="0"/>
              </a:rPr>
              <a:t>Step 2: Split the data into training data &amp; Train the SVM</a:t>
            </a:r>
          </a:p>
          <a:p>
            <a:endParaRPr lang="en-US" altLang="zh-CN" dirty="0">
              <a:solidFill>
                <a:schemeClr val="accent2">
                  <a:lumMod val="50000"/>
                </a:schemeClr>
              </a:solidFill>
              <a:latin typeface="Berlin Sans FB" panose="020E0602020502020306" pitchFamily="34" charset="0"/>
            </a:endParaRPr>
          </a:p>
          <a:p>
            <a:endParaRPr lang="en-US" altLang="zh-CN" dirty="0">
              <a:solidFill>
                <a:schemeClr val="accent2">
                  <a:lumMod val="50000"/>
                </a:schemeClr>
              </a:solidFill>
              <a:latin typeface="Berlin Sans FB" panose="020E0602020502020306" pitchFamily="34" charset="0"/>
            </a:endParaRPr>
          </a:p>
          <a:p>
            <a:endParaRPr lang="en-US" altLang="zh-CN" dirty="0">
              <a:solidFill>
                <a:schemeClr val="accent2">
                  <a:lumMod val="50000"/>
                </a:schemeClr>
              </a:solidFill>
              <a:latin typeface="Berlin Sans FB" panose="020E0602020502020306" pitchFamily="34" charset="0"/>
            </a:endParaRPr>
          </a:p>
          <a:p>
            <a:endParaRPr lang="en-US" altLang="zh-CN" dirty="0">
              <a:solidFill>
                <a:schemeClr val="accent2">
                  <a:lumMod val="50000"/>
                </a:schemeClr>
              </a:solidFill>
              <a:latin typeface="Berlin Sans FB" panose="020E0602020502020306" pitchFamily="34" charset="0"/>
            </a:endParaRPr>
          </a:p>
          <a:p>
            <a:r>
              <a:rPr lang="en-US" altLang="zh-CN" dirty="0">
                <a:solidFill>
                  <a:schemeClr val="accent2">
                    <a:lumMod val="50000"/>
                  </a:schemeClr>
                </a:solidFill>
                <a:latin typeface="Berlin Sans FB" panose="020E0602020502020306" pitchFamily="34" charset="0"/>
              </a:rPr>
              <a:t>Step 3: Check the accuracy of the algorithm</a:t>
            </a:r>
            <a:endParaRPr lang="zh-CN" altLang="en-US" dirty="0">
              <a:solidFill>
                <a:schemeClr val="accent2">
                  <a:lumMod val="50000"/>
                </a:schemeClr>
              </a:solidFill>
              <a:latin typeface="Berlin Sans FB" panose="020E0602020502020306" pitchFamily="34" charset="0"/>
            </a:endParaRPr>
          </a:p>
          <a:p>
            <a:endParaRPr lang="zh-CN" altLang="en-US" dirty="0"/>
          </a:p>
        </p:txBody>
      </p:sp>
      <p:pic>
        <p:nvPicPr>
          <p:cNvPr id="4" name="图片 3"/>
          <p:cNvPicPr>
            <a:picLocks noChangeAspect="1"/>
          </p:cNvPicPr>
          <p:nvPr/>
        </p:nvPicPr>
        <p:blipFill>
          <a:blip r:embed="rId2">
            <a:duotone>
              <a:prstClr val="black"/>
              <a:schemeClr val="accent3">
                <a:tint val="45000"/>
                <a:satMod val="400000"/>
              </a:schemeClr>
            </a:duotone>
          </a:blip>
          <a:stretch>
            <a:fillRect/>
          </a:stretch>
        </p:blipFill>
        <p:spPr>
          <a:xfrm>
            <a:off x="841829" y="2400436"/>
            <a:ext cx="10511971" cy="1994282"/>
          </a:xfrm>
          <a:prstGeom prst="rect">
            <a:avLst/>
          </a:prstGeom>
        </p:spPr>
      </p:pic>
      <p:pic>
        <p:nvPicPr>
          <p:cNvPr id="6" name="图片 5"/>
          <p:cNvPicPr>
            <a:picLocks noChangeAspect="1"/>
          </p:cNvPicPr>
          <p:nvPr/>
        </p:nvPicPr>
        <p:blipFill>
          <a:blip r:embed="rId3">
            <a:duotone>
              <a:prstClr val="black"/>
              <a:schemeClr val="accent3">
                <a:tint val="45000"/>
                <a:satMod val="400000"/>
              </a:schemeClr>
            </a:duotone>
          </a:blip>
          <a:stretch>
            <a:fillRect/>
          </a:stretch>
        </p:blipFill>
        <p:spPr>
          <a:xfrm>
            <a:off x="838200" y="4969529"/>
            <a:ext cx="10586692" cy="293135"/>
          </a:xfrm>
          <a:prstGeom prst="rect">
            <a:avLst/>
          </a:prstGeom>
        </p:spPr>
      </p:pic>
    </p:spTree>
    <p:extLst>
      <p:ext uri="{BB962C8B-B14F-4D97-AF65-F5344CB8AC3E}">
        <p14:creationId xmlns:p14="http://schemas.microsoft.com/office/powerpoint/2010/main" val="1202604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accent2">
                    <a:lumMod val="50000"/>
                  </a:schemeClr>
                </a:solidFill>
                <a:latin typeface="Berlin Sans FB" panose="020E0602020502020306" pitchFamily="34" charset="0"/>
              </a:rPr>
              <a:t>SVM Classification Method: Run and Result</a:t>
            </a:r>
            <a:endParaRPr lang="zh-CN" altLang="en-US" dirty="0">
              <a:solidFill>
                <a:schemeClr val="accent2">
                  <a:lumMod val="50000"/>
                </a:schemeClr>
              </a:solidFill>
              <a:latin typeface="Berlin Sans FB" panose="020E0602020502020306" pitchFamily="34" charset="0"/>
            </a:endParaRPr>
          </a:p>
        </p:txBody>
      </p:sp>
      <p:sp>
        <p:nvSpPr>
          <p:cNvPr id="3" name="内容占位符 2"/>
          <p:cNvSpPr>
            <a:spLocks noGrp="1"/>
          </p:cNvSpPr>
          <p:nvPr>
            <p:ph idx="1"/>
          </p:nvPr>
        </p:nvSpPr>
        <p:spPr>
          <a:xfrm>
            <a:off x="838200" y="1825625"/>
            <a:ext cx="10515600" cy="4771118"/>
          </a:xfrm>
        </p:spPr>
        <p:txBody>
          <a:bodyPr>
            <a:normAutofit/>
          </a:bodyPr>
          <a:lstStyle/>
          <a:p>
            <a:r>
              <a:rPr lang="en-US" altLang="zh-CN" dirty="0">
                <a:solidFill>
                  <a:schemeClr val="accent2">
                    <a:lumMod val="50000"/>
                  </a:schemeClr>
                </a:solidFill>
                <a:latin typeface="Berlin Sans FB" panose="020E0602020502020306" pitchFamily="34" charset="0"/>
              </a:rPr>
              <a:t>The accuracy rate is only a little more than 50%</a:t>
            </a:r>
          </a:p>
          <a:p>
            <a:r>
              <a:rPr lang="en-US" altLang="zh-CN" dirty="0">
                <a:solidFill>
                  <a:schemeClr val="accent2">
                    <a:lumMod val="50000"/>
                  </a:schemeClr>
                </a:solidFill>
                <a:latin typeface="Berlin Sans FB" panose="020E0602020502020306" pitchFamily="34" charset="0"/>
              </a:rPr>
              <a:t>when using 1000 training data, predicting IBM stock and using the return on Dow Jones index as the market return</a:t>
            </a:r>
          </a:p>
          <a:p>
            <a:endParaRPr lang="en-US" altLang="zh-CN" dirty="0">
              <a:solidFill>
                <a:schemeClr val="accent2">
                  <a:lumMod val="50000"/>
                </a:schemeClr>
              </a:solidFill>
              <a:latin typeface="Berlin Sans FB" panose="020E0602020502020306" pitchFamily="34" charset="0"/>
            </a:endParaRPr>
          </a:p>
          <a:p>
            <a:endParaRPr lang="en-US" altLang="zh-CN" dirty="0">
              <a:solidFill>
                <a:schemeClr val="accent2">
                  <a:lumMod val="50000"/>
                </a:schemeClr>
              </a:solidFill>
              <a:latin typeface="Berlin Sans FB" panose="020E0602020502020306" pitchFamily="34" charset="0"/>
            </a:endParaRPr>
          </a:p>
          <a:p>
            <a:pPr marL="0" indent="0">
              <a:buNone/>
            </a:pPr>
            <a:endParaRPr lang="en-US" altLang="zh-CN" dirty="0">
              <a:solidFill>
                <a:schemeClr val="accent2">
                  <a:lumMod val="50000"/>
                </a:schemeClr>
              </a:solidFill>
              <a:latin typeface="Berlin Sans FB" panose="020E0602020502020306" pitchFamily="34" charset="0"/>
            </a:endParaRPr>
          </a:p>
          <a:p>
            <a:r>
              <a:rPr lang="en-US" altLang="zh-CN" dirty="0">
                <a:solidFill>
                  <a:schemeClr val="accent2">
                    <a:lumMod val="50000"/>
                  </a:schemeClr>
                </a:solidFill>
                <a:latin typeface="Berlin Sans FB" panose="020E0602020502020306" pitchFamily="34" charset="0"/>
              </a:rPr>
              <a:t>The prediction is only a little better than flipping a coin</a:t>
            </a:r>
          </a:p>
          <a:p>
            <a:r>
              <a:rPr lang="en-US" altLang="zh-CN" dirty="0">
                <a:solidFill>
                  <a:schemeClr val="accent2">
                    <a:lumMod val="50000"/>
                  </a:schemeClr>
                </a:solidFill>
                <a:latin typeface="Berlin Sans FB" panose="020E0602020502020306" pitchFamily="34" charset="0"/>
              </a:rPr>
              <a:t>However, other models (KNN and logistic regression) and other training data (GOOG, APPL and S&amp;P500) also produce no better accuracy.</a:t>
            </a:r>
          </a:p>
        </p:txBody>
      </p:sp>
      <p:pic>
        <p:nvPicPr>
          <p:cNvPr id="5" name="图片 4"/>
          <p:cNvPicPr>
            <a:picLocks noChangeAspect="1"/>
          </p:cNvPicPr>
          <p:nvPr/>
        </p:nvPicPr>
        <p:blipFill>
          <a:blip r:embed="rId2">
            <a:duotone>
              <a:prstClr val="black"/>
              <a:schemeClr val="accent3">
                <a:tint val="45000"/>
                <a:satMod val="400000"/>
              </a:schemeClr>
            </a:duotone>
          </a:blip>
          <a:stretch>
            <a:fillRect/>
          </a:stretch>
        </p:blipFill>
        <p:spPr>
          <a:xfrm>
            <a:off x="838200" y="3273738"/>
            <a:ext cx="10515600" cy="1455111"/>
          </a:xfrm>
          <a:prstGeom prst="rect">
            <a:avLst/>
          </a:prstGeom>
        </p:spPr>
      </p:pic>
    </p:spTree>
    <p:extLst>
      <p:ext uri="{BB962C8B-B14F-4D97-AF65-F5344CB8AC3E}">
        <p14:creationId xmlns:p14="http://schemas.microsoft.com/office/powerpoint/2010/main" val="3121558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accent2">
                    <a:lumMod val="50000"/>
                  </a:schemeClr>
                </a:solidFill>
                <a:latin typeface="Berlin Sans FB" panose="020E0602020502020306" pitchFamily="34" charset="0"/>
              </a:rPr>
              <a:t>The difficulty of stock prediction</a:t>
            </a:r>
            <a:endParaRPr lang="zh-CN" altLang="en-US" dirty="0">
              <a:solidFill>
                <a:schemeClr val="accent2">
                  <a:lumMod val="50000"/>
                </a:schemeClr>
              </a:solidFill>
              <a:latin typeface="Berlin Sans FB" panose="020E0602020502020306" pitchFamily="34" charset="0"/>
            </a:endParaRPr>
          </a:p>
        </p:txBody>
      </p:sp>
      <p:sp>
        <p:nvSpPr>
          <p:cNvPr id="3" name="内容占位符 2"/>
          <p:cNvSpPr>
            <a:spLocks noGrp="1"/>
          </p:cNvSpPr>
          <p:nvPr>
            <p:ph idx="1"/>
          </p:nvPr>
        </p:nvSpPr>
        <p:spPr/>
        <p:txBody>
          <a:bodyPr/>
          <a:lstStyle/>
          <a:p>
            <a:r>
              <a:rPr lang="en-US" altLang="zh-CN" dirty="0">
                <a:solidFill>
                  <a:schemeClr val="accent2">
                    <a:lumMod val="50000"/>
                  </a:schemeClr>
                </a:solidFill>
                <a:latin typeface="Berlin Sans FB" panose="020E0602020502020306" pitchFamily="34" charset="0"/>
              </a:rPr>
              <a:t>The connection between the past price data and the present price is ambiguous.</a:t>
            </a:r>
          </a:p>
          <a:p>
            <a:endParaRPr lang="en-US" altLang="zh-CN" dirty="0">
              <a:solidFill>
                <a:schemeClr val="accent2">
                  <a:lumMod val="50000"/>
                </a:schemeClr>
              </a:solidFill>
              <a:latin typeface="Berlin Sans FB" panose="020E0602020502020306" pitchFamily="34" charset="0"/>
            </a:endParaRPr>
          </a:p>
          <a:p>
            <a:r>
              <a:rPr lang="en-US" altLang="zh-CN" dirty="0">
                <a:solidFill>
                  <a:schemeClr val="accent2">
                    <a:lumMod val="50000"/>
                  </a:schemeClr>
                </a:solidFill>
                <a:latin typeface="Berlin Sans FB" panose="020E0602020502020306" pitchFamily="34" charset="0"/>
              </a:rPr>
              <a:t>Other factors such as the change of policy, investors’ attitudes and the condition of the company can also influence the stock price.</a:t>
            </a:r>
          </a:p>
          <a:p>
            <a:endParaRPr lang="en-US" altLang="zh-CN" dirty="0">
              <a:solidFill>
                <a:schemeClr val="accent2">
                  <a:lumMod val="50000"/>
                </a:schemeClr>
              </a:solidFill>
              <a:latin typeface="Berlin Sans FB" panose="020E0602020502020306" pitchFamily="34" charset="0"/>
            </a:endParaRPr>
          </a:p>
          <a:p>
            <a:r>
              <a:rPr lang="en-US" altLang="zh-CN" dirty="0">
                <a:solidFill>
                  <a:schemeClr val="accent2">
                    <a:lumMod val="50000"/>
                  </a:schemeClr>
                </a:solidFill>
                <a:latin typeface="Berlin Sans FB" panose="020E0602020502020306" pitchFamily="34" charset="0"/>
              </a:rPr>
              <a:t>Besides, if many people predict that the stock price will rise tomorrow, they are likely to buy stock today, causing the price to rise immediately instead of rise tomorrow.(reflexivity)</a:t>
            </a:r>
            <a:endParaRPr lang="zh-CN" altLang="en-US" dirty="0">
              <a:solidFill>
                <a:schemeClr val="accent2">
                  <a:lumMod val="50000"/>
                </a:schemeClr>
              </a:solidFill>
              <a:latin typeface="Berlin Sans FB" panose="020E0602020502020306" pitchFamily="34" charset="0"/>
            </a:endParaRPr>
          </a:p>
        </p:txBody>
      </p:sp>
    </p:spTree>
    <p:extLst>
      <p:ext uri="{BB962C8B-B14F-4D97-AF65-F5344CB8AC3E}">
        <p14:creationId xmlns:p14="http://schemas.microsoft.com/office/powerpoint/2010/main" val="10639157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duotone>
              <a:prstClr val="black"/>
              <a:schemeClr val="accent3">
                <a:tint val="45000"/>
                <a:satMod val="400000"/>
              </a:schemeClr>
            </a:duotone>
          </a:blip>
          <a:stretch>
            <a:fillRect/>
          </a:stretch>
        </p:blipFill>
        <p:spPr>
          <a:xfrm>
            <a:off x="838200" y="3525740"/>
            <a:ext cx="4979324" cy="951107"/>
          </a:xfrm>
          <a:prstGeom prst="rect">
            <a:avLst/>
          </a:prstGeom>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p:spPr>
      </p:pic>
      <p:sp>
        <p:nvSpPr>
          <p:cNvPr id="2" name="标题 1"/>
          <p:cNvSpPr>
            <a:spLocks noGrp="1"/>
          </p:cNvSpPr>
          <p:nvPr>
            <p:ph type="title"/>
          </p:nvPr>
        </p:nvSpPr>
        <p:spPr/>
        <p:txBody>
          <a:bodyPr/>
          <a:lstStyle/>
          <a:p>
            <a:r>
              <a:rPr lang="en-US" altLang="zh-CN" dirty="0">
                <a:solidFill>
                  <a:schemeClr val="accent2">
                    <a:lumMod val="50000"/>
                  </a:schemeClr>
                </a:solidFill>
                <a:latin typeface="Berlin Sans FB" panose="020E0602020502020306" pitchFamily="34" charset="0"/>
              </a:rPr>
              <a:t>ARMA model: Introduction</a:t>
            </a:r>
            <a:endParaRPr lang="zh-CN" altLang="en-US" dirty="0"/>
          </a:p>
        </p:txBody>
      </p:sp>
      <p:sp>
        <p:nvSpPr>
          <p:cNvPr id="3" name="内容占位符 2"/>
          <p:cNvSpPr>
            <a:spLocks noGrp="1"/>
          </p:cNvSpPr>
          <p:nvPr>
            <p:ph idx="1"/>
          </p:nvPr>
        </p:nvSpPr>
        <p:spPr>
          <a:xfrm>
            <a:off x="838200" y="1825625"/>
            <a:ext cx="10515600" cy="4896188"/>
          </a:xfrm>
        </p:spPr>
        <p:txBody>
          <a:bodyPr>
            <a:normAutofit/>
          </a:bodyPr>
          <a:lstStyle/>
          <a:p>
            <a:r>
              <a:rPr lang="en-US" altLang="zh-CN" dirty="0">
                <a:solidFill>
                  <a:schemeClr val="accent2">
                    <a:lumMod val="50000"/>
                  </a:schemeClr>
                </a:solidFill>
                <a:latin typeface="Berlin Sans FB" panose="020E0602020502020306" pitchFamily="34" charset="0"/>
              </a:rPr>
              <a:t>Autoregressive–moving-average model</a:t>
            </a:r>
          </a:p>
          <a:p>
            <a:r>
              <a:rPr lang="en-US" altLang="zh-CN" dirty="0">
                <a:solidFill>
                  <a:schemeClr val="accent2">
                    <a:lumMod val="50000"/>
                  </a:schemeClr>
                </a:solidFill>
                <a:latin typeface="Berlin Sans FB" panose="020E0602020502020306" pitchFamily="34" charset="0"/>
              </a:rPr>
              <a:t>The notation ARMA(p, q) refers to the model with p autoregressive terms and q moving-average terms. This model contains the AR(p) and MA(q) models,</a:t>
            </a:r>
          </a:p>
          <a:p>
            <a:endParaRPr lang="en-US" altLang="zh-CN" dirty="0">
              <a:solidFill>
                <a:schemeClr val="accent2">
                  <a:lumMod val="50000"/>
                </a:schemeClr>
              </a:solidFill>
              <a:latin typeface="Berlin Sans FB" panose="020E0602020502020306" pitchFamily="34" charset="0"/>
            </a:endParaRPr>
          </a:p>
          <a:p>
            <a:endParaRPr lang="en-US" altLang="zh-CN" dirty="0">
              <a:solidFill>
                <a:schemeClr val="accent2">
                  <a:lumMod val="50000"/>
                </a:schemeClr>
              </a:solidFill>
              <a:latin typeface="Berlin Sans FB" panose="020E0602020502020306" pitchFamily="34" charset="0"/>
            </a:endParaRPr>
          </a:p>
          <a:p>
            <a:r>
              <a:rPr lang="en-US" altLang="zh-CN" dirty="0">
                <a:solidFill>
                  <a:schemeClr val="accent2">
                    <a:lumMod val="50000"/>
                  </a:schemeClr>
                </a:solidFill>
                <a:latin typeface="Berlin Sans FB" panose="020E0602020502020306" pitchFamily="34" charset="0"/>
              </a:rPr>
              <a:t>ARMA is appropriate when a system is a function of a series of unobserved shocks (the MA part) as well as its own behavior. For example, stock prices may be shocked by fundamental information as well as exhibiting technical trending and mean-reversion effects due to market participants.</a:t>
            </a:r>
          </a:p>
        </p:txBody>
      </p:sp>
    </p:spTree>
    <p:extLst>
      <p:ext uri="{BB962C8B-B14F-4D97-AF65-F5344CB8AC3E}">
        <p14:creationId xmlns:p14="http://schemas.microsoft.com/office/powerpoint/2010/main" val="3750109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accent2">
                    <a:lumMod val="50000"/>
                  </a:schemeClr>
                </a:solidFill>
                <a:latin typeface="Berlin Sans FB" panose="020E0602020502020306" pitchFamily="34" charset="0"/>
              </a:rPr>
              <a:t>ARMA model: Main Purpose </a:t>
            </a:r>
            <a:endParaRPr lang="zh-CN" altLang="en-US" dirty="0"/>
          </a:p>
        </p:txBody>
      </p:sp>
      <p:sp>
        <p:nvSpPr>
          <p:cNvPr id="3" name="内容占位符 2"/>
          <p:cNvSpPr>
            <a:spLocks noGrp="1"/>
          </p:cNvSpPr>
          <p:nvPr>
            <p:ph idx="1"/>
          </p:nvPr>
        </p:nvSpPr>
        <p:spPr/>
        <p:txBody>
          <a:bodyPr/>
          <a:lstStyle/>
          <a:p>
            <a:r>
              <a:rPr lang="en-US" altLang="zh-CN" dirty="0">
                <a:solidFill>
                  <a:schemeClr val="accent2">
                    <a:lumMod val="50000"/>
                  </a:schemeClr>
                </a:solidFill>
                <a:latin typeface="Berlin Sans FB" panose="020E0602020502020306" pitchFamily="34" charset="0"/>
              </a:rPr>
              <a:t>Ordinary data also have poor result, high frequency data turns out to have nice quality.</a:t>
            </a:r>
          </a:p>
          <a:p>
            <a:endParaRPr lang="en-US" altLang="zh-CN" dirty="0">
              <a:solidFill>
                <a:schemeClr val="accent2">
                  <a:lumMod val="50000"/>
                </a:schemeClr>
              </a:solidFill>
              <a:latin typeface="Berlin Sans FB" panose="020E0602020502020306" pitchFamily="34" charset="0"/>
            </a:endParaRPr>
          </a:p>
          <a:p>
            <a:r>
              <a:rPr lang="en-US" altLang="zh-CN" dirty="0">
                <a:solidFill>
                  <a:schemeClr val="accent2">
                    <a:lumMod val="50000"/>
                  </a:schemeClr>
                </a:solidFill>
                <a:latin typeface="Berlin Sans FB" panose="020E0602020502020306" pitchFamily="34" charset="0"/>
              </a:rPr>
              <a:t>Using prices and returns of every minute to predict.</a:t>
            </a:r>
          </a:p>
          <a:p>
            <a:endParaRPr lang="en-US" altLang="zh-CN" dirty="0">
              <a:solidFill>
                <a:schemeClr val="accent2">
                  <a:lumMod val="50000"/>
                </a:schemeClr>
              </a:solidFill>
              <a:latin typeface="Berlin Sans FB" panose="020E0602020502020306" pitchFamily="34" charset="0"/>
            </a:endParaRPr>
          </a:p>
          <a:p>
            <a:r>
              <a:rPr lang="en-US" altLang="zh-CN" dirty="0">
                <a:solidFill>
                  <a:schemeClr val="accent2">
                    <a:lumMod val="50000"/>
                  </a:schemeClr>
                </a:solidFill>
                <a:latin typeface="Berlin Sans FB" panose="020E0602020502020306" pitchFamily="34" charset="0"/>
              </a:rPr>
              <a:t>Build the model based on the difference between HS300 and A50 to do arbitrage via shorting one asset and long the other.</a:t>
            </a:r>
          </a:p>
          <a:p>
            <a:endParaRPr lang="zh-CN" altLang="en-US" dirty="0"/>
          </a:p>
        </p:txBody>
      </p:sp>
    </p:spTree>
    <p:extLst>
      <p:ext uri="{BB962C8B-B14F-4D97-AF65-F5344CB8AC3E}">
        <p14:creationId xmlns:p14="http://schemas.microsoft.com/office/powerpoint/2010/main" val="500851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accent2">
                    <a:lumMod val="50000"/>
                  </a:schemeClr>
                </a:solidFill>
                <a:latin typeface="Berlin Sans FB" panose="020E0602020502020306" pitchFamily="34" charset="0"/>
              </a:rPr>
              <a:t>ARMA model: Data &amp; Training</a:t>
            </a:r>
            <a:endParaRPr lang="zh-CN" altLang="en-US" dirty="0"/>
          </a:p>
        </p:txBody>
      </p:sp>
      <p:sp>
        <p:nvSpPr>
          <p:cNvPr id="3" name="内容占位符 2"/>
          <p:cNvSpPr>
            <a:spLocks noGrp="1"/>
          </p:cNvSpPr>
          <p:nvPr>
            <p:ph idx="1"/>
          </p:nvPr>
        </p:nvSpPr>
        <p:spPr/>
        <p:txBody>
          <a:bodyPr/>
          <a:lstStyle/>
          <a:p>
            <a:r>
              <a:rPr lang="en-US" altLang="zh-CN" dirty="0">
                <a:solidFill>
                  <a:schemeClr val="accent2">
                    <a:lumMod val="50000"/>
                  </a:schemeClr>
                </a:solidFill>
                <a:latin typeface="Berlin Sans FB" panose="020E0602020502020306" pitchFamily="34" charset="0"/>
              </a:rPr>
              <a:t>Step 1: get the data and handle it</a:t>
            </a:r>
          </a:p>
          <a:p>
            <a:endParaRPr lang="en-US" altLang="zh-CN" dirty="0">
              <a:solidFill>
                <a:schemeClr val="accent2">
                  <a:lumMod val="50000"/>
                </a:schemeClr>
              </a:solidFill>
              <a:latin typeface="Berlin Sans FB" panose="020E0602020502020306" pitchFamily="34" charset="0"/>
            </a:endParaRPr>
          </a:p>
          <a:p>
            <a:endParaRPr lang="en-US" altLang="zh-CN" dirty="0">
              <a:solidFill>
                <a:schemeClr val="accent2">
                  <a:lumMod val="50000"/>
                </a:schemeClr>
              </a:solidFill>
              <a:latin typeface="Berlin Sans FB" panose="020E0602020502020306" pitchFamily="34" charset="0"/>
            </a:endParaRPr>
          </a:p>
          <a:p>
            <a:endParaRPr lang="en-US" altLang="zh-CN" dirty="0">
              <a:solidFill>
                <a:schemeClr val="accent2">
                  <a:lumMod val="50000"/>
                </a:schemeClr>
              </a:solidFill>
              <a:latin typeface="Berlin Sans FB" panose="020E0602020502020306" pitchFamily="34" charset="0"/>
            </a:endParaRPr>
          </a:p>
          <a:p>
            <a:pPr marL="0" indent="0">
              <a:buNone/>
            </a:pPr>
            <a:r>
              <a:rPr lang="en-US" altLang="zh-CN" dirty="0">
                <a:solidFill>
                  <a:schemeClr val="accent2">
                    <a:lumMod val="50000"/>
                  </a:schemeClr>
                </a:solidFill>
                <a:latin typeface="Berlin Sans FB" panose="020E0602020502020306" pitchFamily="34" charset="0"/>
              </a:rPr>
              <a:t>The data is downloaded from the Wind Database</a:t>
            </a:r>
          </a:p>
          <a:p>
            <a:endParaRPr lang="en-US" altLang="zh-CN" dirty="0"/>
          </a:p>
          <a:p>
            <a:endParaRPr lang="zh-CN" altLang="en-US" dirty="0"/>
          </a:p>
        </p:txBody>
      </p:sp>
      <p:pic>
        <p:nvPicPr>
          <p:cNvPr id="4" name="图片 3"/>
          <p:cNvPicPr>
            <a:picLocks noChangeAspect="1"/>
          </p:cNvPicPr>
          <p:nvPr/>
        </p:nvPicPr>
        <p:blipFill>
          <a:blip r:embed="rId2">
            <a:duotone>
              <a:prstClr val="black"/>
              <a:schemeClr val="accent3">
                <a:tint val="45000"/>
                <a:satMod val="400000"/>
              </a:schemeClr>
            </a:duotone>
          </a:blip>
          <a:stretch>
            <a:fillRect/>
          </a:stretch>
        </p:blipFill>
        <p:spPr>
          <a:xfrm>
            <a:off x="838200" y="2242918"/>
            <a:ext cx="9229928" cy="1563226"/>
          </a:xfrm>
          <a:prstGeom prst="rect">
            <a:avLst/>
          </a:prstGeom>
        </p:spPr>
      </p:pic>
      <p:pic>
        <p:nvPicPr>
          <p:cNvPr id="5" name="图片 4"/>
          <p:cNvPicPr>
            <a:picLocks noChangeAspect="1"/>
          </p:cNvPicPr>
          <p:nvPr/>
        </p:nvPicPr>
        <p:blipFill>
          <a:blip r:embed="rId3">
            <a:duotone>
              <a:prstClr val="black"/>
              <a:schemeClr val="accent3">
                <a:tint val="45000"/>
                <a:satMod val="400000"/>
              </a:schemeClr>
            </a:duotone>
          </a:blip>
          <a:stretch>
            <a:fillRect/>
          </a:stretch>
        </p:blipFill>
        <p:spPr>
          <a:xfrm>
            <a:off x="838200" y="4319642"/>
            <a:ext cx="9229928" cy="671911"/>
          </a:xfrm>
          <a:prstGeom prst="rect">
            <a:avLst/>
          </a:prstGeom>
        </p:spPr>
      </p:pic>
    </p:spTree>
    <p:extLst>
      <p:ext uri="{BB962C8B-B14F-4D97-AF65-F5344CB8AC3E}">
        <p14:creationId xmlns:p14="http://schemas.microsoft.com/office/powerpoint/2010/main" val="34875423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accent2">
                    <a:lumMod val="50000"/>
                  </a:schemeClr>
                </a:solidFill>
                <a:latin typeface="Berlin Sans FB" panose="020E0602020502020306" pitchFamily="34" charset="0"/>
              </a:rPr>
              <a:t>ARMA model: Data &amp; Training</a:t>
            </a:r>
            <a:endParaRPr lang="zh-CN" altLang="en-US" dirty="0"/>
          </a:p>
        </p:txBody>
      </p:sp>
      <p:sp>
        <p:nvSpPr>
          <p:cNvPr id="3" name="内容占位符 2"/>
          <p:cNvSpPr>
            <a:spLocks noGrp="1"/>
          </p:cNvSpPr>
          <p:nvPr>
            <p:ph idx="1"/>
          </p:nvPr>
        </p:nvSpPr>
        <p:spPr>
          <a:xfrm>
            <a:off x="960262" y="1894918"/>
            <a:ext cx="10515600" cy="4351338"/>
          </a:xfrm>
        </p:spPr>
        <p:txBody>
          <a:bodyPr/>
          <a:lstStyle/>
          <a:p>
            <a:r>
              <a:rPr lang="en-US" altLang="zh-CN" dirty="0">
                <a:solidFill>
                  <a:schemeClr val="accent2">
                    <a:lumMod val="50000"/>
                  </a:schemeClr>
                </a:solidFill>
                <a:latin typeface="Berlin Sans FB" panose="020E0602020502020306" pitchFamily="34" charset="0"/>
              </a:rPr>
              <a:t>Step 1: get the data and handle it</a:t>
            </a:r>
          </a:p>
          <a:p>
            <a:endParaRPr lang="zh-CN" altLang="en-US" dirty="0"/>
          </a:p>
        </p:txBody>
      </p:sp>
      <p:pic>
        <p:nvPicPr>
          <p:cNvPr id="4" name="图片 3"/>
          <p:cNvPicPr>
            <a:picLocks noChangeAspect="1"/>
          </p:cNvPicPr>
          <p:nvPr/>
        </p:nvPicPr>
        <p:blipFill>
          <a:blip r:embed="rId2">
            <a:duotone>
              <a:prstClr val="black"/>
              <a:schemeClr val="accent3">
                <a:tint val="45000"/>
                <a:satMod val="400000"/>
              </a:schemeClr>
            </a:duotone>
          </a:blip>
          <a:stretch>
            <a:fillRect/>
          </a:stretch>
        </p:blipFill>
        <p:spPr>
          <a:xfrm>
            <a:off x="960261" y="2443827"/>
            <a:ext cx="6802783" cy="3802429"/>
          </a:xfrm>
          <a:prstGeom prst="rect">
            <a:avLst/>
          </a:prstGeom>
        </p:spPr>
      </p:pic>
    </p:spTree>
    <p:extLst>
      <p:ext uri="{BB962C8B-B14F-4D97-AF65-F5344CB8AC3E}">
        <p14:creationId xmlns:p14="http://schemas.microsoft.com/office/powerpoint/2010/main" val="170877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accent2">
                    <a:lumMod val="50000"/>
                  </a:schemeClr>
                </a:solidFill>
                <a:latin typeface="Berlin Sans FB" panose="020E0602020502020306" pitchFamily="34" charset="0"/>
              </a:rPr>
              <a:t>ARMA model: Data &amp; Training</a:t>
            </a:r>
            <a:endParaRPr lang="zh-CN" altLang="en-US" dirty="0">
              <a:solidFill>
                <a:schemeClr val="accent2">
                  <a:lumMod val="50000"/>
                </a:schemeClr>
              </a:solidFill>
              <a:latin typeface="Berlin Sans FB" panose="020E0602020502020306" pitchFamily="34" charset="0"/>
            </a:endParaRPr>
          </a:p>
        </p:txBody>
      </p:sp>
      <p:sp>
        <p:nvSpPr>
          <p:cNvPr id="3" name="内容占位符 2"/>
          <p:cNvSpPr>
            <a:spLocks noGrp="1"/>
          </p:cNvSpPr>
          <p:nvPr>
            <p:ph idx="1"/>
          </p:nvPr>
        </p:nvSpPr>
        <p:spPr/>
        <p:txBody>
          <a:bodyPr/>
          <a:lstStyle/>
          <a:p>
            <a:r>
              <a:rPr lang="en-US" altLang="zh-CN" dirty="0">
                <a:solidFill>
                  <a:schemeClr val="accent2">
                    <a:lumMod val="50000"/>
                  </a:schemeClr>
                </a:solidFill>
                <a:latin typeface="Berlin Sans FB" panose="020E0602020502020306" pitchFamily="34" charset="0"/>
              </a:rPr>
              <a:t>Basic statistic information for three series – returns on both HS300 and A50 and the difference between returns:</a:t>
            </a:r>
          </a:p>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1638655274"/>
              </p:ext>
            </p:extLst>
          </p:nvPr>
        </p:nvGraphicFramePr>
        <p:xfrm>
          <a:off x="575553" y="2702797"/>
          <a:ext cx="7508132" cy="3739731"/>
        </p:xfrm>
        <a:graphic>
          <a:graphicData uri="http://schemas.openxmlformats.org/drawingml/2006/table">
            <a:tbl>
              <a:tblPr firstRow="1" firstCol="1" bandRow="1">
                <a:tableStyleId>{5C22544A-7EE6-4342-B048-85BDC9FD1C3A}</a:tableStyleId>
              </a:tblPr>
              <a:tblGrid>
                <a:gridCol w="1877033">
                  <a:extLst>
                    <a:ext uri="{9D8B030D-6E8A-4147-A177-3AD203B41FA5}">
                      <a16:colId xmlns:a16="http://schemas.microsoft.com/office/drawing/2014/main" val="63900577"/>
                    </a:ext>
                  </a:extLst>
                </a:gridCol>
                <a:gridCol w="1877033">
                  <a:extLst>
                    <a:ext uri="{9D8B030D-6E8A-4147-A177-3AD203B41FA5}">
                      <a16:colId xmlns:a16="http://schemas.microsoft.com/office/drawing/2014/main" val="496564180"/>
                    </a:ext>
                  </a:extLst>
                </a:gridCol>
                <a:gridCol w="1877033">
                  <a:extLst>
                    <a:ext uri="{9D8B030D-6E8A-4147-A177-3AD203B41FA5}">
                      <a16:colId xmlns:a16="http://schemas.microsoft.com/office/drawing/2014/main" val="595087389"/>
                    </a:ext>
                  </a:extLst>
                </a:gridCol>
                <a:gridCol w="1877033">
                  <a:extLst>
                    <a:ext uri="{9D8B030D-6E8A-4147-A177-3AD203B41FA5}">
                      <a16:colId xmlns:a16="http://schemas.microsoft.com/office/drawing/2014/main" val="2420343389"/>
                    </a:ext>
                  </a:extLst>
                </a:gridCol>
              </a:tblGrid>
              <a:tr h="325194">
                <a:tc gridSpan="2">
                  <a:txBody>
                    <a:bodyPr/>
                    <a:lstStyle/>
                    <a:p>
                      <a:pPr algn="ctr">
                        <a:spcAft>
                          <a:spcPts val="0"/>
                        </a:spcAft>
                      </a:pPr>
                      <a:r>
                        <a:rPr lang="en-US" sz="2000" kern="100" dirty="0">
                          <a:solidFill>
                            <a:schemeClr val="accent2">
                              <a:lumMod val="50000"/>
                            </a:schemeClr>
                          </a:solidFill>
                          <a:effectLst/>
                          <a:latin typeface="Arial Black" panose="020B0A04020102020204" pitchFamily="34" charset="0"/>
                        </a:rPr>
                        <a:t>HS300</a:t>
                      </a:r>
                      <a:endParaRPr lang="zh-CN" sz="2000" kern="100" dirty="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hMerge="1">
                  <a:txBody>
                    <a:bodyPr/>
                    <a:lstStyle/>
                    <a:p>
                      <a:endParaRPr lang="zh-CN" altLang="en-US"/>
                    </a:p>
                  </a:txBody>
                  <a:tcPr/>
                </a:tc>
                <a:tc gridSpan="2">
                  <a:txBody>
                    <a:bodyPr/>
                    <a:lstStyle/>
                    <a:p>
                      <a:pPr algn="ctr">
                        <a:spcAft>
                          <a:spcPts val="0"/>
                        </a:spcAft>
                      </a:pPr>
                      <a:r>
                        <a:rPr lang="en-US" sz="2000" kern="100" dirty="0">
                          <a:solidFill>
                            <a:schemeClr val="accent2">
                              <a:lumMod val="50000"/>
                            </a:schemeClr>
                          </a:solidFill>
                          <a:effectLst/>
                          <a:latin typeface="Arial Black" panose="020B0A04020102020204" pitchFamily="34" charset="0"/>
                        </a:rPr>
                        <a:t>A50</a:t>
                      </a:r>
                      <a:endParaRPr lang="zh-CN" sz="2000" kern="100" dirty="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hMerge="1">
                  <a:txBody>
                    <a:bodyPr/>
                    <a:lstStyle/>
                    <a:p>
                      <a:endParaRPr lang="zh-CN" altLang="en-US"/>
                    </a:p>
                  </a:txBody>
                  <a:tcPr/>
                </a:tc>
                <a:extLst>
                  <a:ext uri="{0D108BD9-81ED-4DB2-BD59-A6C34878D82A}">
                    <a16:rowId xmlns:a16="http://schemas.microsoft.com/office/drawing/2014/main" val="4102872436"/>
                  </a:ext>
                </a:extLst>
              </a:tr>
              <a:tr h="379393">
                <a:tc>
                  <a:txBody>
                    <a:bodyPr/>
                    <a:lstStyle/>
                    <a:p>
                      <a:pPr algn="l">
                        <a:spcAft>
                          <a:spcPts val="0"/>
                        </a:spcAft>
                      </a:pPr>
                      <a:r>
                        <a:rPr lang="en-US" sz="1800" kern="100" dirty="0">
                          <a:solidFill>
                            <a:schemeClr val="accent2">
                              <a:lumMod val="50000"/>
                            </a:schemeClr>
                          </a:solidFill>
                          <a:effectLst/>
                          <a:latin typeface="Arial Black" panose="020B0A04020102020204" pitchFamily="34" charset="0"/>
                        </a:rPr>
                        <a:t>nobs</a:t>
                      </a:r>
                      <a:endParaRPr lang="zh-CN" sz="2000" kern="100" dirty="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r">
                        <a:spcAft>
                          <a:spcPts val="0"/>
                        </a:spcAft>
                      </a:pPr>
                      <a:r>
                        <a:rPr lang="en-US" sz="2400" kern="100" dirty="0">
                          <a:solidFill>
                            <a:schemeClr val="accent2">
                              <a:lumMod val="50000"/>
                            </a:schemeClr>
                          </a:solidFill>
                          <a:effectLst/>
                          <a:latin typeface="Arial Black" panose="020B0A04020102020204" pitchFamily="34" charset="0"/>
                        </a:rPr>
                        <a:t>5129</a:t>
                      </a:r>
                      <a:endParaRPr lang="zh-CN" sz="2000" kern="100" dirty="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l">
                        <a:spcAft>
                          <a:spcPts val="0"/>
                        </a:spcAft>
                      </a:pPr>
                      <a:r>
                        <a:rPr lang="en-US" sz="1800" kern="100" dirty="0">
                          <a:solidFill>
                            <a:schemeClr val="accent2">
                              <a:lumMod val="50000"/>
                            </a:schemeClr>
                          </a:solidFill>
                          <a:effectLst/>
                          <a:latin typeface="Arial Black" panose="020B0A04020102020204" pitchFamily="34" charset="0"/>
                        </a:rPr>
                        <a:t>nobs</a:t>
                      </a:r>
                      <a:endParaRPr lang="zh-CN" sz="2000" kern="100" dirty="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r">
                        <a:spcAft>
                          <a:spcPts val="0"/>
                        </a:spcAft>
                      </a:pPr>
                      <a:r>
                        <a:rPr lang="en-US" sz="2400" kern="100" dirty="0">
                          <a:solidFill>
                            <a:schemeClr val="accent2">
                              <a:lumMod val="50000"/>
                            </a:schemeClr>
                          </a:solidFill>
                          <a:effectLst/>
                          <a:latin typeface="Arial Black" panose="020B0A04020102020204" pitchFamily="34" charset="0"/>
                        </a:rPr>
                        <a:t>5129</a:t>
                      </a:r>
                      <a:endParaRPr lang="zh-CN" sz="2000" kern="100" dirty="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extLst>
                  <a:ext uri="{0D108BD9-81ED-4DB2-BD59-A6C34878D82A}">
                    <a16:rowId xmlns:a16="http://schemas.microsoft.com/office/drawing/2014/main" val="3964738852"/>
                  </a:ext>
                </a:extLst>
              </a:tr>
              <a:tr h="379393">
                <a:tc>
                  <a:txBody>
                    <a:bodyPr/>
                    <a:lstStyle/>
                    <a:p>
                      <a:pPr algn="l">
                        <a:spcAft>
                          <a:spcPts val="0"/>
                        </a:spcAft>
                      </a:pPr>
                      <a:r>
                        <a:rPr lang="en-US" sz="1800" kern="100">
                          <a:solidFill>
                            <a:schemeClr val="accent2">
                              <a:lumMod val="50000"/>
                            </a:schemeClr>
                          </a:solidFill>
                          <a:effectLst/>
                          <a:latin typeface="Arial Black" panose="020B0A04020102020204" pitchFamily="34" charset="0"/>
                        </a:rPr>
                        <a:t>Minimum</a:t>
                      </a:r>
                      <a:endParaRPr lang="zh-CN" sz="2000" kern="10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r">
                        <a:spcAft>
                          <a:spcPts val="0"/>
                        </a:spcAft>
                      </a:pPr>
                      <a:r>
                        <a:rPr lang="en-US" sz="2400" kern="100" dirty="0">
                          <a:solidFill>
                            <a:schemeClr val="accent2">
                              <a:lumMod val="50000"/>
                            </a:schemeClr>
                          </a:solidFill>
                          <a:effectLst/>
                          <a:latin typeface="Arial Black" panose="020B0A04020102020204" pitchFamily="34" charset="0"/>
                        </a:rPr>
                        <a:t>-0.007359</a:t>
                      </a:r>
                      <a:endParaRPr lang="zh-CN" sz="2000" kern="100" dirty="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l">
                        <a:spcAft>
                          <a:spcPts val="0"/>
                        </a:spcAft>
                      </a:pPr>
                      <a:r>
                        <a:rPr lang="en-US" sz="1800" kern="100" dirty="0">
                          <a:solidFill>
                            <a:schemeClr val="accent2">
                              <a:lumMod val="50000"/>
                            </a:schemeClr>
                          </a:solidFill>
                          <a:effectLst/>
                          <a:latin typeface="Arial Black" panose="020B0A04020102020204" pitchFamily="34" charset="0"/>
                        </a:rPr>
                        <a:t>Minimum</a:t>
                      </a:r>
                      <a:endParaRPr lang="zh-CN" sz="2000" kern="100" dirty="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r">
                        <a:spcAft>
                          <a:spcPts val="0"/>
                        </a:spcAft>
                      </a:pPr>
                      <a:r>
                        <a:rPr lang="en-US" sz="2400" kern="100">
                          <a:solidFill>
                            <a:schemeClr val="accent2">
                              <a:lumMod val="50000"/>
                            </a:schemeClr>
                          </a:solidFill>
                          <a:effectLst/>
                          <a:latin typeface="Arial Black" panose="020B0A04020102020204" pitchFamily="34" charset="0"/>
                        </a:rPr>
                        <a:t>-0.015929</a:t>
                      </a:r>
                      <a:endParaRPr lang="zh-CN" sz="2000" kern="10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extLst>
                  <a:ext uri="{0D108BD9-81ED-4DB2-BD59-A6C34878D82A}">
                    <a16:rowId xmlns:a16="http://schemas.microsoft.com/office/drawing/2014/main" val="1257626645"/>
                  </a:ext>
                </a:extLst>
              </a:tr>
              <a:tr h="379393">
                <a:tc>
                  <a:txBody>
                    <a:bodyPr/>
                    <a:lstStyle/>
                    <a:p>
                      <a:pPr algn="l">
                        <a:spcAft>
                          <a:spcPts val="0"/>
                        </a:spcAft>
                      </a:pPr>
                      <a:r>
                        <a:rPr lang="en-US" sz="1800" kern="100">
                          <a:solidFill>
                            <a:schemeClr val="accent2">
                              <a:lumMod val="50000"/>
                            </a:schemeClr>
                          </a:solidFill>
                          <a:effectLst/>
                          <a:latin typeface="Arial Black" panose="020B0A04020102020204" pitchFamily="34" charset="0"/>
                        </a:rPr>
                        <a:t>Maximum</a:t>
                      </a:r>
                      <a:endParaRPr lang="zh-CN" sz="2000" kern="10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r">
                        <a:spcAft>
                          <a:spcPts val="0"/>
                        </a:spcAft>
                      </a:pPr>
                      <a:r>
                        <a:rPr lang="en-US" sz="2400" kern="100" dirty="0">
                          <a:solidFill>
                            <a:schemeClr val="accent2">
                              <a:lumMod val="50000"/>
                            </a:schemeClr>
                          </a:solidFill>
                          <a:effectLst/>
                          <a:latin typeface="Arial Black" panose="020B0A04020102020204" pitchFamily="34" charset="0"/>
                        </a:rPr>
                        <a:t>0.009338</a:t>
                      </a:r>
                      <a:endParaRPr lang="zh-CN" sz="2000" kern="100" dirty="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l">
                        <a:spcAft>
                          <a:spcPts val="0"/>
                        </a:spcAft>
                      </a:pPr>
                      <a:r>
                        <a:rPr lang="en-US" sz="1800" kern="100" dirty="0">
                          <a:solidFill>
                            <a:schemeClr val="accent2">
                              <a:lumMod val="50000"/>
                            </a:schemeClr>
                          </a:solidFill>
                          <a:effectLst/>
                          <a:latin typeface="Arial Black" panose="020B0A04020102020204" pitchFamily="34" charset="0"/>
                        </a:rPr>
                        <a:t>Maximum</a:t>
                      </a:r>
                      <a:endParaRPr lang="zh-CN" sz="2000" kern="100" dirty="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r">
                        <a:spcAft>
                          <a:spcPts val="0"/>
                        </a:spcAft>
                      </a:pPr>
                      <a:r>
                        <a:rPr lang="en-US" sz="2400" kern="100" dirty="0">
                          <a:solidFill>
                            <a:schemeClr val="accent2">
                              <a:lumMod val="50000"/>
                            </a:schemeClr>
                          </a:solidFill>
                          <a:effectLst/>
                          <a:latin typeface="Arial Black" panose="020B0A04020102020204" pitchFamily="34" charset="0"/>
                        </a:rPr>
                        <a:t>0.009716</a:t>
                      </a:r>
                      <a:endParaRPr lang="zh-CN" sz="2000" kern="100" dirty="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extLst>
                  <a:ext uri="{0D108BD9-81ED-4DB2-BD59-A6C34878D82A}">
                    <a16:rowId xmlns:a16="http://schemas.microsoft.com/office/drawing/2014/main" val="2526140283"/>
                  </a:ext>
                </a:extLst>
              </a:tr>
              <a:tr h="379393">
                <a:tc>
                  <a:txBody>
                    <a:bodyPr/>
                    <a:lstStyle/>
                    <a:p>
                      <a:pPr algn="l">
                        <a:spcAft>
                          <a:spcPts val="0"/>
                        </a:spcAft>
                      </a:pPr>
                      <a:r>
                        <a:rPr lang="en-US" sz="1800" kern="100" dirty="0">
                          <a:solidFill>
                            <a:schemeClr val="accent2">
                              <a:lumMod val="50000"/>
                            </a:schemeClr>
                          </a:solidFill>
                          <a:effectLst/>
                          <a:latin typeface="Arial Black" panose="020B0A04020102020204" pitchFamily="34" charset="0"/>
                        </a:rPr>
                        <a:t>Mean</a:t>
                      </a:r>
                      <a:endParaRPr lang="zh-CN" sz="2000" kern="100" dirty="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r">
                        <a:spcAft>
                          <a:spcPts val="0"/>
                        </a:spcAft>
                      </a:pPr>
                      <a:r>
                        <a:rPr lang="en-US" sz="2400" kern="100" dirty="0">
                          <a:solidFill>
                            <a:schemeClr val="accent2">
                              <a:lumMod val="50000"/>
                            </a:schemeClr>
                          </a:solidFill>
                          <a:effectLst/>
                          <a:latin typeface="Arial Black" panose="020B0A04020102020204" pitchFamily="34" charset="0"/>
                        </a:rPr>
                        <a:t>0.000021</a:t>
                      </a:r>
                      <a:endParaRPr lang="zh-CN" sz="2000" kern="100" dirty="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l">
                        <a:spcAft>
                          <a:spcPts val="0"/>
                        </a:spcAft>
                      </a:pPr>
                      <a:r>
                        <a:rPr lang="en-US" sz="1800" kern="100" dirty="0">
                          <a:solidFill>
                            <a:schemeClr val="accent2">
                              <a:lumMod val="50000"/>
                            </a:schemeClr>
                          </a:solidFill>
                          <a:effectLst/>
                          <a:latin typeface="Arial Black" panose="020B0A04020102020204" pitchFamily="34" charset="0"/>
                        </a:rPr>
                        <a:t>Mean</a:t>
                      </a:r>
                      <a:endParaRPr lang="zh-CN" sz="2000" kern="100" dirty="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r">
                        <a:spcAft>
                          <a:spcPts val="0"/>
                        </a:spcAft>
                      </a:pPr>
                      <a:r>
                        <a:rPr lang="en-US" sz="2400" kern="100" dirty="0">
                          <a:solidFill>
                            <a:schemeClr val="accent2">
                              <a:lumMod val="50000"/>
                            </a:schemeClr>
                          </a:solidFill>
                          <a:effectLst/>
                          <a:latin typeface="Arial Black" panose="020B0A04020102020204" pitchFamily="34" charset="0"/>
                        </a:rPr>
                        <a:t>0.000017</a:t>
                      </a:r>
                      <a:endParaRPr lang="zh-CN" sz="2000" kern="100" dirty="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extLst>
                  <a:ext uri="{0D108BD9-81ED-4DB2-BD59-A6C34878D82A}">
                    <a16:rowId xmlns:a16="http://schemas.microsoft.com/office/drawing/2014/main" val="87554859"/>
                  </a:ext>
                </a:extLst>
              </a:tr>
              <a:tr h="379393">
                <a:tc>
                  <a:txBody>
                    <a:bodyPr/>
                    <a:lstStyle/>
                    <a:p>
                      <a:pPr algn="l">
                        <a:spcAft>
                          <a:spcPts val="0"/>
                        </a:spcAft>
                      </a:pPr>
                      <a:r>
                        <a:rPr lang="en-US" sz="1800" kern="100">
                          <a:solidFill>
                            <a:schemeClr val="accent2">
                              <a:lumMod val="50000"/>
                            </a:schemeClr>
                          </a:solidFill>
                          <a:effectLst/>
                          <a:latin typeface="Arial Black" panose="020B0A04020102020204" pitchFamily="34" charset="0"/>
                        </a:rPr>
                        <a:t>Median</a:t>
                      </a:r>
                      <a:endParaRPr lang="zh-CN" sz="2000" kern="10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r">
                        <a:spcAft>
                          <a:spcPts val="0"/>
                        </a:spcAft>
                      </a:pPr>
                      <a:r>
                        <a:rPr lang="en-US" sz="2400" kern="100">
                          <a:solidFill>
                            <a:schemeClr val="accent2">
                              <a:lumMod val="50000"/>
                            </a:schemeClr>
                          </a:solidFill>
                          <a:effectLst/>
                          <a:latin typeface="Arial Black" panose="020B0A04020102020204" pitchFamily="34" charset="0"/>
                        </a:rPr>
                        <a:t>0</a:t>
                      </a:r>
                      <a:endParaRPr lang="zh-CN" sz="2000" kern="10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l">
                        <a:spcAft>
                          <a:spcPts val="0"/>
                        </a:spcAft>
                      </a:pPr>
                      <a:r>
                        <a:rPr lang="en-US" sz="1800" kern="100" dirty="0">
                          <a:solidFill>
                            <a:schemeClr val="accent2">
                              <a:lumMod val="50000"/>
                            </a:schemeClr>
                          </a:solidFill>
                          <a:effectLst/>
                          <a:latin typeface="Arial Black" panose="020B0A04020102020204" pitchFamily="34" charset="0"/>
                        </a:rPr>
                        <a:t>Median</a:t>
                      </a:r>
                      <a:endParaRPr lang="zh-CN" sz="2000" kern="100" dirty="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r">
                        <a:spcAft>
                          <a:spcPts val="0"/>
                        </a:spcAft>
                      </a:pPr>
                      <a:r>
                        <a:rPr lang="en-US" sz="2400" kern="100" dirty="0">
                          <a:solidFill>
                            <a:schemeClr val="accent2">
                              <a:lumMod val="50000"/>
                            </a:schemeClr>
                          </a:solidFill>
                          <a:effectLst/>
                          <a:latin typeface="Arial Black" panose="020B0A04020102020204" pitchFamily="34" charset="0"/>
                        </a:rPr>
                        <a:t>0</a:t>
                      </a:r>
                      <a:endParaRPr lang="zh-CN" sz="2000" kern="100" dirty="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extLst>
                  <a:ext uri="{0D108BD9-81ED-4DB2-BD59-A6C34878D82A}">
                    <a16:rowId xmlns:a16="http://schemas.microsoft.com/office/drawing/2014/main" val="278966739"/>
                  </a:ext>
                </a:extLst>
              </a:tr>
              <a:tr h="379393">
                <a:tc>
                  <a:txBody>
                    <a:bodyPr/>
                    <a:lstStyle/>
                    <a:p>
                      <a:pPr algn="l">
                        <a:spcAft>
                          <a:spcPts val="0"/>
                        </a:spcAft>
                      </a:pPr>
                      <a:r>
                        <a:rPr lang="en-US" sz="1800" kern="100">
                          <a:solidFill>
                            <a:schemeClr val="accent2">
                              <a:lumMod val="50000"/>
                            </a:schemeClr>
                          </a:solidFill>
                          <a:effectLst/>
                          <a:latin typeface="Arial Black" panose="020B0A04020102020204" pitchFamily="34" charset="0"/>
                        </a:rPr>
                        <a:t>Variance</a:t>
                      </a:r>
                      <a:endParaRPr lang="zh-CN" sz="2000" kern="10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r">
                        <a:spcAft>
                          <a:spcPts val="0"/>
                        </a:spcAft>
                      </a:pPr>
                      <a:r>
                        <a:rPr lang="en-US" sz="2400" kern="100">
                          <a:solidFill>
                            <a:schemeClr val="accent2">
                              <a:lumMod val="50000"/>
                            </a:schemeClr>
                          </a:solidFill>
                          <a:effectLst/>
                          <a:latin typeface="Arial Black" panose="020B0A04020102020204" pitchFamily="34" charset="0"/>
                        </a:rPr>
                        <a:t>0.000001</a:t>
                      </a:r>
                      <a:endParaRPr lang="zh-CN" sz="2000" kern="10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l">
                        <a:spcAft>
                          <a:spcPts val="0"/>
                        </a:spcAft>
                      </a:pPr>
                      <a:r>
                        <a:rPr lang="en-US" sz="1800" kern="100" dirty="0">
                          <a:solidFill>
                            <a:schemeClr val="accent2">
                              <a:lumMod val="50000"/>
                            </a:schemeClr>
                          </a:solidFill>
                          <a:effectLst/>
                          <a:latin typeface="Arial Black" panose="020B0A04020102020204" pitchFamily="34" charset="0"/>
                        </a:rPr>
                        <a:t>Variance</a:t>
                      </a:r>
                      <a:endParaRPr lang="zh-CN" sz="2000" kern="100" dirty="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r">
                        <a:spcAft>
                          <a:spcPts val="0"/>
                        </a:spcAft>
                      </a:pPr>
                      <a:r>
                        <a:rPr lang="en-US" sz="2400" kern="100" dirty="0">
                          <a:solidFill>
                            <a:schemeClr val="accent2">
                              <a:lumMod val="50000"/>
                            </a:schemeClr>
                          </a:solidFill>
                          <a:effectLst/>
                          <a:latin typeface="Arial Black" panose="020B0A04020102020204" pitchFamily="34" charset="0"/>
                        </a:rPr>
                        <a:t>0.000001</a:t>
                      </a:r>
                      <a:endParaRPr lang="zh-CN" sz="2000" kern="100" dirty="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extLst>
                  <a:ext uri="{0D108BD9-81ED-4DB2-BD59-A6C34878D82A}">
                    <a16:rowId xmlns:a16="http://schemas.microsoft.com/office/drawing/2014/main" val="1689172921"/>
                  </a:ext>
                </a:extLst>
              </a:tr>
              <a:tr h="379393">
                <a:tc>
                  <a:txBody>
                    <a:bodyPr/>
                    <a:lstStyle/>
                    <a:p>
                      <a:pPr algn="l">
                        <a:spcAft>
                          <a:spcPts val="0"/>
                        </a:spcAft>
                      </a:pPr>
                      <a:r>
                        <a:rPr lang="en-US" sz="1800" kern="100">
                          <a:solidFill>
                            <a:schemeClr val="accent2">
                              <a:lumMod val="50000"/>
                            </a:schemeClr>
                          </a:solidFill>
                          <a:effectLst/>
                          <a:latin typeface="Arial Black" panose="020B0A04020102020204" pitchFamily="34" charset="0"/>
                        </a:rPr>
                        <a:t>Stdev</a:t>
                      </a:r>
                      <a:endParaRPr lang="zh-CN" sz="2000" kern="10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r">
                        <a:spcAft>
                          <a:spcPts val="0"/>
                        </a:spcAft>
                      </a:pPr>
                      <a:r>
                        <a:rPr lang="en-US" sz="2400" kern="100">
                          <a:solidFill>
                            <a:schemeClr val="accent2">
                              <a:lumMod val="50000"/>
                            </a:schemeClr>
                          </a:solidFill>
                          <a:effectLst/>
                          <a:latin typeface="Arial Black" panose="020B0A04020102020204" pitchFamily="34" charset="0"/>
                        </a:rPr>
                        <a:t>0.000999</a:t>
                      </a:r>
                      <a:endParaRPr lang="zh-CN" sz="2000" kern="10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l">
                        <a:spcAft>
                          <a:spcPts val="0"/>
                        </a:spcAft>
                      </a:pPr>
                      <a:r>
                        <a:rPr lang="en-US" sz="1800" kern="100" dirty="0" err="1">
                          <a:solidFill>
                            <a:schemeClr val="accent2">
                              <a:lumMod val="50000"/>
                            </a:schemeClr>
                          </a:solidFill>
                          <a:effectLst/>
                          <a:latin typeface="Arial Black" panose="020B0A04020102020204" pitchFamily="34" charset="0"/>
                        </a:rPr>
                        <a:t>Stdev</a:t>
                      </a:r>
                      <a:endParaRPr lang="zh-CN" sz="2000" kern="100" dirty="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r">
                        <a:spcAft>
                          <a:spcPts val="0"/>
                        </a:spcAft>
                      </a:pPr>
                      <a:r>
                        <a:rPr lang="en-US" sz="2400" kern="100" dirty="0">
                          <a:solidFill>
                            <a:schemeClr val="accent2">
                              <a:lumMod val="50000"/>
                            </a:schemeClr>
                          </a:solidFill>
                          <a:effectLst/>
                          <a:latin typeface="Arial Black" panose="020B0A04020102020204" pitchFamily="34" charset="0"/>
                        </a:rPr>
                        <a:t>0.000965</a:t>
                      </a:r>
                      <a:endParaRPr lang="zh-CN" sz="2000" kern="100" dirty="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extLst>
                  <a:ext uri="{0D108BD9-81ED-4DB2-BD59-A6C34878D82A}">
                    <a16:rowId xmlns:a16="http://schemas.microsoft.com/office/drawing/2014/main" val="1843040123"/>
                  </a:ext>
                </a:extLst>
              </a:tr>
              <a:tr h="379393">
                <a:tc>
                  <a:txBody>
                    <a:bodyPr/>
                    <a:lstStyle/>
                    <a:p>
                      <a:pPr algn="l">
                        <a:spcAft>
                          <a:spcPts val="0"/>
                        </a:spcAft>
                      </a:pPr>
                      <a:r>
                        <a:rPr lang="en-US" sz="1800" kern="100">
                          <a:solidFill>
                            <a:schemeClr val="accent2">
                              <a:lumMod val="50000"/>
                            </a:schemeClr>
                          </a:solidFill>
                          <a:effectLst/>
                          <a:latin typeface="Arial Black" panose="020B0A04020102020204" pitchFamily="34" charset="0"/>
                        </a:rPr>
                        <a:t>Skewness</a:t>
                      </a:r>
                      <a:endParaRPr lang="zh-CN" sz="2000" kern="10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r">
                        <a:spcAft>
                          <a:spcPts val="0"/>
                        </a:spcAft>
                      </a:pPr>
                      <a:r>
                        <a:rPr lang="en-US" sz="2400" kern="100">
                          <a:solidFill>
                            <a:schemeClr val="accent2">
                              <a:lumMod val="50000"/>
                            </a:schemeClr>
                          </a:solidFill>
                          <a:effectLst/>
                          <a:latin typeface="Arial Black" panose="020B0A04020102020204" pitchFamily="34" charset="0"/>
                        </a:rPr>
                        <a:t>0.219524</a:t>
                      </a:r>
                      <a:endParaRPr lang="zh-CN" sz="2000" kern="10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l">
                        <a:spcAft>
                          <a:spcPts val="0"/>
                        </a:spcAft>
                      </a:pPr>
                      <a:r>
                        <a:rPr lang="en-US" sz="1800" kern="100" dirty="0">
                          <a:solidFill>
                            <a:schemeClr val="accent2">
                              <a:lumMod val="50000"/>
                            </a:schemeClr>
                          </a:solidFill>
                          <a:effectLst/>
                          <a:latin typeface="Arial Black" panose="020B0A04020102020204" pitchFamily="34" charset="0"/>
                        </a:rPr>
                        <a:t>Skewness</a:t>
                      </a:r>
                      <a:endParaRPr lang="zh-CN" sz="2000" kern="100" dirty="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r">
                        <a:spcAft>
                          <a:spcPts val="0"/>
                        </a:spcAft>
                      </a:pPr>
                      <a:r>
                        <a:rPr lang="en-US" sz="2400" kern="100" dirty="0">
                          <a:solidFill>
                            <a:schemeClr val="accent2">
                              <a:lumMod val="50000"/>
                            </a:schemeClr>
                          </a:solidFill>
                          <a:effectLst/>
                          <a:latin typeface="Arial Black" panose="020B0A04020102020204" pitchFamily="34" charset="0"/>
                        </a:rPr>
                        <a:t>-0.636954</a:t>
                      </a:r>
                      <a:endParaRPr lang="zh-CN" sz="2000" kern="100" dirty="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extLst>
                  <a:ext uri="{0D108BD9-81ED-4DB2-BD59-A6C34878D82A}">
                    <a16:rowId xmlns:a16="http://schemas.microsoft.com/office/drawing/2014/main" val="297417582"/>
                  </a:ext>
                </a:extLst>
              </a:tr>
              <a:tr h="379393">
                <a:tc>
                  <a:txBody>
                    <a:bodyPr/>
                    <a:lstStyle/>
                    <a:p>
                      <a:pPr algn="l">
                        <a:spcAft>
                          <a:spcPts val="0"/>
                        </a:spcAft>
                      </a:pPr>
                      <a:r>
                        <a:rPr lang="en-US" sz="1800" kern="100">
                          <a:solidFill>
                            <a:schemeClr val="accent2">
                              <a:lumMod val="50000"/>
                            </a:schemeClr>
                          </a:solidFill>
                          <a:effectLst/>
                          <a:latin typeface="Arial Black" panose="020B0A04020102020204" pitchFamily="34" charset="0"/>
                        </a:rPr>
                        <a:t>Kurtosis</a:t>
                      </a:r>
                      <a:endParaRPr lang="zh-CN" sz="2000" kern="10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r">
                        <a:spcAft>
                          <a:spcPts val="0"/>
                        </a:spcAft>
                      </a:pPr>
                      <a:r>
                        <a:rPr lang="en-US" sz="2400" kern="100">
                          <a:solidFill>
                            <a:schemeClr val="accent2">
                              <a:lumMod val="50000"/>
                            </a:schemeClr>
                          </a:solidFill>
                          <a:effectLst/>
                          <a:latin typeface="Arial Black" panose="020B0A04020102020204" pitchFamily="34" charset="0"/>
                        </a:rPr>
                        <a:t>5.44164</a:t>
                      </a:r>
                      <a:endParaRPr lang="zh-CN" sz="2000" kern="10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l">
                        <a:spcAft>
                          <a:spcPts val="0"/>
                        </a:spcAft>
                      </a:pPr>
                      <a:r>
                        <a:rPr lang="en-US" sz="1800" kern="100">
                          <a:solidFill>
                            <a:schemeClr val="accent2">
                              <a:lumMod val="50000"/>
                            </a:schemeClr>
                          </a:solidFill>
                          <a:effectLst/>
                          <a:latin typeface="Arial Black" panose="020B0A04020102020204" pitchFamily="34" charset="0"/>
                        </a:rPr>
                        <a:t>Kurtosis</a:t>
                      </a:r>
                      <a:endParaRPr lang="zh-CN" sz="2000" kern="10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r">
                        <a:spcAft>
                          <a:spcPts val="0"/>
                        </a:spcAft>
                      </a:pPr>
                      <a:r>
                        <a:rPr lang="en-US" sz="2400" kern="100" dirty="0">
                          <a:solidFill>
                            <a:schemeClr val="accent2">
                              <a:lumMod val="50000"/>
                            </a:schemeClr>
                          </a:solidFill>
                          <a:effectLst/>
                          <a:latin typeface="Arial Black" panose="020B0A04020102020204" pitchFamily="34" charset="0"/>
                        </a:rPr>
                        <a:t>23.424518</a:t>
                      </a:r>
                      <a:endParaRPr lang="zh-CN" sz="2000" kern="100" dirty="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nchor="ct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extLst>
                  <a:ext uri="{0D108BD9-81ED-4DB2-BD59-A6C34878D82A}">
                    <a16:rowId xmlns:a16="http://schemas.microsoft.com/office/drawing/2014/main" val="1322750898"/>
                  </a:ext>
                </a:extLst>
              </a:tr>
            </a:tbl>
          </a:graphicData>
        </a:graphic>
      </p:graphicFrame>
      <p:pic>
        <p:nvPicPr>
          <p:cNvPr id="5" name="图片 4"/>
          <p:cNvPicPr/>
          <p:nvPr/>
        </p:nvPicPr>
        <p:blipFill>
          <a:blip r:embed="rId3">
            <a:duotone>
              <a:prstClr val="black"/>
              <a:schemeClr val="accent3">
                <a:tint val="45000"/>
                <a:satMod val="400000"/>
              </a:schemeClr>
            </a:duotone>
          </a:blip>
          <a:stretch>
            <a:fillRect/>
          </a:stretch>
        </p:blipFill>
        <p:spPr>
          <a:xfrm>
            <a:off x="8083685" y="2702797"/>
            <a:ext cx="3270115" cy="3739731"/>
          </a:xfrm>
          <a:prstGeom prst="rect">
            <a:avLst/>
          </a:prstGeom>
        </p:spPr>
      </p:pic>
    </p:spTree>
    <p:extLst>
      <p:ext uri="{BB962C8B-B14F-4D97-AF65-F5344CB8AC3E}">
        <p14:creationId xmlns:p14="http://schemas.microsoft.com/office/powerpoint/2010/main" val="19265691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accent2">
                    <a:lumMod val="50000"/>
                  </a:schemeClr>
                </a:solidFill>
                <a:latin typeface="Berlin Sans FB" panose="020E0602020502020306" pitchFamily="34" charset="0"/>
              </a:rPr>
              <a:t>ARMA model: Data &amp; Training</a:t>
            </a:r>
            <a:endParaRPr lang="zh-CN" altLang="en-US" dirty="0"/>
          </a:p>
        </p:txBody>
      </p:sp>
      <p:sp>
        <p:nvSpPr>
          <p:cNvPr id="3" name="内容占位符 2"/>
          <p:cNvSpPr>
            <a:spLocks noGrp="1"/>
          </p:cNvSpPr>
          <p:nvPr>
            <p:ph idx="1"/>
          </p:nvPr>
        </p:nvSpPr>
        <p:spPr/>
        <p:txBody>
          <a:bodyPr/>
          <a:lstStyle/>
          <a:p>
            <a:r>
              <a:rPr lang="en-US" altLang="zh-CN" dirty="0">
                <a:solidFill>
                  <a:schemeClr val="accent2">
                    <a:lumMod val="50000"/>
                  </a:schemeClr>
                </a:solidFill>
                <a:latin typeface="Berlin Sans FB" panose="020E0602020502020306" pitchFamily="34" charset="0"/>
              </a:rPr>
              <a:t>Step2: Statistic tests for autocorrelation and for unit root stability</a:t>
            </a:r>
          </a:p>
        </p:txBody>
      </p:sp>
      <p:graphicFrame>
        <p:nvGraphicFramePr>
          <p:cNvPr id="8" name="表格 7"/>
          <p:cNvGraphicFramePr>
            <a:graphicFrameLocks noGrp="1"/>
          </p:cNvGraphicFramePr>
          <p:nvPr>
            <p:extLst>
              <p:ext uri="{D42A27DB-BD31-4B8C-83A1-F6EECF244321}">
                <p14:modId xmlns:p14="http://schemas.microsoft.com/office/powerpoint/2010/main" val="3773449316"/>
              </p:ext>
            </p:extLst>
          </p:nvPr>
        </p:nvGraphicFramePr>
        <p:xfrm>
          <a:off x="838200" y="2436112"/>
          <a:ext cx="10360392" cy="1309036"/>
        </p:xfrm>
        <a:graphic>
          <a:graphicData uri="http://schemas.openxmlformats.org/drawingml/2006/table">
            <a:tbl>
              <a:tblPr firstRow="1" firstCol="1" bandRow="1">
                <a:tableStyleId>{5C22544A-7EE6-4342-B048-85BDC9FD1C3A}</a:tableStyleId>
              </a:tblPr>
              <a:tblGrid>
                <a:gridCol w="2590098">
                  <a:extLst>
                    <a:ext uri="{9D8B030D-6E8A-4147-A177-3AD203B41FA5}">
                      <a16:colId xmlns:a16="http://schemas.microsoft.com/office/drawing/2014/main" val="1928324291"/>
                    </a:ext>
                  </a:extLst>
                </a:gridCol>
                <a:gridCol w="2590098">
                  <a:extLst>
                    <a:ext uri="{9D8B030D-6E8A-4147-A177-3AD203B41FA5}">
                      <a16:colId xmlns:a16="http://schemas.microsoft.com/office/drawing/2014/main" val="2376559434"/>
                    </a:ext>
                  </a:extLst>
                </a:gridCol>
                <a:gridCol w="2590098">
                  <a:extLst>
                    <a:ext uri="{9D8B030D-6E8A-4147-A177-3AD203B41FA5}">
                      <a16:colId xmlns:a16="http://schemas.microsoft.com/office/drawing/2014/main" val="1003311386"/>
                    </a:ext>
                  </a:extLst>
                </a:gridCol>
                <a:gridCol w="2590098">
                  <a:extLst>
                    <a:ext uri="{9D8B030D-6E8A-4147-A177-3AD203B41FA5}">
                      <a16:colId xmlns:a16="http://schemas.microsoft.com/office/drawing/2014/main" val="2252270034"/>
                    </a:ext>
                  </a:extLst>
                </a:gridCol>
              </a:tblGrid>
              <a:tr h="327259">
                <a:tc>
                  <a:txBody>
                    <a:bodyPr/>
                    <a:lstStyle/>
                    <a:p>
                      <a:pPr algn="l" latinLnBrk="1">
                        <a:lnSpc>
                          <a:spcPts val="1125"/>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zh-CN" sz="1800" kern="100" dirty="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just">
                        <a:spcAft>
                          <a:spcPts val="0"/>
                        </a:spcAft>
                      </a:pPr>
                      <a:r>
                        <a:rPr lang="en-US" sz="1800" kern="100" dirty="0">
                          <a:solidFill>
                            <a:schemeClr val="accent2">
                              <a:lumMod val="50000"/>
                            </a:schemeClr>
                          </a:solidFill>
                          <a:effectLst/>
                          <a:latin typeface="Arial Black" panose="020B0A04020102020204" pitchFamily="34" charset="0"/>
                        </a:rPr>
                        <a:t>HS300</a:t>
                      </a:r>
                      <a:endParaRPr lang="zh-CN" sz="1800" kern="100" dirty="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just">
                        <a:spcAft>
                          <a:spcPts val="0"/>
                        </a:spcAft>
                      </a:pPr>
                      <a:r>
                        <a:rPr lang="en-US" sz="1800" kern="100">
                          <a:solidFill>
                            <a:schemeClr val="accent2">
                              <a:lumMod val="50000"/>
                            </a:schemeClr>
                          </a:solidFill>
                          <a:effectLst/>
                          <a:latin typeface="Arial Black" panose="020B0A04020102020204" pitchFamily="34" charset="0"/>
                        </a:rPr>
                        <a:t>A50</a:t>
                      </a:r>
                      <a:endParaRPr lang="zh-CN" sz="1800" kern="10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just">
                        <a:spcAft>
                          <a:spcPts val="0"/>
                        </a:spcAft>
                      </a:pPr>
                      <a:r>
                        <a:rPr lang="en-US" sz="1800" kern="100">
                          <a:solidFill>
                            <a:schemeClr val="accent2">
                              <a:lumMod val="50000"/>
                            </a:schemeClr>
                          </a:solidFill>
                          <a:effectLst/>
                          <a:latin typeface="Arial Black" panose="020B0A04020102020204" pitchFamily="34" charset="0"/>
                        </a:rPr>
                        <a:t>R_diff</a:t>
                      </a:r>
                      <a:endParaRPr lang="zh-CN" sz="1800" kern="10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extLst>
                  <a:ext uri="{0D108BD9-81ED-4DB2-BD59-A6C34878D82A}">
                    <a16:rowId xmlns:a16="http://schemas.microsoft.com/office/drawing/2014/main" val="2770021356"/>
                  </a:ext>
                </a:extLst>
              </a:tr>
              <a:tr h="327259">
                <a:tc>
                  <a:txBody>
                    <a:bodyPr/>
                    <a:lstStyle/>
                    <a:p>
                      <a:r>
                        <a:rPr lang="en-US" sz="1800" kern="100" dirty="0">
                          <a:solidFill>
                            <a:schemeClr val="accent2">
                              <a:lumMod val="50000"/>
                            </a:schemeClr>
                          </a:solidFill>
                          <a:effectLst/>
                          <a:latin typeface="Arial Black" panose="020B0A04020102020204" pitchFamily="34" charset="0"/>
                        </a:rPr>
                        <a:t>X-squared</a:t>
                      </a:r>
                      <a:endParaRPr lang="zh-CN" sz="1800" kern="100" dirty="0">
                        <a:solidFill>
                          <a:schemeClr val="accent2">
                            <a:lumMod val="50000"/>
                          </a:schemeClr>
                        </a:solidFill>
                        <a:effectLst/>
                        <a:latin typeface="Arial Black" panose="020B0A04020102020204" pitchFamily="34" charset="0"/>
                        <a:ea typeface="等线" panose="02010600030101010101" pitchFamily="2" charset="-122"/>
                      </a:endParaRPr>
                    </a:p>
                  </a:txBody>
                  <a:tcPr marL="68580" marR="68580" marT="0" marB="0">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r>
                        <a:rPr lang="en-US" sz="1800" kern="100" dirty="0">
                          <a:solidFill>
                            <a:schemeClr val="accent2">
                              <a:lumMod val="50000"/>
                            </a:schemeClr>
                          </a:solidFill>
                          <a:effectLst/>
                          <a:latin typeface="Arial Black" panose="020B0A04020102020204" pitchFamily="34" charset="0"/>
                        </a:rPr>
                        <a:t>44.28</a:t>
                      </a:r>
                      <a:endParaRPr lang="zh-CN" sz="1800" kern="100" dirty="0">
                        <a:solidFill>
                          <a:schemeClr val="accent2">
                            <a:lumMod val="50000"/>
                          </a:schemeClr>
                        </a:solidFill>
                        <a:effectLst/>
                        <a:latin typeface="Arial Black" panose="020B0A04020102020204" pitchFamily="34" charset="0"/>
                        <a:ea typeface="等线" panose="02010600030101010101" pitchFamily="2" charset="-122"/>
                      </a:endParaRPr>
                    </a:p>
                  </a:txBody>
                  <a:tcPr marL="68580" marR="68580" marT="0" marB="0">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r>
                        <a:rPr lang="en-US" sz="1800" kern="100" dirty="0">
                          <a:solidFill>
                            <a:schemeClr val="accent2">
                              <a:lumMod val="50000"/>
                            </a:schemeClr>
                          </a:solidFill>
                          <a:effectLst/>
                          <a:latin typeface="Arial Black" panose="020B0A04020102020204" pitchFamily="34" charset="0"/>
                        </a:rPr>
                        <a:t>5.9418</a:t>
                      </a:r>
                      <a:endParaRPr lang="zh-CN" sz="1800" kern="100" dirty="0">
                        <a:solidFill>
                          <a:schemeClr val="accent2">
                            <a:lumMod val="50000"/>
                          </a:schemeClr>
                        </a:solidFill>
                        <a:effectLst/>
                        <a:latin typeface="Arial Black" panose="020B0A04020102020204" pitchFamily="34" charset="0"/>
                        <a:ea typeface="等线" panose="02010600030101010101" pitchFamily="2" charset="-122"/>
                      </a:endParaRPr>
                    </a:p>
                  </a:txBody>
                  <a:tcPr marL="68580" marR="68580" marT="0" marB="0">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r>
                        <a:rPr lang="en-US" sz="1800" kern="100">
                          <a:solidFill>
                            <a:schemeClr val="accent2">
                              <a:lumMod val="50000"/>
                            </a:schemeClr>
                          </a:solidFill>
                          <a:effectLst/>
                          <a:latin typeface="Arial Black" panose="020B0A04020102020204" pitchFamily="34" charset="0"/>
                        </a:rPr>
                        <a:t>83.369</a:t>
                      </a:r>
                      <a:endParaRPr lang="zh-CN" sz="1800" kern="100">
                        <a:solidFill>
                          <a:schemeClr val="accent2">
                            <a:lumMod val="50000"/>
                          </a:schemeClr>
                        </a:solidFill>
                        <a:effectLst/>
                        <a:latin typeface="Arial Black" panose="020B0A04020102020204" pitchFamily="34" charset="0"/>
                        <a:ea typeface="等线" panose="02010600030101010101" pitchFamily="2" charset="-122"/>
                      </a:endParaRPr>
                    </a:p>
                  </a:txBody>
                  <a:tcPr marL="68580" marR="68580" marT="0" marB="0">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extLst>
                  <a:ext uri="{0D108BD9-81ED-4DB2-BD59-A6C34878D82A}">
                    <a16:rowId xmlns:a16="http://schemas.microsoft.com/office/drawing/2014/main" val="1616220906"/>
                  </a:ext>
                </a:extLst>
              </a:tr>
              <a:tr h="327259">
                <a:tc>
                  <a:txBody>
                    <a:bodyPr/>
                    <a:lstStyle/>
                    <a:p>
                      <a:r>
                        <a:rPr lang="en-US" sz="1800" kern="100" dirty="0" err="1">
                          <a:solidFill>
                            <a:schemeClr val="accent2">
                              <a:lumMod val="50000"/>
                            </a:schemeClr>
                          </a:solidFill>
                          <a:effectLst/>
                          <a:latin typeface="Arial Black" panose="020B0A04020102020204" pitchFamily="34" charset="0"/>
                        </a:rPr>
                        <a:t>df</a:t>
                      </a:r>
                      <a:endParaRPr lang="zh-CN" sz="1800" kern="100" dirty="0">
                        <a:solidFill>
                          <a:schemeClr val="accent2">
                            <a:lumMod val="50000"/>
                          </a:schemeClr>
                        </a:solidFill>
                        <a:effectLst/>
                        <a:latin typeface="Arial Black" panose="020B0A04020102020204" pitchFamily="34" charset="0"/>
                        <a:ea typeface="等线" panose="02010600030101010101" pitchFamily="2" charset="-122"/>
                      </a:endParaRPr>
                    </a:p>
                  </a:txBody>
                  <a:tcPr marL="68580" marR="68580" marT="0" marB="0">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r>
                        <a:rPr lang="en-US" sz="1800" kern="100" dirty="0">
                          <a:solidFill>
                            <a:schemeClr val="accent2">
                              <a:lumMod val="50000"/>
                            </a:schemeClr>
                          </a:solidFill>
                          <a:effectLst/>
                          <a:latin typeface="Arial Black" panose="020B0A04020102020204" pitchFamily="34" charset="0"/>
                        </a:rPr>
                        <a:t>5</a:t>
                      </a:r>
                      <a:endParaRPr lang="zh-CN" sz="1800" kern="100" dirty="0">
                        <a:solidFill>
                          <a:schemeClr val="accent2">
                            <a:lumMod val="50000"/>
                          </a:schemeClr>
                        </a:solidFill>
                        <a:effectLst/>
                        <a:latin typeface="Arial Black" panose="020B0A04020102020204" pitchFamily="34" charset="0"/>
                        <a:ea typeface="等线" panose="02010600030101010101" pitchFamily="2" charset="-122"/>
                      </a:endParaRPr>
                    </a:p>
                  </a:txBody>
                  <a:tcPr marL="68580" marR="68580" marT="0" marB="0">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r>
                        <a:rPr lang="en-US" sz="1800" kern="100" dirty="0">
                          <a:solidFill>
                            <a:schemeClr val="accent2">
                              <a:lumMod val="50000"/>
                            </a:schemeClr>
                          </a:solidFill>
                          <a:effectLst/>
                          <a:latin typeface="Arial Black" panose="020B0A04020102020204" pitchFamily="34" charset="0"/>
                        </a:rPr>
                        <a:t>5</a:t>
                      </a:r>
                      <a:endParaRPr lang="zh-CN" sz="1800" kern="100" dirty="0">
                        <a:solidFill>
                          <a:schemeClr val="accent2">
                            <a:lumMod val="50000"/>
                          </a:schemeClr>
                        </a:solidFill>
                        <a:effectLst/>
                        <a:latin typeface="Arial Black" panose="020B0A04020102020204" pitchFamily="34" charset="0"/>
                        <a:ea typeface="等线" panose="02010600030101010101" pitchFamily="2" charset="-122"/>
                      </a:endParaRPr>
                    </a:p>
                  </a:txBody>
                  <a:tcPr marL="68580" marR="68580" marT="0" marB="0">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pPr algn="just">
                        <a:spcAft>
                          <a:spcPts val="0"/>
                        </a:spcAft>
                      </a:pPr>
                      <a:r>
                        <a:rPr lang="en-US" sz="1800" kern="100" dirty="0">
                          <a:solidFill>
                            <a:schemeClr val="accent2">
                              <a:lumMod val="50000"/>
                            </a:schemeClr>
                          </a:solidFill>
                          <a:effectLst/>
                          <a:latin typeface="Arial Black" panose="020B0A04020102020204" pitchFamily="34" charset="0"/>
                        </a:rPr>
                        <a:t>5</a:t>
                      </a:r>
                      <a:endParaRPr lang="zh-CN" sz="1800" kern="100" dirty="0">
                        <a:solidFill>
                          <a:schemeClr val="accent2">
                            <a:lumMod val="50000"/>
                          </a:schemeClr>
                        </a:solidFill>
                        <a:effectLst/>
                        <a:latin typeface="Arial Black" panose="020B0A04020102020204" pitchFamily="34" charset="0"/>
                        <a:ea typeface="等线" panose="02010600030101010101" pitchFamily="2" charset="-122"/>
                        <a:cs typeface="Times New Roman" panose="02020603050405020304" pitchFamily="18" charset="0"/>
                      </a:endParaRPr>
                    </a:p>
                  </a:txBody>
                  <a:tcPr marL="68580" marR="68580" marT="0" marB="0">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extLst>
                  <a:ext uri="{0D108BD9-81ED-4DB2-BD59-A6C34878D82A}">
                    <a16:rowId xmlns:a16="http://schemas.microsoft.com/office/drawing/2014/main" val="3253393218"/>
                  </a:ext>
                </a:extLst>
              </a:tr>
              <a:tr h="327259">
                <a:tc>
                  <a:txBody>
                    <a:bodyPr/>
                    <a:lstStyle/>
                    <a:p>
                      <a:r>
                        <a:rPr lang="en-US" sz="1800" kern="100" dirty="0">
                          <a:solidFill>
                            <a:schemeClr val="accent2">
                              <a:lumMod val="50000"/>
                            </a:schemeClr>
                          </a:solidFill>
                          <a:effectLst/>
                          <a:latin typeface="Arial Black" panose="020B0A04020102020204" pitchFamily="34" charset="0"/>
                        </a:rPr>
                        <a:t>p-value</a:t>
                      </a:r>
                      <a:endParaRPr lang="zh-CN" sz="1800" kern="100" dirty="0">
                        <a:solidFill>
                          <a:schemeClr val="accent2">
                            <a:lumMod val="50000"/>
                          </a:schemeClr>
                        </a:solidFill>
                        <a:effectLst/>
                        <a:latin typeface="Arial Black" panose="020B0A04020102020204" pitchFamily="34" charset="0"/>
                        <a:ea typeface="等线" panose="02010600030101010101" pitchFamily="2" charset="-122"/>
                      </a:endParaRPr>
                    </a:p>
                  </a:txBody>
                  <a:tcPr marL="68580" marR="68580" marT="0" marB="0">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r>
                        <a:rPr lang="en-US" sz="1800" kern="100">
                          <a:solidFill>
                            <a:schemeClr val="accent2">
                              <a:lumMod val="50000"/>
                            </a:schemeClr>
                          </a:solidFill>
                          <a:effectLst/>
                          <a:latin typeface="Arial Black" panose="020B0A04020102020204" pitchFamily="34" charset="0"/>
                        </a:rPr>
                        <a:t>2.032e-08</a:t>
                      </a:r>
                      <a:endParaRPr lang="zh-CN" sz="1800" kern="100">
                        <a:solidFill>
                          <a:schemeClr val="accent2">
                            <a:lumMod val="50000"/>
                          </a:schemeClr>
                        </a:solidFill>
                        <a:effectLst/>
                        <a:latin typeface="Arial Black" panose="020B0A04020102020204" pitchFamily="34" charset="0"/>
                        <a:ea typeface="等线" panose="02010600030101010101" pitchFamily="2" charset="-122"/>
                      </a:endParaRPr>
                    </a:p>
                  </a:txBody>
                  <a:tcPr marL="68580" marR="68580" marT="0" marB="0">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r>
                        <a:rPr lang="en-US" sz="1800" kern="100" dirty="0">
                          <a:solidFill>
                            <a:schemeClr val="accent2">
                              <a:lumMod val="50000"/>
                            </a:schemeClr>
                          </a:solidFill>
                          <a:effectLst/>
                          <a:latin typeface="Arial Black" panose="020B0A04020102020204" pitchFamily="34" charset="0"/>
                        </a:rPr>
                        <a:t>0.3119</a:t>
                      </a:r>
                      <a:endParaRPr lang="zh-CN" sz="1800" kern="100" dirty="0">
                        <a:solidFill>
                          <a:schemeClr val="accent2">
                            <a:lumMod val="50000"/>
                          </a:schemeClr>
                        </a:solidFill>
                        <a:effectLst/>
                        <a:latin typeface="Arial Black" panose="020B0A04020102020204" pitchFamily="34" charset="0"/>
                        <a:ea typeface="等线" panose="02010600030101010101" pitchFamily="2" charset="-122"/>
                      </a:endParaRPr>
                    </a:p>
                  </a:txBody>
                  <a:tcPr marL="68580" marR="68580" marT="0" marB="0">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tc>
                  <a:txBody>
                    <a:bodyPr/>
                    <a:lstStyle/>
                    <a:p>
                      <a:r>
                        <a:rPr lang="en-US" sz="1800" kern="100" dirty="0">
                          <a:solidFill>
                            <a:schemeClr val="accent2">
                              <a:lumMod val="50000"/>
                            </a:schemeClr>
                          </a:solidFill>
                          <a:effectLst/>
                          <a:latin typeface="Arial Black" panose="020B0A04020102020204" pitchFamily="34" charset="0"/>
                        </a:rPr>
                        <a:t>&lt; 2.2e-16</a:t>
                      </a:r>
                      <a:endParaRPr lang="zh-CN" sz="1800" kern="100" dirty="0">
                        <a:solidFill>
                          <a:schemeClr val="accent2">
                            <a:lumMod val="50000"/>
                          </a:schemeClr>
                        </a:solidFill>
                        <a:effectLst/>
                        <a:latin typeface="Arial Black" panose="020B0A04020102020204" pitchFamily="34" charset="0"/>
                        <a:ea typeface="等线" panose="02010600030101010101" pitchFamily="2" charset="-122"/>
                      </a:endParaRPr>
                    </a:p>
                  </a:txBody>
                  <a:tcPr marL="68580" marR="68580" marT="0" marB="0">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tcPr>
                </a:tc>
                <a:extLst>
                  <a:ext uri="{0D108BD9-81ED-4DB2-BD59-A6C34878D82A}">
                    <a16:rowId xmlns:a16="http://schemas.microsoft.com/office/drawing/2014/main" val="3089957"/>
                  </a:ext>
                </a:extLst>
              </a:tr>
            </a:tbl>
          </a:graphicData>
        </a:graphic>
      </p:graphicFrame>
      <p:pic>
        <p:nvPicPr>
          <p:cNvPr id="9" name="图片 8"/>
          <p:cNvPicPr>
            <a:picLocks noChangeAspect="1" noChangeArrowheads="1"/>
          </p:cNvPicPr>
          <p:nvPr/>
        </p:nvPicPr>
        <p:blipFill>
          <a:blip r:embed="rId2">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4227767" y="3738730"/>
            <a:ext cx="3420602" cy="2973145"/>
          </a:xfrm>
          <a:prstGeom prst="rect">
            <a:avLst/>
          </a:prstGeom>
          <a:solidFill>
            <a:schemeClr val="accent1"/>
          </a:solidFill>
        </p:spPr>
      </p:pic>
      <p:pic>
        <p:nvPicPr>
          <p:cNvPr id="10" name="图片 9"/>
          <p:cNvPicPr>
            <a:picLocks noChangeAspect="1" noChangeArrowheads="1"/>
          </p:cNvPicPr>
          <p:nvPr/>
        </p:nvPicPr>
        <p:blipFill>
          <a:blip r:embed="rId3">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814980" y="3749462"/>
            <a:ext cx="3412787" cy="2968831"/>
          </a:xfrm>
          <a:prstGeom prst="rect">
            <a:avLst/>
          </a:prstGeom>
          <a:solidFill>
            <a:schemeClr val="accent1"/>
          </a:solidFill>
        </p:spPr>
      </p:pic>
      <p:pic>
        <p:nvPicPr>
          <p:cNvPr id="11" name="图片 10"/>
          <p:cNvPicPr>
            <a:picLocks noChangeAspect="1" noChangeArrowheads="1"/>
          </p:cNvPicPr>
          <p:nvPr/>
        </p:nvPicPr>
        <p:blipFill>
          <a:blip r:embed="rId4">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7654481" y="3732312"/>
            <a:ext cx="3544112" cy="2979563"/>
          </a:xfrm>
          <a:prstGeom prst="rect">
            <a:avLst/>
          </a:prstGeom>
          <a:solidFill>
            <a:schemeClr val="accent1"/>
          </a:solidFill>
        </p:spPr>
      </p:pic>
    </p:spTree>
    <p:extLst>
      <p:ext uri="{BB962C8B-B14F-4D97-AF65-F5344CB8AC3E}">
        <p14:creationId xmlns:p14="http://schemas.microsoft.com/office/powerpoint/2010/main" val="27766540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accent2">
                    <a:lumMod val="50000"/>
                  </a:schemeClr>
                </a:solidFill>
                <a:latin typeface="Berlin Sans FB" panose="020E0602020502020306" pitchFamily="34" charset="0"/>
              </a:rPr>
              <a:t>ARMA model: Data &amp; Training</a:t>
            </a:r>
            <a:endParaRPr lang="zh-CN" altLang="en-US" dirty="0"/>
          </a:p>
        </p:txBody>
      </p:sp>
      <p:sp>
        <p:nvSpPr>
          <p:cNvPr id="3" name="内容占位符 2"/>
          <p:cNvSpPr>
            <a:spLocks noGrp="1"/>
          </p:cNvSpPr>
          <p:nvPr>
            <p:ph idx="1"/>
          </p:nvPr>
        </p:nvSpPr>
        <p:spPr/>
        <p:txBody>
          <a:bodyPr/>
          <a:lstStyle/>
          <a:p>
            <a:endParaRPr lang="en-US" altLang="zh-CN" dirty="0"/>
          </a:p>
          <a:p>
            <a:endParaRPr lang="en-US" altLang="zh-CN" dirty="0"/>
          </a:p>
          <a:p>
            <a:endParaRPr lang="en-US" altLang="zh-CN" dirty="0"/>
          </a:p>
          <a:p>
            <a:endParaRPr lang="en-US" altLang="zh-CN" dirty="0"/>
          </a:p>
          <a:p>
            <a:endParaRPr lang="en-US" altLang="zh-CN" dirty="0"/>
          </a:p>
          <a:p>
            <a:r>
              <a:rPr lang="en-US" altLang="zh-CN" dirty="0">
                <a:solidFill>
                  <a:schemeClr val="accent2">
                    <a:lumMod val="50000"/>
                  </a:schemeClr>
                </a:solidFill>
                <a:latin typeface="Berlin Sans FB" panose="020E0602020502020306" pitchFamily="34" charset="0"/>
              </a:rPr>
              <a:t>Summary of the test results: nice quality of the data</a:t>
            </a:r>
            <a:endParaRPr lang="en-US" altLang="zh-CN" dirty="0">
              <a:latin typeface="Berlin Sans FB" panose="020E0602020502020306" pitchFamily="34" charset="0"/>
            </a:endParaRPr>
          </a:p>
          <a:p>
            <a:pPr lvl="0"/>
            <a:r>
              <a:rPr lang="en-US" altLang="zh-CN" dirty="0">
                <a:solidFill>
                  <a:schemeClr val="accent2">
                    <a:lumMod val="50000"/>
                  </a:schemeClr>
                </a:solidFill>
                <a:latin typeface="Berlin Sans FB" panose="020E0602020502020306" pitchFamily="34" charset="0"/>
              </a:rPr>
              <a:t>Precondition: Stationarity &amp; Auto correlation </a:t>
            </a:r>
            <a:r>
              <a:rPr lang="zh-CN" altLang="en-US" dirty="0">
                <a:solidFill>
                  <a:schemeClr val="accent2">
                    <a:lumMod val="50000"/>
                  </a:schemeClr>
                </a:solidFill>
                <a:latin typeface="Berlin Sans FB" panose="020E0602020502020306" pitchFamily="34" charset="0"/>
              </a:rPr>
              <a:t>√</a:t>
            </a:r>
            <a:endParaRPr lang="zh-CN" altLang="zh-CN" dirty="0">
              <a:solidFill>
                <a:schemeClr val="accent2">
                  <a:lumMod val="50000"/>
                </a:schemeClr>
              </a:solidFill>
              <a:latin typeface="Berlin Sans FB" panose="020E0602020502020306" pitchFamily="34" charset="0"/>
            </a:endParaRPr>
          </a:p>
        </p:txBody>
      </p:sp>
      <p:pic>
        <p:nvPicPr>
          <p:cNvPr id="4" name="图片 14"/>
          <p:cNvPicPr>
            <a:picLocks noChangeAspect="1" noChangeArrowheads="1"/>
          </p:cNvPicPr>
          <p:nvPr/>
        </p:nvPicPr>
        <p:blipFill>
          <a:blip r:embed="rId2">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838200" y="1825625"/>
            <a:ext cx="3426071" cy="2353943"/>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15"/>
          <p:cNvPicPr>
            <a:picLocks noChangeAspect="1" noChangeArrowheads="1"/>
          </p:cNvPicPr>
          <p:nvPr/>
        </p:nvPicPr>
        <p:blipFill>
          <a:blip r:embed="rId3">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4264271" y="1825626"/>
            <a:ext cx="3683227" cy="2350184"/>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16"/>
          <p:cNvPicPr>
            <a:picLocks noChangeAspect="1" noChangeArrowheads="1"/>
          </p:cNvPicPr>
          <p:nvPr/>
        </p:nvPicPr>
        <p:blipFill>
          <a:blip r:embed="rId4">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7947498" y="1825625"/>
            <a:ext cx="3755108" cy="23501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88432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accent2">
                    <a:lumMod val="50000"/>
                  </a:schemeClr>
                </a:solidFill>
                <a:latin typeface="Berlin Sans FB" panose="020E0602020502020306" pitchFamily="34" charset="0"/>
              </a:rPr>
              <a:t>ARMA model: Data &amp; Training</a:t>
            </a:r>
            <a:endParaRPr lang="zh-CN" altLang="en-US" dirty="0"/>
          </a:p>
        </p:txBody>
      </p:sp>
      <p:sp>
        <p:nvSpPr>
          <p:cNvPr id="3" name="内容占位符 2"/>
          <p:cNvSpPr>
            <a:spLocks noGrp="1"/>
          </p:cNvSpPr>
          <p:nvPr>
            <p:ph idx="1"/>
          </p:nvPr>
        </p:nvSpPr>
        <p:spPr/>
        <p:txBody>
          <a:bodyPr/>
          <a:lstStyle/>
          <a:p>
            <a:r>
              <a:rPr lang="en-US" altLang="zh-CN" dirty="0">
                <a:solidFill>
                  <a:schemeClr val="accent2">
                    <a:lumMod val="50000"/>
                  </a:schemeClr>
                </a:solidFill>
                <a:latin typeface="Berlin Sans FB" panose="020E0602020502020306" pitchFamily="34" charset="0"/>
              </a:rPr>
              <a:t>Step 3: building the model according to the data</a:t>
            </a:r>
          </a:p>
          <a:p>
            <a:pPr marL="0" indent="0">
              <a:buNone/>
            </a:pPr>
            <a:r>
              <a:rPr lang="en-US" altLang="zh-CN" dirty="0">
                <a:solidFill>
                  <a:schemeClr val="accent2">
                    <a:lumMod val="50000"/>
                  </a:schemeClr>
                </a:solidFill>
                <a:latin typeface="Berlin Sans FB" panose="020E0602020502020306" pitchFamily="34" charset="0"/>
              </a:rPr>
              <a:t>The parameter p and q are determined by several tests.</a:t>
            </a:r>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zh-CN" altLang="en-US" dirty="0"/>
          </a:p>
        </p:txBody>
      </p:sp>
      <p:pic>
        <p:nvPicPr>
          <p:cNvPr id="5" name="图片 4"/>
          <p:cNvPicPr>
            <a:picLocks noChangeAspect="1"/>
          </p:cNvPicPr>
          <p:nvPr/>
        </p:nvPicPr>
        <p:blipFill>
          <a:blip r:embed="rId2">
            <a:duotone>
              <a:prstClr val="black"/>
              <a:schemeClr val="accent3">
                <a:tint val="45000"/>
                <a:satMod val="400000"/>
              </a:schemeClr>
            </a:duotone>
          </a:blip>
          <a:stretch>
            <a:fillRect/>
          </a:stretch>
        </p:blipFill>
        <p:spPr>
          <a:xfrm>
            <a:off x="838200" y="3004929"/>
            <a:ext cx="4896424" cy="996365"/>
          </a:xfrm>
          <a:prstGeom prst="rect">
            <a:avLst/>
          </a:prstGeom>
        </p:spPr>
      </p:pic>
      <p:pic>
        <p:nvPicPr>
          <p:cNvPr id="7" name="图片 6"/>
          <p:cNvPicPr>
            <a:picLocks noChangeAspect="1"/>
          </p:cNvPicPr>
          <p:nvPr/>
        </p:nvPicPr>
        <p:blipFill>
          <a:blip r:embed="rId3">
            <a:duotone>
              <a:prstClr val="black"/>
              <a:schemeClr val="accent3">
                <a:tint val="45000"/>
                <a:satMod val="400000"/>
              </a:schemeClr>
            </a:duotone>
          </a:blip>
          <a:stretch>
            <a:fillRect/>
          </a:stretch>
        </p:blipFill>
        <p:spPr>
          <a:xfrm>
            <a:off x="838200" y="4395647"/>
            <a:ext cx="4896424" cy="1108395"/>
          </a:xfrm>
          <a:prstGeom prst="rect">
            <a:avLst/>
          </a:prstGeom>
        </p:spPr>
      </p:pic>
    </p:spTree>
    <p:extLst>
      <p:ext uri="{BB962C8B-B14F-4D97-AF65-F5344CB8AC3E}">
        <p14:creationId xmlns:p14="http://schemas.microsoft.com/office/powerpoint/2010/main" val="23375222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accent2">
                    <a:lumMod val="50000"/>
                  </a:schemeClr>
                </a:solidFill>
                <a:latin typeface="Berlin Sans FB" panose="020E0602020502020306" pitchFamily="34" charset="0"/>
              </a:rPr>
              <a:t>ARMA model: Results and Analysis</a:t>
            </a:r>
            <a:endParaRPr lang="zh-CN" altLang="en-US" dirty="0"/>
          </a:p>
        </p:txBody>
      </p:sp>
      <p:sp>
        <p:nvSpPr>
          <p:cNvPr id="3" name="内容占位符 2"/>
          <p:cNvSpPr>
            <a:spLocks noGrp="1"/>
          </p:cNvSpPr>
          <p:nvPr>
            <p:ph idx="1"/>
          </p:nvPr>
        </p:nvSpPr>
        <p:spPr/>
        <p:txBody>
          <a:bodyPr/>
          <a:lstStyle/>
          <a:p>
            <a:r>
              <a:rPr lang="en-US" altLang="zh-CN" dirty="0" err="1">
                <a:solidFill>
                  <a:schemeClr val="accent2">
                    <a:lumMod val="50000"/>
                  </a:schemeClr>
                </a:solidFill>
                <a:latin typeface="Berlin Sans FB" panose="020E0602020502020306" pitchFamily="34" charset="0"/>
              </a:rPr>
              <a:t>model.predict</a:t>
            </a:r>
            <a:r>
              <a:rPr lang="en-US" altLang="zh-CN" dirty="0">
                <a:solidFill>
                  <a:schemeClr val="accent2">
                    <a:lumMod val="50000"/>
                  </a:schemeClr>
                </a:solidFill>
                <a:latin typeface="Berlin Sans FB" panose="020E0602020502020306" pitchFamily="34" charset="0"/>
              </a:rPr>
              <a:t>(start, end)</a:t>
            </a:r>
            <a:endParaRPr lang="zh-CN" altLang="en-US" dirty="0">
              <a:solidFill>
                <a:schemeClr val="accent2">
                  <a:lumMod val="50000"/>
                </a:schemeClr>
              </a:solidFill>
              <a:latin typeface="Berlin Sans FB" panose="020E0602020502020306" pitchFamily="34" charset="0"/>
            </a:endParaRPr>
          </a:p>
        </p:txBody>
      </p:sp>
      <p:pic>
        <p:nvPicPr>
          <p:cNvPr id="8" name="图片 7"/>
          <p:cNvPicPr>
            <a:picLocks noChangeAspect="1"/>
          </p:cNvPicPr>
          <p:nvPr/>
        </p:nvPicPr>
        <p:blipFill>
          <a:blip r:embed="rId2">
            <a:duotone>
              <a:prstClr val="black"/>
              <a:schemeClr val="accent3">
                <a:tint val="45000"/>
                <a:satMod val="400000"/>
              </a:schemeClr>
            </a:duotone>
          </a:blip>
          <a:stretch>
            <a:fillRect/>
          </a:stretch>
        </p:blipFill>
        <p:spPr>
          <a:xfrm>
            <a:off x="891468" y="5175115"/>
            <a:ext cx="10462332" cy="1001848"/>
          </a:xfrm>
          <a:prstGeom prst="rect">
            <a:avLst/>
          </a:prstGeom>
        </p:spPr>
      </p:pic>
      <p:pic>
        <p:nvPicPr>
          <p:cNvPr id="9" name="图片 8"/>
          <p:cNvPicPr>
            <a:picLocks noChangeAspect="1"/>
          </p:cNvPicPr>
          <p:nvPr/>
        </p:nvPicPr>
        <p:blipFill>
          <a:blip r:embed="rId3">
            <a:duotone>
              <a:prstClr val="black"/>
              <a:schemeClr val="accent3">
                <a:tint val="45000"/>
                <a:satMod val="400000"/>
              </a:schemeClr>
            </a:duotone>
          </a:blip>
          <a:stretch>
            <a:fillRect/>
          </a:stretch>
        </p:blipFill>
        <p:spPr>
          <a:xfrm>
            <a:off x="955343" y="2842359"/>
            <a:ext cx="4161406" cy="1770535"/>
          </a:xfrm>
          <a:prstGeom prst="rect">
            <a:avLst/>
          </a:prstGeom>
        </p:spPr>
      </p:pic>
    </p:spTree>
    <p:extLst>
      <p:ext uri="{BB962C8B-B14F-4D97-AF65-F5344CB8AC3E}">
        <p14:creationId xmlns:p14="http://schemas.microsoft.com/office/powerpoint/2010/main" val="39045553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accent2">
                    <a:lumMod val="50000"/>
                  </a:schemeClr>
                </a:solidFill>
                <a:latin typeface="Berlin Sans FB" panose="020E0602020502020306" pitchFamily="34" charset="0"/>
              </a:rPr>
              <a:t>Summary</a:t>
            </a:r>
            <a:endParaRPr lang="zh-CN" altLang="en-US" dirty="0"/>
          </a:p>
        </p:txBody>
      </p:sp>
      <p:sp>
        <p:nvSpPr>
          <p:cNvPr id="3" name="内容占位符 2"/>
          <p:cNvSpPr>
            <a:spLocks noGrp="1"/>
          </p:cNvSpPr>
          <p:nvPr>
            <p:ph idx="1"/>
          </p:nvPr>
        </p:nvSpPr>
        <p:spPr>
          <a:xfrm>
            <a:off x="838200" y="1825625"/>
            <a:ext cx="10515600" cy="4886460"/>
          </a:xfrm>
        </p:spPr>
        <p:txBody>
          <a:bodyPr>
            <a:normAutofit/>
          </a:bodyPr>
          <a:lstStyle/>
          <a:p>
            <a:r>
              <a:rPr lang="en-US" altLang="zh-CN" sz="2400" dirty="0">
                <a:solidFill>
                  <a:schemeClr val="accent2">
                    <a:lumMod val="50000"/>
                  </a:schemeClr>
                </a:solidFill>
                <a:latin typeface="Berlin Sans FB" panose="020E0602020502020306" pitchFamily="34" charset="0"/>
              </a:rPr>
              <a:t>Although the issue is of great complexity and none of the model manages to solve the problem accurately, there are certain circumstances where we can use machine learning and time series analysis to get accurate predictions.</a:t>
            </a:r>
          </a:p>
          <a:p>
            <a:endParaRPr lang="en-US" altLang="zh-CN" sz="2400" dirty="0">
              <a:solidFill>
                <a:schemeClr val="accent2">
                  <a:lumMod val="50000"/>
                </a:schemeClr>
              </a:solidFill>
              <a:latin typeface="Berlin Sans FB" panose="020E0602020502020306" pitchFamily="34" charset="0"/>
            </a:endParaRPr>
          </a:p>
          <a:p>
            <a:r>
              <a:rPr lang="en-US" altLang="zh-CN" sz="2400" dirty="0">
                <a:solidFill>
                  <a:schemeClr val="accent2">
                    <a:lumMod val="50000"/>
                  </a:schemeClr>
                </a:solidFill>
                <a:latin typeface="Berlin Sans FB" panose="020E0602020502020306" pitchFamily="34" charset="0"/>
              </a:rPr>
              <a:t>For example, the second model is extremely powerful, or at least extremely powerful in some circumstances, in the prediction of return series with certain qualities. </a:t>
            </a:r>
          </a:p>
          <a:p>
            <a:endParaRPr lang="en-US" altLang="zh-CN" sz="2400" dirty="0">
              <a:solidFill>
                <a:schemeClr val="accent2">
                  <a:lumMod val="50000"/>
                </a:schemeClr>
              </a:solidFill>
              <a:latin typeface="Berlin Sans FB" panose="020E0602020502020306" pitchFamily="34" charset="0"/>
            </a:endParaRPr>
          </a:p>
          <a:p>
            <a:r>
              <a:rPr lang="en-US" altLang="zh-CN" sz="2400" dirty="0">
                <a:solidFill>
                  <a:schemeClr val="accent2">
                    <a:lumMod val="50000"/>
                  </a:schemeClr>
                </a:solidFill>
                <a:latin typeface="Berlin Sans FB" panose="020E0602020502020306" pitchFamily="34" charset="0"/>
              </a:rPr>
              <a:t>And SVM can be combined with data mining of social network(Twitter and Weibo) to get people’s attitudes towards certain stock, which can also be applied to the prediction of stock price</a:t>
            </a:r>
          </a:p>
        </p:txBody>
      </p:sp>
    </p:spTree>
    <p:extLst>
      <p:ext uri="{BB962C8B-B14F-4D97-AF65-F5344CB8AC3E}">
        <p14:creationId xmlns:p14="http://schemas.microsoft.com/office/powerpoint/2010/main" val="36293581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302</TotalTime>
  <Words>833</Words>
  <Application>Microsoft Office PowerPoint</Application>
  <PresentationFormat>宽屏</PresentationFormat>
  <Paragraphs>159</Paragraphs>
  <Slides>18</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18</vt:i4>
      </vt:variant>
    </vt:vector>
  </HeadingPairs>
  <TitlesOfParts>
    <vt:vector size="25" baseType="lpstr">
      <vt:lpstr>等线</vt:lpstr>
      <vt:lpstr>等线 Light</vt:lpstr>
      <vt:lpstr>Arial</vt:lpstr>
      <vt:lpstr>Arial Black</vt:lpstr>
      <vt:lpstr>Berlin Sans FB</vt:lpstr>
      <vt:lpstr>Times New Roman</vt:lpstr>
      <vt:lpstr>Office 主题​​</vt:lpstr>
      <vt:lpstr>The prediction of return on stock price——Two approaches</vt:lpstr>
      <vt:lpstr>PowerPoint 演示文稿</vt:lpstr>
      <vt:lpstr>First Step: Get information and handle information</vt:lpstr>
      <vt:lpstr>SVM Classification Method: Introduction</vt:lpstr>
      <vt:lpstr>SVM Classification Method: Training</vt:lpstr>
      <vt:lpstr>SVM Classification Method: Training</vt:lpstr>
      <vt:lpstr>SVM Classification Method: Run and Result</vt:lpstr>
      <vt:lpstr>The difficulty of stock prediction</vt:lpstr>
      <vt:lpstr>ARMA model: Introduction</vt:lpstr>
      <vt:lpstr>ARMA model: Main Purpose </vt:lpstr>
      <vt:lpstr>ARMA model: Data &amp; Training</vt:lpstr>
      <vt:lpstr>ARMA model: Data &amp; Training</vt:lpstr>
      <vt:lpstr>ARMA model: Data &amp; Training</vt:lpstr>
      <vt:lpstr>ARMA model: Data &amp; Training</vt:lpstr>
      <vt:lpstr>ARMA model: Data &amp; Training</vt:lpstr>
      <vt:lpstr>ARMA model: Data &amp; Training</vt:lpstr>
      <vt:lpstr>ARMA model: Results and Analysis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123886</dc:creator>
  <cp:lastModifiedBy>123886</cp:lastModifiedBy>
  <cp:revision>27</cp:revision>
  <dcterms:created xsi:type="dcterms:W3CDTF">2016-05-23T06:35:08Z</dcterms:created>
  <dcterms:modified xsi:type="dcterms:W3CDTF">2016-06-10T03:43:10Z</dcterms:modified>
</cp:coreProperties>
</file>